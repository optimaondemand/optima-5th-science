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SOCRATIC MOVES: Ask students to close their eyes and think about the last hour. How many forms of energy did they experience? Let 2-3 share. Do NOT define energy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the anchor concept for the whole module. Students should be able to recite the definition and explain it in their own words. Ask 2-3 students to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Give students 2 minutes to think before sharing. For question 1 the key insight is potential energy. The raised rock DOES have energy even when still. For question 2 encourage students to think beyond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 CER structure before students write. Reasoning should connect back to the definition: energy causes motion or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When the drum is hit it vibrates. Those vibrations travel through the air as sound waves. The flashlight is light energy. The hot cocoa is heat energy. The book has potential mechanical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Chemical energy is stored in the bonds between particles in food fuel and batteries. A moving soccer ball has kinetic mechanical energy. Sunlight is light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5C"/>
          </a:solidFill>
          <a:ln w="12700">
            <a:solidFill>
              <a:srgbClr val="1A3A5C"/>
            </a:solidFill>
            <a:prstDash val="solid"/>
          </a:ln>
        </p:spPr>
      </p:sp>
      <p:sp>
        <p:nvSpPr>
          <p:cNvPr id="3" name="Shape 1"/>
          <p:cNvSpPr/>
          <p:nvPr/>
        </p:nvSpPr>
        <p:spPr>
          <a:xfrm>
            <a:off x="365760" y="228600"/>
            <a:ext cx="1371600" cy="274320"/>
          </a:xfrm>
          <a:prstGeom prst="rect">
            <a:avLst/>
          </a:prstGeom>
          <a:solidFill>
            <a:srgbClr val="F6C90E"/>
          </a:solidFill>
          <a:ln w="12700">
            <a:solidFill>
              <a:srgbClr val="F6C90E"/>
            </a:solidFill>
            <a:prstDash val="solid"/>
          </a:ln>
        </p:spPr>
      </p:sp>
      <p:sp>
        <p:nvSpPr>
          <p:cNvPr id="4" name="Text 2"/>
          <p:cNvSpPr/>
          <p:nvPr/>
        </p:nvSpPr>
        <p:spPr>
          <a:xfrm>
            <a:off x="365760" y="22860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LESSON 10.01</a:t>
            </a:r>
            <a:endParaRPr lang="en-US" sz="1000" dirty="0"/>
          </a:p>
        </p:txBody>
      </p:sp>
      <p:sp>
        <p:nvSpPr>
          <p:cNvPr id="5" name="Text 3"/>
          <p:cNvSpPr/>
          <p:nvPr/>
        </p:nvSpPr>
        <p:spPr>
          <a:xfrm>
            <a:off x="365760" y="640080"/>
            <a:ext cx="8412480" cy="128016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What Are Basic Forms of Energy?</a:t>
            </a:r>
            <a:endParaRPr lang="en-US" sz="3600" dirty="0"/>
          </a:p>
        </p:txBody>
      </p:sp>
      <p:sp>
        <p:nvSpPr>
          <p:cNvPr id="6" name="Text 4"/>
          <p:cNvSpPr/>
          <p:nvPr/>
        </p:nvSpPr>
        <p:spPr>
          <a:xfrm>
            <a:off x="365760" y="1828800"/>
            <a:ext cx="8412480" cy="457200"/>
          </a:xfrm>
          <a:prstGeom prst="rect">
            <a:avLst/>
          </a:prstGeom>
          <a:noFill/>
          <a:ln/>
        </p:spPr>
        <p:txBody>
          <a:bodyPr wrap="square" rtlCol="0" anchor="ctr"/>
          <a:lstStyle/>
          <a:p>
            <a:pPr algn="ctr" indent="0" marL="0">
              <a:buNone/>
            </a:pPr>
            <a:r>
              <a:rPr lang="en-US" sz="1800" i="1" dirty="0">
                <a:solidFill>
                  <a:srgbClr val="F6C90E"/>
                </a:solidFill>
                <a:latin typeface="Calibri" pitchFamily="34" charset="0"/>
                <a:ea typeface="Calibri" pitchFamily="34" charset="-122"/>
                <a:cs typeface="Calibri" pitchFamily="34" charset="-120"/>
              </a:rPr>
              <a:t>Energy is everywhere in six familiar forms.</a:t>
            </a:r>
            <a:endParaRPr lang="en-US" sz="1800" dirty="0"/>
          </a:p>
        </p:txBody>
      </p:sp>
      <p:sp>
        <p:nvSpPr>
          <p:cNvPr id="7" name="Shape 5"/>
          <p:cNvSpPr/>
          <p:nvPr/>
        </p:nvSpPr>
        <p:spPr>
          <a:xfrm>
            <a:off x="365760" y="2423160"/>
            <a:ext cx="8412480" cy="384048"/>
          </a:xfrm>
          <a:prstGeom prst="rect">
            <a:avLst/>
          </a:prstGeom>
          <a:solidFill>
            <a:srgbClr val="2C4A6E"/>
          </a:solidFill>
          <a:ln w="12700">
            <a:solidFill>
              <a:srgbClr val="2C4A6E"/>
            </a:solidFill>
            <a:prstDash val="solid"/>
          </a:ln>
        </p:spPr>
      </p:sp>
      <p:sp>
        <p:nvSpPr>
          <p:cNvPr id="8" name="Text 6"/>
          <p:cNvSpPr/>
          <p:nvPr/>
        </p:nvSpPr>
        <p:spPr>
          <a:xfrm>
            <a:off x="457200" y="2478024"/>
            <a:ext cx="8229600" cy="27432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I Can 1: Name the six basic forms of energy and give an example of each.</a:t>
            </a:r>
            <a:endParaRPr lang="en-US" sz="1200" dirty="0"/>
          </a:p>
        </p:txBody>
      </p:sp>
      <p:sp>
        <p:nvSpPr>
          <p:cNvPr id="9" name="Shape 7"/>
          <p:cNvSpPr/>
          <p:nvPr/>
        </p:nvSpPr>
        <p:spPr>
          <a:xfrm>
            <a:off x="365760" y="2880360"/>
            <a:ext cx="8412480" cy="384048"/>
          </a:xfrm>
          <a:prstGeom prst="rect">
            <a:avLst/>
          </a:prstGeom>
          <a:solidFill>
            <a:srgbClr val="2C4A6E"/>
          </a:solidFill>
          <a:ln w="12700">
            <a:solidFill>
              <a:srgbClr val="2C4A6E"/>
            </a:solidFill>
            <a:prstDash val="solid"/>
          </a:ln>
        </p:spPr>
      </p:sp>
      <p:sp>
        <p:nvSpPr>
          <p:cNvPr id="10" name="Text 8"/>
          <p:cNvSpPr/>
          <p:nvPr/>
        </p:nvSpPr>
        <p:spPr>
          <a:xfrm>
            <a:off x="457200" y="2935224"/>
            <a:ext cx="8229600" cy="27432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I Can 2: Describe energy as something that causes motion or change.</a:t>
            </a:r>
            <a:endParaRPr lang="en-US" sz="1200" dirty="0"/>
          </a:p>
        </p:txBody>
      </p:sp>
      <p:sp>
        <p:nvSpPr>
          <p:cNvPr id="11" name="Shape 9"/>
          <p:cNvSpPr/>
          <p:nvPr/>
        </p:nvSpPr>
        <p:spPr>
          <a:xfrm>
            <a:off x="365760" y="3337560"/>
            <a:ext cx="8412480" cy="384048"/>
          </a:xfrm>
          <a:prstGeom prst="rect">
            <a:avLst/>
          </a:prstGeom>
          <a:solidFill>
            <a:srgbClr val="2C4A6E"/>
          </a:solidFill>
          <a:ln w="12700">
            <a:solidFill>
              <a:srgbClr val="2C4A6E"/>
            </a:solidFill>
            <a:prstDash val="solid"/>
          </a:ln>
        </p:spPr>
      </p:sp>
      <p:sp>
        <p:nvSpPr>
          <p:cNvPr id="12" name="Text 10"/>
          <p:cNvSpPr/>
          <p:nvPr/>
        </p:nvSpPr>
        <p:spPr>
          <a:xfrm>
            <a:off x="457200" y="3392424"/>
            <a:ext cx="8229600" cy="27432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I Can 3: Spot energy at work in everyday situations.</a:t>
            </a:r>
            <a:endParaRPr lang="en-US" sz="1200" dirty="0"/>
          </a:p>
        </p:txBody>
      </p:sp>
      <p:sp>
        <p:nvSpPr>
          <p:cNvPr id="13" name="Shape 11"/>
          <p:cNvSpPr/>
          <p:nvPr/>
        </p:nvSpPr>
        <p:spPr>
          <a:xfrm>
            <a:off x="0" y="4800600"/>
            <a:ext cx="9144000" cy="342900"/>
          </a:xfrm>
          <a:prstGeom prst="rect">
            <a:avLst/>
          </a:prstGeom>
          <a:solidFill>
            <a:srgbClr val="0E7C7B"/>
          </a:solidFill>
          <a:ln w="12700">
            <a:solidFill>
              <a:srgbClr val="0E7C7B"/>
            </a:solidFill>
            <a:prstDash val="solid"/>
          </a:ln>
        </p:spPr>
      </p:sp>
      <p:sp>
        <p:nvSpPr>
          <p:cNvPr id="14" name="Text 12"/>
          <p:cNvSpPr/>
          <p:nvPr/>
        </p:nvSpPr>
        <p:spPr>
          <a:xfrm>
            <a:off x="0" y="4800600"/>
            <a:ext cx="9144000" cy="3429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SC.5.P.10.1  5-PS3-1  5th Grade Science  Module 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w="12700">
            <a:solidFill>
              <a:srgbClr val="0D1B2A"/>
            </a:solidFill>
            <a:prstDash val="solid"/>
          </a:ln>
        </p:spPr>
      </p:sp>
      <p:sp>
        <p:nvSpPr>
          <p:cNvPr id="3" name="Shape 1"/>
          <p:cNvSpPr/>
          <p:nvPr/>
        </p:nvSpPr>
        <p:spPr>
          <a:xfrm>
            <a:off x="365760" y="182880"/>
            <a:ext cx="1440180" cy="274320"/>
          </a:xfrm>
          <a:prstGeom prst="rect">
            <a:avLst/>
          </a:prstGeom>
          <a:solidFill>
            <a:srgbClr val="0E7C7B"/>
          </a:solidFill>
          <a:ln w="12700">
            <a:solidFill>
              <a:srgbClr val="0E7C7B"/>
            </a:solidFill>
            <a:prstDash val="solid"/>
          </a:ln>
        </p:spPr>
      </p:sp>
      <p:sp>
        <p:nvSpPr>
          <p:cNvPr id="4" name="Text 2"/>
          <p:cNvSpPr/>
          <p:nvPr/>
        </p:nvSpPr>
        <p:spPr>
          <a:xfrm>
            <a:off x="365760" y="182880"/>
            <a:ext cx="14401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 &amp; WONDER</a:t>
            </a:r>
            <a:endParaRPr lang="en-US" sz="1000" dirty="0"/>
          </a:p>
        </p:txBody>
      </p:sp>
      <p:sp>
        <p:nvSpPr>
          <p:cNvPr id="5" name="Text 3"/>
          <p:cNvSpPr/>
          <p:nvPr/>
        </p:nvSpPr>
        <p:spPr>
          <a:xfrm>
            <a:off x="365760" y="594360"/>
            <a:ext cx="8412480" cy="548640"/>
          </a:xfrm>
          <a:prstGeom prst="rect">
            <a:avLst/>
          </a:prstGeom>
          <a:noFill/>
          <a:ln/>
        </p:spPr>
        <p:txBody>
          <a:bodyPr wrap="square"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Energy Is All Around You</a:t>
            </a:r>
            <a:endParaRPr lang="en-US" sz="2600" dirty="0"/>
          </a:p>
        </p:txBody>
      </p:sp>
      <p:sp>
        <p:nvSpPr>
          <p:cNvPr id="6" name="Shape 4"/>
          <p:cNvSpPr/>
          <p:nvPr/>
        </p:nvSpPr>
        <p:spPr>
          <a:xfrm>
            <a:off x="365760" y="1234440"/>
            <a:ext cx="8412480" cy="1371600"/>
          </a:xfrm>
          <a:prstGeom prst="rect">
            <a:avLst/>
          </a:prstGeom>
          <a:solidFill>
            <a:srgbClr val="1A3A5C"/>
          </a:solidFill>
          <a:ln w="12700">
            <a:solidFill>
              <a:srgbClr val="1A3A5C"/>
            </a:solidFill>
            <a:prstDash val="solid"/>
          </a:ln>
        </p:spPr>
      </p:sp>
      <p:sp>
        <p:nvSpPr>
          <p:cNvPr id="7" name="Text 5"/>
          <p:cNvSpPr/>
          <p:nvPr/>
        </p:nvSpPr>
        <p:spPr>
          <a:xfrm>
            <a:off x="457200" y="1289304"/>
            <a:ext cx="8229600" cy="126187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You flip on a lamp and light spreads across the room. You bite into a snack and hours later you can run jump and think. Both stories show energy in action. Energy shows up in different forms. Today you will learn the six most important ones.</a:t>
            </a:r>
            <a:endParaRPr lang="en-US" sz="1400" dirty="0"/>
          </a:p>
        </p:txBody>
      </p:sp>
      <p:sp>
        <p:nvSpPr>
          <p:cNvPr id="8" name="Shape 6"/>
          <p:cNvSpPr/>
          <p:nvPr/>
        </p:nvSpPr>
        <p:spPr>
          <a:xfrm>
            <a:off x="365760" y="3017520"/>
            <a:ext cx="4023360" cy="548640"/>
          </a:xfrm>
          <a:prstGeom prst="rect">
            <a:avLst/>
          </a:prstGeom>
          <a:solidFill>
            <a:srgbClr val="2C4A6E"/>
          </a:solidFill>
          <a:ln w="12700">
            <a:solidFill>
              <a:srgbClr val="2C4A6E"/>
            </a:solidFill>
            <a:prstDash val="solid"/>
          </a:ln>
        </p:spPr>
      </p:sp>
      <p:sp>
        <p:nvSpPr>
          <p:cNvPr id="9" name="Text 7"/>
          <p:cNvSpPr/>
          <p:nvPr/>
        </p:nvSpPr>
        <p:spPr>
          <a:xfrm>
            <a:off x="457200" y="3072384"/>
            <a:ext cx="3840480" cy="43891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NOTICE: What energy do you use before you get to school?</a:t>
            </a:r>
            <a:endParaRPr lang="en-US" sz="1200" dirty="0"/>
          </a:p>
        </p:txBody>
      </p:sp>
      <p:sp>
        <p:nvSpPr>
          <p:cNvPr id="10" name="Shape 8"/>
          <p:cNvSpPr/>
          <p:nvPr/>
        </p:nvSpPr>
        <p:spPr>
          <a:xfrm>
            <a:off x="4572000" y="3017520"/>
            <a:ext cx="4023360" cy="548640"/>
          </a:xfrm>
          <a:prstGeom prst="rect">
            <a:avLst/>
          </a:prstGeom>
          <a:solidFill>
            <a:srgbClr val="2C4A6E"/>
          </a:solidFill>
          <a:ln w="12700">
            <a:solidFill>
              <a:srgbClr val="2C4A6E"/>
            </a:solidFill>
            <a:prstDash val="solid"/>
          </a:ln>
        </p:spPr>
      </p:sp>
      <p:sp>
        <p:nvSpPr>
          <p:cNvPr id="11" name="Text 9"/>
          <p:cNvSpPr/>
          <p:nvPr/>
        </p:nvSpPr>
        <p:spPr>
          <a:xfrm>
            <a:off x="4663440" y="3072384"/>
            <a:ext cx="3840480" cy="43891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WONDER: Where does all that energy come from?</a:t>
            </a:r>
            <a:endParaRPr lang="en-US" sz="1200" dirty="0"/>
          </a:p>
        </p:txBody>
      </p:sp>
      <p:sp>
        <p:nvSpPr>
          <p:cNvPr id="12" name="Shape 10"/>
          <p:cNvSpPr/>
          <p:nvPr/>
        </p:nvSpPr>
        <p:spPr>
          <a:xfrm>
            <a:off x="365760" y="3703320"/>
            <a:ext cx="8412480" cy="731520"/>
          </a:xfrm>
          <a:prstGeom prst="rect">
            <a:avLst/>
          </a:prstGeom>
          <a:solidFill>
            <a:srgbClr val="0E7C7B"/>
          </a:solidFill>
          <a:ln w="12700">
            <a:solidFill>
              <a:srgbClr val="0E7C7B"/>
            </a:solidFill>
            <a:prstDash val="solid"/>
          </a:ln>
        </p:spPr>
      </p:sp>
      <p:sp>
        <p:nvSpPr>
          <p:cNvPr id="13" name="Text 11"/>
          <p:cNvSpPr/>
          <p:nvPr/>
        </p:nvSpPr>
        <p:spPr>
          <a:xfrm>
            <a:off x="457200" y="3758184"/>
            <a:ext cx="8229600" cy="62179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Big Question: Energy is in every part of your day. So what exactly IS energy? And how many different forms does it come 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BF4FA"/>
          </a:solidFill>
          <a:ln w="12700">
            <a:solidFill>
              <a:srgbClr val="EBF4FA"/>
            </a:solidFill>
            <a:prstDash val="solid"/>
          </a:ln>
        </p:spPr>
      </p:sp>
      <p:sp>
        <p:nvSpPr>
          <p:cNvPr id="3" name="Shape 1"/>
          <p:cNvSpPr/>
          <p:nvPr/>
        </p:nvSpPr>
        <p:spPr>
          <a:xfrm>
            <a:off x="365760" y="182880"/>
            <a:ext cx="1371600" cy="274320"/>
          </a:xfrm>
          <a:prstGeom prst="rect">
            <a:avLst/>
          </a:prstGeom>
          <a:solidFill>
            <a:srgbClr val="F07D35"/>
          </a:solidFill>
          <a:ln w="12700">
            <a:solidFill>
              <a:srgbClr val="F07D35"/>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a:t>
            </a:r>
            <a:endParaRPr lang="en-US" sz="1000" dirty="0"/>
          </a:p>
        </p:txBody>
      </p:sp>
      <p:sp>
        <p:nvSpPr>
          <p:cNvPr id="5" name="Text 3"/>
          <p:cNvSpPr/>
          <p:nvPr/>
        </p:nvSpPr>
        <p:spPr>
          <a:xfrm>
            <a:off x="365760" y="594360"/>
            <a:ext cx="8412480" cy="502920"/>
          </a:xfrm>
          <a:prstGeom prst="rect">
            <a:avLst/>
          </a:prstGeom>
          <a:noFill/>
          <a:ln/>
        </p:spPr>
        <p:txBody>
          <a:bodyPr wrap="square"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Make Your Prediction</a:t>
            </a:r>
            <a:endParaRPr lang="en-US" sz="2600" dirty="0"/>
          </a:p>
        </p:txBody>
      </p:sp>
      <p:sp>
        <p:nvSpPr>
          <p:cNvPr id="6" name="Shape 4"/>
          <p:cNvSpPr/>
          <p:nvPr/>
        </p:nvSpPr>
        <p:spPr>
          <a:xfrm>
            <a:off x="365760" y="1188720"/>
            <a:ext cx="8412480" cy="1005840"/>
          </a:xfrm>
          <a:prstGeom prst="rect">
            <a:avLst/>
          </a:prstGeom>
          <a:solidFill>
            <a:srgbClr val="FFFFFF"/>
          </a:solidFill>
          <a:ln w="12700">
            <a:solidFill>
              <a:srgbClr val="FFFFFF"/>
            </a:solidFill>
            <a:prstDash val="solid"/>
          </a:ln>
        </p:spPr>
      </p:sp>
      <p:sp>
        <p:nvSpPr>
          <p:cNvPr id="7" name="Text 5"/>
          <p:cNvSpPr/>
          <p:nvPr/>
        </p:nvSpPr>
        <p:spPr>
          <a:xfrm>
            <a:off x="457200" y="1243584"/>
            <a:ext cx="8229600" cy="8961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In your science notebook write your prediction: Why does the mass stay the same when matter changes form? Use what you know about particles from Module 3.</a:t>
            </a:r>
            <a:endParaRPr lang="en-US" sz="1400" dirty="0"/>
          </a:p>
        </p:txBody>
      </p:sp>
      <p:sp>
        <p:nvSpPr>
          <p:cNvPr id="8" name="Shape 6"/>
          <p:cNvSpPr/>
          <p:nvPr/>
        </p:nvSpPr>
        <p:spPr>
          <a:xfrm>
            <a:off x="365760" y="2697480"/>
            <a:ext cx="8412480" cy="438912"/>
          </a:xfrm>
          <a:prstGeom prst="rect">
            <a:avLst/>
          </a:prstGeom>
          <a:solidFill>
            <a:srgbClr val="2E86AB"/>
          </a:solidFill>
          <a:ln w="12700">
            <a:solidFill>
              <a:srgbClr val="2E86AB"/>
            </a:solidFill>
            <a:prstDash val="solid"/>
          </a:ln>
        </p:spPr>
      </p:sp>
      <p:sp>
        <p:nvSpPr>
          <p:cNvPr id="9" name="Text 7"/>
          <p:cNvSpPr/>
          <p:nvPr/>
        </p:nvSpPr>
        <p:spPr>
          <a:xfrm>
            <a:off x="457200" y="2752344"/>
            <a:ext cx="822960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1. What are particles? What do they do inside matter?</a:t>
            </a:r>
            <a:endParaRPr lang="en-US" sz="1300" dirty="0"/>
          </a:p>
        </p:txBody>
      </p:sp>
      <p:sp>
        <p:nvSpPr>
          <p:cNvPr id="10" name="Shape 8"/>
          <p:cNvSpPr/>
          <p:nvPr/>
        </p:nvSpPr>
        <p:spPr>
          <a:xfrm>
            <a:off x="365760" y="3200400"/>
            <a:ext cx="8412480" cy="438912"/>
          </a:xfrm>
          <a:prstGeom prst="rect">
            <a:avLst/>
          </a:prstGeom>
          <a:solidFill>
            <a:srgbClr val="2E86AB"/>
          </a:solidFill>
          <a:ln w="12700">
            <a:solidFill>
              <a:srgbClr val="2E86AB"/>
            </a:solidFill>
            <a:prstDash val="solid"/>
          </a:ln>
        </p:spPr>
      </p:sp>
      <p:sp>
        <p:nvSpPr>
          <p:cNvPr id="11" name="Text 9"/>
          <p:cNvSpPr/>
          <p:nvPr/>
        </p:nvSpPr>
        <p:spPr>
          <a:xfrm>
            <a:off x="457200" y="3255264"/>
            <a:ext cx="822960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2. Can particles disappear when matter changes form?</a:t>
            </a:r>
            <a:endParaRPr lang="en-US" sz="1300" dirty="0"/>
          </a:p>
        </p:txBody>
      </p:sp>
      <p:sp>
        <p:nvSpPr>
          <p:cNvPr id="12" name="Shape 10"/>
          <p:cNvSpPr/>
          <p:nvPr/>
        </p:nvSpPr>
        <p:spPr>
          <a:xfrm>
            <a:off x="365760" y="3703320"/>
            <a:ext cx="8412480" cy="438912"/>
          </a:xfrm>
          <a:prstGeom prst="rect">
            <a:avLst/>
          </a:prstGeom>
          <a:solidFill>
            <a:srgbClr val="2E86AB"/>
          </a:solidFill>
          <a:ln w="12700">
            <a:solidFill>
              <a:srgbClr val="2E86AB"/>
            </a:solidFill>
            <a:prstDash val="solid"/>
          </a:ln>
        </p:spPr>
      </p:sp>
      <p:sp>
        <p:nvSpPr>
          <p:cNvPr id="13" name="Text 11"/>
          <p:cNvSpPr/>
          <p:nvPr/>
        </p:nvSpPr>
        <p:spPr>
          <a:xfrm>
            <a:off x="457200" y="3758184"/>
            <a:ext cx="822960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3. What does same mass mean if the shape or form changed?</a:t>
            </a:r>
            <a:endParaRPr lang="en-US" sz="1300" dirty="0"/>
          </a:p>
        </p:txBody>
      </p:sp>
      <p:sp>
        <p:nvSpPr>
          <p:cNvPr id="14" name="Text 12"/>
          <p:cNvSpPr/>
          <p:nvPr/>
        </p:nvSpPr>
        <p:spPr>
          <a:xfrm>
            <a:off x="365760" y="4617720"/>
            <a:ext cx="8412480" cy="320040"/>
          </a:xfrm>
          <a:prstGeom prst="rect">
            <a:avLst/>
          </a:prstGeom>
          <a:noFill/>
          <a:ln/>
        </p:spPr>
        <p:txBody>
          <a:bodyPr wrap="square" rtlCol="0" anchor="ctr"/>
          <a:lstStyle/>
          <a:p>
            <a:pPr algn="ctr" indent="0" marL="0">
              <a:buNone/>
            </a:pPr>
            <a:r>
              <a:rPr lang="en-US" sz="1100" i="1" dirty="0">
                <a:solidFill>
                  <a:srgbClr val="5E7B9A"/>
                </a:solidFill>
                <a:latin typeface="Calibri" pitchFamily="34" charset="0"/>
                <a:ea typeface="Calibri" pitchFamily="34" charset="-122"/>
                <a:cs typeface="Calibri" pitchFamily="34" charset="-120"/>
              </a:rPr>
              <a:t>Write at least TWO sentences. You will revisit your prediction at the end of the lesson.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5C"/>
          </a:solidFill>
          <a:ln w="12700">
            <a:solidFill>
              <a:srgbClr val="1A3A5C"/>
            </a:solidFill>
            <a:prstDash val="solid"/>
          </a:ln>
        </p:spPr>
      </p:sp>
      <p:sp>
        <p:nvSpPr>
          <p:cNvPr id="3" name="Shape 1"/>
          <p:cNvSpPr/>
          <p:nvPr/>
        </p:nvSpPr>
        <p:spPr>
          <a:xfrm>
            <a:off x="365760" y="182880"/>
            <a:ext cx="1371600" cy="274320"/>
          </a:xfrm>
          <a:prstGeom prst="rect">
            <a:avLst/>
          </a:prstGeom>
          <a:solidFill>
            <a:srgbClr val="F6C90E"/>
          </a:solidFill>
          <a:ln w="12700">
            <a:solidFill>
              <a:srgbClr val="F6C90E"/>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Key Words Part 1 of 2</a:t>
            </a:r>
            <a:endParaRPr lang="en-US" sz="2400" dirty="0"/>
          </a:p>
        </p:txBody>
      </p:sp>
      <p:sp>
        <p:nvSpPr>
          <p:cNvPr id="6" name="Shape 4"/>
          <p:cNvSpPr/>
          <p:nvPr/>
        </p:nvSpPr>
        <p:spPr>
          <a:xfrm>
            <a:off x="365760" y="1188720"/>
            <a:ext cx="8412480" cy="1463040"/>
          </a:xfrm>
          <a:prstGeom prst="rect">
            <a:avLst/>
          </a:prstGeom>
          <a:solidFill>
            <a:srgbClr val="0E7C7B"/>
          </a:solidFill>
          <a:ln w="12700">
            <a:solidFill>
              <a:srgbClr val="0E7C7B"/>
            </a:solidFill>
            <a:prstDash val="solid"/>
          </a:ln>
        </p:spPr>
      </p:sp>
      <p:sp>
        <p:nvSpPr>
          <p:cNvPr id="7" name="Text 5"/>
          <p:cNvSpPr/>
          <p:nvPr/>
        </p:nvSpPr>
        <p:spPr>
          <a:xfrm>
            <a:off x="457200" y="1234440"/>
            <a:ext cx="3200400" cy="457200"/>
          </a:xfrm>
          <a:prstGeom prst="rect">
            <a:avLst/>
          </a:prstGeom>
          <a:noFill/>
          <a:ln/>
        </p:spPr>
        <p:txBody>
          <a:bodyPr wrap="square" rtlCol="0" anchor="ctr"/>
          <a:lstStyle/>
          <a:p>
            <a:pPr algn="l" indent="0" marL="0">
              <a:buNone/>
            </a:pPr>
            <a:r>
              <a:rPr lang="en-US" sz="2200" b="1" dirty="0">
                <a:solidFill>
                  <a:srgbClr val="F6C90E"/>
                </a:solidFill>
                <a:latin typeface="Calibri" pitchFamily="34" charset="0"/>
                <a:ea typeface="Calibri" pitchFamily="34" charset="-122"/>
                <a:cs typeface="Calibri" pitchFamily="34" charset="-120"/>
              </a:rPr>
              <a:t>energy</a:t>
            </a:r>
            <a:endParaRPr lang="en-US" sz="2200" dirty="0"/>
          </a:p>
        </p:txBody>
      </p:sp>
      <p:sp>
        <p:nvSpPr>
          <p:cNvPr id="8" name="Text 6"/>
          <p:cNvSpPr/>
          <p:nvPr/>
        </p:nvSpPr>
        <p:spPr>
          <a:xfrm>
            <a:off x="457200" y="1600200"/>
            <a:ext cx="3200400" cy="320040"/>
          </a:xfrm>
          <a:prstGeom prst="rect">
            <a:avLst/>
          </a:prstGeom>
          <a:noFill/>
          <a:ln/>
        </p:spPr>
        <p:txBody>
          <a:bodyPr wrap="square" rtlCol="0" anchor="ctr"/>
          <a:lstStyle/>
          <a:p>
            <a:pPr algn="l" indent="0" marL="0">
              <a:buNone/>
            </a:pPr>
            <a:r>
              <a:rPr lang="en-US" sz="1200" i="1" dirty="0">
                <a:solidFill>
                  <a:srgbClr val="FFFFFF"/>
                </a:solidFill>
                <a:latin typeface="Calibri" pitchFamily="34" charset="0"/>
                <a:ea typeface="Calibri" pitchFamily="34" charset="-122"/>
                <a:cs typeface="Calibri" pitchFamily="34" charset="-120"/>
              </a:rPr>
              <a:t>noun</a:t>
            </a:r>
            <a:endParaRPr lang="en-US" sz="1200" dirty="0"/>
          </a:p>
        </p:txBody>
      </p:sp>
      <p:sp>
        <p:nvSpPr>
          <p:cNvPr id="9" name="Shape 7"/>
          <p:cNvSpPr/>
          <p:nvPr/>
        </p:nvSpPr>
        <p:spPr>
          <a:xfrm>
            <a:off x="3474720" y="1188720"/>
            <a:ext cx="36576" cy="1463040"/>
          </a:xfrm>
          <a:prstGeom prst="rect">
            <a:avLst/>
          </a:prstGeom>
          <a:solidFill>
            <a:srgbClr val="FFFFFF"/>
          </a:solidFill>
          <a:ln w="12700">
            <a:solidFill>
              <a:srgbClr val="FFFFFF"/>
            </a:solidFill>
            <a:prstDash val="solid"/>
          </a:ln>
        </p:spPr>
      </p:sp>
      <p:sp>
        <p:nvSpPr>
          <p:cNvPr id="10" name="Text 8"/>
          <p:cNvSpPr/>
          <p:nvPr/>
        </p:nvSpPr>
        <p:spPr>
          <a:xfrm>
            <a:off x="3566160" y="1234440"/>
            <a:ext cx="5029200" cy="1325880"/>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The ability to cause motion or change. Energy shows up in many forms and makes things happen.</a:t>
            </a:r>
            <a:endParaRPr lang="en-US" sz="1400" dirty="0"/>
          </a:p>
        </p:txBody>
      </p:sp>
      <p:sp>
        <p:nvSpPr>
          <p:cNvPr id="11" name="Shape 9"/>
          <p:cNvSpPr/>
          <p:nvPr/>
        </p:nvSpPr>
        <p:spPr>
          <a:xfrm>
            <a:off x="365760" y="2788920"/>
            <a:ext cx="8412480" cy="1463040"/>
          </a:xfrm>
          <a:prstGeom prst="rect">
            <a:avLst/>
          </a:prstGeom>
          <a:solidFill>
            <a:srgbClr val="2E86AB"/>
          </a:solidFill>
          <a:ln w="12700">
            <a:solidFill>
              <a:srgbClr val="2E86AB"/>
            </a:solidFill>
            <a:prstDash val="solid"/>
          </a:ln>
        </p:spPr>
      </p:sp>
      <p:sp>
        <p:nvSpPr>
          <p:cNvPr id="12" name="Text 10"/>
          <p:cNvSpPr/>
          <p:nvPr/>
        </p:nvSpPr>
        <p:spPr>
          <a:xfrm>
            <a:off x="457200" y="2834640"/>
            <a:ext cx="3200400" cy="457200"/>
          </a:xfrm>
          <a:prstGeom prst="rect">
            <a:avLst/>
          </a:prstGeom>
          <a:noFill/>
          <a:ln/>
        </p:spPr>
        <p:txBody>
          <a:bodyPr wrap="square" rtlCol="0" anchor="ctr"/>
          <a:lstStyle/>
          <a:p>
            <a:pPr algn="l" indent="0" marL="0">
              <a:buNone/>
            </a:pPr>
            <a:r>
              <a:rPr lang="en-US" sz="2000" b="1" dirty="0">
                <a:solidFill>
                  <a:srgbClr val="F6C90E"/>
                </a:solidFill>
                <a:latin typeface="Calibri" pitchFamily="34" charset="0"/>
                <a:ea typeface="Calibri" pitchFamily="34" charset="-122"/>
                <a:cs typeface="Calibri" pitchFamily="34" charset="-120"/>
              </a:rPr>
              <a:t>light energy</a:t>
            </a:r>
            <a:endParaRPr lang="en-US" sz="2000" dirty="0"/>
          </a:p>
        </p:txBody>
      </p:sp>
      <p:sp>
        <p:nvSpPr>
          <p:cNvPr id="13" name="Text 11"/>
          <p:cNvSpPr/>
          <p:nvPr/>
        </p:nvSpPr>
        <p:spPr>
          <a:xfrm>
            <a:off x="457200" y="3200400"/>
            <a:ext cx="3200400" cy="320040"/>
          </a:xfrm>
          <a:prstGeom prst="rect">
            <a:avLst/>
          </a:prstGeom>
          <a:noFill/>
          <a:ln/>
        </p:spPr>
        <p:txBody>
          <a:bodyPr wrap="square" rtlCol="0" anchor="ctr"/>
          <a:lstStyle/>
          <a:p>
            <a:pPr algn="l" indent="0" marL="0">
              <a:buNone/>
            </a:pPr>
            <a:r>
              <a:rPr lang="en-US" sz="1200" i="1" dirty="0">
                <a:solidFill>
                  <a:srgbClr val="FFFFFF"/>
                </a:solidFill>
                <a:latin typeface="Calibri" pitchFamily="34" charset="0"/>
                <a:ea typeface="Calibri" pitchFamily="34" charset="-122"/>
                <a:cs typeface="Calibri" pitchFamily="34" charset="-120"/>
              </a:rPr>
              <a:t>noun phrase</a:t>
            </a:r>
            <a:endParaRPr lang="en-US" sz="1200" dirty="0"/>
          </a:p>
        </p:txBody>
      </p:sp>
      <p:sp>
        <p:nvSpPr>
          <p:cNvPr id="14" name="Shape 12"/>
          <p:cNvSpPr/>
          <p:nvPr/>
        </p:nvSpPr>
        <p:spPr>
          <a:xfrm>
            <a:off x="3474720" y="2788920"/>
            <a:ext cx="36576" cy="1463040"/>
          </a:xfrm>
          <a:prstGeom prst="rect">
            <a:avLst/>
          </a:prstGeom>
          <a:solidFill>
            <a:srgbClr val="FFFFFF"/>
          </a:solidFill>
          <a:ln w="12700">
            <a:solidFill>
              <a:srgbClr val="FFFFFF"/>
            </a:solidFill>
            <a:prstDash val="solid"/>
          </a:ln>
        </p:spPr>
      </p:sp>
      <p:sp>
        <p:nvSpPr>
          <p:cNvPr id="15" name="Text 13"/>
          <p:cNvSpPr/>
          <p:nvPr/>
        </p:nvSpPr>
        <p:spPr>
          <a:xfrm>
            <a:off x="3566160" y="2834640"/>
            <a:ext cx="5029200" cy="1325880"/>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The energy that lets you see. It comes from sources like the sun fire or light bulbs.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5C"/>
          </a:solidFill>
          <a:ln w="12700">
            <a:solidFill>
              <a:srgbClr val="1A3A5C"/>
            </a:solidFill>
            <a:prstDash val="solid"/>
          </a:ln>
        </p:spPr>
      </p:sp>
      <p:sp>
        <p:nvSpPr>
          <p:cNvPr id="3" name="Shape 1"/>
          <p:cNvSpPr/>
          <p:nvPr/>
        </p:nvSpPr>
        <p:spPr>
          <a:xfrm>
            <a:off x="365760" y="182880"/>
            <a:ext cx="1371600" cy="274320"/>
          </a:xfrm>
          <a:prstGeom prst="rect">
            <a:avLst/>
          </a:prstGeom>
          <a:solidFill>
            <a:srgbClr val="F6C90E"/>
          </a:solidFill>
          <a:ln w="12700">
            <a:solidFill>
              <a:srgbClr val="F6C90E"/>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Key Words Part 2 of 2</a:t>
            </a:r>
            <a:endParaRPr lang="en-US" sz="2400" dirty="0"/>
          </a:p>
        </p:txBody>
      </p:sp>
      <p:sp>
        <p:nvSpPr>
          <p:cNvPr id="6" name="Shape 4"/>
          <p:cNvSpPr/>
          <p:nvPr/>
        </p:nvSpPr>
        <p:spPr>
          <a:xfrm>
            <a:off x="365760" y="1188720"/>
            <a:ext cx="8412480" cy="1463040"/>
          </a:xfrm>
          <a:prstGeom prst="rect">
            <a:avLst/>
          </a:prstGeom>
          <a:solidFill>
            <a:srgbClr val="0E7C7B"/>
          </a:solidFill>
          <a:ln w="12700">
            <a:solidFill>
              <a:srgbClr val="0E7C7B"/>
            </a:solidFill>
            <a:prstDash val="solid"/>
          </a:ln>
        </p:spPr>
      </p:sp>
      <p:sp>
        <p:nvSpPr>
          <p:cNvPr id="7" name="Text 5"/>
          <p:cNvSpPr/>
          <p:nvPr/>
        </p:nvSpPr>
        <p:spPr>
          <a:xfrm>
            <a:off x="457200" y="1234440"/>
            <a:ext cx="3200400" cy="457200"/>
          </a:xfrm>
          <a:prstGeom prst="rect">
            <a:avLst/>
          </a:prstGeom>
          <a:noFill/>
          <a:ln/>
        </p:spPr>
        <p:txBody>
          <a:bodyPr wrap="square" rtlCol="0" anchor="ctr"/>
          <a:lstStyle/>
          <a:p>
            <a:pPr algn="l" indent="0" marL="0">
              <a:buNone/>
            </a:pPr>
            <a:r>
              <a:rPr lang="en-US" sz="2000" b="1" dirty="0">
                <a:solidFill>
                  <a:srgbClr val="F6C90E"/>
                </a:solidFill>
                <a:latin typeface="Calibri" pitchFamily="34" charset="0"/>
                <a:ea typeface="Calibri" pitchFamily="34" charset="-122"/>
                <a:cs typeface="Calibri" pitchFamily="34" charset="-120"/>
              </a:rPr>
              <a:t>heat energy</a:t>
            </a:r>
            <a:endParaRPr lang="en-US" sz="2000" dirty="0"/>
          </a:p>
        </p:txBody>
      </p:sp>
      <p:sp>
        <p:nvSpPr>
          <p:cNvPr id="8" name="Text 6"/>
          <p:cNvSpPr/>
          <p:nvPr/>
        </p:nvSpPr>
        <p:spPr>
          <a:xfrm>
            <a:off x="457200" y="1600200"/>
            <a:ext cx="3200400" cy="320040"/>
          </a:xfrm>
          <a:prstGeom prst="rect">
            <a:avLst/>
          </a:prstGeom>
          <a:noFill/>
          <a:ln/>
        </p:spPr>
        <p:txBody>
          <a:bodyPr wrap="square" rtlCol="0" anchor="ctr"/>
          <a:lstStyle/>
          <a:p>
            <a:pPr algn="l" indent="0" marL="0">
              <a:buNone/>
            </a:pPr>
            <a:r>
              <a:rPr lang="en-US" sz="1200" i="1" dirty="0">
                <a:solidFill>
                  <a:srgbClr val="FFFFFF"/>
                </a:solidFill>
                <a:latin typeface="Calibri" pitchFamily="34" charset="0"/>
                <a:ea typeface="Calibri" pitchFamily="34" charset="-122"/>
                <a:cs typeface="Calibri" pitchFamily="34" charset="-120"/>
              </a:rPr>
              <a:t>noun phrase</a:t>
            </a:r>
            <a:endParaRPr lang="en-US" sz="1200" dirty="0"/>
          </a:p>
        </p:txBody>
      </p:sp>
      <p:sp>
        <p:nvSpPr>
          <p:cNvPr id="9" name="Shape 7"/>
          <p:cNvSpPr/>
          <p:nvPr/>
        </p:nvSpPr>
        <p:spPr>
          <a:xfrm>
            <a:off x="3474720" y="1188720"/>
            <a:ext cx="36576" cy="1463040"/>
          </a:xfrm>
          <a:prstGeom prst="rect">
            <a:avLst/>
          </a:prstGeom>
          <a:solidFill>
            <a:srgbClr val="FFFFFF"/>
          </a:solidFill>
          <a:ln w="12700">
            <a:solidFill>
              <a:srgbClr val="FFFFFF"/>
            </a:solidFill>
            <a:prstDash val="solid"/>
          </a:ln>
        </p:spPr>
      </p:sp>
      <p:sp>
        <p:nvSpPr>
          <p:cNvPr id="10" name="Text 8"/>
          <p:cNvSpPr/>
          <p:nvPr/>
        </p:nvSpPr>
        <p:spPr>
          <a:xfrm>
            <a:off x="3566160" y="1234440"/>
            <a:ext cx="5029200" cy="1325880"/>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The energy of moving particles. Fast particles feel hot. Slow particles feel cold.</a:t>
            </a:r>
            <a:endParaRPr lang="en-US" sz="1400" dirty="0"/>
          </a:p>
        </p:txBody>
      </p:sp>
      <p:sp>
        <p:nvSpPr>
          <p:cNvPr id="11" name="Shape 9"/>
          <p:cNvSpPr/>
          <p:nvPr/>
        </p:nvSpPr>
        <p:spPr>
          <a:xfrm>
            <a:off x="365760" y="2788920"/>
            <a:ext cx="8412480" cy="1463040"/>
          </a:xfrm>
          <a:prstGeom prst="rect">
            <a:avLst/>
          </a:prstGeom>
          <a:solidFill>
            <a:srgbClr val="2E86AB"/>
          </a:solidFill>
          <a:ln w="12700">
            <a:solidFill>
              <a:srgbClr val="2E86AB"/>
            </a:solidFill>
            <a:prstDash val="solid"/>
          </a:ln>
        </p:spPr>
      </p:sp>
      <p:sp>
        <p:nvSpPr>
          <p:cNvPr id="12" name="Text 10"/>
          <p:cNvSpPr/>
          <p:nvPr/>
        </p:nvSpPr>
        <p:spPr>
          <a:xfrm>
            <a:off x="457200" y="2834640"/>
            <a:ext cx="3200400" cy="457200"/>
          </a:xfrm>
          <a:prstGeom prst="rect">
            <a:avLst/>
          </a:prstGeom>
          <a:noFill/>
          <a:ln/>
        </p:spPr>
        <p:txBody>
          <a:bodyPr wrap="square" rtlCol="0" anchor="ctr"/>
          <a:lstStyle/>
          <a:p>
            <a:pPr algn="l" indent="0" marL="0">
              <a:buNone/>
            </a:pPr>
            <a:r>
              <a:rPr lang="en-US" sz="2000" b="1" dirty="0">
                <a:solidFill>
                  <a:srgbClr val="F6C90E"/>
                </a:solidFill>
                <a:latin typeface="Calibri" pitchFamily="34" charset="0"/>
                <a:ea typeface="Calibri" pitchFamily="34" charset="-122"/>
                <a:cs typeface="Calibri" pitchFamily="34" charset="-120"/>
              </a:rPr>
              <a:t>sound energy</a:t>
            </a:r>
            <a:endParaRPr lang="en-US" sz="2000" dirty="0"/>
          </a:p>
        </p:txBody>
      </p:sp>
      <p:sp>
        <p:nvSpPr>
          <p:cNvPr id="13" name="Text 11"/>
          <p:cNvSpPr/>
          <p:nvPr/>
        </p:nvSpPr>
        <p:spPr>
          <a:xfrm>
            <a:off x="457200" y="3200400"/>
            <a:ext cx="3200400" cy="320040"/>
          </a:xfrm>
          <a:prstGeom prst="rect">
            <a:avLst/>
          </a:prstGeom>
          <a:noFill/>
          <a:ln/>
        </p:spPr>
        <p:txBody>
          <a:bodyPr wrap="square" rtlCol="0" anchor="ctr"/>
          <a:lstStyle/>
          <a:p>
            <a:pPr algn="l" indent="0" marL="0">
              <a:buNone/>
            </a:pPr>
            <a:r>
              <a:rPr lang="en-US" sz="1200" i="1" dirty="0">
                <a:solidFill>
                  <a:srgbClr val="FFFFFF"/>
                </a:solidFill>
                <a:latin typeface="Calibri" pitchFamily="34" charset="0"/>
                <a:ea typeface="Calibri" pitchFamily="34" charset="-122"/>
                <a:cs typeface="Calibri" pitchFamily="34" charset="-120"/>
              </a:rPr>
              <a:t>noun phrase</a:t>
            </a:r>
            <a:endParaRPr lang="en-US" sz="1200" dirty="0"/>
          </a:p>
        </p:txBody>
      </p:sp>
      <p:sp>
        <p:nvSpPr>
          <p:cNvPr id="14" name="Shape 12"/>
          <p:cNvSpPr/>
          <p:nvPr/>
        </p:nvSpPr>
        <p:spPr>
          <a:xfrm>
            <a:off x="3474720" y="2788920"/>
            <a:ext cx="36576" cy="1463040"/>
          </a:xfrm>
          <a:prstGeom prst="rect">
            <a:avLst/>
          </a:prstGeom>
          <a:solidFill>
            <a:srgbClr val="FFFFFF"/>
          </a:solidFill>
          <a:ln w="12700">
            <a:solidFill>
              <a:srgbClr val="FFFFFF"/>
            </a:solidFill>
            <a:prstDash val="solid"/>
          </a:ln>
        </p:spPr>
      </p:sp>
      <p:sp>
        <p:nvSpPr>
          <p:cNvPr id="15" name="Text 13"/>
          <p:cNvSpPr/>
          <p:nvPr/>
        </p:nvSpPr>
        <p:spPr>
          <a:xfrm>
            <a:off x="3566160" y="2834640"/>
            <a:ext cx="5029200" cy="1325880"/>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Energy that travels as vibrations through the air or other materials. Your ears pick it up.</a:t>
            </a:r>
            <a:endParaRPr lang="en-US" sz="1400" dirty="0"/>
          </a:p>
        </p:txBody>
      </p:sp>
      <p:sp>
        <p:nvSpPr>
          <p:cNvPr id="16" name="Shape 14"/>
          <p:cNvSpPr/>
          <p:nvPr/>
        </p:nvSpPr>
        <p:spPr>
          <a:xfrm>
            <a:off x="365760" y="4343400"/>
            <a:ext cx="4023360" cy="548640"/>
          </a:xfrm>
          <a:prstGeom prst="rect">
            <a:avLst/>
          </a:prstGeom>
          <a:solidFill>
            <a:srgbClr val="F07D35"/>
          </a:solidFill>
          <a:ln w="12700">
            <a:solidFill>
              <a:srgbClr val="F07D35"/>
            </a:solidFill>
            <a:prstDash val="solid"/>
          </a:ln>
        </p:spPr>
      </p:sp>
      <p:sp>
        <p:nvSpPr>
          <p:cNvPr id="17" name="Text 15"/>
          <p:cNvSpPr/>
          <p:nvPr/>
        </p:nvSpPr>
        <p:spPr>
          <a:xfrm>
            <a:off x="457200" y="4398264"/>
            <a:ext cx="3840480" cy="43891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mechanical energy: energy of motion or position</a:t>
            </a:r>
            <a:endParaRPr lang="en-US" sz="1100" dirty="0"/>
          </a:p>
        </p:txBody>
      </p:sp>
      <p:sp>
        <p:nvSpPr>
          <p:cNvPr id="18" name="Shape 16"/>
          <p:cNvSpPr/>
          <p:nvPr/>
        </p:nvSpPr>
        <p:spPr>
          <a:xfrm>
            <a:off x="4572000" y="4343400"/>
            <a:ext cx="4206240" cy="548640"/>
          </a:xfrm>
          <a:prstGeom prst="rect">
            <a:avLst/>
          </a:prstGeom>
          <a:solidFill>
            <a:srgbClr val="2A7A4B"/>
          </a:solidFill>
          <a:ln w="12700">
            <a:solidFill>
              <a:srgbClr val="2A7A4B"/>
            </a:solidFill>
            <a:prstDash val="solid"/>
          </a:ln>
        </p:spPr>
      </p:sp>
      <p:sp>
        <p:nvSpPr>
          <p:cNvPr id="19" name="Text 17"/>
          <p:cNvSpPr/>
          <p:nvPr/>
        </p:nvSpPr>
        <p:spPr>
          <a:xfrm>
            <a:off x="4663440" y="4398264"/>
            <a:ext cx="4023360" cy="43891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chemical energy: stored in food fuel and batteries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7C7B"/>
          </a:solidFill>
          <a:ln w="12700">
            <a:solidFill>
              <a:srgbClr val="0E7C7B"/>
            </a:solidFill>
            <a:prstDash val="solid"/>
          </a:ln>
        </p:spPr>
      </p:sp>
      <p:sp>
        <p:nvSpPr>
          <p:cNvPr id="3" name="Shape 1"/>
          <p:cNvSpPr/>
          <p:nvPr/>
        </p:nvSpPr>
        <p:spPr>
          <a:xfrm>
            <a:off x="365760" y="182880"/>
            <a:ext cx="1371600" cy="274320"/>
          </a:xfrm>
          <a:prstGeom prst="rect">
            <a:avLst/>
          </a:prstGeom>
          <a:solidFill>
            <a:srgbClr val="1A3A5C"/>
          </a:solidFill>
          <a:ln w="12700">
            <a:solidFill>
              <a:srgbClr val="1A3A5C"/>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5" name="Text 3"/>
          <p:cNvSpPr/>
          <p:nvPr/>
        </p:nvSpPr>
        <p:spPr>
          <a:xfrm>
            <a:off x="365760" y="594360"/>
            <a:ext cx="8412480" cy="502920"/>
          </a:xfrm>
          <a:prstGeom prst="rect">
            <a:avLst/>
          </a:prstGeom>
          <a:noFill/>
          <a:ln/>
        </p:spPr>
        <p:txBody>
          <a:bodyPr wrap="square"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What Is Energy?</a:t>
            </a:r>
            <a:endParaRPr lang="en-US" sz="2600" dirty="0"/>
          </a:p>
        </p:txBody>
      </p:sp>
      <p:sp>
        <p:nvSpPr>
          <p:cNvPr id="6" name="Shape 4"/>
          <p:cNvSpPr/>
          <p:nvPr/>
        </p:nvSpPr>
        <p:spPr>
          <a:xfrm>
            <a:off x="365760" y="1188720"/>
            <a:ext cx="8412480" cy="1463040"/>
          </a:xfrm>
          <a:prstGeom prst="rect">
            <a:avLst/>
          </a:prstGeom>
          <a:solidFill>
            <a:srgbClr val="1A3A5C"/>
          </a:solidFill>
          <a:ln w="12700">
            <a:solidFill>
              <a:srgbClr val="1A3A5C"/>
            </a:solidFill>
            <a:prstDash val="solid"/>
          </a:ln>
        </p:spPr>
      </p:sp>
      <p:sp>
        <p:nvSpPr>
          <p:cNvPr id="7" name="Text 5"/>
          <p:cNvSpPr/>
          <p:nvPr/>
        </p:nvSpPr>
        <p:spPr>
          <a:xfrm>
            <a:off x="457200" y="1243584"/>
            <a:ext cx="8229600" cy="13533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Energy is the ability to cause motion or change. Anything that gets something else to move warm up light up vibrate or change shape is energy in action. You cannot hold energy in your hand but you can see what energy does.</a:t>
            </a:r>
            <a:endParaRPr lang="en-US" sz="1500" dirty="0"/>
          </a:p>
        </p:txBody>
      </p:sp>
      <p:sp>
        <p:nvSpPr>
          <p:cNvPr id="8" name="Shape 6"/>
          <p:cNvSpPr/>
          <p:nvPr/>
        </p:nvSpPr>
        <p:spPr>
          <a:xfrm>
            <a:off x="365760" y="2788920"/>
            <a:ext cx="8412480" cy="822960"/>
          </a:xfrm>
          <a:prstGeom prst="rect">
            <a:avLst/>
          </a:prstGeom>
          <a:solidFill>
            <a:srgbClr val="0D1B2A"/>
          </a:solidFill>
          <a:ln w="12700">
            <a:solidFill>
              <a:srgbClr val="0D1B2A"/>
            </a:solidFill>
            <a:prstDash val="solid"/>
          </a:ln>
        </p:spPr>
      </p:sp>
      <p:sp>
        <p:nvSpPr>
          <p:cNvPr id="9" name="Text 7"/>
          <p:cNvSpPr/>
          <p:nvPr/>
        </p:nvSpPr>
        <p:spPr>
          <a:xfrm>
            <a:off x="457200" y="2843784"/>
            <a:ext cx="8229600" cy="713232"/>
          </a:xfrm>
          <a:prstGeom prst="rect">
            <a:avLst/>
          </a:prstGeom>
          <a:noFill/>
          <a:ln/>
        </p:spPr>
        <p:txBody>
          <a:bodyPr wrap="square" lIns="0" tIns="0" rIns="0" bIns="0" rtlCol="0" anchor="ctr"/>
          <a:lstStyle/>
          <a:p>
            <a:pPr algn="ctr" indent="0" marL="0">
              <a:buNone/>
            </a:pPr>
            <a:r>
              <a:rPr lang="en-US" sz="1400" b="1" dirty="0">
                <a:solidFill>
                  <a:srgbClr val="F6C90E"/>
                </a:solidFill>
                <a:latin typeface="Calibri" pitchFamily="34" charset="0"/>
                <a:ea typeface="Calibri" pitchFamily="34" charset="-122"/>
                <a:cs typeface="Calibri" pitchFamily="34" charset="-120"/>
              </a:rPr>
              <a:t>Six main forms: LIGHT  HEAT  SOUND  ELECTRICAL  CHEMICAL  MECHANICAL. Each form looks different but they all make things happen.</a:t>
            </a:r>
            <a:endParaRPr lang="en-US" sz="1400" dirty="0"/>
          </a:p>
        </p:txBody>
      </p:sp>
      <p:sp>
        <p:nvSpPr>
          <p:cNvPr id="10" name="Text 8"/>
          <p:cNvSpPr/>
          <p:nvPr/>
        </p:nvSpPr>
        <p:spPr>
          <a:xfrm>
            <a:off x="365760" y="3749040"/>
            <a:ext cx="8412480" cy="502920"/>
          </a:xfrm>
          <a:prstGeom prst="rect">
            <a:avLst/>
          </a:prstGeom>
          <a:noFill/>
          <a:ln/>
        </p:spPr>
        <p:txBody>
          <a:bodyPr wrap="square" rtlCol="0" anchor="ctr"/>
          <a:lstStyle/>
          <a:p>
            <a:pPr algn="l" indent="0" marL="0">
              <a:buNone/>
            </a:pPr>
            <a:r>
              <a:rPr lang="en-US" sz="1300" i="1" dirty="0">
                <a:solidFill>
                  <a:srgbClr val="FFFFFF"/>
                </a:solidFill>
                <a:latin typeface="Calibri" pitchFamily="34" charset="0"/>
                <a:ea typeface="Calibri" pitchFamily="34" charset="-122"/>
                <a:cs typeface="Calibri" pitchFamily="34" charset="-120"/>
              </a:rPr>
              <a:t>Stop and Think: What is one thing in your room right now that is moving warming glowing or making a sound? What kind of energy is at work?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BF4FA"/>
          </a:solidFill>
          <a:ln w="12700">
            <a:solidFill>
              <a:srgbClr val="EBF4FA"/>
            </a:solidFill>
            <a:prstDash val="solid"/>
          </a:ln>
        </p:spPr>
      </p:sp>
      <p:sp>
        <p:nvSpPr>
          <p:cNvPr id="3" name="Shape 1"/>
          <p:cNvSpPr/>
          <p:nvPr/>
        </p:nvSpPr>
        <p:spPr>
          <a:xfrm>
            <a:off x="365760" y="182880"/>
            <a:ext cx="1371600" cy="274320"/>
          </a:xfrm>
          <a:prstGeom prst="rect">
            <a:avLst/>
          </a:prstGeom>
          <a:solidFill>
            <a:srgbClr val="2E86AB"/>
          </a:solidFill>
          <a:ln w="12700">
            <a:solidFill>
              <a:srgbClr val="2E86AB"/>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LESSON</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Six Forms of Energy</a:t>
            </a:r>
            <a:endParaRPr lang="en-US" sz="2600" dirty="0"/>
          </a:p>
        </p:txBody>
      </p:sp>
      <p:sp>
        <p:nvSpPr>
          <p:cNvPr id="6" name="Shape 4"/>
          <p:cNvSpPr/>
          <p:nvPr/>
        </p:nvSpPr>
        <p:spPr>
          <a:xfrm>
            <a:off x="365760" y="1188720"/>
            <a:ext cx="4114800" cy="960120"/>
          </a:xfrm>
          <a:prstGeom prst="rect">
            <a:avLst/>
          </a:prstGeom>
          <a:solidFill>
            <a:srgbClr val="FFFFFF"/>
          </a:solidFill>
          <a:ln w="12700">
            <a:solidFill>
              <a:srgbClr val="FFFFFF"/>
            </a:solidFill>
            <a:prstDash val="solid"/>
          </a:ln>
        </p:spPr>
      </p:sp>
      <p:sp>
        <p:nvSpPr>
          <p:cNvPr id="7" name="Shape 5"/>
          <p:cNvSpPr/>
          <p:nvPr/>
        </p:nvSpPr>
        <p:spPr>
          <a:xfrm>
            <a:off x="365760" y="1188720"/>
            <a:ext cx="1097280" cy="960120"/>
          </a:xfrm>
          <a:prstGeom prst="rect">
            <a:avLst/>
          </a:prstGeom>
          <a:solidFill>
            <a:srgbClr val="F6C90E"/>
          </a:solidFill>
          <a:ln w="12700">
            <a:solidFill>
              <a:srgbClr val="F6C90E"/>
            </a:solidFill>
            <a:prstDash val="solid"/>
          </a:ln>
        </p:spPr>
      </p:sp>
      <p:sp>
        <p:nvSpPr>
          <p:cNvPr id="8" name="Text 6"/>
          <p:cNvSpPr/>
          <p:nvPr/>
        </p:nvSpPr>
        <p:spPr>
          <a:xfrm>
            <a:off x="365760" y="1188720"/>
            <a:ext cx="1097280" cy="9601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LIGHT</a:t>
            </a:r>
            <a:endParaRPr lang="en-US" sz="1000" dirty="0"/>
          </a:p>
        </p:txBody>
      </p:sp>
      <p:sp>
        <p:nvSpPr>
          <p:cNvPr id="9" name="Text 7"/>
          <p:cNvSpPr/>
          <p:nvPr/>
        </p:nvSpPr>
        <p:spPr>
          <a:xfrm>
            <a:off x="1508760" y="1234440"/>
            <a:ext cx="2880360" cy="868680"/>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Lets you see. Sources: sun fire light bulbs.</a:t>
            </a:r>
            <a:endParaRPr lang="en-US" sz="1100" dirty="0"/>
          </a:p>
        </p:txBody>
      </p:sp>
      <p:sp>
        <p:nvSpPr>
          <p:cNvPr id="10" name="Shape 8"/>
          <p:cNvSpPr/>
          <p:nvPr/>
        </p:nvSpPr>
        <p:spPr>
          <a:xfrm>
            <a:off x="4663440" y="1188720"/>
            <a:ext cx="4114800" cy="960120"/>
          </a:xfrm>
          <a:prstGeom prst="rect">
            <a:avLst/>
          </a:prstGeom>
          <a:solidFill>
            <a:srgbClr val="FFFFFF"/>
          </a:solidFill>
          <a:ln w="12700">
            <a:solidFill>
              <a:srgbClr val="FFFFFF"/>
            </a:solidFill>
            <a:prstDash val="solid"/>
          </a:ln>
        </p:spPr>
      </p:sp>
      <p:sp>
        <p:nvSpPr>
          <p:cNvPr id="11" name="Shape 9"/>
          <p:cNvSpPr/>
          <p:nvPr/>
        </p:nvSpPr>
        <p:spPr>
          <a:xfrm>
            <a:off x="4663440" y="1188720"/>
            <a:ext cx="1097280" cy="960120"/>
          </a:xfrm>
          <a:prstGeom prst="rect">
            <a:avLst/>
          </a:prstGeom>
          <a:solidFill>
            <a:srgbClr val="F07D35"/>
          </a:solidFill>
          <a:ln w="12700">
            <a:solidFill>
              <a:srgbClr val="F07D35"/>
            </a:solidFill>
            <a:prstDash val="solid"/>
          </a:ln>
        </p:spPr>
      </p:sp>
      <p:sp>
        <p:nvSpPr>
          <p:cNvPr id="12" name="Text 10"/>
          <p:cNvSpPr/>
          <p:nvPr/>
        </p:nvSpPr>
        <p:spPr>
          <a:xfrm>
            <a:off x="4663440" y="1188720"/>
            <a:ext cx="1097280" cy="9601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HEAT</a:t>
            </a:r>
            <a:endParaRPr lang="en-US" sz="1000" dirty="0"/>
          </a:p>
        </p:txBody>
      </p:sp>
      <p:sp>
        <p:nvSpPr>
          <p:cNvPr id="13" name="Text 11"/>
          <p:cNvSpPr/>
          <p:nvPr/>
        </p:nvSpPr>
        <p:spPr>
          <a:xfrm>
            <a:off x="5806440" y="1234440"/>
            <a:ext cx="2880360" cy="868680"/>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Energy of moving particles. Fast=hot slow=cold.</a:t>
            </a:r>
            <a:endParaRPr lang="en-US" sz="1100" dirty="0"/>
          </a:p>
        </p:txBody>
      </p:sp>
      <p:sp>
        <p:nvSpPr>
          <p:cNvPr id="14" name="Shape 12"/>
          <p:cNvSpPr/>
          <p:nvPr/>
        </p:nvSpPr>
        <p:spPr>
          <a:xfrm>
            <a:off x="365760" y="2286000"/>
            <a:ext cx="4114800" cy="960120"/>
          </a:xfrm>
          <a:prstGeom prst="rect">
            <a:avLst/>
          </a:prstGeom>
          <a:solidFill>
            <a:srgbClr val="FFFFFF"/>
          </a:solidFill>
          <a:ln w="12700">
            <a:solidFill>
              <a:srgbClr val="FFFFFF"/>
            </a:solidFill>
            <a:prstDash val="solid"/>
          </a:ln>
        </p:spPr>
      </p:sp>
      <p:sp>
        <p:nvSpPr>
          <p:cNvPr id="15" name="Shape 13"/>
          <p:cNvSpPr/>
          <p:nvPr/>
        </p:nvSpPr>
        <p:spPr>
          <a:xfrm>
            <a:off x="365760" y="2286000"/>
            <a:ext cx="1097280" cy="960120"/>
          </a:xfrm>
          <a:prstGeom prst="rect">
            <a:avLst/>
          </a:prstGeom>
          <a:solidFill>
            <a:srgbClr val="2E86AB"/>
          </a:solidFill>
          <a:ln w="12700">
            <a:solidFill>
              <a:srgbClr val="2E86AB"/>
            </a:solidFill>
            <a:prstDash val="solid"/>
          </a:ln>
        </p:spPr>
      </p:sp>
      <p:sp>
        <p:nvSpPr>
          <p:cNvPr id="16" name="Text 14"/>
          <p:cNvSpPr/>
          <p:nvPr/>
        </p:nvSpPr>
        <p:spPr>
          <a:xfrm>
            <a:off x="365760" y="2286000"/>
            <a:ext cx="1097280" cy="9601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SOUND</a:t>
            </a:r>
            <a:endParaRPr lang="en-US" sz="1000" dirty="0"/>
          </a:p>
        </p:txBody>
      </p:sp>
      <p:sp>
        <p:nvSpPr>
          <p:cNvPr id="17" name="Text 15"/>
          <p:cNvSpPr/>
          <p:nvPr/>
        </p:nvSpPr>
        <p:spPr>
          <a:xfrm>
            <a:off x="1508760" y="2331720"/>
            <a:ext cx="2880360" cy="868680"/>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Travels as vibrations through air or materials.</a:t>
            </a:r>
            <a:endParaRPr lang="en-US" sz="1100" dirty="0"/>
          </a:p>
        </p:txBody>
      </p:sp>
      <p:sp>
        <p:nvSpPr>
          <p:cNvPr id="18" name="Shape 16"/>
          <p:cNvSpPr/>
          <p:nvPr/>
        </p:nvSpPr>
        <p:spPr>
          <a:xfrm>
            <a:off x="4663440" y="2286000"/>
            <a:ext cx="4114800" cy="960120"/>
          </a:xfrm>
          <a:prstGeom prst="rect">
            <a:avLst/>
          </a:prstGeom>
          <a:solidFill>
            <a:srgbClr val="FFFFFF"/>
          </a:solidFill>
          <a:ln w="12700">
            <a:solidFill>
              <a:srgbClr val="FFFFFF"/>
            </a:solidFill>
            <a:prstDash val="solid"/>
          </a:ln>
        </p:spPr>
      </p:sp>
      <p:sp>
        <p:nvSpPr>
          <p:cNvPr id="19" name="Shape 17"/>
          <p:cNvSpPr/>
          <p:nvPr/>
        </p:nvSpPr>
        <p:spPr>
          <a:xfrm>
            <a:off x="4663440" y="2286000"/>
            <a:ext cx="1097280" cy="960120"/>
          </a:xfrm>
          <a:prstGeom prst="rect">
            <a:avLst/>
          </a:prstGeom>
          <a:solidFill>
            <a:srgbClr val="0E7C7B"/>
          </a:solidFill>
          <a:ln w="12700">
            <a:solidFill>
              <a:srgbClr val="0E7C7B"/>
            </a:solidFill>
            <a:prstDash val="solid"/>
          </a:ln>
        </p:spPr>
      </p:sp>
      <p:sp>
        <p:nvSpPr>
          <p:cNvPr id="20" name="Text 18"/>
          <p:cNvSpPr/>
          <p:nvPr/>
        </p:nvSpPr>
        <p:spPr>
          <a:xfrm>
            <a:off x="4663440" y="2286000"/>
            <a:ext cx="1097280" cy="9601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ELECTRICAL</a:t>
            </a:r>
            <a:endParaRPr lang="en-US" sz="1000" dirty="0"/>
          </a:p>
        </p:txBody>
      </p:sp>
      <p:sp>
        <p:nvSpPr>
          <p:cNvPr id="21" name="Text 19"/>
          <p:cNvSpPr/>
          <p:nvPr/>
        </p:nvSpPr>
        <p:spPr>
          <a:xfrm>
            <a:off x="5806440" y="2331720"/>
            <a:ext cx="2880360" cy="868680"/>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Flows through wires and circuits.</a:t>
            </a:r>
            <a:endParaRPr lang="en-US" sz="1100" dirty="0"/>
          </a:p>
        </p:txBody>
      </p:sp>
      <p:sp>
        <p:nvSpPr>
          <p:cNvPr id="22" name="Shape 20"/>
          <p:cNvSpPr/>
          <p:nvPr/>
        </p:nvSpPr>
        <p:spPr>
          <a:xfrm>
            <a:off x="365760" y="3383280"/>
            <a:ext cx="4114800" cy="960120"/>
          </a:xfrm>
          <a:prstGeom prst="rect">
            <a:avLst/>
          </a:prstGeom>
          <a:solidFill>
            <a:srgbClr val="FFFFFF"/>
          </a:solidFill>
          <a:ln w="12700">
            <a:solidFill>
              <a:srgbClr val="FFFFFF"/>
            </a:solidFill>
            <a:prstDash val="solid"/>
          </a:ln>
        </p:spPr>
      </p:sp>
      <p:sp>
        <p:nvSpPr>
          <p:cNvPr id="23" name="Shape 21"/>
          <p:cNvSpPr/>
          <p:nvPr/>
        </p:nvSpPr>
        <p:spPr>
          <a:xfrm>
            <a:off x="365760" y="3383280"/>
            <a:ext cx="1097280" cy="960120"/>
          </a:xfrm>
          <a:prstGeom prst="rect">
            <a:avLst/>
          </a:prstGeom>
          <a:solidFill>
            <a:srgbClr val="2A7A4B"/>
          </a:solidFill>
          <a:ln w="12700">
            <a:solidFill>
              <a:srgbClr val="2A7A4B"/>
            </a:solidFill>
            <a:prstDash val="solid"/>
          </a:ln>
        </p:spPr>
      </p:sp>
      <p:sp>
        <p:nvSpPr>
          <p:cNvPr id="24" name="Text 22"/>
          <p:cNvSpPr/>
          <p:nvPr/>
        </p:nvSpPr>
        <p:spPr>
          <a:xfrm>
            <a:off x="365760" y="3383280"/>
            <a:ext cx="1097280" cy="9601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CHEMICAL</a:t>
            </a:r>
            <a:endParaRPr lang="en-US" sz="1000" dirty="0"/>
          </a:p>
        </p:txBody>
      </p:sp>
      <p:sp>
        <p:nvSpPr>
          <p:cNvPr id="25" name="Text 23"/>
          <p:cNvSpPr/>
          <p:nvPr/>
        </p:nvSpPr>
        <p:spPr>
          <a:xfrm>
            <a:off x="1508760" y="3429000"/>
            <a:ext cx="2880360" cy="868680"/>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Stored in food fuel batteries. Released when bonds break.</a:t>
            </a:r>
            <a:endParaRPr lang="en-US" sz="1100" dirty="0"/>
          </a:p>
        </p:txBody>
      </p:sp>
      <p:sp>
        <p:nvSpPr>
          <p:cNvPr id="26" name="Shape 24"/>
          <p:cNvSpPr/>
          <p:nvPr/>
        </p:nvSpPr>
        <p:spPr>
          <a:xfrm>
            <a:off x="4663440" y="3383280"/>
            <a:ext cx="4114800" cy="960120"/>
          </a:xfrm>
          <a:prstGeom prst="rect">
            <a:avLst/>
          </a:prstGeom>
          <a:solidFill>
            <a:srgbClr val="FFFFFF"/>
          </a:solidFill>
          <a:ln w="12700">
            <a:solidFill>
              <a:srgbClr val="FFFFFF"/>
            </a:solidFill>
            <a:prstDash val="solid"/>
          </a:ln>
        </p:spPr>
      </p:sp>
      <p:sp>
        <p:nvSpPr>
          <p:cNvPr id="27" name="Shape 25"/>
          <p:cNvSpPr/>
          <p:nvPr/>
        </p:nvSpPr>
        <p:spPr>
          <a:xfrm>
            <a:off x="4663440" y="3383280"/>
            <a:ext cx="1097280" cy="960120"/>
          </a:xfrm>
          <a:prstGeom prst="rect">
            <a:avLst/>
          </a:prstGeom>
          <a:solidFill>
            <a:srgbClr val="1A3A5C"/>
          </a:solidFill>
          <a:ln w="12700">
            <a:solidFill>
              <a:srgbClr val="1A3A5C"/>
            </a:solidFill>
            <a:prstDash val="solid"/>
          </a:ln>
        </p:spPr>
      </p:sp>
      <p:sp>
        <p:nvSpPr>
          <p:cNvPr id="28" name="Text 26"/>
          <p:cNvSpPr/>
          <p:nvPr/>
        </p:nvSpPr>
        <p:spPr>
          <a:xfrm>
            <a:off x="4663440" y="3383280"/>
            <a:ext cx="1097280" cy="9601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MECHANICAL</a:t>
            </a:r>
            <a:endParaRPr lang="en-US" sz="1000" dirty="0"/>
          </a:p>
        </p:txBody>
      </p:sp>
      <p:sp>
        <p:nvSpPr>
          <p:cNvPr id="29" name="Text 27"/>
          <p:cNvSpPr/>
          <p:nvPr/>
        </p:nvSpPr>
        <p:spPr>
          <a:xfrm>
            <a:off x="5806440" y="3429000"/>
            <a:ext cx="2880360" cy="868680"/>
          </a:xfrm>
          <a:prstGeom prst="rect">
            <a:avLst/>
          </a:prstGeom>
          <a:noFill/>
          <a:ln/>
        </p:spPr>
        <p:txBody>
          <a:bodyPr wrap="square"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Energy of motion or position.</a:t>
            </a:r>
            <a:endParaRPr lang="en-US" sz="1100" dirty="0"/>
          </a:p>
        </p:txBody>
      </p:sp>
      <p:sp>
        <p:nvSpPr>
          <p:cNvPr id="30" name="Text 28"/>
          <p:cNvSpPr/>
          <p:nvPr/>
        </p:nvSpPr>
        <p:spPr>
          <a:xfrm>
            <a:off x="365760" y="4480560"/>
            <a:ext cx="8412480" cy="365760"/>
          </a:xfrm>
          <a:prstGeom prst="rect">
            <a:avLst/>
          </a:prstGeom>
          <a:noFill/>
          <a:ln/>
        </p:spPr>
        <p:txBody>
          <a:bodyPr wrap="square" rtlCol="0" anchor="ctr"/>
          <a:lstStyle/>
          <a:p>
            <a:pPr algn="ctr" indent="0" marL="0">
              <a:buNone/>
            </a:pPr>
            <a:r>
              <a:rPr lang="en-US" sz="1100" i="1" dirty="0">
                <a:solidFill>
                  <a:srgbClr val="2C4A6E"/>
                </a:solidFill>
                <a:latin typeface="Calibri" pitchFamily="34" charset="0"/>
                <a:ea typeface="Calibri" pitchFamily="34" charset="-122"/>
                <a:cs typeface="Calibri" pitchFamily="34" charset="-120"/>
              </a:rPr>
              <a:t>Most everyday things use MORE than one form at once. A campfire gives light heat AND sound.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BF4FA"/>
          </a:solidFill>
          <a:ln w="12700">
            <a:solidFill>
              <a:srgbClr val="EBF4FA"/>
            </a:solidFill>
            <a:prstDash val="solid"/>
          </a:ln>
        </p:spPr>
      </p:sp>
      <p:sp>
        <p:nvSpPr>
          <p:cNvPr id="3" name="Shape 1"/>
          <p:cNvSpPr/>
          <p:nvPr/>
        </p:nvSpPr>
        <p:spPr>
          <a:xfrm>
            <a:off x="365760" y="182880"/>
            <a:ext cx="1371600" cy="274320"/>
          </a:xfrm>
          <a:prstGeom prst="rect">
            <a:avLst/>
          </a:prstGeom>
          <a:solidFill>
            <a:srgbClr val="1A3A5C"/>
          </a:solidFill>
          <a:ln w="12700">
            <a:solidFill>
              <a:srgbClr val="1A3A5C"/>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algn="l" indent="0" marL="0">
              <a:buNone/>
            </a:pPr>
            <a:r>
              <a:rPr lang="en-US" sz="2400" b="1" dirty="0">
                <a:solidFill>
                  <a:srgbClr val="1A1A2E"/>
                </a:solidFill>
                <a:latin typeface="Cambria" pitchFamily="34" charset="0"/>
                <a:ea typeface="Cambria" pitchFamily="34" charset="-122"/>
                <a:cs typeface="Cambria" pitchFamily="34" charset="-120"/>
              </a:rPr>
              <a:t>Energy at Work Real Examples</a:t>
            </a:r>
            <a:endParaRPr lang="en-US" sz="2400" dirty="0"/>
          </a:p>
        </p:txBody>
      </p:sp>
      <p:sp>
        <p:nvSpPr>
          <p:cNvPr id="6" name="Shape 4"/>
          <p:cNvSpPr/>
          <p:nvPr/>
        </p:nvSpPr>
        <p:spPr>
          <a:xfrm>
            <a:off x="3200400" y="1188720"/>
            <a:ext cx="2743200" cy="731520"/>
          </a:xfrm>
          <a:prstGeom prst="rect">
            <a:avLst/>
          </a:prstGeom>
          <a:solidFill>
            <a:srgbClr val="1A3A5C"/>
          </a:solidFill>
          <a:ln w="12700">
            <a:solidFill>
              <a:srgbClr val="1A3A5C"/>
            </a:solidFill>
            <a:prstDash val="solid"/>
          </a:ln>
        </p:spPr>
      </p:sp>
      <p:sp>
        <p:nvSpPr>
          <p:cNvPr id="7" name="Text 5"/>
          <p:cNvSpPr/>
          <p:nvPr/>
        </p:nvSpPr>
        <p:spPr>
          <a:xfrm>
            <a:off x="3200400" y="1188720"/>
            <a:ext cx="2743200" cy="731520"/>
          </a:xfrm>
          <a:prstGeom prst="rect">
            <a:avLst/>
          </a:prstGeom>
          <a:noFill/>
          <a:ln/>
        </p:spPr>
        <p:txBody>
          <a:bodyPr wrap="square" rtlCol="0" anchor="ctr"/>
          <a:lstStyle/>
          <a:p>
            <a:pPr algn="ctr" indent="0" marL="0">
              <a:buNone/>
            </a:pPr>
            <a:r>
              <a:rPr lang="en-US" sz="1200" b="1" dirty="0">
                <a:solidFill>
                  <a:srgbClr val="F6C90E"/>
                </a:solidFill>
                <a:latin typeface="Calibri" pitchFamily="34" charset="0"/>
                <a:ea typeface="Calibri" pitchFamily="34" charset="-122"/>
                <a:cs typeface="Calibri" pitchFamily="34" charset="-120"/>
              </a:rPr>
              <a:t>ENERGY causes motion or change</a:t>
            </a:r>
            <a:endParaRPr lang="en-US" sz="1200" dirty="0"/>
          </a:p>
        </p:txBody>
      </p:sp>
      <p:sp>
        <p:nvSpPr>
          <p:cNvPr id="8" name="Shape 6"/>
          <p:cNvSpPr/>
          <p:nvPr/>
        </p:nvSpPr>
        <p:spPr>
          <a:xfrm>
            <a:off x="365760" y="1097280"/>
            <a:ext cx="2560320" cy="777240"/>
          </a:xfrm>
          <a:prstGeom prst="rect">
            <a:avLst/>
          </a:prstGeom>
          <a:solidFill>
            <a:srgbClr val="F6C90E"/>
          </a:solidFill>
          <a:ln w="12700">
            <a:solidFill>
              <a:srgbClr val="F6C90E"/>
            </a:solidFill>
            <a:prstDash val="solid"/>
          </a:ln>
        </p:spPr>
      </p:sp>
      <p:sp>
        <p:nvSpPr>
          <p:cNvPr id="9" name="Text 7"/>
          <p:cNvSpPr/>
          <p:nvPr/>
        </p:nvSpPr>
        <p:spPr>
          <a:xfrm>
            <a:off x="365760" y="1097280"/>
            <a:ext cx="25603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LIGHT</a:t>
            </a:r>
            <a:endParaRPr lang="en-US" sz="1200" dirty="0"/>
          </a:p>
        </p:txBody>
      </p:sp>
      <p:sp>
        <p:nvSpPr>
          <p:cNvPr id="10" name="Text 8"/>
          <p:cNvSpPr/>
          <p:nvPr/>
        </p:nvSpPr>
        <p:spPr>
          <a:xfrm>
            <a:off x="365760" y="1444752"/>
            <a:ext cx="2560320" cy="384048"/>
          </a:xfrm>
          <a:prstGeom prst="rect">
            <a:avLst/>
          </a:prstGeom>
          <a:noFill/>
          <a:ln/>
        </p:spPr>
        <p:txBody>
          <a:bodyPr wrap="square"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Lamp Sun Candle</a:t>
            </a:r>
            <a:endParaRPr lang="en-US" sz="1000" dirty="0"/>
          </a:p>
        </p:txBody>
      </p:sp>
      <p:sp>
        <p:nvSpPr>
          <p:cNvPr id="11" name="Shape 9"/>
          <p:cNvSpPr/>
          <p:nvPr/>
        </p:nvSpPr>
        <p:spPr>
          <a:xfrm>
            <a:off x="365760" y="2103120"/>
            <a:ext cx="2560320" cy="777240"/>
          </a:xfrm>
          <a:prstGeom prst="rect">
            <a:avLst/>
          </a:prstGeom>
          <a:solidFill>
            <a:srgbClr val="F07D35"/>
          </a:solidFill>
          <a:ln w="12700">
            <a:solidFill>
              <a:srgbClr val="F07D35"/>
            </a:solidFill>
            <a:prstDash val="solid"/>
          </a:ln>
        </p:spPr>
      </p:sp>
      <p:sp>
        <p:nvSpPr>
          <p:cNvPr id="12" name="Text 10"/>
          <p:cNvSpPr/>
          <p:nvPr/>
        </p:nvSpPr>
        <p:spPr>
          <a:xfrm>
            <a:off x="365760" y="2103120"/>
            <a:ext cx="25603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HEAT</a:t>
            </a:r>
            <a:endParaRPr lang="en-US" sz="1200" dirty="0"/>
          </a:p>
        </p:txBody>
      </p:sp>
      <p:sp>
        <p:nvSpPr>
          <p:cNvPr id="13" name="Text 11"/>
          <p:cNvSpPr/>
          <p:nvPr/>
        </p:nvSpPr>
        <p:spPr>
          <a:xfrm>
            <a:off x="365760" y="2450592"/>
            <a:ext cx="2560320" cy="384048"/>
          </a:xfrm>
          <a:prstGeom prst="rect">
            <a:avLst/>
          </a:prstGeom>
          <a:noFill/>
          <a:ln/>
        </p:spPr>
        <p:txBody>
          <a:bodyPr wrap="square"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Stove Sun Campfire</a:t>
            </a:r>
            <a:endParaRPr lang="en-US" sz="1000" dirty="0"/>
          </a:p>
        </p:txBody>
      </p:sp>
      <p:sp>
        <p:nvSpPr>
          <p:cNvPr id="14" name="Shape 12"/>
          <p:cNvSpPr/>
          <p:nvPr/>
        </p:nvSpPr>
        <p:spPr>
          <a:xfrm>
            <a:off x="365760" y="3108960"/>
            <a:ext cx="2560320" cy="777240"/>
          </a:xfrm>
          <a:prstGeom prst="rect">
            <a:avLst/>
          </a:prstGeom>
          <a:solidFill>
            <a:srgbClr val="2E86AB"/>
          </a:solidFill>
          <a:ln w="12700">
            <a:solidFill>
              <a:srgbClr val="2E86AB"/>
            </a:solidFill>
            <a:prstDash val="solid"/>
          </a:ln>
        </p:spPr>
      </p:sp>
      <p:sp>
        <p:nvSpPr>
          <p:cNvPr id="15" name="Text 13"/>
          <p:cNvSpPr/>
          <p:nvPr/>
        </p:nvSpPr>
        <p:spPr>
          <a:xfrm>
            <a:off x="365760" y="3108960"/>
            <a:ext cx="25603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SOUND</a:t>
            </a:r>
            <a:endParaRPr lang="en-US" sz="1200" dirty="0"/>
          </a:p>
        </p:txBody>
      </p:sp>
      <p:sp>
        <p:nvSpPr>
          <p:cNvPr id="16" name="Text 14"/>
          <p:cNvSpPr/>
          <p:nvPr/>
        </p:nvSpPr>
        <p:spPr>
          <a:xfrm>
            <a:off x="365760" y="3456432"/>
            <a:ext cx="2560320" cy="384048"/>
          </a:xfrm>
          <a:prstGeom prst="rect">
            <a:avLst/>
          </a:prstGeom>
          <a:noFill/>
          <a:ln/>
        </p:spPr>
        <p:txBody>
          <a:bodyPr wrap="square"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Speaker Voice Drum</a:t>
            </a:r>
            <a:endParaRPr lang="en-US" sz="1000" dirty="0"/>
          </a:p>
        </p:txBody>
      </p:sp>
      <p:sp>
        <p:nvSpPr>
          <p:cNvPr id="17" name="Shape 15"/>
          <p:cNvSpPr/>
          <p:nvPr/>
        </p:nvSpPr>
        <p:spPr>
          <a:xfrm>
            <a:off x="6035040" y="1097280"/>
            <a:ext cx="2560320" cy="777240"/>
          </a:xfrm>
          <a:prstGeom prst="rect">
            <a:avLst/>
          </a:prstGeom>
          <a:solidFill>
            <a:srgbClr val="0E7C7B"/>
          </a:solidFill>
          <a:ln w="12700">
            <a:solidFill>
              <a:srgbClr val="0E7C7B"/>
            </a:solidFill>
            <a:prstDash val="solid"/>
          </a:ln>
        </p:spPr>
      </p:sp>
      <p:sp>
        <p:nvSpPr>
          <p:cNvPr id="18" name="Text 16"/>
          <p:cNvSpPr/>
          <p:nvPr/>
        </p:nvSpPr>
        <p:spPr>
          <a:xfrm>
            <a:off x="6035040" y="1097280"/>
            <a:ext cx="25603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ELECTRICAL</a:t>
            </a:r>
            <a:endParaRPr lang="en-US" sz="1200" dirty="0"/>
          </a:p>
        </p:txBody>
      </p:sp>
      <p:sp>
        <p:nvSpPr>
          <p:cNvPr id="19" name="Text 17"/>
          <p:cNvSpPr/>
          <p:nvPr/>
        </p:nvSpPr>
        <p:spPr>
          <a:xfrm>
            <a:off x="6035040" y="1444752"/>
            <a:ext cx="2560320" cy="384048"/>
          </a:xfrm>
          <a:prstGeom prst="rect">
            <a:avLst/>
          </a:prstGeom>
          <a:noFill/>
          <a:ln/>
        </p:spPr>
        <p:txBody>
          <a:bodyPr wrap="square"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Outlet Circuit Lightning</a:t>
            </a:r>
            <a:endParaRPr lang="en-US" sz="1000" dirty="0"/>
          </a:p>
        </p:txBody>
      </p:sp>
      <p:sp>
        <p:nvSpPr>
          <p:cNvPr id="20" name="Shape 18"/>
          <p:cNvSpPr/>
          <p:nvPr/>
        </p:nvSpPr>
        <p:spPr>
          <a:xfrm>
            <a:off x="6035040" y="2103120"/>
            <a:ext cx="2560320" cy="777240"/>
          </a:xfrm>
          <a:prstGeom prst="rect">
            <a:avLst/>
          </a:prstGeom>
          <a:solidFill>
            <a:srgbClr val="2A7A4B"/>
          </a:solidFill>
          <a:ln w="12700">
            <a:solidFill>
              <a:srgbClr val="2A7A4B"/>
            </a:solidFill>
            <a:prstDash val="solid"/>
          </a:ln>
        </p:spPr>
      </p:sp>
      <p:sp>
        <p:nvSpPr>
          <p:cNvPr id="21" name="Text 19"/>
          <p:cNvSpPr/>
          <p:nvPr/>
        </p:nvSpPr>
        <p:spPr>
          <a:xfrm>
            <a:off x="6035040" y="2103120"/>
            <a:ext cx="25603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CHEMICAL</a:t>
            </a:r>
            <a:endParaRPr lang="en-US" sz="1200" dirty="0"/>
          </a:p>
        </p:txBody>
      </p:sp>
      <p:sp>
        <p:nvSpPr>
          <p:cNvPr id="22" name="Text 20"/>
          <p:cNvSpPr/>
          <p:nvPr/>
        </p:nvSpPr>
        <p:spPr>
          <a:xfrm>
            <a:off x="6035040" y="2450592"/>
            <a:ext cx="2560320" cy="384048"/>
          </a:xfrm>
          <a:prstGeom prst="rect">
            <a:avLst/>
          </a:prstGeom>
          <a:noFill/>
          <a:ln/>
        </p:spPr>
        <p:txBody>
          <a:bodyPr wrap="square"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Battery Food Gas</a:t>
            </a:r>
            <a:endParaRPr lang="en-US" sz="1000" dirty="0"/>
          </a:p>
        </p:txBody>
      </p:sp>
      <p:sp>
        <p:nvSpPr>
          <p:cNvPr id="23" name="Shape 21"/>
          <p:cNvSpPr/>
          <p:nvPr/>
        </p:nvSpPr>
        <p:spPr>
          <a:xfrm>
            <a:off x="6035040" y="3108960"/>
            <a:ext cx="2560320" cy="777240"/>
          </a:xfrm>
          <a:prstGeom prst="rect">
            <a:avLst/>
          </a:prstGeom>
          <a:solidFill>
            <a:srgbClr val="1A3A5C"/>
          </a:solidFill>
          <a:ln w="12700">
            <a:solidFill>
              <a:srgbClr val="1A3A5C"/>
            </a:solidFill>
            <a:prstDash val="solid"/>
          </a:ln>
        </p:spPr>
      </p:sp>
      <p:sp>
        <p:nvSpPr>
          <p:cNvPr id="24" name="Text 22"/>
          <p:cNvSpPr/>
          <p:nvPr/>
        </p:nvSpPr>
        <p:spPr>
          <a:xfrm>
            <a:off x="6035040" y="3108960"/>
            <a:ext cx="25603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MECHANICAL</a:t>
            </a:r>
            <a:endParaRPr lang="en-US" sz="1200" dirty="0"/>
          </a:p>
        </p:txBody>
      </p:sp>
      <p:sp>
        <p:nvSpPr>
          <p:cNvPr id="25" name="Text 23"/>
          <p:cNvSpPr/>
          <p:nvPr/>
        </p:nvSpPr>
        <p:spPr>
          <a:xfrm>
            <a:off x="6035040" y="3456432"/>
            <a:ext cx="2560320" cy="384048"/>
          </a:xfrm>
          <a:prstGeom prst="rect">
            <a:avLst/>
          </a:prstGeom>
          <a:noFill/>
          <a:ln/>
        </p:spPr>
        <p:txBody>
          <a:bodyPr wrap="square"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Rolling ball Spring Wind</a:t>
            </a:r>
            <a:endParaRPr lang="en-US" sz="1000" dirty="0"/>
          </a:p>
        </p:txBody>
      </p:sp>
      <p:sp>
        <p:nvSpPr>
          <p:cNvPr id="26" name="Text 24"/>
          <p:cNvSpPr/>
          <p:nvPr/>
        </p:nvSpPr>
        <p:spPr>
          <a:xfrm>
            <a:off x="365760" y="4251960"/>
            <a:ext cx="8412480" cy="548640"/>
          </a:xfrm>
          <a:prstGeom prst="rect">
            <a:avLst/>
          </a:prstGeom>
          <a:noFill/>
          <a:ln/>
        </p:spPr>
        <p:txBody>
          <a:bodyPr wrap="square" rtlCol="0" anchor="ctr"/>
          <a:lstStyle/>
          <a:p>
            <a:pPr algn="ctr" indent="0" marL="0">
              <a:buNone/>
            </a:pPr>
            <a:r>
              <a:rPr lang="en-US" sz="1300" i="1" dirty="0">
                <a:solidFill>
                  <a:srgbClr val="2C4A6E"/>
                </a:solidFill>
                <a:latin typeface="Calibri" pitchFamily="34" charset="0"/>
                <a:ea typeface="Calibri" pitchFamily="34" charset="-122"/>
                <a:cs typeface="Calibri" pitchFamily="34" charset="-120"/>
              </a:rPr>
              <a:t>All six forms cause motion or change. Learn to recognize each one in real life.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w="12700">
            <a:solidFill>
              <a:srgbClr val="0D1B2A"/>
            </a:solidFill>
            <a:prstDash val="solid"/>
          </a:ln>
        </p:spPr>
      </p:sp>
      <p:sp>
        <p:nvSpPr>
          <p:cNvPr id="3" name="Shape 1"/>
          <p:cNvSpPr/>
          <p:nvPr/>
        </p:nvSpPr>
        <p:spPr>
          <a:xfrm>
            <a:off x="365760" y="182880"/>
            <a:ext cx="1371600" cy="274320"/>
          </a:xfrm>
          <a:prstGeom prst="rect">
            <a:avLst/>
          </a:prstGeom>
          <a:solidFill>
            <a:srgbClr val="2A7A4B"/>
          </a:solidFill>
          <a:ln w="12700">
            <a:solidFill>
              <a:srgbClr val="2A7A4B"/>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INVESTIGATE</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Spot the Energy Three Scenes</a:t>
            </a:r>
            <a:endParaRPr lang="en-US" sz="2600" dirty="0"/>
          </a:p>
        </p:txBody>
      </p:sp>
      <p:sp>
        <p:nvSpPr>
          <p:cNvPr id="6" name="Text 4"/>
          <p:cNvSpPr/>
          <p:nvPr/>
        </p:nvSpPr>
        <p:spPr>
          <a:xfrm>
            <a:off x="365760" y="1097280"/>
            <a:ext cx="8412480" cy="502920"/>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Look at three everyday scenes and identify all the forms of energy you can find. Most scenes have MORE than one!</a:t>
            </a:r>
            <a:endParaRPr lang="en-US" sz="1400" dirty="0"/>
          </a:p>
        </p:txBody>
      </p:sp>
      <p:sp>
        <p:nvSpPr>
          <p:cNvPr id="7" name="Shape 5"/>
          <p:cNvSpPr/>
          <p:nvPr/>
        </p:nvSpPr>
        <p:spPr>
          <a:xfrm>
            <a:off x="365760" y="1737360"/>
            <a:ext cx="8412480" cy="804672"/>
          </a:xfrm>
          <a:prstGeom prst="rect">
            <a:avLst/>
          </a:prstGeom>
          <a:solidFill>
            <a:srgbClr val="2E86AB"/>
          </a:solidFill>
          <a:ln w="12700">
            <a:solidFill>
              <a:srgbClr val="2E86AB"/>
            </a:solidFill>
            <a:prstDash val="solid"/>
          </a:ln>
        </p:spPr>
      </p:sp>
      <p:sp>
        <p:nvSpPr>
          <p:cNvPr id="8" name="Text 6"/>
          <p:cNvSpPr/>
          <p:nvPr/>
        </p:nvSpPr>
        <p:spPr>
          <a:xfrm>
            <a:off x="457200" y="1737360"/>
            <a:ext cx="1188720" cy="804672"/>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Scene A:</a:t>
            </a:r>
            <a:endParaRPr lang="en-US" sz="1300" dirty="0"/>
          </a:p>
        </p:txBody>
      </p:sp>
      <p:sp>
        <p:nvSpPr>
          <p:cNvPr id="9" name="Text 7"/>
          <p:cNvSpPr/>
          <p:nvPr/>
        </p:nvSpPr>
        <p:spPr>
          <a:xfrm>
            <a:off x="1645920" y="1737360"/>
            <a:ext cx="6949440" cy="804672"/>
          </a:xfrm>
          <a:prstGeom prst="rect">
            <a:avLst/>
          </a:prstGeom>
          <a:noFill/>
          <a:ln/>
        </p:spPr>
        <p:txBody>
          <a:bodyPr wrap="square"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Sunny playground: sun shining student kicks a soccer ball birds chirp water bottle warm from the sun.</a:t>
            </a:r>
            <a:endParaRPr lang="en-US" sz="1200" dirty="0"/>
          </a:p>
        </p:txBody>
      </p:sp>
      <p:sp>
        <p:nvSpPr>
          <p:cNvPr id="10" name="Shape 8"/>
          <p:cNvSpPr/>
          <p:nvPr/>
        </p:nvSpPr>
        <p:spPr>
          <a:xfrm>
            <a:off x="365760" y="2651760"/>
            <a:ext cx="8412480" cy="804672"/>
          </a:xfrm>
          <a:prstGeom prst="rect">
            <a:avLst/>
          </a:prstGeom>
          <a:solidFill>
            <a:srgbClr val="F07D35"/>
          </a:solidFill>
          <a:ln w="12700">
            <a:solidFill>
              <a:srgbClr val="F07D35"/>
            </a:solidFill>
            <a:prstDash val="solid"/>
          </a:ln>
        </p:spPr>
      </p:sp>
      <p:sp>
        <p:nvSpPr>
          <p:cNvPr id="11" name="Text 9"/>
          <p:cNvSpPr/>
          <p:nvPr/>
        </p:nvSpPr>
        <p:spPr>
          <a:xfrm>
            <a:off x="457200" y="2651760"/>
            <a:ext cx="1188720" cy="804672"/>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Scene B:</a:t>
            </a:r>
            <a:endParaRPr lang="en-US" sz="1300" dirty="0"/>
          </a:p>
        </p:txBody>
      </p:sp>
      <p:sp>
        <p:nvSpPr>
          <p:cNvPr id="12" name="Text 10"/>
          <p:cNvSpPr/>
          <p:nvPr/>
        </p:nvSpPr>
        <p:spPr>
          <a:xfrm>
            <a:off x="1645920" y="2651760"/>
            <a:ext cx="6949440" cy="804672"/>
          </a:xfrm>
          <a:prstGeom prst="rect">
            <a:avLst/>
          </a:prstGeom>
          <a:noFill/>
          <a:ln/>
        </p:spPr>
        <p:txBody>
          <a:bodyPr wrap="square"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Campfire at night: fire crackles and pops flames glow bright orange you feel warmth on your face sparks float up.</a:t>
            </a:r>
            <a:endParaRPr lang="en-US" sz="1200" dirty="0"/>
          </a:p>
        </p:txBody>
      </p:sp>
      <p:sp>
        <p:nvSpPr>
          <p:cNvPr id="13" name="Shape 11"/>
          <p:cNvSpPr/>
          <p:nvPr/>
        </p:nvSpPr>
        <p:spPr>
          <a:xfrm>
            <a:off x="365760" y="3566160"/>
            <a:ext cx="8412480" cy="804672"/>
          </a:xfrm>
          <a:prstGeom prst="rect">
            <a:avLst/>
          </a:prstGeom>
          <a:solidFill>
            <a:srgbClr val="0E7C7B"/>
          </a:solidFill>
          <a:ln w="12700">
            <a:solidFill>
              <a:srgbClr val="0E7C7B"/>
            </a:solidFill>
            <a:prstDash val="solid"/>
          </a:ln>
        </p:spPr>
      </p:sp>
      <p:sp>
        <p:nvSpPr>
          <p:cNvPr id="14" name="Text 12"/>
          <p:cNvSpPr/>
          <p:nvPr/>
        </p:nvSpPr>
        <p:spPr>
          <a:xfrm>
            <a:off x="457200" y="3566160"/>
            <a:ext cx="1188720" cy="804672"/>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Scene C:</a:t>
            </a:r>
            <a:endParaRPr lang="en-US" sz="1300" dirty="0"/>
          </a:p>
        </p:txBody>
      </p:sp>
      <p:sp>
        <p:nvSpPr>
          <p:cNvPr id="15" name="Text 13"/>
          <p:cNvSpPr/>
          <p:nvPr/>
        </p:nvSpPr>
        <p:spPr>
          <a:xfrm>
            <a:off x="1645920" y="3566160"/>
            <a:ext cx="6949440" cy="804672"/>
          </a:xfrm>
          <a:prstGeom prst="rect">
            <a:avLst/>
          </a:prstGeom>
          <a:noFill/>
          <a:ln/>
        </p:spPr>
        <p:txBody>
          <a:bodyPr wrap="square"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Kitchen at breakfast: microwave hums and warms oatmeal radio plays music fridge door opens light inside comes on.</a:t>
            </a:r>
            <a:endParaRPr lang="en-US" sz="1200" dirty="0"/>
          </a:p>
        </p:txBody>
      </p:sp>
      <p:sp>
        <p:nvSpPr>
          <p:cNvPr id="16" name="Text 14"/>
          <p:cNvSpPr/>
          <p:nvPr/>
        </p:nvSpPr>
        <p:spPr>
          <a:xfrm>
            <a:off x="365760" y="4526280"/>
            <a:ext cx="8412480" cy="365760"/>
          </a:xfrm>
          <a:prstGeom prst="rect">
            <a:avLst/>
          </a:prstGeom>
          <a:noFill/>
          <a:ln/>
        </p:spPr>
        <p:txBody>
          <a:bodyPr wrap="square" rtlCol="0" anchor="ctr"/>
          <a:lstStyle/>
          <a:p>
            <a:pPr algn="ctr" indent="0" marL="0">
              <a:buNone/>
            </a:pPr>
            <a:r>
              <a:rPr lang="en-US" sz="1100" i="1" dirty="0">
                <a:solidFill>
                  <a:srgbClr val="F6C90E"/>
                </a:solidFill>
                <a:latin typeface="Calibri" pitchFamily="34" charset="0"/>
                <a:ea typeface="Calibri" pitchFamily="34" charset="-122"/>
                <a:cs typeface="Calibri" pitchFamily="34" charset="-120"/>
              </a:rPr>
              <a:t>Challenge: Push yourself to find at least 3 forms of energy per scene including the less obvious ones!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BF4FA"/>
          </a:solidFill>
          <a:ln w="12700">
            <a:solidFill>
              <a:srgbClr val="EBF4FA"/>
            </a:solidFill>
            <a:prstDash val="solid"/>
          </a:ln>
        </p:spPr>
      </p:sp>
      <p:sp>
        <p:nvSpPr>
          <p:cNvPr id="3" name="Shape 1"/>
          <p:cNvSpPr/>
          <p:nvPr/>
        </p:nvSpPr>
        <p:spPr>
          <a:xfrm>
            <a:off x="365760" y="182880"/>
            <a:ext cx="1371600" cy="274320"/>
          </a:xfrm>
          <a:prstGeom prst="rect">
            <a:avLst/>
          </a:prstGeom>
          <a:solidFill>
            <a:srgbClr val="0E7C7B"/>
          </a:solidFill>
          <a:ln w="12700">
            <a:solidFill>
              <a:srgbClr val="0E7C7B"/>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TABLE</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algn="l" indent="0" marL="0">
              <a:buNone/>
            </a:pPr>
            <a:r>
              <a:rPr lang="en-US" sz="2200" b="1" dirty="0">
                <a:solidFill>
                  <a:srgbClr val="1A1A2E"/>
                </a:solidFill>
                <a:latin typeface="Cambria" pitchFamily="34" charset="0"/>
                <a:ea typeface="Cambria" pitchFamily="34" charset="-122"/>
                <a:cs typeface="Cambria" pitchFamily="34" charset="-120"/>
              </a:rPr>
              <a:t>Energy Spotting Chart Copy Into Your Notebook</a:t>
            </a:r>
            <a:endParaRPr lang="en-US" sz="2200" dirty="0"/>
          </a:p>
        </p:txBody>
      </p:sp>
      <p:sp>
        <p:nvSpPr>
          <p:cNvPr id="6" name="Shape 4"/>
          <p:cNvSpPr/>
          <p:nvPr/>
        </p:nvSpPr>
        <p:spPr>
          <a:xfrm>
            <a:off x="365760" y="1188720"/>
            <a:ext cx="8412480" cy="411480"/>
          </a:xfrm>
          <a:prstGeom prst="rect">
            <a:avLst/>
          </a:prstGeom>
          <a:solidFill>
            <a:srgbClr val="1A3A5C"/>
          </a:solidFill>
          <a:ln w="12700">
            <a:solidFill>
              <a:srgbClr val="1A3A5C"/>
            </a:solidFill>
            <a:prstDash val="solid"/>
          </a:ln>
        </p:spPr>
      </p:sp>
      <p:sp>
        <p:nvSpPr>
          <p:cNvPr id="7" name="Text 5"/>
          <p:cNvSpPr/>
          <p:nvPr/>
        </p:nvSpPr>
        <p:spPr>
          <a:xfrm>
            <a:off x="365760" y="1188720"/>
            <a:ext cx="20116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Scene</a:t>
            </a:r>
            <a:endParaRPr lang="en-US" sz="1300" dirty="0"/>
          </a:p>
        </p:txBody>
      </p:sp>
      <p:sp>
        <p:nvSpPr>
          <p:cNvPr id="8" name="Text 6"/>
          <p:cNvSpPr/>
          <p:nvPr/>
        </p:nvSpPr>
        <p:spPr>
          <a:xfrm>
            <a:off x="2377440" y="1188720"/>
            <a:ext cx="347472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Forms of Energy You See</a:t>
            </a:r>
            <a:endParaRPr lang="en-US" sz="1300" dirty="0"/>
          </a:p>
        </p:txBody>
      </p:sp>
      <p:sp>
        <p:nvSpPr>
          <p:cNvPr id="9" name="Text 7"/>
          <p:cNvSpPr/>
          <p:nvPr/>
        </p:nvSpPr>
        <p:spPr>
          <a:xfrm>
            <a:off x="5852160" y="1188720"/>
            <a:ext cx="29260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What Clue Helped?</a:t>
            </a:r>
            <a:endParaRPr lang="en-US" sz="1300" dirty="0"/>
          </a:p>
        </p:txBody>
      </p:sp>
      <p:sp>
        <p:nvSpPr>
          <p:cNvPr id="10" name="Shape 8"/>
          <p:cNvSpPr/>
          <p:nvPr/>
        </p:nvSpPr>
        <p:spPr>
          <a:xfrm>
            <a:off x="365760" y="1645920"/>
            <a:ext cx="2011680" cy="868680"/>
          </a:xfrm>
          <a:prstGeom prst="rect">
            <a:avLst/>
          </a:prstGeom>
          <a:solidFill>
            <a:srgbClr val="2E86AB"/>
          </a:solidFill>
          <a:ln w="12700">
            <a:solidFill>
              <a:srgbClr val="2E86AB"/>
            </a:solidFill>
            <a:prstDash val="solid"/>
          </a:ln>
        </p:spPr>
      </p:sp>
      <p:sp>
        <p:nvSpPr>
          <p:cNvPr id="11" name="Text 9"/>
          <p:cNvSpPr/>
          <p:nvPr/>
        </p:nvSpPr>
        <p:spPr>
          <a:xfrm>
            <a:off x="365760" y="1645920"/>
            <a:ext cx="2011680" cy="8686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 Sunny Playground</a:t>
            </a:r>
            <a:endParaRPr lang="en-US" sz="1200" dirty="0"/>
          </a:p>
        </p:txBody>
      </p:sp>
      <p:sp>
        <p:nvSpPr>
          <p:cNvPr id="12" name="Shape 10"/>
          <p:cNvSpPr/>
          <p:nvPr/>
        </p:nvSpPr>
        <p:spPr>
          <a:xfrm>
            <a:off x="2377440" y="1645920"/>
            <a:ext cx="3474720" cy="868680"/>
          </a:xfrm>
          <a:prstGeom prst="rect">
            <a:avLst/>
          </a:prstGeom>
          <a:solidFill>
            <a:srgbClr val="FFFFFF"/>
          </a:solidFill>
          <a:ln w="12700">
            <a:solidFill>
              <a:srgbClr val="5E7B9A"/>
            </a:solidFill>
            <a:prstDash val="solid"/>
          </a:ln>
        </p:spPr>
      </p:sp>
      <p:sp>
        <p:nvSpPr>
          <p:cNvPr id="13" name="Shape 11"/>
          <p:cNvSpPr/>
          <p:nvPr/>
        </p:nvSpPr>
        <p:spPr>
          <a:xfrm>
            <a:off x="5852160" y="1645920"/>
            <a:ext cx="2926080" cy="868680"/>
          </a:xfrm>
          <a:prstGeom prst="rect">
            <a:avLst/>
          </a:prstGeom>
          <a:solidFill>
            <a:srgbClr val="FFFFFF"/>
          </a:solidFill>
          <a:ln w="12700">
            <a:solidFill>
              <a:srgbClr val="5E7B9A"/>
            </a:solidFill>
            <a:prstDash val="solid"/>
          </a:ln>
        </p:spPr>
      </p:sp>
      <p:sp>
        <p:nvSpPr>
          <p:cNvPr id="14" name="Shape 12"/>
          <p:cNvSpPr/>
          <p:nvPr/>
        </p:nvSpPr>
        <p:spPr>
          <a:xfrm>
            <a:off x="365760" y="2606040"/>
            <a:ext cx="2011680" cy="868680"/>
          </a:xfrm>
          <a:prstGeom prst="rect">
            <a:avLst/>
          </a:prstGeom>
          <a:solidFill>
            <a:srgbClr val="F07D35"/>
          </a:solidFill>
          <a:ln w="12700">
            <a:solidFill>
              <a:srgbClr val="F07D35"/>
            </a:solidFill>
            <a:prstDash val="solid"/>
          </a:ln>
        </p:spPr>
      </p:sp>
      <p:sp>
        <p:nvSpPr>
          <p:cNvPr id="15" name="Text 13"/>
          <p:cNvSpPr/>
          <p:nvPr/>
        </p:nvSpPr>
        <p:spPr>
          <a:xfrm>
            <a:off x="365760" y="2606040"/>
            <a:ext cx="2011680" cy="8686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 Campfire at Night</a:t>
            </a:r>
            <a:endParaRPr lang="en-US" sz="1200" dirty="0"/>
          </a:p>
        </p:txBody>
      </p:sp>
      <p:sp>
        <p:nvSpPr>
          <p:cNvPr id="16" name="Shape 14"/>
          <p:cNvSpPr/>
          <p:nvPr/>
        </p:nvSpPr>
        <p:spPr>
          <a:xfrm>
            <a:off x="2377440" y="2606040"/>
            <a:ext cx="3474720" cy="868680"/>
          </a:xfrm>
          <a:prstGeom prst="rect">
            <a:avLst/>
          </a:prstGeom>
          <a:solidFill>
            <a:srgbClr val="FFFFFF"/>
          </a:solidFill>
          <a:ln w="12700">
            <a:solidFill>
              <a:srgbClr val="5E7B9A"/>
            </a:solidFill>
            <a:prstDash val="solid"/>
          </a:ln>
        </p:spPr>
      </p:sp>
      <p:sp>
        <p:nvSpPr>
          <p:cNvPr id="17" name="Shape 15"/>
          <p:cNvSpPr/>
          <p:nvPr/>
        </p:nvSpPr>
        <p:spPr>
          <a:xfrm>
            <a:off x="5852160" y="2606040"/>
            <a:ext cx="2926080" cy="868680"/>
          </a:xfrm>
          <a:prstGeom prst="rect">
            <a:avLst/>
          </a:prstGeom>
          <a:solidFill>
            <a:srgbClr val="FFFFFF"/>
          </a:solidFill>
          <a:ln w="12700">
            <a:solidFill>
              <a:srgbClr val="5E7B9A"/>
            </a:solidFill>
            <a:prstDash val="solid"/>
          </a:ln>
        </p:spPr>
      </p:sp>
      <p:sp>
        <p:nvSpPr>
          <p:cNvPr id="18" name="Shape 16"/>
          <p:cNvSpPr/>
          <p:nvPr/>
        </p:nvSpPr>
        <p:spPr>
          <a:xfrm>
            <a:off x="365760" y="3566160"/>
            <a:ext cx="2011680" cy="868680"/>
          </a:xfrm>
          <a:prstGeom prst="rect">
            <a:avLst/>
          </a:prstGeom>
          <a:solidFill>
            <a:srgbClr val="0E7C7B"/>
          </a:solidFill>
          <a:ln w="12700">
            <a:solidFill>
              <a:srgbClr val="0E7C7B"/>
            </a:solidFill>
            <a:prstDash val="solid"/>
          </a:ln>
        </p:spPr>
      </p:sp>
      <p:sp>
        <p:nvSpPr>
          <p:cNvPr id="19" name="Text 17"/>
          <p:cNvSpPr/>
          <p:nvPr/>
        </p:nvSpPr>
        <p:spPr>
          <a:xfrm>
            <a:off x="365760" y="3566160"/>
            <a:ext cx="2011680" cy="8686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 Kitchen at Breakfast</a:t>
            </a:r>
            <a:endParaRPr lang="en-US" sz="1200" dirty="0"/>
          </a:p>
        </p:txBody>
      </p:sp>
      <p:sp>
        <p:nvSpPr>
          <p:cNvPr id="20" name="Shape 18"/>
          <p:cNvSpPr/>
          <p:nvPr/>
        </p:nvSpPr>
        <p:spPr>
          <a:xfrm>
            <a:off x="2377440" y="3566160"/>
            <a:ext cx="3474720" cy="868680"/>
          </a:xfrm>
          <a:prstGeom prst="rect">
            <a:avLst/>
          </a:prstGeom>
          <a:solidFill>
            <a:srgbClr val="FFFFFF"/>
          </a:solidFill>
          <a:ln w="12700">
            <a:solidFill>
              <a:srgbClr val="5E7B9A"/>
            </a:solidFill>
            <a:prstDash val="solid"/>
          </a:ln>
        </p:spPr>
      </p:sp>
      <p:sp>
        <p:nvSpPr>
          <p:cNvPr id="21" name="Shape 19"/>
          <p:cNvSpPr/>
          <p:nvPr/>
        </p:nvSpPr>
        <p:spPr>
          <a:xfrm>
            <a:off x="5852160" y="3566160"/>
            <a:ext cx="2926080" cy="868680"/>
          </a:xfrm>
          <a:prstGeom prst="rect">
            <a:avLst/>
          </a:prstGeom>
          <a:solidFill>
            <a:srgbClr val="FFFFFF"/>
          </a:solidFill>
          <a:ln w="12700">
            <a:solidFill>
              <a:srgbClr val="5E7B9A"/>
            </a:solidFill>
            <a:prstDash val="solid"/>
          </a:ln>
        </p:spPr>
      </p:sp>
      <p:sp>
        <p:nvSpPr>
          <p:cNvPr id="22" name="Text 20"/>
          <p:cNvSpPr/>
          <p:nvPr/>
        </p:nvSpPr>
        <p:spPr>
          <a:xfrm>
            <a:off x="365760" y="4617720"/>
            <a:ext cx="8412480" cy="320040"/>
          </a:xfrm>
          <a:prstGeom prst="rect">
            <a:avLst/>
          </a:prstGeom>
          <a:noFill/>
          <a:ln/>
        </p:spPr>
        <p:txBody>
          <a:bodyPr wrap="square" rtlCol="0" anchor="ctr"/>
          <a:lstStyle/>
          <a:p>
            <a:pPr algn="ctr" indent="0" marL="0">
              <a:buNone/>
            </a:pPr>
            <a:r>
              <a:rPr lang="en-US" sz="1100" i="1" dirty="0">
                <a:solidFill>
                  <a:srgbClr val="5E7B9A"/>
                </a:solidFill>
                <a:latin typeface="Calibri" pitchFamily="34" charset="0"/>
                <a:ea typeface="Calibri" pitchFamily="34" charset="-122"/>
                <a:cs typeface="Calibri" pitchFamily="34" charset="-120"/>
              </a:rPr>
              <a:t>Look for the less obvious ones such as chemical energy in the body or mechanical energy in the kicked ball.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BF4FA"/>
          </a:solidFill>
          <a:ln w="12700">
            <a:solidFill>
              <a:srgbClr val="EBF4FA"/>
            </a:solidFill>
            <a:prstDash val="solid"/>
          </a:ln>
        </p:spPr>
      </p:sp>
      <p:sp>
        <p:nvSpPr>
          <p:cNvPr id="3" name="Shape 1"/>
          <p:cNvSpPr/>
          <p:nvPr/>
        </p:nvSpPr>
        <p:spPr>
          <a:xfrm>
            <a:off x="365760" y="182880"/>
            <a:ext cx="1828800" cy="274320"/>
          </a:xfrm>
          <a:prstGeom prst="rect">
            <a:avLst/>
          </a:prstGeom>
          <a:solidFill>
            <a:srgbClr val="2E86AB"/>
          </a:solidFill>
          <a:ln w="12700">
            <a:solidFill>
              <a:srgbClr val="2E86AB"/>
            </a:solidFill>
            <a:prstDash val="solid"/>
          </a:ln>
        </p:spPr>
      </p:sp>
      <p:sp>
        <p:nvSpPr>
          <p:cNvPr id="4" name="Text 2"/>
          <p:cNvSpPr/>
          <p:nvPr/>
        </p:nvSpPr>
        <p:spPr>
          <a:xfrm>
            <a:off x="365760" y="182880"/>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RECORD YOUR THINKING</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What Did You Find?</a:t>
            </a:r>
            <a:endParaRPr lang="en-US" sz="2600" dirty="0"/>
          </a:p>
        </p:txBody>
      </p:sp>
      <p:sp>
        <p:nvSpPr>
          <p:cNvPr id="6" name="Text 4"/>
          <p:cNvSpPr/>
          <p:nvPr/>
        </p:nvSpPr>
        <p:spPr>
          <a:xfrm>
            <a:off x="365760" y="1097280"/>
            <a:ext cx="8412480" cy="320040"/>
          </a:xfrm>
          <a:prstGeom prst="rect">
            <a:avLst/>
          </a:prstGeom>
          <a:noFill/>
          <a:ln/>
        </p:spPr>
        <p:txBody>
          <a:bodyPr wrap="square" rtlCol="0" anchor="ctr"/>
          <a:lstStyle/>
          <a:p>
            <a:pPr algn="l" indent="0" marL="0">
              <a:buNone/>
            </a:pPr>
            <a:r>
              <a:rPr lang="en-US" sz="1300" i="1" dirty="0">
                <a:solidFill>
                  <a:srgbClr val="2C4A6E"/>
                </a:solidFill>
                <a:latin typeface="Calibri" pitchFamily="34" charset="0"/>
                <a:ea typeface="Calibri" pitchFamily="34" charset="-122"/>
                <a:cs typeface="Calibri" pitchFamily="34" charset="-120"/>
              </a:rPr>
              <a:t>Answer in complete sentences in your science notebook.</a:t>
            </a:r>
            <a:endParaRPr lang="en-US" sz="1300" dirty="0"/>
          </a:p>
        </p:txBody>
      </p:sp>
      <p:sp>
        <p:nvSpPr>
          <p:cNvPr id="7" name="Shape 5"/>
          <p:cNvSpPr/>
          <p:nvPr/>
        </p:nvSpPr>
        <p:spPr>
          <a:xfrm>
            <a:off x="365760" y="1508760"/>
            <a:ext cx="457200" cy="868680"/>
          </a:xfrm>
          <a:prstGeom prst="rect">
            <a:avLst/>
          </a:prstGeom>
          <a:solidFill>
            <a:srgbClr val="2E86AB"/>
          </a:solidFill>
          <a:ln w="12700">
            <a:solidFill>
              <a:srgbClr val="2E86AB"/>
            </a:solidFill>
            <a:prstDash val="solid"/>
          </a:ln>
        </p:spPr>
      </p:sp>
      <p:sp>
        <p:nvSpPr>
          <p:cNvPr id="8" name="Text 6"/>
          <p:cNvSpPr/>
          <p:nvPr/>
        </p:nvSpPr>
        <p:spPr>
          <a:xfrm>
            <a:off x="457200" y="1563624"/>
            <a:ext cx="274320" cy="7589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Shape 7"/>
          <p:cNvSpPr/>
          <p:nvPr/>
        </p:nvSpPr>
        <p:spPr>
          <a:xfrm>
            <a:off x="868680" y="1508760"/>
            <a:ext cx="7909560" cy="868680"/>
          </a:xfrm>
          <a:prstGeom prst="rect">
            <a:avLst/>
          </a:prstGeom>
          <a:solidFill>
            <a:srgbClr val="FFFFFF"/>
          </a:solidFill>
          <a:ln w="12700">
            <a:solidFill>
              <a:srgbClr val="FFFFFF"/>
            </a:solidFill>
            <a:prstDash val="solid"/>
          </a:ln>
        </p:spPr>
      </p:sp>
      <p:sp>
        <p:nvSpPr>
          <p:cNvPr id="10" name="Text 8"/>
          <p:cNvSpPr/>
          <p:nvPr/>
        </p:nvSpPr>
        <p:spPr>
          <a:xfrm>
            <a:off x="960120" y="1563624"/>
            <a:ext cx="7726680" cy="75895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For Scene A (sunny playground) list at least three forms of energy. For each one name what is producing it.</a:t>
            </a:r>
            <a:endParaRPr lang="en-US" sz="1300" dirty="0"/>
          </a:p>
        </p:txBody>
      </p:sp>
      <p:sp>
        <p:nvSpPr>
          <p:cNvPr id="11" name="Shape 9"/>
          <p:cNvSpPr/>
          <p:nvPr/>
        </p:nvSpPr>
        <p:spPr>
          <a:xfrm>
            <a:off x="365760" y="2560320"/>
            <a:ext cx="457200" cy="868680"/>
          </a:xfrm>
          <a:prstGeom prst="rect">
            <a:avLst/>
          </a:prstGeom>
          <a:solidFill>
            <a:srgbClr val="2E86AB"/>
          </a:solidFill>
          <a:ln w="12700">
            <a:solidFill>
              <a:srgbClr val="2E86AB"/>
            </a:solidFill>
            <a:prstDash val="solid"/>
          </a:ln>
        </p:spPr>
      </p:sp>
      <p:sp>
        <p:nvSpPr>
          <p:cNvPr id="12" name="Text 10"/>
          <p:cNvSpPr/>
          <p:nvPr/>
        </p:nvSpPr>
        <p:spPr>
          <a:xfrm>
            <a:off x="457200" y="2615184"/>
            <a:ext cx="274320" cy="7589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Shape 11"/>
          <p:cNvSpPr/>
          <p:nvPr/>
        </p:nvSpPr>
        <p:spPr>
          <a:xfrm>
            <a:off x="868680" y="2560320"/>
            <a:ext cx="7909560" cy="868680"/>
          </a:xfrm>
          <a:prstGeom prst="rect">
            <a:avLst/>
          </a:prstGeom>
          <a:solidFill>
            <a:srgbClr val="FFFFFF"/>
          </a:solidFill>
          <a:ln w="12700">
            <a:solidFill>
              <a:srgbClr val="FFFFFF"/>
            </a:solidFill>
            <a:prstDash val="solid"/>
          </a:ln>
        </p:spPr>
      </p:sp>
      <p:sp>
        <p:nvSpPr>
          <p:cNvPr id="14" name="Text 12"/>
          <p:cNvSpPr/>
          <p:nvPr/>
        </p:nvSpPr>
        <p:spPr>
          <a:xfrm>
            <a:off x="960120" y="2615184"/>
            <a:ext cx="7726680" cy="75895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For Scene B (campfire) name two forms of energy happening at the same time. How can you tell each one is there?</a:t>
            </a:r>
            <a:endParaRPr lang="en-US" sz="1300" dirty="0"/>
          </a:p>
        </p:txBody>
      </p:sp>
      <p:sp>
        <p:nvSpPr>
          <p:cNvPr id="15" name="Shape 13"/>
          <p:cNvSpPr/>
          <p:nvPr/>
        </p:nvSpPr>
        <p:spPr>
          <a:xfrm>
            <a:off x="365760" y="3611880"/>
            <a:ext cx="457200" cy="868680"/>
          </a:xfrm>
          <a:prstGeom prst="rect">
            <a:avLst/>
          </a:prstGeom>
          <a:solidFill>
            <a:srgbClr val="2E86AB"/>
          </a:solidFill>
          <a:ln w="12700">
            <a:solidFill>
              <a:srgbClr val="2E86AB"/>
            </a:solidFill>
            <a:prstDash val="solid"/>
          </a:ln>
        </p:spPr>
      </p:sp>
      <p:sp>
        <p:nvSpPr>
          <p:cNvPr id="16" name="Text 14"/>
          <p:cNvSpPr/>
          <p:nvPr/>
        </p:nvSpPr>
        <p:spPr>
          <a:xfrm>
            <a:off x="457200" y="3666744"/>
            <a:ext cx="274320" cy="7589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Shape 15"/>
          <p:cNvSpPr/>
          <p:nvPr/>
        </p:nvSpPr>
        <p:spPr>
          <a:xfrm>
            <a:off x="868680" y="3611880"/>
            <a:ext cx="7909560" cy="868680"/>
          </a:xfrm>
          <a:prstGeom prst="rect">
            <a:avLst/>
          </a:prstGeom>
          <a:solidFill>
            <a:srgbClr val="FFFFFF"/>
          </a:solidFill>
          <a:ln w="12700">
            <a:solidFill>
              <a:srgbClr val="FFFFFF"/>
            </a:solidFill>
            <a:prstDash val="solid"/>
          </a:ln>
        </p:spPr>
      </p:sp>
      <p:sp>
        <p:nvSpPr>
          <p:cNvPr id="18" name="Text 16"/>
          <p:cNvSpPr/>
          <p:nvPr/>
        </p:nvSpPr>
        <p:spPr>
          <a:xfrm>
            <a:off x="960120" y="3666744"/>
            <a:ext cx="7726680" cy="75895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For Scene C (kitchen) pick one appliance or object. Name the form of energy going IN and what comes OUT.</a:t>
            </a:r>
            <a:endParaRPr lang="en-US" sz="1300" dirty="0"/>
          </a:p>
        </p:txBody>
      </p:sp>
      <p:sp>
        <p:nvSpPr>
          <p:cNvPr id="19" name="Text 17"/>
          <p:cNvSpPr/>
          <p:nvPr/>
        </p:nvSpPr>
        <p:spPr>
          <a:xfrm>
            <a:off x="365760" y="4617720"/>
            <a:ext cx="8412480" cy="320040"/>
          </a:xfrm>
          <a:prstGeom prst="rect">
            <a:avLst/>
          </a:prstGeom>
          <a:noFill/>
          <a:ln/>
        </p:spPr>
        <p:txBody>
          <a:bodyPr wrap="square" rtlCol="0" anchor="ctr"/>
          <a:lstStyle/>
          <a:p>
            <a:pPr algn="ctr" indent="0" marL="0">
              <a:buNone/>
            </a:pPr>
            <a:r>
              <a:rPr lang="en-US" sz="1100" i="1" dirty="0">
                <a:solidFill>
                  <a:srgbClr val="5E7B9A"/>
                </a:solidFill>
                <a:latin typeface="Calibri" pitchFamily="34" charset="0"/>
                <a:ea typeface="Calibri" pitchFamily="34" charset="-122"/>
                <a:cs typeface="Calibri" pitchFamily="34" charset="-120"/>
              </a:rPr>
              <a:t>Pick the richest scene: Out of the three scenes the one with the most forms of energy at work is ___ because ___.</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5C"/>
          </a:solidFill>
          <a:ln w="12700">
            <a:solidFill>
              <a:srgbClr val="1A3A5C"/>
            </a:solidFill>
            <a:prstDash val="solid"/>
          </a:ln>
        </p:spPr>
      </p:sp>
      <p:sp>
        <p:nvSpPr>
          <p:cNvPr id="3" name="Shape 1"/>
          <p:cNvSpPr/>
          <p:nvPr/>
        </p:nvSpPr>
        <p:spPr>
          <a:xfrm>
            <a:off x="365760" y="182880"/>
            <a:ext cx="1517904" cy="274320"/>
          </a:xfrm>
          <a:prstGeom prst="rect">
            <a:avLst/>
          </a:prstGeom>
          <a:solidFill>
            <a:srgbClr val="2E86AB"/>
          </a:solidFill>
          <a:ln w="12700">
            <a:solidFill>
              <a:srgbClr val="2E86AB"/>
            </a:solidFill>
            <a:prstDash val="solid"/>
          </a:ln>
        </p:spPr>
      </p:sp>
      <p:sp>
        <p:nvSpPr>
          <p:cNvPr id="4" name="Text 2"/>
          <p:cNvSpPr/>
          <p:nvPr/>
        </p:nvSpPr>
        <p:spPr>
          <a:xfrm>
            <a:off x="365760" y="182880"/>
            <a:ext cx="151790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DISCUSS &amp; DEFEND</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Use Your Evidence</a:t>
            </a:r>
            <a:endParaRPr lang="en-US" sz="2600" dirty="0"/>
          </a:p>
        </p:txBody>
      </p:sp>
      <p:sp>
        <p:nvSpPr>
          <p:cNvPr id="6" name="Shape 4"/>
          <p:cNvSpPr/>
          <p:nvPr/>
        </p:nvSpPr>
        <p:spPr>
          <a:xfrm>
            <a:off x="365760" y="1188720"/>
            <a:ext cx="8412480" cy="914400"/>
          </a:xfrm>
          <a:prstGeom prst="rect">
            <a:avLst/>
          </a:prstGeom>
          <a:solidFill>
            <a:srgbClr val="0D1B2A"/>
          </a:solidFill>
          <a:ln w="12700">
            <a:solidFill>
              <a:srgbClr val="0D1B2A"/>
            </a:solidFill>
            <a:prstDash val="solid"/>
          </a:ln>
        </p:spPr>
      </p:sp>
      <p:sp>
        <p:nvSpPr>
          <p:cNvPr id="7" name="Text 5"/>
          <p:cNvSpPr/>
          <p:nvPr/>
        </p:nvSpPr>
        <p:spPr>
          <a:xfrm>
            <a:off x="457200" y="1243584"/>
            <a:ext cx="8229600" cy="80467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 classmate says: A rock just sitting on the ground has no energy. Do you agree or disagree? What if the rock is on top of a cliff?</a:t>
            </a:r>
            <a:endParaRPr lang="en-US" sz="1400" dirty="0"/>
          </a:p>
        </p:txBody>
      </p:sp>
      <p:sp>
        <p:nvSpPr>
          <p:cNvPr id="8" name="Shape 6"/>
          <p:cNvSpPr/>
          <p:nvPr/>
        </p:nvSpPr>
        <p:spPr>
          <a:xfrm>
            <a:off x="365760" y="2240280"/>
            <a:ext cx="8412480" cy="914400"/>
          </a:xfrm>
          <a:prstGeom prst="rect">
            <a:avLst/>
          </a:prstGeom>
          <a:solidFill>
            <a:srgbClr val="0D1B2A"/>
          </a:solidFill>
          <a:ln w="12700">
            <a:solidFill>
              <a:srgbClr val="0D1B2A"/>
            </a:solidFill>
            <a:prstDash val="solid"/>
          </a:ln>
        </p:spPr>
      </p:sp>
      <p:sp>
        <p:nvSpPr>
          <p:cNvPr id="9" name="Text 7"/>
          <p:cNvSpPr/>
          <p:nvPr/>
        </p:nvSpPr>
        <p:spPr>
          <a:xfrm>
            <a:off x="457200" y="2295144"/>
            <a:ext cx="8229600" cy="80467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Pick a form of energy you use a lot every day. What would change about your life if it suddenly did not exist?</a:t>
            </a:r>
            <a:endParaRPr lang="en-US" sz="1400" dirty="0"/>
          </a:p>
        </p:txBody>
      </p:sp>
      <p:sp>
        <p:nvSpPr>
          <p:cNvPr id="10" name="Text 8"/>
          <p:cNvSpPr/>
          <p:nvPr/>
        </p:nvSpPr>
        <p:spPr>
          <a:xfrm>
            <a:off x="365760" y="3291840"/>
            <a:ext cx="8412480" cy="320040"/>
          </a:xfrm>
          <a:prstGeom prst="rect">
            <a:avLst/>
          </a:prstGeom>
          <a:noFill/>
          <a:ln/>
        </p:spPr>
        <p:txBody>
          <a:bodyPr wrap="square" rtlCol="0" anchor="ctr"/>
          <a:lstStyle/>
          <a:p>
            <a:pPr algn="l" indent="0" marL="0">
              <a:buNone/>
            </a:pPr>
            <a:r>
              <a:rPr lang="en-US" sz="1200" b="1" dirty="0">
                <a:solidFill>
                  <a:srgbClr val="F6C90E"/>
                </a:solidFill>
                <a:latin typeface="Calibri" pitchFamily="34" charset="0"/>
                <a:ea typeface="Calibri" pitchFamily="34" charset="-122"/>
                <a:cs typeface="Calibri" pitchFamily="34" charset="-120"/>
              </a:rPr>
              <a:t>Sentence Starters:</a:t>
            </a:r>
            <a:endParaRPr lang="en-US" sz="1200" dirty="0"/>
          </a:p>
        </p:txBody>
      </p:sp>
      <p:sp>
        <p:nvSpPr>
          <p:cNvPr id="11" name="Shape 9"/>
          <p:cNvSpPr/>
          <p:nvPr/>
        </p:nvSpPr>
        <p:spPr>
          <a:xfrm>
            <a:off x="365760" y="3657600"/>
            <a:ext cx="4023360" cy="640080"/>
          </a:xfrm>
          <a:prstGeom prst="rect">
            <a:avLst/>
          </a:prstGeom>
          <a:solidFill>
            <a:srgbClr val="0E7C7B"/>
          </a:solidFill>
          <a:ln w="12700">
            <a:solidFill>
              <a:srgbClr val="0E7C7B"/>
            </a:solidFill>
            <a:prstDash val="solid"/>
          </a:ln>
        </p:spPr>
      </p:sp>
      <p:sp>
        <p:nvSpPr>
          <p:cNvPr id="12" name="Text 10"/>
          <p:cNvSpPr/>
          <p:nvPr/>
        </p:nvSpPr>
        <p:spPr>
          <a:xfrm>
            <a:off x="457200" y="3712464"/>
            <a:ext cx="3840480"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I agree or disagree because the evidence shows...</a:t>
            </a:r>
            <a:endParaRPr lang="en-US" sz="1200" dirty="0"/>
          </a:p>
        </p:txBody>
      </p:sp>
      <p:sp>
        <p:nvSpPr>
          <p:cNvPr id="13" name="Shape 11"/>
          <p:cNvSpPr/>
          <p:nvPr/>
        </p:nvSpPr>
        <p:spPr>
          <a:xfrm>
            <a:off x="4572000" y="3657600"/>
            <a:ext cx="4023360" cy="640080"/>
          </a:xfrm>
          <a:prstGeom prst="rect">
            <a:avLst/>
          </a:prstGeom>
          <a:solidFill>
            <a:srgbClr val="0E7C7B"/>
          </a:solidFill>
          <a:ln w="12700">
            <a:solidFill>
              <a:srgbClr val="0E7C7B"/>
            </a:solidFill>
            <a:prstDash val="solid"/>
          </a:ln>
        </p:spPr>
      </p:sp>
      <p:sp>
        <p:nvSpPr>
          <p:cNvPr id="14" name="Text 12"/>
          <p:cNvSpPr/>
          <p:nvPr/>
        </p:nvSpPr>
        <p:spPr>
          <a:xfrm>
            <a:off x="4663440" y="3712464"/>
            <a:ext cx="3840480"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One form of energy I rely on is ___ because...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5C"/>
          </a:solidFill>
          <a:ln w="12700">
            <a:solidFill>
              <a:srgbClr val="1A3A5C"/>
            </a:solidFill>
            <a:prstDash val="solid"/>
          </a:ln>
        </p:spPr>
      </p:sp>
      <p:sp>
        <p:nvSpPr>
          <p:cNvPr id="3" name="Shape 1"/>
          <p:cNvSpPr/>
          <p:nvPr/>
        </p:nvSpPr>
        <p:spPr>
          <a:xfrm>
            <a:off x="365760" y="182880"/>
            <a:ext cx="1371600" cy="274320"/>
          </a:xfrm>
          <a:prstGeom prst="rect">
            <a:avLst/>
          </a:prstGeom>
          <a:solidFill>
            <a:srgbClr val="F6C90E"/>
          </a:solidFill>
          <a:ln w="12700">
            <a:solidFill>
              <a:srgbClr val="F6C90E"/>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SCIENTIST TALK</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Claim Evidence Reasoning</a:t>
            </a:r>
            <a:endParaRPr lang="en-US" sz="2600" dirty="0"/>
          </a:p>
        </p:txBody>
      </p:sp>
      <p:sp>
        <p:nvSpPr>
          <p:cNvPr id="6" name="Text 4"/>
          <p:cNvSpPr/>
          <p:nvPr/>
        </p:nvSpPr>
        <p:spPr>
          <a:xfrm>
            <a:off x="365760" y="1097280"/>
            <a:ext cx="8412480" cy="365760"/>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Which scene has the most forms of energy at work? Build your CER.</a:t>
            </a:r>
            <a:endParaRPr lang="en-US" sz="1400" dirty="0"/>
          </a:p>
        </p:txBody>
      </p:sp>
      <p:sp>
        <p:nvSpPr>
          <p:cNvPr id="7" name="Shape 5"/>
          <p:cNvSpPr/>
          <p:nvPr/>
        </p:nvSpPr>
        <p:spPr>
          <a:xfrm>
            <a:off x="365760" y="1554480"/>
            <a:ext cx="2743200" cy="384048"/>
          </a:xfrm>
          <a:prstGeom prst="rect">
            <a:avLst/>
          </a:prstGeom>
          <a:solidFill>
            <a:srgbClr val="0E7C7B"/>
          </a:solidFill>
          <a:ln w="12700">
            <a:solidFill>
              <a:srgbClr val="0E7C7B"/>
            </a:solidFill>
            <a:prstDash val="solid"/>
          </a:ln>
        </p:spPr>
      </p:sp>
      <p:sp>
        <p:nvSpPr>
          <p:cNvPr id="8" name="Text 6"/>
          <p:cNvSpPr/>
          <p:nvPr/>
        </p:nvSpPr>
        <p:spPr>
          <a:xfrm>
            <a:off x="365760" y="1554480"/>
            <a:ext cx="274320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CLAIM</a:t>
            </a:r>
            <a:endParaRPr lang="en-US" sz="1300" dirty="0"/>
          </a:p>
        </p:txBody>
      </p:sp>
      <p:sp>
        <p:nvSpPr>
          <p:cNvPr id="9" name="Shape 7"/>
          <p:cNvSpPr/>
          <p:nvPr/>
        </p:nvSpPr>
        <p:spPr>
          <a:xfrm>
            <a:off x="365760" y="1965960"/>
            <a:ext cx="2743200" cy="2560320"/>
          </a:xfrm>
          <a:prstGeom prst="rect">
            <a:avLst/>
          </a:prstGeom>
          <a:solidFill>
            <a:srgbClr val="0D1B2A"/>
          </a:solidFill>
          <a:ln w="12700">
            <a:solidFill>
              <a:srgbClr val="0D1B2A"/>
            </a:solidFill>
            <a:prstDash val="solid"/>
          </a:ln>
        </p:spPr>
      </p:sp>
      <p:sp>
        <p:nvSpPr>
          <p:cNvPr id="10" name="Text 8"/>
          <p:cNvSpPr/>
          <p:nvPr/>
        </p:nvSpPr>
        <p:spPr>
          <a:xfrm>
            <a:off x="457200" y="2011680"/>
            <a:ext cx="2560320" cy="2377440"/>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Out of the three scenes the one with the most forms of energy is ___ because...</a:t>
            </a:r>
            <a:endParaRPr lang="en-US" sz="1100" dirty="0"/>
          </a:p>
        </p:txBody>
      </p:sp>
      <p:sp>
        <p:nvSpPr>
          <p:cNvPr id="11" name="Shape 9"/>
          <p:cNvSpPr/>
          <p:nvPr/>
        </p:nvSpPr>
        <p:spPr>
          <a:xfrm>
            <a:off x="3246120" y="1554480"/>
            <a:ext cx="2743200" cy="384048"/>
          </a:xfrm>
          <a:prstGeom prst="rect">
            <a:avLst/>
          </a:prstGeom>
          <a:solidFill>
            <a:srgbClr val="2E86AB"/>
          </a:solidFill>
          <a:ln w="12700">
            <a:solidFill>
              <a:srgbClr val="2E86AB"/>
            </a:solidFill>
            <a:prstDash val="solid"/>
          </a:ln>
        </p:spPr>
      </p:sp>
      <p:sp>
        <p:nvSpPr>
          <p:cNvPr id="12" name="Text 10"/>
          <p:cNvSpPr/>
          <p:nvPr/>
        </p:nvSpPr>
        <p:spPr>
          <a:xfrm>
            <a:off x="3246120" y="1554480"/>
            <a:ext cx="274320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p>
        </p:txBody>
      </p:sp>
      <p:sp>
        <p:nvSpPr>
          <p:cNvPr id="13" name="Shape 11"/>
          <p:cNvSpPr/>
          <p:nvPr/>
        </p:nvSpPr>
        <p:spPr>
          <a:xfrm>
            <a:off x="3246120" y="1965960"/>
            <a:ext cx="2743200" cy="2560320"/>
          </a:xfrm>
          <a:prstGeom prst="rect">
            <a:avLst/>
          </a:prstGeom>
          <a:solidFill>
            <a:srgbClr val="0D1B2A"/>
          </a:solidFill>
          <a:ln w="12700">
            <a:solidFill>
              <a:srgbClr val="0D1B2A"/>
            </a:solidFill>
            <a:prstDash val="solid"/>
          </a:ln>
        </p:spPr>
      </p:sp>
      <p:sp>
        <p:nvSpPr>
          <p:cNvPr id="14" name="Text 12"/>
          <p:cNvSpPr/>
          <p:nvPr/>
        </p:nvSpPr>
        <p:spPr>
          <a:xfrm>
            <a:off x="3337560" y="2011680"/>
            <a:ext cx="2560320" cy="2377440"/>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List at least two specific forms of energy from your chosen scene and what produces each one.</a:t>
            </a:r>
            <a:endParaRPr lang="en-US" sz="1100" dirty="0"/>
          </a:p>
        </p:txBody>
      </p:sp>
      <p:sp>
        <p:nvSpPr>
          <p:cNvPr id="15" name="Shape 13"/>
          <p:cNvSpPr/>
          <p:nvPr/>
        </p:nvSpPr>
        <p:spPr>
          <a:xfrm>
            <a:off x="6126480" y="1554480"/>
            <a:ext cx="2743200" cy="384048"/>
          </a:xfrm>
          <a:prstGeom prst="rect">
            <a:avLst/>
          </a:prstGeom>
          <a:solidFill>
            <a:srgbClr val="F07D35"/>
          </a:solidFill>
          <a:ln w="12700">
            <a:solidFill>
              <a:srgbClr val="F07D35"/>
            </a:solidFill>
            <a:prstDash val="solid"/>
          </a:ln>
        </p:spPr>
      </p:sp>
      <p:sp>
        <p:nvSpPr>
          <p:cNvPr id="16" name="Text 14"/>
          <p:cNvSpPr/>
          <p:nvPr/>
        </p:nvSpPr>
        <p:spPr>
          <a:xfrm>
            <a:off x="6126480" y="1554480"/>
            <a:ext cx="274320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REASONING</a:t>
            </a:r>
            <a:endParaRPr lang="en-US" sz="1300" dirty="0"/>
          </a:p>
        </p:txBody>
      </p:sp>
      <p:sp>
        <p:nvSpPr>
          <p:cNvPr id="17" name="Shape 15"/>
          <p:cNvSpPr/>
          <p:nvPr/>
        </p:nvSpPr>
        <p:spPr>
          <a:xfrm>
            <a:off x="6126480" y="1965960"/>
            <a:ext cx="2743200" cy="2560320"/>
          </a:xfrm>
          <a:prstGeom prst="rect">
            <a:avLst/>
          </a:prstGeom>
          <a:solidFill>
            <a:srgbClr val="0D1B2A"/>
          </a:solidFill>
          <a:ln w="12700">
            <a:solidFill>
              <a:srgbClr val="0D1B2A"/>
            </a:solidFill>
            <a:prstDash val="solid"/>
          </a:ln>
        </p:spPr>
      </p:sp>
      <p:sp>
        <p:nvSpPr>
          <p:cNvPr id="18" name="Text 16"/>
          <p:cNvSpPr/>
          <p:nvPr/>
        </p:nvSpPr>
        <p:spPr>
          <a:xfrm>
            <a:off x="6217920" y="2011680"/>
            <a:ext cx="2560320" cy="2377440"/>
          </a:xfrm>
          <a:prstGeom prst="rect">
            <a:avLst/>
          </a:prstGeom>
          <a:noFill/>
          <a:ln/>
        </p:spPr>
        <p:txBody>
          <a:bodyPr wrap="square" rtlCol="0" anchor="t"/>
          <a:lstStyle/>
          <a:p>
            <a:pPr algn="l" indent="0" marL="0">
              <a:buNone/>
            </a:pPr>
            <a:r>
              <a:rPr lang="en-US" sz="1100" i="1" dirty="0">
                <a:solidFill>
                  <a:srgbClr val="FFFFFF"/>
                </a:solidFill>
                <a:latin typeface="Calibri" pitchFamily="34" charset="0"/>
                <a:ea typeface="Calibri" pitchFamily="34" charset="-122"/>
                <a:cs typeface="Calibri" pitchFamily="34" charset="-120"/>
              </a:rPr>
              <a:t>This makes sense because energy shows up wherever there is...</a:t>
            </a:r>
            <a:endParaRPr lang="en-US" sz="1100" dirty="0"/>
          </a:p>
        </p:txBody>
      </p:sp>
      <p:sp>
        <p:nvSpPr>
          <p:cNvPr id="19" name="Text 17"/>
          <p:cNvSpPr/>
          <p:nvPr/>
        </p:nvSpPr>
        <p:spPr>
          <a:xfrm>
            <a:off x="365760" y="4663440"/>
            <a:ext cx="8412480" cy="320040"/>
          </a:xfrm>
          <a:prstGeom prst="rect">
            <a:avLst/>
          </a:prstGeom>
          <a:noFill/>
          <a:ln/>
        </p:spPr>
        <p:txBody>
          <a:bodyPr wrap="square" rtlCol="0" anchor="ctr"/>
          <a:lstStyle/>
          <a:p>
            <a:pPr algn="ctr" indent="0" marL="0">
              <a:buNone/>
            </a:pPr>
            <a:r>
              <a:rPr lang="en-US" sz="1100" dirty="0">
                <a:solidFill>
                  <a:srgbClr val="F6C90E"/>
                </a:solidFill>
                <a:latin typeface="Calibri" pitchFamily="34" charset="0"/>
                <a:ea typeface="Calibri" pitchFamily="34" charset="-122"/>
                <a:cs typeface="Calibri" pitchFamily="34" charset="-120"/>
              </a:rPr>
              <a:t>Vocab Check: Use at least two words: energy light heat sound chemical mechanical electrical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w="12700">
            <a:solidFill>
              <a:srgbClr val="0D1B2A"/>
            </a:solidFill>
            <a:prstDash val="solid"/>
          </a:ln>
        </p:spPr>
      </p:sp>
      <p:sp>
        <p:nvSpPr>
          <p:cNvPr id="3" name="Shape 1"/>
          <p:cNvSpPr/>
          <p:nvPr/>
        </p:nvSpPr>
        <p:spPr>
          <a:xfrm>
            <a:off x="365760" y="182880"/>
            <a:ext cx="1371600" cy="274320"/>
          </a:xfrm>
          <a:prstGeom prst="rect">
            <a:avLst/>
          </a:prstGeom>
          <a:solidFill>
            <a:srgbClr val="F6C90E"/>
          </a:solidFill>
          <a:ln w="12700">
            <a:solidFill>
              <a:srgbClr val="F6C90E"/>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a:t>
            </a:r>
            <a:endParaRPr lang="en-US" sz="1000" dirty="0"/>
          </a:p>
        </p:txBody>
      </p:sp>
      <p:sp>
        <p:nvSpPr>
          <p:cNvPr id="5" name="Text 3"/>
          <p:cNvSpPr/>
          <p:nvPr/>
        </p:nvSpPr>
        <p:spPr>
          <a:xfrm>
            <a:off x="365760" y="594360"/>
            <a:ext cx="8412480" cy="411480"/>
          </a:xfrm>
          <a:prstGeom prst="rect">
            <a:avLst/>
          </a:prstGeom>
          <a:noFill/>
          <a:ln/>
        </p:spPr>
        <p:txBody>
          <a:bodyPr wrap="square"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Question 1 of 3</a:t>
            </a:r>
            <a:endParaRPr lang="en-US" sz="2200" dirty="0"/>
          </a:p>
        </p:txBody>
      </p:sp>
      <p:sp>
        <p:nvSpPr>
          <p:cNvPr id="6" name="Shape 4"/>
          <p:cNvSpPr/>
          <p:nvPr/>
        </p:nvSpPr>
        <p:spPr>
          <a:xfrm>
            <a:off x="365760" y="1097280"/>
            <a:ext cx="8412480" cy="822960"/>
          </a:xfrm>
          <a:prstGeom prst="rect">
            <a:avLst/>
          </a:prstGeom>
          <a:solidFill>
            <a:srgbClr val="1A3A5C"/>
          </a:solidFill>
          <a:ln w="12700">
            <a:solidFill>
              <a:srgbClr val="1A3A5C"/>
            </a:solidFill>
            <a:prstDash val="solid"/>
          </a:ln>
        </p:spPr>
      </p:sp>
      <p:sp>
        <p:nvSpPr>
          <p:cNvPr id="7" name="Text 5"/>
          <p:cNvSpPr/>
          <p:nvPr/>
        </p:nvSpPr>
        <p:spPr>
          <a:xfrm>
            <a:off x="457200" y="1152144"/>
            <a:ext cx="8229600" cy="713232"/>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Which of these is an example of SOUND energy at work?</a:t>
            </a:r>
            <a:endParaRPr lang="en-US" sz="1600" dirty="0"/>
          </a:p>
        </p:txBody>
      </p:sp>
      <p:sp>
        <p:nvSpPr>
          <p:cNvPr id="8" name="Shape 6"/>
          <p:cNvSpPr/>
          <p:nvPr/>
        </p:nvSpPr>
        <p:spPr>
          <a:xfrm>
            <a:off x="365760" y="2103120"/>
            <a:ext cx="502920" cy="548640"/>
          </a:xfrm>
          <a:prstGeom prst="rect">
            <a:avLst/>
          </a:prstGeom>
          <a:solidFill>
            <a:srgbClr val="1A3A5C"/>
          </a:solidFill>
          <a:ln w="12700">
            <a:solidFill>
              <a:srgbClr val="1A3A5C"/>
            </a:solidFill>
            <a:prstDash val="solid"/>
          </a:ln>
        </p:spPr>
      </p:sp>
      <p:sp>
        <p:nvSpPr>
          <p:cNvPr id="9" name="Text 7"/>
          <p:cNvSpPr/>
          <p:nvPr/>
        </p:nvSpPr>
        <p:spPr>
          <a:xfrm>
            <a:off x="365760" y="2103120"/>
            <a:ext cx="5029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Shape 8"/>
          <p:cNvSpPr/>
          <p:nvPr/>
        </p:nvSpPr>
        <p:spPr>
          <a:xfrm>
            <a:off x="914400" y="2103120"/>
            <a:ext cx="7863840" cy="548640"/>
          </a:xfrm>
          <a:prstGeom prst="rect">
            <a:avLst/>
          </a:prstGeom>
          <a:solidFill>
            <a:srgbClr val="2C4A6E"/>
          </a:solidFill>
          <a:ln w="12700">
            <a:solidFill>
              <a:srgbClr val="2C4A6E"/>
            </a:solidFill>
            <a:prstDash val="solid"/>
          </a:ln>
        </p:spPr>
      </p:sp>
      <p:sp>
        <p:nvSpPr>
          <p:cNvPr id="11" name="Text 9"/>
          <p:cNvSpPr/>
          <p:nvPr/>
        </p:nvSpPr>
        <p:spPr>
          <a:xfrm>
            <a:off x="1005840" y="2103120"/>
            <a:ext cx="7680960" cy="548640"/>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 flashlight beam shining in a dark room</a:t>
            </a:r>
            <a:endParaRPr lang="en-US" sz="1400" dirty="0"/>
          </a:p>
        </p:txBody>
      </p:sp>
      <p:sp>
        <p:nvSpPr>
          <p:cNvPr id="12" name="Shape 10"/>
          <p:cNvSpPr/>
          <p:nvPr/>
        </p:nvSpPr>
        <p:spPr>
          <a:xfrm>
            <a:off x="365760" y="2761488"/>
            <a:ext cx="502920" cy="548640"/>
          </a:xfrm>
          <a:prstGeom prst="rect">
            <a:avLst/>
          </a:prstGeom>
          <a:solidFill>
            <a:srgbClr val="1A3A5C"/>
          </a:solidFill>
          <a:ln w="12700">
            <a:solidFill>
              <a:srgbClr val="1A3A5C"/>
            </a:solidFill>
            <a:prstDash val="solid"/>
          </a:ln>
        </p:spPr>
      </p:sp>
      <p:sp>
        <p:nvSpPr>
          <p:cNvPr id="13" name="Text 11"/>
          <p:cNvSpPr/>
          <p:nvPr/>
        </p:nvSpPr>
        <p:spPr>
          <a:xfrm>
            <a:off x="365760" y="2761488"/>
            <a:ext cx="5029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Shape 12"/>
          <p:cNvSpPr/>
          <p:nvPr/>
        </p:nvSpPr>
        <p:spPr>
          <a:xfrm>
            <a:off x="914400" y="2761488"/>
            <a:ext cx="7863840" cy="548640"/>
          </a:xfrm>
          <a:prstGeom prst="rect">
            <a:avLst/>
          </a:prstGeom>
          <a:solidFill>
            <a:srgbClr val="2C4A6E"/>
          </a:solidFill>
          <a:ln w="12700">
            <a:solidFill>
              <a:srgbClr val="2C4A6E"/>
            </a:solidFill>
            <a:prstDash val="solid"/>
          </a:ln>
        </p:spPr>
      </p:sp>
      <p:sp>
        <p:nvSpPr>
          <p:cNvPr id="15" name="Text 13"/>
          <p:cNvSpPr/>
          <p:nvPr/>
        </p:nvSpPr>
        <p:spPr>
          <a:xfrm>
            <a:off x="1005840" y="2761488"/>
            <a:ext cx="7680960" cy="548640"/>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 hot mug of cocoa sitting on the table</a:t>
            </a:r>
            <a:endParaRPr lang="en-US" sz="1400" dirty="0"/>
          </a:p>
        </p:txBody>
      </p:sp>
      <p:sp>
        <p:nvSpPr>
          <p:cNvPr id="16" name="Shape 14"/>
          <p:cNvSpPr/>
          <p:nvPr/>
        </p:nvSpPr>
        <p:spPr>
          <a:xfrm>
            <a:off x="365760" y="3419856"/>
            <a:ext cx="502920" cy="548640"/>
          </a:xfrm>
          <a:prstGeom prst="rect">
            <a:avLst/>
          </a:prstGeom>
          <a:solidFill>
            <a:srgbClr val="2A7A4B"/>
          </a:solidFill>
          <a:ln w="12700">
            <a:solidFill>
              <a:srgbClr val="2A7A4B"/>
            </a:solidFill>
            <a:prstDash val="solid"/>
          </a:ln>
        </p:spPr>
      </p:sp>
      <p:sp>
        <p:nvSpPr>
          <p:cNvPr id="17" name="Text 15"/>
          <p:cNvSpPr/>
          <p:nvPr/>
        </p:nvSpPr>
        <p:spPr>
          <a:xfrm>
            <a:off x="365760" y="3419856"/>
            <a:ext cx="5029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Shape 16"/>
          <p:cNvSpPr/>
          <p:nvPr/>
        </p:nvSpPr>
        <p:spPr>
          <a:xfrm>
            <a:off x="914400" y="3419856"/>
            <a:ext cx="7863840" cy="548640"/>
          </a:xfrm>
          <a:prstGeom prst="rect">
            <a:avLst/>
          </a:prstGeom>
          <a:solidFill>
            <a:srgbClr val="2C4A6E"/>
          </a:solidFill>
          <a:ln w="12700">
            <a:solidFill>
              <a:srgbClr val="2C4A6E"/>
            </a:solidFill>
            <a:prstDash val="solid"/>
          </a:ln>
        </p:spPr>
      </p:sp>
      <p:sp>
        <p:nvSpPr>
          <p:cNvPr id="19" name="Text 17"/>
          <p:cNvSpPr/>
          <p:nvPr/>
        </p:nvSpPr>
        <p:spPr>
          <a:xfrm>
            <a:off x="1005840" y="3419856"/>
            <a:ext cx="7680960" cy="548640"/>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 drummer hitting a snare drum</a:t>
            </a:r>
            <a:endParaRPr lang="en-US" sz="1400" dirty="0"/>
          </a:p>
        </p:txBody>
      </p:sp>
      <p:sp>
        <p:nvSpPr>
          <p:cNvPr id="20" name="Shape 18"/>
          <p:cNvSpPr/>
          <p:nvPr/>
        </p:nvSpPr>
        <p:spPr>
          <a:xfrm>
            <a:off x="365760" y="4078224"/>
            <a:ext cx="502920" cy="548640"/>
          </a:xfrm>
          <a:prstGeom prst="rect">
            <a:avLst/>
          </a:prstGeom>
          <a:solidFill>
            <a:srgbClr val="1A3A5C"/>
          </a:solidFill>
          <a:ln w="12700">
            <a:solidFill>
              <a:srgbClr val="1A3A5C"/>
            </a:solidFill>
            <a:prstDash val="solid"/>
          </a:ln>
        </p:spPr>
      </p:sp>
      <p:sp>
        <p:nvSpPr>
          <p:cNvPr id="21" name="Text 19"/>
          <p:cNvSpPr/>
          <p:nvPr/>
        </p:nvSpPr>
        <p:spPr>
          <a:xfrm>
            <a:off x="365760" y="4078224"/>
            <a:ext cx="5029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Shape 20"/>
          <p:cNvSpPr/>
          <p:nvPr/>
        </p:nvSpPr>
        <p:spPr>
          <a:xfrm>
            <a:off x="914400" y="4078224"/>
            <a:ext cx="7863840" cy="548640"/>
          </a:xfrm>
          <a:prstGeom prst="rect">
            <a:avLst/>
          </a:prstGeom>
          <a:solidFill>
            <a:srgbClr val="2C4A6E"/>
          </a:solidFill>
          <a:ln w="12700">
            <a:solidFill>
              <a:srgbClr val="2C4A6E"/>
            </a:solidFill>
            <a:prstDash val="solid"/>
          </a:ln>
        </p:spPr>
      </p:sp>
      <p:sp>
        <p:nvSpPr>
          <p:cNvPr id="23" name="Text 21"/>
          <p:cNvSpPr/>
          <p:nvPr/>
        </p:nvSpPr>
        <p:spPr>
          <a:xfrm>
            <a:off x="1005840" y="4078224"/>
            <a:ext cx="7680960" cy="548640"/>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 book sitting on a shelf</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w="12700">
            <a:solidFill>
              <a:srgbClr val="0D1B2A"/>
            </a:solidFill>
            <a:prstDash val="solid"/>
          </a:ln>
        </p:spPr>
      </p:sp>
      <p:sp>
        <p:nvSpPr>
          <p:cNvPr id="3" name="Shape 1"/>
          <p:cNvSpPr/>
          <p:nvPr/>
        </p:nvSpPr>
        <p:spPr>
          <a:xfrm>
            <a:off x="365760" y="182880"/>
            <a:ext cx="1371600" cy="274320"/>
          </a:xfrm>
          <a:prstGeom prst="rect">
            <a:avLst/>
          </a:prstGeom>
          <a:solidFill>
            <a:srgbClr val="F6C90E"/>
          </a:solidFill>
          <a:ln w="12700">
            <a:solidFill>
              <a:srgbClr val="F6C90E"/>
            </a:solidFill>
            <a:prstDash val="solid"/>
          </a:ln>
        </p:spPr>
      </p:sp>
      <p:sp>
        <p:nvSpPr>
          <p:cNvPr id="4" name="Text 2"/>
          <p:cNvSpPr/>
          <p:nvPr/>
        </p:nvSpPr>
        <p:spPr>
          <a:xfrm>
            <a:off x="365760" y="1828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a:t>
            </a:r>
            <a:endParaRPr lang="en-US" sz="1000" dirty="0"/>
          </a:p>
        </p:txBody>
      </p:sp>
      <p:sp>
        <p:nvSpPr>
          <p:cNvPr id="5" name="Text 3"/>
          <p:cNvSpPr/>
          <p:nvPr/>
        </p:nvSpPr>
        <p:spPr>
          <a:xfrm>
            <a:off x="365760" y="594360"/>
            <a:ext cx="8412480" cy="411480"/>
          </a:xfrm>
          <a:prstGeom prst="rect">
            <a:avLst/>
          </a:prstGeom>
          <a:noFill/>
          <a:ln/>
        </p:spPr>
        <p:txBody>
          <a:bodyPr wrap="square"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Question 2 of 3</a:t>
            </a:r>
            <a:endParaRPr lang="en-US" sz="2200" dirty="0"/>
          </a:p>
        </p:txBody>
      </p:sp>
      <p:sp>
        <p:nvSpPr>
          <p:cNvPr id="6" name="Shape 4"/>
          <p:cNvSpPr/>
          <p:nvPr/>
        </p:nvSpPr>
        <p:spPr>
          <a:xfrm>
            <a:off x="365760" y="1097280"/>
            <a:ext cx="8412480" cy="822960"/>
          </a:xfrm>
          <a:prstGeom prst="rect">
            <a:avLst/>
          </a:prstGeom>
          <a:solidFill>
            <a:srgbClr val="1A3A5C"/>
          </a:solidFill>
          <a:ln w="12700">
            <a:solidFill>
              <a:srgbClr val="1A3A5C"/>
            </a:solidFill>
            <a:prstDash val="solid"/>
          </a:ln>
        </p:spPr>
      </p:sp>
      <p:sp>
        <p:nvSpPr>
          <p:cNvPr id="7" name="Text 5"/>
          <p:cNvSpPr/>
          <p:nvPr/>
        </p:nvSpPr>
        <p:spPr>
          <a:xfrm>
            <a:off x="457200" y="1152144"/>
            <a:ext cx="8229600" cy="713232"/>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Where is CHEMICAL energy STORED?</a:t>
            </a:r>
            <a:endParaRPr lang="en-US" sz="1600" dirty="0"/>
          </a:p>
        </p:txBody>
      </p:sp>
      <p:sp>
        <p:nvSpPr>
          <p:cNvPr id="8" name="Shape 6"/>
          <p:cNvSpPr/>
          <p:nvPr/>
        </p:nvSpPr>
        <p:spPr>
          <a:xfrm>
            <a:off x="365760" y="2103120"/>
            <a:ext cx="502920" cy="548640"/>
          </a:xfrm>
          <a:prstGeom prst="rect">
            <a:avLst/>
          </a:prstGeom>
          <a:solidFill>
            <a:srgbClr val="1A3A5C"/>
          </a:solidFill>
          <a:ln w="12700">
            <a:solidFill>
              <a:srgbClr val="1A3A5C"/>
            </a:solidFill>
            <a:prstDash val="solid"/>
          </a:ln>
        </p:spPr>
      </p:sp>
      <p:sp>
        <p:nvSpPr>
          <p:cNvPr id="9" name="Text 7"/>
          <p:cNvSpPr/>
          <p:nvPr/>
        </p:nvSpPr>
        <p:spPr>
          <a:xfrm>
            <a:off x="365760" y="2103120"/>
            <a:ext cx="5029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Shape 8"/>
          <p:cNvSpPr/>
          <p:nvPr/>
        </p:nvSpPr>
        <p:spPr>
          <a:xfrm>
            <a:off x="914400" y="2103120"/>
            <a:ext cx="7863840" cy="548640"/>
          </a:xfrm>
          <a:prstGeom prst="rect">
            <a:avLst/>
          </a:prstGeom>
          <a:solidFill>
            <a:srgbClr val="2C4A6E"/>
          </a:solidFill>
          <a:ln w="12700">
            <a:solidFill>
              <a:srgbClr val="2C4A6E"/>
            </a:solidFill>
            <a:prstDash val="solid"/>
          </a:ln>
        </p:spPr>
      </p:sp>
      <p:sp>
        <p:nvSpPr>
          <p:cNvPr id="11" name="Text 9"/>
          <p:cNvSpPr/>
          <p:nvPr/>
        </p:nvSpPr>
        <p:spPr>
          <a:xfrm>
            <a:off x="1005840" y="2103120"/>
            <a:ext cx="7680960" cy="548640"/>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Inside a moving soccer ball</a:t>
            </a:r>
            <a:endParaRPr lang="en-US" sz="1400" dirty="0"/>
          </a:p>
        </p:txBody>
      </p:sp>
      <p:sp>
        <p:nvSpPr>
          <p:cNvPr id="12" name="Shape 10"/>
          <p:cNvSpPr/>
          <p:nvPr/>
        </p:nvSpPr>
        <p:spPr>
          <a:xfrm>
            <a:off x="365760" y="2761488"/>
            <a:ext cx="502920" cy="548640"/>
          </a:xfrm>
          <a:prstGeom prst="rect">
            <a:avLst/>
          </a:prstGeom>
          <a:solidFill>
            <a:srgbClr val="2A7A4B"/>
          </a:solidFill>
          <a:ln w="12700">
            <a:solidFill>
              <a:srgbClr val="2A7A4B"/>
            </a:solidFill>
            <a:prstDash val="solid"/>
          </a:ln>
        </p:spPr>
      </p:sp>
      <p:sp>
        <p:nvSpPr>
          <p:cNvPr id="13" name="Text 11"/>
          <p:cNvSpPr/>
          <p:nvPr/>
        </p:nvSpPr>
        <p:spPr>
          <a:xfrm>
            <a:off x="365760" y="2761488"/>
            <a:ext cx="5029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Shape 12"/>
          <p:cNvSpPr/>
          <p:nvPr/>
        </p:nvSpPr>
        <p:spPr>
          <a:xfrm>
            <a:off x="914400" y="2761488"/>
            <a:ext cx="7863840" cy="548640"/>
          </a:xfrm>
          <a:prstGeom prst="rect">
            <a:avLst/>
          </a:prstGeom>
          <a:solidFill>
            <a:srgbClr val="2C4A6E"/>
          </a:solidFill>
          <a:ln w="12700">
            <a:solidFill>
              <a:srgbClr val="2C4A6E"/>
            </a:solidFill>
            <a:prstDash val="solid"/>
          </a:ln>
        </p:spPr>
      </p:sp>
      <p:sp>
        <p:nvSpPr>
          <p:cNvPr id="15" name="Text 13"/>
          <p:cNvSpPr/>
          <p:nvPr/>
        </p:nvSpPr>
        <p:spPr>
          <a:xfrm>
            <a:off x="1005840" y="2761488"/>
            <a:ext cx="7680960" cy="548640"/>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Inside food fuel and batteries</a:t>
            </a:r>
            <a:endParaRPr lang="en-US" sz="1400" dirty="0"/>
          </a:p>
        </p:txBody>
      </p:sp>
      <p:sp>
        <p:nvSpPr>
          <p:cNvPr id="16" name="Shape 14"/>
          <p:cNvSpPr/>
          <p:nvPr/>
        </p:nvSpPr>
        <p:spPr>
          <a:xfrm>
            <a:off x="365760" y="3419856"/>
            <a:ext cx="502920" cy="548640"/>
          </a:xfrm>
          <a:prstGeom prst="rect">
            <a:avLst/>
          </a:prstGeom>
          <a:solidFill>
            <a:srgbClr val="1A3A5C"/>
          </a:solidFill>
          <a:ln w="12700">
            <a:solidFill>
              <a:srgbClr val="1A3A5C"/>
            </a:solidFill>
            <a:prstDash val="solid"/>
          </a:ln>
        </p:spPr>
      </p:sp>
      <p:sp>
        <p:nvSpPr>
          <p:cNvPr id="17" name="Text 15"/>
          <p:cNvSpPr/>
          <p:nvPr/>
        </p:nvSpPr>
        <p:spPr>
          <a:xfrm>
            <a:off x="365760" y="3419856"/>
            <a:ext cx="5029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Shape 16"/>
          <p:cNvSpPr/>
          <p:nvPr/>
        </p:nvSpPr>
        <p:spPr>
          <a:xfrm>
            <a:off x="914400" y="3419856"/>
            <a:ext cx="7863840" cy="548640"/>
          </a:xfrm>
          <a:prstGeom prst="rect">
            <a:avLst/>
          </a:prstGeom>
          <a:solidFill>
            <a:srgbClr val="2C4A6E"/>
          </a:solidFill>
          <a:ln w="12700">
            <a:solidFill>
              <a:srgbClr val="2C4A6E"/>
            </a:solidFill>
            <a:prstDash val="solid"/>
          </a:ln>
        </p:spPr>
      </p:sp>
      <p:sp>
        <p:nvSpPr>
          <p:cNvPr id="19" name="Text 17"/>
          <p:cNvSpPr/>
          <p:nvPr/>
        </p:nvSpPr>
        <p:spPr>
          <a:xfrm>
            <a:off x="1005840" y="3419856"/>
            <a:ext cx="7680960" cy="548640"/>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Inside a beam of sunlight</a:t>
            </a:r>
            <a:endParaRPr lang="en-US" sz="1400" dirty="0"/>
          </a:p>
        </p:txBody>
      </p:sp>
      <p:sp>
        <p:nvSpPr>
          <p:cNvPr id="20" name="Shape 18"/>
          <p:cNvSpPr/>
          <p:nvPr/>
        </p:nvSpPr>
        <p:spPr>
          <a:xfrm>
            <a:off x="365760" y="4078224"/>
            <a:ext cx="502920" cy="548640"/>
          </a:xfrm>
          <a:prstGeom prst="rect">
            <a:avLst/>
          </a:prstGeom>
          <a:solidFill>
            <a:srgbClr val="1A3A5C"/>
          </a:solidFill>
          <a:ln w="12700">
            <a:solidFill>
              <a:srgbClr val="1A3A5C"/>
            </a:solidFill>
            <a:prstDash val="solid"/>
          </a:ln>
        </p:spPr>
      </p:sp>
      <p:sp>
        <p:nvSpPr>
          <p:cNvPr id="21" name="Text 19"/>
          <p:cNvSpPr/>
          <p:nvPr/>
        </p:nvSpPr>
        <p:spPr>
          <a:xfrm>
            <a:off x="365760" y="4078224"/>
            <a:ext cx="5029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Shape 20"/>
          <p:cNvSpPr/>
          <p:nvPr/>
        </p:nvSpPr>
        <p:spPr>
          <a:xfrm>
            <a:off x="914400" y="4078224"/>
            <a:ext cx="7863840" cy="548640"/>
          </a:xfrm>
          <a:prstGeom prst="rect">
            <a:avLst/>
          </a:prstGeom>
          <a:solidFill>
            <a:srgbClr val="2C4A6E"/>
          </a:solidFill>
          <a:ln w="12700">
            <a:solidFill>
              <a:srgbClr val="2C4A6E"/>
            </a:solidFill>
            <a:prstDash val="solid"/>
          </a:ln>
        </p:spPr>
      </p:sp>
      <p:sp>
        <p:nvSpPr>
          <p:cNvPr id="23" name="Text 21"/>
          <p:cNvSpPr/>
          <p:nvPr/>
        </p:nvSpPr>
        <p:spPr>
          <a:xfrm>
            <a:off x="1005840" y="4078224"/>
            <a:ext cx="7680960" cy="548640"/>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Inside a spinning fan blade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w="12700">
            <a:solidFill>
              <a:srgbClr val="0D1B2A"/>
            </a:solidFill>
            <a:prstDash val="solid"/>
          </a:ln>
        </p:spPr>
      </p:sp>
      <p:sp>
        <p:nvSpPr>
          <p:cNvPr id="3" name="Shape 1"/>
          <p:cNvSpPr/>
          <p:nvPr/>
        </p:nvSpPr>
        <p:spPr>
          <a:xfrm>
            <a:off x="365760" y="182880"/>
            <a:ext cx="1595628" cy="274320"/>
          </a:xfrm>
          <a:prstGeom prst="rect">
            <a:avLst/>
          </a:prstGeom>
          <a:solidFill>
            <a:srgbClr val="F6C90E"/>
          </a:solidFill>
          <a:ln w="12700">
            <a:solidFill>
              <a:srgbClr val="F6C90E"/>
            </a:solidFill>
            <a:prstDash val="solid"/>
          </a:ln>
        </p:spPr>
      </p:sp>
      <p:sp>
        <p:nvSpPr>
          <p:cNvPr id="4" name="Text 2"/>
          <p:cNvSpPr/>
          <p:nvPr/>
        </p:nvSpPr>
        <p:spPr>
          <a:xfrm>
            <a:off x="365760" y="182880"/>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MIND-BLOWING FACT</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Go Deeper Extend Your Thinking</a:t>
            </a:r>
            <a:endParaRPr lang="en-US" sz="2400" dirty="0"/>
          </a:p>
        </p:txBody>
      </p:sp>
      <p:sp>
        <p:nvSpPr>
          <p:cNvPr id="6" name="Shape 4"/>
          <p:cNvSpPr/>
          <p:nvPr/>
        </p:nvSpPr>
        <p:spPr>
          <a:xfrm>
            <a:off x="365760" y="1188720"/>
            <a:ext cx="8412480" cy="1280160"/>
          </a:xfrm>
          <a:prstGeom prst="rect">
            <a:avLst/>
          </a:prstGeom>
          <a:solidFill>
            <a:srgbClr val="1A3A5C"/>
          </a:solidFill>
          <a:ln w="12700">
            <a:solidFill>
              <a:srgbClr val="1A3A5C"/>
            </a:solidFill>
            <a:prstDash val="solid"/>
          </a:ln>
        </p:spPr>
      </p:sp>
      <p:sp>
        <p:nvSpPr>
          <p:cNvPr id="7" name="Text 5"/>
          <p:cNvSpPr/>
          <p:nvPr/>
        </p:nvSpPr>
        <p:spPr>
          <a:xfrm>
            <a:off x="457200" y="1243584"/>
            <a:ext cx="8229600" cy="117043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Your body uses about 2000 food calories of CHEMICAL energy every single day even when you are sleeping! That is about the same as 50 cups of hot tea worth of energy. Where does it go? Most of it becomes HEAT. The rest powers your muscles your brain and every breath you take.</a:t>
            </a:r>
            <a:endParaRPr lang="en-US" sz="1500" dirty="0"/>
          </a:p>
        </p:txBody>
      </p:sp>
      <p:sp>
        <p:nvSpPr>
          <p:cNvPr id="8" name="Shape 6"/>
          <p:cNvSpPr/>
          <p:nvPr/>
        </p:nvSpPr>
        <p:spPr>
          <a:xfrm>
            <a:off x="365760" y="2651760"/>
            <a:ext cx="8412480" cy="640080"/>
          </a:xfrm>
          <a:prstGeom prst="rect">
            <a:avLst/>
          </a:prstGeom>
          <a:solidFill>
            <a:srgbClr val="0E7C7B"/>
          </a:solidFill>
          <a:ln w="12700">
            <a:solidFill>
              <a:srgbClr val="0E7C7B"/>
            </a:solidFill>
            <a:prstDash val="solid"/>
          </a:ln>
        </p:spPr>
      </p:sp>
      <p:sp>
        <p:nvSpPr>
          <p:cNvPr id="9" name="Text 7"/>
          <p:cNvSpPr/>
          <p:nvPr/>
        </p:nvSpPr>
        <p:spPr>
          <a:xfrm>
            <a:off x="457200" y="2706624"/>
            <a:ext cx="8229600" cy="53035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Bonus: There is a seventh form called NUCLEAR energy. It is stored in the center of atoms. The sun runs on nuclear energy. Nuclear power plants use it to make electricity.</a:t>
            </a:r>
            <a:endParaRPr lang="en-US" sz="1300" dirty="0"/>
          </a:p>
        </p:txBody>
      </p:sp>
      <p:sp>
        <p:nvSpPr>
          <p:cNvPr id="10" name="Text 8"/>
          <p:cNvSpPr/>
          <p:nvPr/>
        </p:nvSpPr>
        <p:spPr>
          <a:xfrm>
            <a:off x="365760" y="3429000"/>
            <a:ext cx="8412480" cy="320040"/>
          </a:xfrm>
          <a:prstGeom prst="rect">
            <a:avLst/>
          </a:prstGeom>
          <a:noFill/>
          <a:ln/>
        </p:spPr>
        <p:txBody>
          <a:bodyPr wrap="square" rtlCol="0" anchor="ctr"/>
          <a:lstStyle/>
          <a:p>
            <a:pPr algn="l" indent="0" marL="0">
              <a:buNone/>
            </a:pPr>
            <a:r>
              <a:rPr lang="en-US" sz="1300" b="1" dirty="0">
                <a:solidFill>
                  <a:srgbClr val="F6C90E"/>
                </a:solidFill>
                <a:latin typeface="Calibri" pitchFamily="34" charset="0"/>
                <a:ea typeface="Calibri" pitchFamily="34" charset="-122"/>
                <a:cs typeface="Calibri" pitchFamily="34" charset="-120"/>
              </a:rPr>
              <a:t>Extension Questions:</a:t>
            </a:r>
            <a:endParaRPr lang="en-US" sz="1300" dirty="0"/>
          </a:p>
        </p:txBody>
      </p:sp>
      <p:sp>
        <p:nvSpPr>
          <p:cNvPr id="11" name="Shape 9"/>
          <p:cNvSpPr/>
          <p:nvPr/>
        </p:nvSpPr>
        <p:spPr>
          <a:xfrm>
            <a:off x="365760" y="3794760"/>
            <a:ext cx="4023360" cy="822960"/>
          </a:xfrm>
          <a:prstGeom prst="rect">
            <a:avLst/>
          </a:prstGeom>
          <a:solidFill>
            <a:srgbClr val="2E86AB"/>
          </a:solidFill>
          <a:ln w="12700">
            <a:solidFill>
              <a:srgbClr val="2E86AB"/>
            </a:solidFill>
            <a:prstDash val="solid"/>
          </a:ln>
        </p:spPr>
      </p:sp>
      <p:sp>
        <p:nvSpPr>
          <p:cNvPr id="12" name="Text 10"/>
          <p:cNvSpPr/>
          <p:nvPr/>
        </p:nvSpPr>
        <p:spPr>
          <a:xfrm>
            <a:off x="457200" y="3849624"/>
            <a:ext cx="3840480" cy="71323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If your body uses chemical energy from food what form does it become when you run a race?</a:t>
            </a:r>
            <a:endParaRPr lang="en-US" sz="1200" dirty="0"/>
          </a:p>
        </p:txBody>
      </p:sp>
      <p:sp>
        <p:nvSpPr>
          <p:cNvPr id="13" name="Shape 11"/>
          <p:cNvSpPr/>
          <p:nvPr/>
        </p:nvSpPr>
        <p:spPr>
          <a:xfrm>
            <a:off x="4572000" y="3794760"/>
            <a:ext cx="4023360" cy="822960"/>
          </a:xfrm>
          <a:prstGeom prst="rect">
            <a:avLst/>
          </a:prstGeom>
          <a:solidFill>
            <a:srgbClr val="2E86AB"/>
          </a:solidFill>
          <a:ln w="12700">
            <a:solidFill>
              <a:srgbClr val="2E86AB"/>
            </a:solidFill>
            <a:prstDash val="solid"/>
          </a:ln>
        </p:spPr>
      </p:sp>
      <p:sp>
        <p:nvSpPr>
          <p:cNvPr id="14" name="Text 12"/>
          <p:cNvSpPr/>
          <p:nvPr/>
        </p:nvSpPr>
        <p:spPr>
          <a:xfrm>
            <a:off x="4663440" y="3849624"/>
            <a:ext cx="3840480" cy="71323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One small device five forms of energy. Can you name all five a smartphone uses?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BF4FA"/>
          </a:solidFill>
          <a:ln w="12700">
            <a:solidFill>
              <a:srgbClr val="EBF4FA"/>
            </a:solidFill>
            <a:prstDash val="solid"/>
          </a:ln>
        </p:spPr>
      </p:sp>
      <p:sp>
        <p:nvSpPr>
          <p:cNvPr id="3" name="Shape 1"/>
          <p:cNvSpPr/>
          <p:nvPr/>
        </p:nvSpPr>
        <p:spPr>
          <a:xfrm>
            <a:off x="365760" y="182880"/>
            <a:ext cx="1673352" cy="274320"/>
          </a:xfrm>
          <a:prstGeom prst="rect">
            <a:avLst/>
          </a:prstGeom>
          <a:solidFill>
            <a:srgbClr val="1A3A5C"/>
          </a:solidFill>
          <a:ln w="12700">
            <a:solidFill>
              <a:srgbClr val="1A3A5C"/>
            </a:solidFill>
            <a:prstDash val="solid"/>
          </a:ln>
        </p:spPr>
      </p:sp>
      <p:sp>
        <p:nvSpPr>
          <p:cNvPr id="4" name="Text 2"/>
          <p:cNvSpPr/>
          <p:nvPr/>
        </p:nvSpPr>
        <p:spPr>
          <a:xfrm>
            <a:off x="365760" y="182880"/>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algn="l" indent="0" marL="0">
              <a:buNone/>
            </a:pPr>
            <a:r>
              <a:rPr lang="en-US" sz="2200" b="1" dirty="0">
                <a:solidFill>
                  <a:srgbClr val="1A1A2E"/>
                </a:solidFill>
                <a:latin typeface="Cambria" pitchFamily="34" charset="0"/>
                <a:ea typeface="Cambria" pitchFamily="34" charset="-122"/>
                <a:cs typeface="Cambria" pitchFamily="34" charset="-120"/>
              </a:rPr>
              <a:t>Parts A and B Home Hunt plus Evidence Questions</a:t>
            </a:r>
            <a:endParaRPr lang="en-US" sz="2200" dirty="0"/>
          </a:p>
        </p:txBody>
      </p:sp>
      <p:sp>
        <p:nvSpPr>
          <p:cNvPr id="6" name="Shape 4"/>
          <p:cNvSpPr/>
          <p:nvPr/>
        </p:nvSpPr>
        <p:spPr>
          <a:xfrm>
            <a:off x="365760" y="1143000"/>
            <a:ext cx="8412480" cy="347472"/>
          </a:xfrm>
          <a:prstGeom prst="rect">
            <a:avLst/>
          </a:prstGeom>
          <a:solidFill>
            <a:srgbClr val="1A3A5C"/>
          </a:solidFill>
          <a:ln w="12700">
            <a:solidFill>
              <a:srgbClr val="1A3A5C"/>
            </a:solidFill>
            <a:prstDash val="solid"/>
          </a:ln>
        </p:spPr>
      </p:sp>
      <p:sp>
        <p:nvSpPr>
          <p:cNvPr id="7" name="Text 5"/>
          <p:cNvSpPr/>
          <p:nvPr/>
        </p:nvSpPr>
        <p:spPr>
          <a:xfrm>
            <a:off x="457200" y="1143000"/>
            <a:ext cx="8229600" cy="347472"/>
          </a:xfrm>
          <a:prstGeom prst="rect">
            <a:avLst/>
          </a:prstGeom>
          <a:noFill/>
          <a:ln/>
        </p:spPr>
        <p:txBody>
          <a:bodyPr wrap="square" rtlCol="0" anchor="ctr"/>
          <a:lstStyle/>
          <a:p>
            <a:pPr algn="l" indent="0" marL="0">
              <a:buNone/>
            </a:pPr>
            <a:r>
              <a:rPr lang="en-US" sz="1300" b="1" dirty="0">
                <a:solidFill>
                  <a:srgbClr val="F6C90E"/>
                </a:solidFill>
                <a:latin typeface="Calibri" pitchFamily="34" charset="0"/>
                <a:ea typeface="Calibri" pitchFamily="34" charset="-122"/>
                <a:cs typeface="Calibri" pitchFamily="34" charset="-120"/>
              </a:rPr>
              <a:t>PART A Home Energy Hunt</a:t>
            </a:r>
            <a:endParaRPr lang="en-US" sz="1300" dirty="0"/>
          </a:p>
        </p:txBody>
      </p:sp>
      <p:sp>
        <p:nvSpPr>
          <p:cNvPr id="8" name="Shape 6"/>
          <p:cNvSpPr/>
          <p:nvPr/>
        </p:nvSpPr>
        <p:spPr>
          <a:xfrm>
            <a:off x="365760" y="1508760"/>
            <a:ext cx="8412480" cy="868680"/>
          </a:xfrm>
          <a:prstGeom prst="rect">
            <a:avLst/>
          </a:prstGeom>
          <a:solidFill>
            <a:srgbClr val="FFFFFF"/>
          </a:solidFill>
          <a:ln w="12700">
            <a:solidFill>
              <a:srgbClr val="FFFFFF"/>
            </a:solidFill>
            <a:prstDash val="solid"/>
          </a:ln>
        </p:spPr>
      </p:sp>
      <p:sp>
        <p:nvSpPr>
          <p:cNvPr id="9" name="Text 7"/>
          <p:cNvSpPr/>
          <p:nvPr/>
        </p:nvSpPr>
        <p:spPr>
          <a:xfrm>
            <a:off x="457200" y="1563624"/>
            <a:ext cx="8229600" cy="75895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Walk around your home for 5 minutes. Find at least one example of each of the six forms of energy: LIGHT HEAT SOUND ELECTRICAL CHEMICAL MECHANICAL. For each one write WHERE you found it in your notebook.</a:t>
            </a:r>
            <a:endParaRPr lang="en-US" sz="1300" dirty="0"/>
          </a:p>
        </p:txBody>
      </p:sp>
      <p:sp>
        <p:nvSpPr>
          <p:cNvPr id="10" name="Shape 8"/>
          <p:cNvSpPr/>
          <p:nvPr/>
        </p:nvSpPr>
        <p:spPr>
          <a:xfrm>
            <a:off x="365760" y="2468880"/>
            <a:ext cx="8412480" cy="347472"/>
          </a:xfrm>
          <a:prstGeom prst="rect">
            <a:avLst/>
          </a:prstGeom>
          <a:solidFill>
            <a:srgbClr val="2E86AB"/>
          </a:solidFill>
          <a:ln w="12700">
            <a:solidFill>
              <a:srgbClr val="2E86AB"/>
            </a:solidFill>
            <a:prstDash val="solid"/>
          </a:ln>
        </p:spPr>
      </p:sp>
      <p:sp>
        <p:nvSpPr>
          <p:cNvPr id="11" name="Text 9"/>
          <p:cNvSpPr/>
          <p:nvPr/>
        </p:nvSpPr>
        <p:spPr>
          <a:xfrm>
            <a:off x="457200" y="2468880"/>
            <a:ext cx="8229600" cy="347472"/>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PART B Evidence Questions</a:t>
            </a:r>
            <a:endParaRPr lang="en-US" sz="1300" dirty="0"/>
          </a:p>
        </p:txBody>
      </p:sp>
      <p:sp>
        <p:nvSpPr>
          <p:cNvPr id="12" name="Shape 10"/>
          <p:cNvSpPr/>
          <p:nvPr/>
        </p:nvSpPr>
        <p:spPr>
          <a:xfrm>
            <a:off x="365760" y="2880360"/>
            <a:ext cx="8412480" cy="438912"/>
          </a:xfrm>
          <a:prstGeom prst="rect">
            <a:avLst/>
          </a:prstGeom>
          <a:solidFill>
            <a:srgbClr val="FFFFFF"/>
          </a:solidFill>
          <a:ln w="12700">
            <a:solidFill>
              <a:srgbClr val="FFFFFF"/>
            </a:solidFill>
            <a:prstDash val="solid"/>
          </a:ln>
        </p:spPr>
      </p:sp>
      <p:sp>
        <p:nvSpPr>
          <p:cNvPr id="13" name="Text 11"/>
          <p:cNvSpPr/>
          <p:nvPr/>
        </p:nvSpPr>
        <p:spPr>
          <a:xfrm>
            <a:off x="457200" y="2935224"/>
            <a:ext cx="8229600" cy="32918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B1: Which scene had the most forms of energy at work? Name the forms.</a:t>
            </a:r>
            <a:endParaRPr lang="en-US" sz="1200" dirty="0"/>
          </a:p>
        </p:txBody>
      </p:sp>
      <p:sp>
        <p:nvSpPr>
          <p:cNvPr id="14" name="Shape 12"/>
          <p:cNvSpPr/>
          <p:nvPr/>
        </p:nvSpPr>
        <p:spPr>
          <a:xfrm>
            <a:off x="365760" y="3383280"/>
            <a:ext cx="8412480" cy="438912"/>
          </a:xfrm>
          <a:prstGeom prst="rect">
            <a:avLst/>
          </a:prstGeom>
          <a:solidFill>
            <a:srgbClr val="FFFFFF"/>
          </a:solidFill>
          <a:ln w="12700">
            <a:solidFill>
              <a:srgbClr val="FFFFFF"/>
            </a:solidFill>
            <a:prstDash val="solid"/>
          </a:ln>
        </p:spPr>
      </p:sp>
      <p:sp>
        <p:nvSpPr>
          <p:cNvPr id="15" name="Text 13"/>
          <p:cNvSpPr/>
          <p:nvPr/>
        </p:nvSpPr>
        <p:spPr>
          <a:xfrm>
            <a:off x="457200" y="3438144"/>
            <a:ext cx="8229600" cy="32918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B2: In the campfire scene light AND heat are happening at the same time. Where does both of that energy come from? Use the word chemical in your answer.</a:t>
            </a:r>
            <a:endParaRPr lang="en-US" sz="1200" dirty="0"/>
          </a:p>
        </p:txBody>
      </p:sp>
      <p:sp>
        <p:nvSpPr>
          <p:cNvPr id="16" name="Shape 14"/>
          <p:cNvSpPr/>
          <p:nvPr/>
        </p:nvSpPr>
        <p:spPr>
          <a:xfrm>
            <a:off x="365760" y="3886200"/>
            <a:ext cx="8412480" cy="438912"/>
          </a:xfrm>
          <a:prstGeom prst="rect">
            <a:avLst/>
          </a:prstGeom>
          <a:solidFill>
            <a:srgbClr val="FFFFFF"/>
          </a:solidFill>
          <a:ln w="12700">
            <a:solidFill>
              <a:srgbClr val="FFFFFF"/>
            </a:solidFill>
            <a:prstDash val="solid"/>
          </a:ln>
        </p:spPr>
      </p:sp>
      <p:sp>
        <p:nvSpPr>
          <p:cNvPr id="17" name="Text 15"/>
          <p:cNvSpPr/>
          <p:nvPr/>
        </p:nvSpPr>
        <p:spPr>
          <a:xfrm>
            <a:off x="457200" y="3941064"/>
            <a:ext cx="8229600" cy="32918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B3: A wind-up toy car: you twist a key then it rolls. Where is energy stored when the key is twisted? What form is it in when the car rolls?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BF4FA"/>
          </a:solidFill>
          <a:ln w="12700">
            <a:solidFill>
              <a:srgbClr val="EBF4FA"/>
            </a:solidFill>
            <a:prstDash val="solid"/>
          </a:ln>
        </p:spPr>
      </p:sp>
      <p:sp>
        <p:nvSpPr>
          <p:cNvPr id="3" name="Shape 1"/>
          <p:cNvSpPr/>
          <p:nvPr/>
        </p:nvSpPr>
        <p:spPr>
          <a:xfrm>
            <a:off x="365760" y="182880"/>
            <a:ext cx="1595628" cy="274320"/>
          </a:xfrm>
          <a:prstGeom prst="rect">
            <a:avLst/>
          </a:prstGeom>
          <a:solidFill>
            <a:srgbClr val="1A3A5C"/>
          </a:solidFill>
          <a:ln w="12700">
            <a:solidFill>
              <a:srgbClr val="1A3A5C"/>
            </a:solidFill>
            <a:prstDash val="solid"/>
          </a:ln>
        </p:spPr>
      </p:sp>
      <p:sp>
        <p:nvSpPr>
          <p:cNvPr id="4" name="Text 2"/>
          <p:cNvSpPr/>
          <p:nvPr/>
        </p:nvSpPr>
        <p:spPr>
          <a:xfrm>
            <a:off x="365760" y="182880"/>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PART C</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algn="l" indent="0" marL="0">
              <a:buNone/>
            </a:pPr>
            <a:r>
              <a:rPr lang="en-US" sz="2200" b="1" dirty="0">
                <a:solidFill>
                  <a:srgbClr val="1A1A2E"/>
                </a:solidFill>
                <a:latin typeface="Cambria" pitchFamily="34" charset="0"/>
                <a:ea typeface="Cambria" pitchFamily="34" charset="-122"/>
                <a:cs typeface="Cambria" pitchFamily="34" charset="-120"/>
              </a:rPr>
              <a:t>Claim Evidence Reasoning Written CER</a:t>
            </a:r>
            <a:endParaRPr lang="en-US" sz="2200" dirty="0"/>
          </a:p>
        </p:txBody>
      </p:sp>
      <p:sp>
        <p:nvSpPr>
          <p:cNvPr id="6" name="Text 4"/>
          <p:cNvSpPr/>
          <p:nvPr/>
        </p:nvSpPr>
        <p:spPr>
          <a:xfrm>
            <a:off x="365760" y="1097280"/>
            <a:ext cx="8412480" cy="347472"/>
          </a:xfrm>
          <a:prstGeom prst="rect">
            <a:avLst/>
          </a:prstGeom>
          <a:noFill/>
          <a:ln/>
        </p:spPr>
        <p:txBody>
          <a:bodyPr wrap="square" rtlCol="0" anchor="ctr"/>
          <a:lstStyle/>
          <a:p>
            <a:pPr algn="l" indent="0" marL="0">
              <a:buNone/>
            </a:pPr>
            <a:r>
              <a:rPr lang="en-US" sz="1300" i="1" dirty="0">
                <a:solidFill>
                  <a:srgbClr val="2C4A6E"/>
                </a:solidFill>
                <a:latin typeface="Calibri" pitchFamily="34" charset="0"/>
                <a:ea typeface="Calibri" pitchFamily="34" charset="-122"/>
                <a:cs typeface="Calibri" pitchFamily="34" charset="-120"/>
              </a:rPr>
              <a:t>Aim for 4 to 6 sentences total. Prompt: Which scene has the most forms of energy?</a:t>
            </a:r>
            <a:endParaRPr lang="en-US" sz="1300" dirty="0"/>
          </a:p>
        </p:txBody>
      </p:sp>
      <p:sp>
        <p:nvSpPr>
          <p:cNvPr id="7" name="Shape 5"/>
          <p:cNvSpPr/>
          <p:nvPr/>
        </p:nvSpPr>
        <p:spPr>
          <a:xfrm>
            <a:off x="365760" y="1554480"/>
            <a:ext cx="1280160" cy="804672"/>
          </a:xfrm>
          <a:prstGeom prst="rect">
            <a:avLst/>
          </a:prstGeom>
          <a:solidFill>
            <a:srgbClr val="0E7C7B"/>
          </a:solidFill>
          <a:ln w="12700">
            <a:solidFill>
              <a:srgbClr val="0E7C7B"/>
            </a:solidFill>
            <a:prstDash val="solid"/>
          </a:ln>
        </p:spPr>
      </p:sp>
      <p:sp>
        <p:nvSpPr>
          <p:cNvPr id="8" name="Text 6"/>
          <p:cNvSpPr/>
          <p:nvPr/>
        </p:nvSpPr>
        <p:spPr>
          <a:xfrm>
            <a:off x="365760" y="1554480"/>
            <a:ext cx="1280160" cy="8046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CLAIM</a:t>
            </a:r>
            <a:endParaRPr lang="en-US" sz="1200" dirty="0"/>
          </a:p>
        </p:txBody>
      </p:sp>
      <p:sp>
        <p:nvSpPr>
          <p:cNvPr id="9" name="Shape 7"/>
          <p:cNvSpPr/>
          <p:nvPr/>
        </p:nvSpPr>
        <p:spPr>
          <a:xfrm>
            <a:off x="1691640" y="1554480"/>
            <a:ext cx="7086600" cy="804672"/>
          </a:xfrm>
          <a:prstGeom prst="rect">
            <a:avLst/>
          </a:prstGeom>
          <a:solidFill>
            <a:srgbClr val="FFFFFF"/>
          </a:solidFill>
          <a:ln w="12700">
            <a:solidFill>
              <a:srgbClr val="FFFFFF"/>
            </a:solidFill>
            <a:prstDash val="solid"/>
          </a:ln>
        </p:spPr>
      </p:sp>
      <p:sp>
        <p:nvSpPr>
          <p:cNvPr id="10" name="Text 8"/>
          <p:cNvSpPr/>
          <p:nvPr/>
        </p:nvSpPr>
        <p:spPr>
          <a:xfrm>
            <a:off x="1783080" y="1609344"/>
            <a:ext cx="6903720" cy="694944"/>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Out of the three scenes the one with the most forms of energy is ___ because...</a:t>
            </a:r>
            <a:endParaRPr lang="en-US" sz="1200" dirty="0"/>
          </a:p>
        </p:txBody>
      </p:sp>
      <p:sp>
        <p:nvSpPr>
          <p:cNvPr id="11" name="Shape 9"/>
          <p:cNvSpPr/>
          <p:nvPr/>
        </p:nvSpPr>
        <p:spPr>
          <a:xfrm>
            <a:off x="365760" y="2514600"/>
            <a:ext cx="1280160" cy="804672"/>
          </a:xfrm>
          <a:prstGeom prst="rect">
            <a:avLst/>
          </a:prstGeom>
          <a:solidFill>
            <a:srgbClr val="2E86AB"/>
          </a:solidFill>
          <a:ln w="12700">
            <a:solidFill>
              <a:srgbClr val="2E86AB"/>
            </a:solidFill>
            <a:prstDash val="solid"/>
          </a:ln>
        </p:spPr>
      </p:sp>
      <p:sp>
        <p:nvSpPr>
          <p:cNvPr id="12" name="Text 10"/>
          <p:cNvSpPr/>
          <p:nvPr/>
        </p:nvSpPr>
        <p:spPr>
          <a:xfrm>
            <a:off x="365760" y="2514600"/>
            <a:ext cx="1280160" cy="8046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p>
        </p:txBody>
      </p:sp>
      <p:sp>
        <p:nvSpPr>
          <p:cNvPr id="13" name="Shape 11"/>
          <p:cNvSpPr/>
          <p:nvPr/>
        </p:nvSpPr>
        <p:spPr>
          <a:xfrm>
            <a:off x="1691640" y="2514600"/>
            <a:ext cx="7086600" cy="804672"/>
          </a:xfrm>
          <a:prstGeom prst="rect">
            <a:avLst/>
          </a:prstGeom>
          <a:solidFill>
            <a:srgbClr val="FFFFFF"/>
          </a:solidFill>
          <a:ln w="12700">
            <a:solidFill>
              <a:srgbClr val="FFFFFF"/>
            </a:solidFill>
            <a:prstDash val="solid"/>
          </a:ln>
        </p:spPr>
      </p:sp>
      <p:sp>
        <p:nvSpPr>
          <p:cNvPr id="14" name="Text 12"/>
          <p:cNvSpPr/>
          <p:nvPr/>
        </p:nvSpPr>
        <p:spPr>
          <a:xfrm>
            <a:off x="1783080" y="2569464"/>
            <a:ext cx="6903720" cy="694944"/>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List at least two specific forms of energy from your chosen scene and what produces each one. Pick your strongest evidence.</a:t>
            </a:r>
            <a:endParaRPr lang="en-US" sz="1200" dirty="0"/>
          </a:p>
        </p:txBody>
      </p:sp>
      <p:sp>
        <p:nvSpPr>
          <p:cNvPr id="15" name="Shape 13"/>
          <p:cNvSpPr/>
          <p:nvPr/>
        </p:nvSpPr>
        <p:spPr>
          <a:xfrm>
            <a:off x="365760" y="3474720"/>
            <a:ext cx="1280160" cy="804672"/>
          </a:xfrm>
          <a:prstGeom prst="rect">
            <a:avLst/>
          </a:prstGeom>
          <a:solidFill>
            <a:srgbClr val="F07D35"/>
          </a:solidFill>
          <a:ln w="12700">
            <a:solidFill>
              <a:srgbClr val="F07D35"/>
            </a:solidFill>
            <a:prstDash val="solid"/>
          </a:ln>
        </p:spPr>
      </p:sp>
      <p:sp>
        <p:nvSpPr>
          <p:cNvPr id="16" name="Text 14"/>
          <p:cNvSpPr/>
          <p:nvPr/>
        </p:nvSpPr>
        <p:spPr>
          <a:xfrm>
            <a:off x="365760" y="3474720"/>
            <a:ext cx="1280160" cy="8046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REASONING</a:t>
            </a:r>
            <a:endParaRPr lang="en-US" sz="1200" dirty="0"/>
          </a:p>
        </p:txBody>
      </p:sp>
      <p:sp>
        <p:nvSpPr>
          <p:cNvPr id="17" name="Shape 15"/>
          <p:cNvSpPr/>
          <p:nvPr/>
        </p:nvSpPr>
        <p:spPr>
          <a:xfrm>
            <a:off x="1691640" y="3474720"/>
            <a:ext cx="7086600" cy="804672"/>
          </a:xfrm>
          <a:prstGeom prst="rect">
            <a:avLst/>
          </a:prstGeom>
          <a:solidFill>
            <a:srgbClr val="FFFFFF"/>
          </a:solidFill>
          <a:ln w="12700">
            <a:solidFill>
              <a:srgbClr val="FFFFFF"/>
            </a:solidFill>
            <a:prstDash val="solid"/>
          </a:ln>
        </p:spPr>
      </p:sp>
      <p:sp>
        <p:nvSpPr>
          <p:cNvPr id="18" name="Text 16"/>
          <p:cNvSpPr/>
          <p:nvPr/>
        </p:nvSpPr>
        <p:spPr>
          <a:xfrm>
            <a:off x="1783080" y="3529584"/>
            <a:ext cx="6903720" cy="694944"/>
          </a:xfrm>
          <a:prstGeom prst="rect">
            <a:avLst/>
          </a:prstGeom>
          <a:noFill/>
          <a:ln/>
        </p:spPr>
        <p:txBody>
          <a:bodyPr wrap="square"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This makes sense because energy shows up wherever there is...</a:t>
            </a:r>
            <a:endParaRPr lang="en-US" sz="1200" dirty="0"/>
          </a:p>
        </p:txBody>
      </p:sp>
      <p:sp>
        <p:nvSpPr>
          <p:cNvPr id="19" name="Text 17"/>
          <p:cNvSpPr/>
          <p:nvPr/>
        </p:nvSpPr>
        <p:spPr>
          <a:xfrm>
            <a:off x="365760" y="4526280"/>
            <a:ext cx="8412480" cy="347472"/>
          </a:xfrm>
          <a:prstGeom prst="rect">
            <a:avLst/>
          </a:prstGeom>
          <a:noFill/>
          <a:ln/>
        </p:spPr>
        <p:txBody>
          <a:bodyPr wrap="square" rtlCol="0" anchor="ctr"/>
          <a:lstStyle/>
          <a:p>
            <a:pPr algn="ctr" indent="0" marL="0">
              <a:buNone/>
            </a:pPr>
            <a:r>
              <a:rPr lang="en-US" sz="1100" i="1" dirty="0">
                <a:solidFill>
                  <a:srgbClr val="2C4A6E"/>
                </a:solidFill>
                <a:latin typeface="Calibri" pitchFamily="34" charset="0"/>
                <a:ea typeface="Calibri" pitchFamily="34" charset="-122"/>
                <a:cs typeface="Calibri" pitchFamily="34" charset="-120"/>
              </a:rPr>
              <a:t>Vocab Check: Use at least two words: energy light heat sound chemical mechanical electrical</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7C7B"/>
          </a:solidFill>
          <a:ln w="12700">
            <a:solidFill>
              <a:srgbClr val="0E7C7B"/>
            </a:solidFill>
            <a:prstDash val="solid"/>
          </a:ln>
        </p:spPr>
      </p:sp>
      <p:sp>
        <p:nvSpPr>
          <p:cNvPr id="3" name="Shape 1"/>
          <p:cNvSpPr/>
          <p:nvPr/>
        </p:nvSpPr>
        <p:spPr>
          <a:xfrm>
            <a:off x="365760" y="182880"/>
            <a:ext cx="1828800" cy="274320"/>
          </a:xfrm>
          <a:prstGeom prst="rect">
            <a:avLst/>
          </a:prstGeom>
          <a:solidFill>
            <a:srgbClr val="1A3A5C"/>
          </a:solidFill>
          <a:ln w="12700">
            <a:solidFill>
              <a:srgbClr val="1A3A5C"/>
            </a:solidFill>
            <a:prstDash val="solid"/>
          </a:ln>
        </p:spPr>
      </p:sp>
      <p:sp>
        <p:nvSpPr>
          <p:cNvPr id="4" name="Text 2"/>
          <p:cNvSpPr/>
          <p:nvPr/>
        </p:nvSpPr>
        <p:spPr>
          <a:xfrm>
            <a:off x="365760" y="182880"/>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REVISE YOUR THINKING</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Look Back at Your Prediction</a:t>
            </a:r>
            <a:endParaRPr lang="en-US" sz="2600" dirty="0"/>
          </a:p>
        </p:txBody>
      </p:sp>
      <p:sp>
        <p:nvSpPr>
          <p:cNvPr id="6" name="Text 4"/>
          <p:cNvSpPr/>
          <p:nvPr/>
        </p:nvSpPr>
        <p:spPr>
          <a:xfrm>
            <a:off x="365760" y="1097280"/>
            <a:ext cx="8412480" cy="347472"/>
          </a:xfrm>
          <a:prstGeom prst="rect">
            <a:avLst/>
          </a:prstGeom>
          <a:noFill/>
          <a:ln/>
        </p:spPr>
        <p:txBody>
          <a:bodyPr wrap="square"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Write 3 to 4 sentences answering these reflection prompts:</a:t>
            </a:r>
            <a:endParaRPr lang="en-US" sz="1400" dirty="0"/>
          </a:p>
        </p:txBody>
      </p:sp>
      <p:sp>
        <p:nvSpPr>
          <p:cNvPr id="7" name="Shape 5"/>
          <p:cNvSpPr/>
          <p:nvPr/>
        </p:nvSpPr>
        <p:spPr>
          <a:xfrm>
            <a:off x="365760" y="1554480"/>
            <a:ext cx="502920" cy="868680"/>
          </a:xfrm>
          <a:prstGeom prst="rect">
            <a:avLst/>
          </a:prstGeom>
          <a:solidFill>
            <a:srgbClr val="1A3A5C"/>
          </a:solidFill>
          <a:ln w="12700">
            <a:solidFill>
              <a:srgbClr val="1A3A5C"/>
            </a:solidFill>
            <a:prstDash val="solid"/>
          </a:ln>
        </p:spPr>
      </p:sp>
      <p:sp>
        <p:nvSpPr>
          <p:cNvPr id="8" name="Text 6"/>
          <p:cNvSpPr/>
          <p:nvPr/>
        </p:nvSpPr>
        <p:spPr>
          <a:xfrm>
            <a:off x="365760" y="1554480"/>
            <a:ext cx="502920" cy="868680"/>
          </a:xfrm>
          <a:prstGeom prst="rect">
            <a:avLst/>
          </a:prstGeom>
          <a:noFill/>
          <a:ln/>
        </p:spPr>
        <p:txBody>
          <a:bodyPr wrap="square" rtlCol="0" anchor="ctr"/>
          <a:lstStyle/>
          <a:p>
            <a:pPr algn="ctr" indent="0" marL="0">
              <a:buNone/>
            </a:pPr>
            <a:r>
              <a:rPr lang="en-US" sz="1800" b="1" dirty="0">
                <a:solidFill>
                  <a:srgbClr val="F6C90E"/>
                </a:solidFill>
                <a:latin typeface="Calibri" pitchFamily="34" charset="0"/>
                <a:ea typeface="Calibri" pitchFamily="34" charset="-122"/>
                <a:cs typeface="Calibri" pitchFamily="34" charset="-120"/>
              </a:rPr>
              <a:t>1</a:t>
            </a:r>
            <a:endParaRPr lang="en-US" sz="1800" dirty="0"/>
          </a:p>
        </p:txBody>
      </p:sp>
      <p:sp>
        <p:nvSpPr>
          <p:cNvPr id="9" name="Shape 7"/>
          <p:cNvSpPr/>
          <p:nvPr/>
        </p:nvSpPr>
        <p:spPr>
          <a:xfrm>
            <a:off x="914400" y="1554480"/>
            <a:ext cx="7863840" cy="868680"/>
          </a:xfrm>
          <a:prstGeom prst="rect">
            <a:avLst/>
          </a:prstGeom>
          <a:solidFill>
            <a:srgbClr val="FFFFFF"/>
          </a:solidFill>
          <a:ln w="12700">
            <a:solidFill>
              <a:srgbClr val="FFFFFF"/>
            </a:solidFill>
            <a:prstDash val="solid"/>
          </a:ln>
        </p:spPr>
      </p:sp>
      <p:sp>
        <p:nvSpPr>
          <p:cNvPr id="10" name="Text 8"/>
          <p:cNvSpPr/>
          <p:nvPr/>
        </p:nvSpPr>
        <p:spPr>
          <a:xfrm>
            <a:off x="1005840" y="1600200"/>
            <a:ext cx="7680960" cy="777240"/>
          </a:xfrm>
          <a:prstGeom prst="rect">
            <a:avLst/>
          </a:prstGeom>
          <a:noFill/>
          <a:ln/>
        </p:spPr>
        <p:txBody>
          <a:bodyPr wrap="square"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What did you predict about why mass stays the same when matter changes form?</a:t>
            </a:r>
            <a:endParaRPr lang="en-US" sz="1400" dirty="0"/>
          </a:p>
        </p:txBody>
      </p:sp>
      <p:sp>
        <p:nvSpPr>
          <p:cNvPr id="11" name="Shape 9"/>
          <p:cNvSpPr/>
          <p:nvPr/>
        </p:nvSpPr>
        <p:spPr>
          <a:xfrm>
            <a:off x="365760" y="2560320"/>
            <a:ext cx="502920" cy="868680"/>
          </a:xfrm>
          <a:prstGeom prst="rect">
            <a:avLst/>
          </a:prstGeom>
          <a:solidFill>
            <a:srgbClr val="1A3A5C"/>
          </a:solidFill>
          <a:ln w="12700">
            <a:solidFill>
              <a:srgbClr val="1A3A5C"/>
            </a:solidFill>
            <a:prstDash val="solid"/>
          </a:ln>
        </p:spPr>
      </p:sp>
      <p:sp>
        <p:nvSpPr>
          <p:cNvPr id="12" name="Text 10"/>
          <p:cNvSpPr/>
          <p:nvPr/>
        </p:nvSpPr>
        <p:spPr>
          <a:xfrm>
            <a:off x="365760" y="2560320"/>
            <a:ext cx="502920" cy="868680"/>
          </a:xfrm>
          <a:prstGeom prst="rect">
            <a:avLst/>
          </a:prstGeom>
          <a:noFill/>
          <a:ln/>
        </p:spPr>
        <p:txBody>
          <a:bodyPr wrap="square" rtlCol="0" anchor="ctr"/>
          <a:lstStyle/>
          <a:p>
            <a:pPr algn="ctr" indent="0" marL="0">
              <a:buNone/>
            </a:pPr>
            <a:r>
              <a:rPr lang="en-US" sz="1800" b="1" dirty="0">
                <a:solidFill>
                  <a:srgbClr val="F6C90E"/>
                </a:solidFill>
                <a:latin typeface="Calibri" pitchFamily="34" charset="0"/>
                <a:ea typeface="Calibri" pitchFamily="34" charset="-122"/>
                <a:cs typeface="Calibri" pitchFamily="34" charset="-120"/>
              </a:rPr>
              <a:t>2</a:t>
            </a:r>
            <a:endParaRPr lang="en-US" sz="1800" dirty="0"/>
          </a:p>
        </p:txBody>
      </p:sp>
      <p:sp>
        <p:nvSpPr>
          <p:cNvPr id="13" name="Shape 11"/>
          <p:cNvSpPr/>
          <p:nvPr/>
        </p:nvSpPr>
        <p:spPr>
          <a:xfrm>
            <a:off x="914400" y="2560320"/>
            <a:ext cx="7863840" cy="868680"/>
          </a:xfrm>
          <a:prstGeom prst="rect">
            <a:avLst/>
          </a:prstGeom>
          <a:solidFill>
            <a:srgbClr val="FFFFFF"/>
          </a:solidFill>
          <a:ln w="12700">
            <a:solidFill>
              <a:srgbClr val="FFFFFF"/>
            </a:solidFill>
            <a:prstDash val="solid"/>
          </a:ln>
        </p:spPr>
      </p:sp>
      <p:sp>
        <p:nvSpPr>
          <p:cNvPr id="14" name="Text 12"/>
          <p:cNvSpPr/>
          <p:nvPr/>
        </p:nvSpPr>
        <p:spPr>
          <a:xfrm>
            <a:off x="1005840" y="2606040"/>
            <a:ext cx="7680960" cy="777240"/>
          </a:xfrm>
          <a:prstGeom prst="rect">
            <a:avLst/>
          </a:prstGeom>
          <a:noFill/>
          <a:ln/>
        </p:spPr>
        <p:txBody>
          <a:bodyPr wrap="square"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How does today is lesson about energy confirm or strengthen your idea?</a:t>
            </a:r>
            <a:endParaRPr lang="en-US" sz="1400" dirty="0"/>
          </a:p>
        </p:txBody>
      </p:sp>
      <p:sp>
        <p:nvSpPr>
          <p:cNvPr id="15" name="Shape 13"/>
          <p:cNvSpPr/>
          <p:nvPr/>
        </p:nvSpPr>
        <p:spPr>
          <a:xfrm>
            <a:off x="365760" y="3566160"/>
            <a:ext cx="502920" cy="868680"/>
          </a:xfrm>
          <a:prstGeom prst="rect">
            <a:avLst/>
          </a:prstGeom>
          <a:solidFill>
            <a:srgbClr val="1A3A5C"/>
          </a:solidFill>
          <a:ln w="12700">
            <a:solidFill>
              <a:srgbClr val="1A3A5C"/>
            </a:solidFill>
            <a:prstDash val="solid"/>
          </a:ln>
        </p:spPr>
      </p:sp>
      <p:sp>
        <p:nvSpPr>
          <p:cNvPr id="16" name="Text 14"/>
          <p:cNvSpPr/>
          <p:nvPr/>
        </p:nvSpPr>
        <p:spPr>
          <a:xfrm>
            <a:off x="365760" y="3566160"/>
            <a:ext cx="502920" cy="868680"/>
          </a:xfrm>
          <a:prstGeom prst="rect">
            <a:avLst/>
          </a:prstGeom>
          <a:noFill/>
          <a:ln/>
        </p:spPr>
        <p:txBody>
          <a:bodyPr wrap="square" rtlCol="0" anchor="ctr"/>
          <a:lstStyle/>
          <a:p>
            <a:pPr algn="ctr" indent="0" marL="0">
              <a:buNone/>
            </a:pPr>
            <a:r>
              <a:rPr lang="en-US" sz="1800" b="1" dirty="0">
                <a:solidFill>
                  <a:srgbClr val="F6C90E"/>
                </a:solidFill>
                <a:latin typeface="Calibri" pitchFamily="34" charset="0"/>
                <a:ea typeface="Calibri" pitchFamily="34" charset="-122"/>
                <a:cs typeface="Calibri" pitchFamily="34" charset="-120"/>
              </a:rPr>
              <a:t>3</a:t>
            </a:r>
            <a:endParaRPr lang="en-US" sz="1800" dirty="0"/>
          </a:p>
        </p:txBody>
      </p:sp>
      <p:sp>
        <p:nvSpPr>
          <p:cNvPr id="17" name="Shape 15"/>
          <p:cNvSpPr/>
          <p:nvPr/>
        </p:nvSpPr>
        <p:spPr>
          <a:xfrm>
            <a:off x="914400" y="3566160"/>
            <a:ext cx="7863840" cy="868680"/>
          </a:xfrm>
          <a:prstGeom prst="rect">
            <a:avLst/>
          </a:prstGeom>
          <a:solidFill>
            <a:srgbClr val="FFFFFF"/>
          </a:solidFill>
          <a:ln w="12700">
            <a:solidFill>
              <a:srgbClr val="FFFFFF"/>
            </a:solidFill>
            <a:prstDash val="solid"/>
          </a:ln>
        </p:spPr>
      </p:sp>
      <p:sp>
        <p:nvSpPr>
          <p:cNvPr id="18" name="Text 16"/>
          <p:cNvSpPr/>
          <p:nvPr/>
        </p:nvSpPr>
        <p:spPr>
          <a:xfrm>
            <a:off x="1005840" y="3611880"/>
            <a:ext cx="7680960" cy="777240"/>
          </a:xfrm>
          <a:prstGeom prst="rect">
            <a:avLst/>
          </a:prstGeom>
          <a:noFill/>
          <a:ln/>
        </p:spPr>
        <p:txBody>
          <a:bodyPr wrap="square"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What is the biggest new idea about energy you would add to your prediction now?</a:t>
            </a:r>
            <a:endParaRPr lang="en-US" sz="1400" dirty="0"/>
          </a:p>
        </p:txBody>
      </p:sp>
      <p:sp>
        <p:nvSpPr>
          <p:cNvPr id="19" name="Text 17"/>
          <p:cNvSpPr/>
          <p:nvPr/>
        </p:nvSpPr>
        <p:spPr>
          <a:xfrm>
            <a:off x="365760" y="4663440"/>
            <a:ext cx="8412480" cy="320040"/>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Honest reflection helps your brain connect new learning to what you already knew.</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5C"/>
          </a:solidFill>
          <a:ln w="12700">
            <a:solidFill>
              <a:srgbClr val="1A3A5C"/>
            </a:solidFill>
            <a:prstDash val="solid"/>
          </a:ln>
        </p:spPr>
      </p:sp>
      <p:sp>
        <p:nvSpPr>
          <p:cNvPr id="3" name="Shape 1"/>
          <p:cNvSpPr/>
          <p:nvPr/>
        </p:nvSpPr>
        <p:spPr>
          <a:xfrm>
            <a:off x="365760" y="182880"/>
            <a:ext cx="1595628" cy="274320"/>
          </a:xfrm>
          <a:prstGeom prst="rect">
            <a:avLst/>
          </a:prstGeom>
          <a:solidFill>
            <a:srgbClr val="F6C90E"/>
          </a:solidFill>
          <a:ln w="12700">
            <a:solidFill>
              <a:srgbClr val="F6C90E"/>
            </a:solidFill>
            <a:prstDash val="solid"/>
          </a:ln>
        </p:spPr>
      </p:sp>
      <p:sp>
        <p:nvSpPr>
          <p:cNvPr id="4" name="Text 2"/>
          <p:cNvSpPr/>
          <p:nvPr/>
        </p:nvSpPr>
        <p:spPr>
          <a:xfrm>
            <a:off x="365760" y="182880"/>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BEFORE YOU SUBMIT</a:t>
            </a:r>
            <a:endParaRPr lang="en-US" sz="1000" dirty="0"/>
          </a:p>
        </p:txBody>
      </p:sp>
      <p:sp>
        <p:nvSpPr>
          <p:cNvPr id="5" name="Text 3"/>
          <p:cNvSpPr/>
          <p:nvPr/>
        </p:nvSpPr>
        <p:spPr>
          <a:xfrm>
            <a:off x="365760" y="594360"/>
            <a:ext cx="8412480" cy="457200"/>
          </a:xfrm>
          <a:prstGeom prst="rect">
            <a:avLst/>
          </a:prstGeom>
          <a:noFill/>
          <a:ln/>
        </p:spPr>
        <p:txBody>
          <a:bodyPr wrap="square"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Lesson 10.01 Submission Checklist</a:t>
            </a:r>
            <a:endParaRPr lang="en-US" sz="2600" dirty="0"/>
          </a:p>
        </p:txBody>
      </p:sp>
      <p:sp>
        <p:nvSpPr>
          <p:cNvPr id="6" name="Shape 4"/>
          <p:cNvSpPr/>
          <p:nvPr/>
        </p:nvSpPr>
        <p:spPr>
          <a:xfrm>
            <a:off x="365760" y="1188720"/>
            <a:ext cx="411480" cy="566928"/>
          </a:xfrm>
          <a:prstGeom prst="rect">
            <a:avLst/>
          </a:prstGeom>
          <a:solidFill>
            <a:srgbClr val="0E7C7B"/>
          </a:solidFill>
          <a:ln w="12700">
            <a:solidFill>
              <a:srgbClr val="0E7C7B"/>
            </a:solidFill>
            <a:prstDash val="solid"/>
          </a:ln>
        </p:spPr>
      </p:sp>
      <p:sp>
        <p:nvSpPr>
          <p:cNvPr id="7" name="Text 5"/>
          <p:cNvSpPr/>
          <p:nvPr/>
        </p:nvSpPr>
        <p:spPr>
          <a:xfrm>
            <a:off x="365760" y="1188720"/>
            <a:ext cx="411480" cy="56692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8" name="Shape 6"/>
          <p:cNvSpPr/>
          <p:nvPr/>
        </p:nvSpPr>
        <p:spPr>
          <a:xfrm>
            <a:off x="822960" y="1188720"/>
            <a:ext cx="7955280" cy="566928"/>
          </a:xfrm>
          <a:prstGeom prst="rect">
            <a:avLst/>
          </a:prstGeom>
          <a:solidFill>
            <a:srgbClr val="2C4A6E"/>
          </a:solidFill>
          <a:ln w="12700">
            <a:solidFill>
              <a:srgbClr val="2C4A6E"/>
            </a:solidFill>
            <a:prstDash val="solid"/>
          </a:ln>
        </p:spPr>
      </p:sp>
      <p:sp>
        <p:nvSpPr>
          <p:cNvPr id="9" name="Text 7"/>
          <p:cNvSpPr/>
          <p:nvPr/>
        </p:nvSpPr>
        <p:spPr>
          <a:xfrm>
            <a:off x="914400" y="1188720"/>
            <a:ext cx="7772400" cy="566928"/>
          </a:xfrm>
          <a:prstGeom prst="rect">
            <a:avLst/>
          </a:prstGeom>
          <a:noFill/>
          <a:ln/>
        </p:spPr>
        <p:txBody>
          <a:bodyPr wrap="square"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Part A Home Energy Hunt: Six forms of energy found at home each with WHERE you found it.</a:t>
            </a:r>
            <a:endParaRPr lang="en-US" sz="1200" dirty="0"/>
          </a:p>
        </p:txBody>
      </p:sp>
      <p:sp>
        <p:nvSpPr>
          <p:cNvPr id="10" name="Shape 8"/>
          <p:cNvSpPr/>
          <p:nvPr/>
        </p:nvSpPr>
        <p:spPr>
          <a:xfrm>
            <a:off x="365760" y="1874520"/>
            <a:ext cx="411480" cy="566928"/>
          </a:xfrm>
          <a:prstGeom prst="rect">
            <a:avLst/>
          </a:prstGeom>
          <a:solidFill>
            <a:srgbClr val="0E7C7B"/>
          </a:solidFill>
          <a:ln w="12700">
            <a:solidFill>
              <a:srgbClr val="0E7C7B"/>
            </a:solidFill>
            <a:prstDash val="solid"/>
          </a:ln>
        </p:spPr>
      </p:sp>
      <p:sp>
        <p:nvSpPr>
          <p:cNvPr id="11" name="Text 9"/>
          <p:cNvSpPr/>
          <p:nvPr/>
        </p:nvSpPr>
        <p:spPr>
          <a:xfrm>
            <a:off x="365760" y="1874520"/>
            <a:ext cx="411480" cy="56692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12" name="Shape 10"/>
          <p:cNvSpPr/>
          <p:nvPr/>
        </p:nvSpPr>
        <p:spPr>
          <a:xfrm>
            <a:off x="822960" y="1874520"/>
            <a:ext cx="7955280" cy="566928"/>
          </a:xfrm>
          <a:prstGeom prst="rect">
            <a:avLst/>
          </a:prstGeom>
          <a:solidFill>
            <a:srgbClr val="2C4A6E"/>
          </a:solidFill>
          <a:ln w="12700">
            <a:solidFill>
              <a:srgbClr val="2C4A6E"/>
            </a:solidFill>
            <a:prstDash val="solid"/>
          </a:ln>
        </p:spPr>
      </p:sp>
      <p:sp>
        <p:nvSpPr>
          <p:cNvPr id="13" name="Text 11"/>
          <p:cNvSpPr/>
          <p:nvPr/>
        </p:nvSpPr>
        <p:spPr>
          <a:xfrm>
            <a:off x="914400" y="1874520"/>
            <a:ext cx="7772400" cy="566928"/>
          </a:xfrm>
          <a:prstGeom prst="rect">
            <a:avLst/>
          </a:prstGeom>
          <a:noFill/>
          <a:ln/>
        </p:spPr>
        <p:txBody>
          <a:bodyPr wrap="square"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Part B Evidence Questions: All three questions answered using the three investigation scenes.</a:t>
            </a:r>
            <a:endParaRPr lang="en-US" sz="1200" dirty="0"/>
          </a:p>
        </p:txBody>
      </p:sp>
      <p:sp>
        <p:nvSpPr>
          <p:cNvPr id="14" name="Shape 12"/>
          <p:cNvSpPr/>
          <p:nvPr/>
        </p:nvSpPr>
        <p:spPr>
          <a:xfrm>
            <a:off x="365760" y="2560320"/>
            <a:ext cx="411480" cy="566928"/>
          </a:xfrm>
          <a:prstGeom prst="rect">
            <a:avLst/>
          </a:prstGeom>
          <a:solidFill>
            <a:srgbClr val="0E7C7B"/>
          </a:solidFill>
          <a:ln w="12700">
            <a:solidFill>
              <a:srgbClr val="0E7C7B"/>
            </a:solidFill>
            <a:prstDash val="solid"/>
          </a:ln>
        </p:spPr>
      </p:sp>
      <p:sp>
        <p:nvSpPr>
          <p:cNvPr id="15" name="Text 13"/>
          <p:cNvSpPr/>
          <p:nvPr/>
        </p:nvSpPr>
        <p:spPr>
          <a:xfrm>
            <a:off x="365760" y="2560320"/>
            <a:ext cx="411480" cy="56692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16" name="Shape 14"/>
          <p:cNvSpPr/>
          <p:nvPr/>
        </p:nvSpPr>
        <p:spPr>
          <a:xfrm>
            <a:off x="822960" y="2560320"/>
            <a:ext cx="7955280" cy="566928"/>
          </a:xfrm>
          <a:prstGeom prst="rect">
            <a:avLst/>
          </a:prstGeom>
          <a:solidFill>
            <a:srgbClr val="2C4A6E"/>
          </a:solidFill>
          <a:ln w="12700">
            <a:solidFill>
              <a:srgbClr val="2C4A6E"/>
            </a:solidFill>
            <a:prstDash val="solid"/>
          </a:ln>
        </p:spPr>
      </p:sp>
      <p:sp>
        <p:nvSpPr>
          <p:cNvPr id="17" name="Text 15"/>
          <p:cNvSpPr/>
          <p:nvPr/>
        </p:nvSpPr>
        <p:spPr>
          <a:xfrm>
            <a:off x="914400" y="2560320"/>
            <a:ext cx="7772400" cy="566928"/>
          </a:xfrm>
          <a:prstGeom prst="rect">
            <a:avLst/>
          </a:prstGeom>
          <a:noFill/>
          <a:ln/>
        </p:spPr>
        <p:txBody>
          <a:bodyPr wrap="square"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Part C CER: Claim evidence from one scene and reasoning using science vocabulary.</a:t>
            </a:r>
            <a:endParaRPr lang="en-US" sz="1200" dirty="0"/>
          </a:p>
        </p:txBody>
      </p:sp>
      <p:sp>
        <p:nvSpPr>
          <p:cNvPr id="18" name="Shape 16"/>
          <p:cNvSpPr/>
          <p:nvPr/>
        </p:nvSpPr>
        <p:spPr>
          <a:xfrm>
            <a:off x="365760" y="3246120"/>
            <a:ext cx="411480" cy="566928"/>
          </a:xfrm>
          <a:prstGeom prst="rect">
            <a:avLst/>
          </a:prstGeom>
          <a:solidFill>
            <a:srgbClr val="0E7C7B"/>
          </a:solidFill>
          <a:ln w="12700">
            <a:solidFill>
              <a:srgbClr val="0E7C7B"/>
            </a:solidFill>
            <a:prstDash val="solid"/>
          </a:ln>
        </p:spPr>
      </p:sp>
      <p:sp>
        <p:nvSpPr>
          <p:cNvPr id="19" name="Text 17"/>
          <p:cNvSpPr/>
          <p:nvPr/>
        </p:nvSpPr>
        <p:spPr>
          <a:xfrm>
            <a:off x="365760" y="3246120"/>
            <a:ext cx="411480" cy="56692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20" name="Shape 18"/>
          <p:cNvSpPr/>
          <p:nvPr/>
        </p:nvSpPr>
        <p:spPr>
          <a:xfrm>
            <a:off x="822960" y="3246120"/>
            <a:ext cx="7955280" cy="566928"/>
          </a:xfrm>
          <a:prstGeom prst="rect">
            <a:avLst/>
          </a:prstGeom>
          <a:solidFill>
            <a:srgbClr val="2C4A6E"/>
          </a:solidFill>
          <a:ln w="12700">
            <a:solidFill>
              <a:srgbClr val="2C4A6E"/>
            </a:solidFill>
            <a:prstDash val="solid"/>
          </a:ln>
        </p:spPr>
      </p:sp>
      <p:sp>
        <p:nvSpPr>
          <p:cNvPr id="21" name="Text 19"/>
          <p:cNvSpPr/>
          <p:nvPr/>
        </p:nvSpPr>
        <p:spPr>
          <a:xfrm>
            <a:off x="914400" y="3246120"/>
            <a:ext cx="7772400" cy="566928"/>
          </a:xfrm>
          <a:prstGeom prst="rect">
            <a:avLst/>
          </a:prstGeom>
          <a:noFill/>
          <a:ln/>
        </p:spPr>
        <p:txBody>
          <a:bodyPr wrap="square"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Revise Your Thinking: 3 to 4 sentences explaining how your thinking changed about energy.</a:t>
            </a:r>
            <a:endParaRPr lang="en-US" sz="1200" dirty="0"/>
          </a:p>
        </p:txBody>
      </p:sp>
      <p:sp>
        <p:nvSpPr>
          <p:cNvPr id="22" name="Shape 20"/>
          <p:cNvSpPr/>
          <p:nvPr/>
        </p:nvSpPr>
        <p:spPr>
          <a:xfrm>
            <a:off x="365760" y="3931920"/>
            <a:ext cx="411480" cy="566928"/>
          </a:xfrm>
          <a:prstGeom prst="rect">
            <a:avLst/>
          </a:prstGeom>
          <a:solidFill>
            <a:srgbClr val="0E7C7B"/>
          </a:solidFill>
          <a:ln w="12700">
            <a:solidFill>
              <a:srgbClr val="0E7C7B"/>
            </a:solidFill>
            <a:prstDash val="solid"/>
          </a:ln>
        </p:spPr>
      </p:sp>
      <p:sp>
        <p:nvSpPr>
          <p:cNvPr id="23" name="Text 21"/>
          <p:cNvSpPr/>
          <p:nvPr/>
        </p:nvSpPr>
        <p:spPr>
          <a:xfrm>
            <a:off x="365760" y="3931920"/>
            <a:ext cx="411480" cy="56692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24" name="Shape 22"/>
          <p:cNvSpPr/>
          <p:nvPr/>
        </p:nvSpPr>
        <p:spPr>
          <a:xfrm>
            <a:off x="822960" y="3931920"/>
            <a:ext cx="7955280" cy="566928"/>
          </a:xfrm>
          <a:prstGeom prst="rect">
            <a:avLst/>
          </a:prstGeom>
          <a:solidFill>
            <a:srgbClr val="2C4A6E"/>
          </a:solidFill>
          <a:ln w="12700">
            <a:solidFill>
              <a:srgbClr val="2C4A6E"/>
            </a:solidFill>
            <a:prstDash val="solid"/>
          </a:ln>
        </p:spPr>
      </p:sp>
      <p:sp>
        <p:nvSpPr>
          <p:cNvPr id="25" name="Text 23"/>
          <p:cNvSpPr/>
          <p:nvPr/>
        </p:nvSpPr>
        <p:spPr>
          <a:xfrm>
            <a:off x="914400" y="3931920"/>
            <a:ext cx="7772400" cy="566928"/>
          </a:xfrm>
          <a:prstGeom prst="rect">
            <a:avLst/>
          </a:prstGeom>
          <a:noFill/>
          <a:ln/>
        </p:spPr>
        <p:txBody>
          <a:bodyPr wrap="square"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Vocab Check: At least two lesson words used accurately in your writing.</a:t>
            </a:r>
            <a:endParaRPr lang="en-US" sz="1200" dirty="0"/>
          </a:p>
        </p:txBody>
      </p:sp>
      <p:sp>
        <p:nvSpPr>
          <p:cNvPr id="26" name="Shape 24"/>
          <p:cNvSpPr/>
          <p:nvPr/>
        </p:nvSpPr>
        <p:spPr>
          <a:xfrm>
            <a:off x="0" y="4754880"/>
            <a:ext cx="9144000" cy="388620"/>
          </a:xfrm>
          <a:prstGeom prst="rect">
            <a:avLst/>
          </a:prstGeom>
          <a:solidFill>
            <a:srgbClr val="F6C90E"/>
          </a:solidFill>
          <a:ln w="12700">
            <a:solidFill>
              <a:srgbClr val="F6C90E"/>
            </a:solidFill>
            <a:prstDash val="solid"/>
          </a:ln>
        </p:spPr>
      </p:sp>
      <p:sp>
        <p:nvSpPr>
          <p:cNvPr id="27" name="Text 25"/>
          <p:cNvSpPr/>
          <p:nvPr/>
        </p:nvSpPr>
        <p:spPr>
          <a:xfrm>
            <a:off x="0" y="4754880"/>
            <a:ext cx="9144000" cy="388620"/>
          </a:xfrm>
          <a:prstGeom prst="rect">
            <a:avLst/>
          </a:prstGeom>
          <a:noFill/>
          <a:ln/>
        </p:spPr>
        <p:txBody>
          <a:bodyPr wrap="square" rtlCol="0" anchor="ctr"/>
          <a:lstStyle/>
          <a:p>
            <a:pPr algn="ctr" indent="0" marL="0">
              <a:buNone/>
            </a:pPr>
            <a:r>
              <a:rPr lang="en-US" sz="1100" b="1" dirty="0">
                <a:solidFill>
                  <a:srgbClr val="1A1A2E"/>
                </a:solidFill>
                <a:latin typeface="Calibri" pitchFamily="34" charset="0"/>
                <a:ea typeface="Calibri" pitchFamily="34" charset="-122"/>
                <a:cs typeface="Calibri" pitchFamily="34" charset="-120"/>
              </a:rPr>
              <a:t>Next up: Lesson 10.02 How Does Energy Change Form?  |  Optima Academy Online  |  5th Grade Science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2026-08-28T16:41:33Z</dcterms:created>
  <dcterms:modified xsi:type="dcterms:W3CDTF">2026-08-28T16:41:33Z</dcterms:modified>
</cp:coreProperties>
</file>