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predictions before any measuring starts. Tally predictions on the board: "Who says SAME? UP? DOWN?"
This reveals prior knowledge. Students who say DOWN often think a change = matter loss. Today's data will challenge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predictions in the table before touching materials.
Alerts: some will predict "heavier" for the ice-water trial (thinking water is heavier than ice). That's a great misconception to test!
For dissolved salt: some predict lighter because "the salt disappeared." Perfect — today's data addresses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would it look like on a bar graph if conservation WAS happening?" → Equal bars.
"What would unequal bars mean?" → Matter escaped (open) or matter was added.
Point out: if a sealed system showed different masses, something went wrong with the setup — not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Q1: ask "Why would crumpling make the mass drop? Crumpling just changes shape — no particles leave the paper."
For Q2: the 2g decrease = water evaporated from the unsealed cup. The system was open. Conservation is still true — matter just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"What if one trial showed a 1g difference? Would that disprove conservation?"
Expected: likely a scale error or the bag was not fully sealed. Scientists repeat trials and look for patterns — one anomaly doesn't overturn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480560"/>
            <a:ext cx="9144000" cy="658368"/>
          </a:xfrm>
          <a:prstGeom prst="rect">
            <a:avLst/>
          </a:prstGeom>
          <a:solidFill>
            <a:srgbClr val="2E86AB"/>
          </a:solidFill>
          <a:ln w="12700">
            <a:solidFill>
              <a:srgbClr val="2E86AB"/>
            </a:solidFill>
            <a:prstDash val="solid"/>
          </a:ln>
        </p:spPr>
      </p:sp>
      <p:sp>
        <p:nvSpPr>
          <p:cNvPr id="3" name="Shape 1"/>
          <p:cNvSpPr/>
          <p:nvPr/>
        </p:nvSpPr>
        <p:spPr>
          <a:xfrm>
            <a:off x="365760" y="164592"/>
            <a:ext cx="1828800" cy="274320"/>
          </a:xfrm>
          <a:prstGeom prst="rect">
            <a:avLst/>
          </a:prstGeom>
          <a:solidFill>
            <a:srgbClr val="2E86AB"/>
          </a:solidFill>
          <a:ln w="12700">
            <a:solidFill>
              <a:srgbClr val="2E86AB"/>
            </a:solidFill>
            <a:prstDash val="solid"/>
          </a:ln>
        </p:spPr>
      </p:sp>
      <p:sp>
        <p:nvSpPr>
          <p:cNvPr id="4" name="Text 2"/>
          <p:cNvSpPr/>
          <p:nvPr/>
        </p:nvSpPr>
        <p:spPr>
          <a:xfrm>
            <a:off x="365760" y="164592"/>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 · UNIT 2 — MATTER</a:t>
            </a:r>
            <a:endParaRPr lang="en-US" sz="1000" dirty="0"/>
          </a:p>
        </p:txBody>
      </p:sp>
      <p:sp>
        <p:nvSpPr>
          <p:cNvPr id="5" name="Text 3"/>
          <p:cNvSpPr/>
          <p:nvPr/>
        </p:nvSpPr>
        <p:spPr>
          <a:xfrm>
            <a:off x="365760" y="512064"/>
            <a:ext cx="8229600" cy="365760"/>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Lesson 8.02</a:t>
            </a:r>
            <a:endParaRPr lang="en-US" sz="1400" dirty="0"/>
          </a:p>
        </p:txBody>
      </p:sp>
      <p:sp>
        <p:nvSpPr>
          <p:cNvPr id="6" name="Text 4"/>
          <p:cNvSpPr/>
          <p:nvPr/>
        </p:nvSpPr>
        <p:spPr>
          <a:xfrm>
            <a:off x="365760" y="877824"/>
            <a:ext cx="8412480" cy="91440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Investigation: Mass Before and After Change</a:t>
            </a:r>
            <a:endParaRPr lang="en-US" sz="3200" dirty="0"/>
          </a:p>
        </p:txBody>
      </p:sp>
      <p:sp>
        <p:nvSpPr>
          <p:cNvPr id="7" name="Text 5"/>
          <p:cNvSpPr/>
          <p:nvPr/>
        </p:nvSpPr>
        <p:spPr>
          <a:xfrm>
            <a:off x="365760" y="1828800"/>
            <a:ext cx="8229600" cy="320040"/>
          </a:xfrm>
          <a:prstGeom prst="rect">
            <a:avLst/>
          </a:prstGeom>
          <a:noFill/>
          <a:ln/>
        </p:spPr>
        <p:txBody>
          <a:bodyPr wrap="square" lIns="0" tIns="0" rIns="0" bIns="0" rtlCol="0" anchor="ctr"/>
          <a:lstStyle/>
          <a:p>
            <a:pPr algn="l" indent="0" marL="0">
              <a:buNone/>
            </a:pPr>
            <a:r>
              <a:rPr lang="en-US" sz="1300" dirty="0">
                <a:solidFill>
                  <a:srgbClr val="5E7B9A"/>
                </a:solidFill>
                <a:latin typeface="Calibri" pitchFamily="34" charset="0"/>
                <a:ea typeface="Calibri" pitchFamily="34" charset="-122"/>
                <a:cs typeface="Calibri" pitchFamily="34" charset="-120"/>
              </a:rPr>
              <a:t>Q1 · Unit 2 — Matter   |   Week 8   |   5-PS1-2</a:t>
            </a:r>
            <a:endParaRPr lang="en-US" sz="1300" dirty="0"/>
          </a:p>
        </p:txBody>
      </p:sp>
      <p:sp>
        <p:nvSpPr>
          <p:cNvPr id="8" name="Shape 6"/>
          <p:cNvSpPr/>
          <p:nvPr/>
        </p:nvSpPr>
        <p:spPr>
          <a:xfrm>
            <a:off x="365760" y="2304288"/>
            <a:ext cx="8412480" cy="438912"/>
          </a:xfrm>
          <a:prstGeom prst="rect">
            <a:avLst/>
          </a:prstGeom>
          <a:solidFill>
            <a:srgbClr val="2C4A6E"/>
          </a:solidFill>
          <a:ln w="12700">
            <a:solidFill>
              <a:srgbClr val="2C4A6E"/>
            </a:solidFill>
            <a:prstDash val="solid"/>
          </a:ln>
        </p:spPr>
      </p:sp>
      <p:sp>
        <p:nvSpPr>
          <p:cNvPr id="9" name="Text 7"/>
          <p:cNvSpPr/>
          <p:nvPr/>
        </p:nvSpPr>
        <p:spPr>
          <a:xfrm>
            <a:off x="457200" y="2359152"/>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Measure mass before and after a physical change.</a:t>
            </a:r>
            <a:endParaRPr lang="en-US" sz="1300" dirty="0"/>
          </a:p>
        </p:txBody>
      </p:sp>
      <p:sp>
        <p:nvSpPr>
          <p:cNvPr id="10" name="Shape 8"/>
          <p:cNvSpPr/>
          <p:nvPr/>
        </p:nvSpPr>
        <p:spPr>
          <a:xfrm>
            <a:off x="365760" y="2807208"/>
            <a:ext cx="8412480" cy="438912"/>
          </a:xfrm>
          <a:prstGeom prst="rect">
            <a:avLst/>
          </a:prstGeom>
          <a:solidFill>
            <a:srgbClr val="2C4A6E"/>
          </a:solidFill>
          <a:ln w="12700">
            <a:solidFill>
              <a:srgbClr val="2C4A6E"/>
            </a:solidFill>
            <a:prstDash val="solid"/>
          </a:ln>
        </p:spPr>
      </p:sp>
      <p:sp>
        <p:nvSpPr>
          <p:cNvPr id="11" name="Text 9"/>
          <p:cNvSpPr/>
          <p:nvPr/>
        </p:nvSpPr>
        <p:spPr>
          <a:xfrm>
            <a:off x="457200" y="2862072"/>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Record data and display it in a bar graph.</a:t>
            </a:r>
            <a:endParaRPr lang="en-US" sz="1300" dirty="0"/>
          </a:p>
        </p:txBody>
      </p:sp>
      <p:sp>
        <p:nvSpPr>
          <p:cNvPr id="12" name="Shape 10"/>
          <p:cNvSpPr/>
          <p:nvPr/>
        </p:nvSpPr>
        <p:spPr>
          <a:xfrm>
            <a:off x="365760" y="3310128"/>
            <a:ext cx="8412480" cy="438912"/>
          </a:xfrm>
          <a:prstGeom prst="rect">
            <a:avLst/>
          </a:prstGeom>
          <a:solidFill>
            <a:srgbClr val="2C4A6E"/>
          </a:solidFill>
          <a:ln w="12700">
            <a:solidFill>
              <a:srgbClr val="2C4A6E"/>
            </a:solidFill>
            <a:prstDash val="solid"/>
          </a:ln>
        </p:spPr>
      </p:sp>
      <p:sp>
        <p:nvSpPr>
          <p:cNvPr id="13" name="Text 11"/>
          <p:cNvSpPr/>
          <p:nvPr/>
        </p:nvSpPr>
        <p:spPr>
          <a:xfrm>
            <a:off x="457200" y="3364992"/>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Use measurements to defend conservation of matter.</a:t>
            </a:r>
            <a:endParaRPr lang="en-US" sz="1300" dirty="0"/>
          </a:p>
        </p:txBody>
      </p:sp>
      <p:sp>
        <p:nvSpPr>
          <p:cNvPr id="14" name="Text 12"/>
          <p:cNvSpPr/>
          <p:nvPr/>
        </p:nvSpPr>
        <p:spPr>
          <a:xfrm>
            <a:off x="365760" y="4590288"/>
            <a:ext cx="8412480"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Week 8  |  5-PS1-2  |  Conservation of Matter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440180" cy="274320"/>
          </a:xfrm>
          <a:prstGeom prst="rect">
            <a:avLst/>
          </a:prstGeom>
          <a:solidFill>
            <a:srgbClr val="0E7C7B"/>
          </a:solidFill>
          <a:ln w="12700">
            <a:solidFill>
              <a:srgbClr val="0E7C7B"/>
            </a:solidFill>
            <a:prstDash val="solid"/>
          </a:ln>
        </p:spPr>
      </p:sp>
      <p:sp>
        <p:nvSpPr>
          <p:cNvPr id="3" name="Text 1"/>
          <p:cNvSpPr/>
          <p:nvPr/>
        </p:nvSpPr>
        <p:spPr>
          <a:xfrm>
            <a:off x="365760" y="109728"/>
            <a:ext cx="14401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457200"/>
            <a:ext cx="84124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Trials — Three Changes</a:t>
            </a:r>
            <a:endParaRPr lang="en-US" sz="3000" dirty="0"/>
          </a:p>
        </p:txBody>
      </p:sp>
      <p:sp>
        <p:nvSpPr>
          <p:cNvPr id="5" name="Text 3"/>
          <p:cNvSpPr/>
          <p:nvPr/>
        </p:nvSpPr>
        <p:spPr>
          <a:xfrm>
            <a:off x="365760" y="1097280"/>
            <a:ext cx="8412480" cy="658368"/>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You will weigh three things before and after a change — and every time, the numbers should match. Before you measure, predict what the scale will show:</a:t>
            </a:r>
            <a:endParaRPr lang="en-US" sz="1500" dirty="0"/>
          </a:p>
        </p:txBody>
      </p:sp>
      <p:sp>
        <p:nvSpPr>
          <p:cNvPr id="6" name="Shape 4"/>
          <p:cNvSpPr/>
          <p:nvPr/>
        </p:nvSpPr>
        <p:spPr>
          <a:xfrm>
            <a:off x="365760" y="1828800"/>
            <a:ext cx="8412480" cy="548640"/>
          </a:xfrm>
          <a:prstGeom prst="rect">
            <a:avLst/>
          </a:prstGeom>
          <a:solidFill>
            <a:srgbClr val="0E7C7B"/>
          </a:solidFill>
          <a:ln w="12700">
            <a:solidFill>
              <a:srgbClr val="0E7C7B"/>
            </a:solidFill>
            <a:prstDash val="solid"/>
          </a:ln>
        </p:spPr>
      </p:sp>
      <p:sp>
        <p:nvSpPr>
          <p:cNvPr id="7" name="Text 5"/>
          <p:cNvSpPr/>
          <p:nvPr/>
        </p:nvSpPr>
        <p:spPr>
          <a:xfrm>
            <a:off x="457200" y="1883664"/>
            <a:ext cx="8229600" cy="4389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Trial 1: Flat paper → crumpled paper.  UP / DOWN / SAME?</a:t>
            </a:r>
            <a:endParaRPr lang="en-US" sz="1400" dirty="0"/>
          </a:p>
        </p:txBody>
      </p:sp>
      <p:sp>
        <p:nvSpPr>
          <p:cNvPr id="8" name="Shape 6"/>
          <p:cNvSpPr/>
          <p:nvPr/>
        </p:nvSpPr>
        <p:spPr>
          <a:xfrm>
            <a:off x="365760" y="2450592"/>
            <a:ext cx="8412480" cy="548640"/>
          </a:xfrm>
          <a:prstGeom prst="rect">
            <a:avLst/>
          </a:prstGeom>
          <a:solidFill>
            <a:srgbClr val="1A3A5C"/>
          </a:solidFill>
          <a:ln w="12700">
            <a:solidFill>
              <a:srgbClr val="1A3A5C"/>
            </a:solidFill>
            <a:prstDash val="solid"/>
          </a:ln>
        </p:spPr>
      </p:sp>
      <p:sp>
        <p:nvSpPr>
          <p:cNvPr id="9" name="Text 7"/>
          <p:cNvSpPr/>
          <p:nvPr/>
        </p:nvSpPr>
        <p:spPr>
          <a:xfrm>
            <a:off x="457200" y="2505456"/>
            <a:ext cx="8229600" cy="4389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Trial 2: Ice cube in sealed bag → melted water in same bag.  UP / DOWN / SAME?</a:t>
            </a:r>
            <a:endParaRPr lang="en-US" sz="1400" dirty="0"/>
          </a:p>
        </p:txBody>
      </p:sp>
      <p:sp>
        <p:nvSpPr>
          <p:cNvPr id="10" name="Shape 8"/>
          <p:cNvSpPr/>
          <p:nvPr/>
        </p:nvSpPr>
        <p:spPr>
          <a:xfrm>
            <a:off x="365760" y="3072384"/>
            <a:ext cx="8412480" cy="548640"/>
          </a:xfrm>
          <a:prstGeom prst="rect">
            <a:avLst/>
          </a:prstGeom>
          <a:solidFill>
            <a:srgbClr val="2C4A6E"/>
          </a:solidFill>
          <a:ln w="12700">
            <a:solidFill>
              <a:srgbClr val="2C4A6E"/>
            </a:solidFill>
            <a:prstDash val="solid"/>
          </a:ln>
        </p:spPr>
      </p:sp>
      <p:sp>
        <p:nvSpPr>
          <p:cNvPr id="11" name="Text 9"/>
          <p:cNvSpPr/>
          <p:nvPr/>
        </p:nvSpPr>
        <p:spPr>
          <a:xfrm>
            <a:off x="457200" y="3127248"/>
            <a:ext cx="8229600" cy="4389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Trial 3: Sealed cup with water → same cup after salt dissolves.  UP / DOWN / SAME?</a:t>
            </a:r>
            <a:endParaRPr lang="en-US" sz="1400" dirty="0"/>
          </a:p>
        </p:txBody>
      </p:sp>
      <p:sp>
        <p:nvSpPr>
          <p:cNvPr id="12" name="Text 10"/>
          <p:cNvSpPr/>
          <p:nvPr/>
        </p:nvSpPr>
        <p:spPr>
          <a:xfrm>
            <a:off x="365760" y="3749040"/>
            <a:ext cx="8412480" cy="384048"/>
          </a:xfrm>
          <a:prstGeom prst="rect">
            <a:avLst/>
          </a:prstGeom>
          <a:noFill/>
          <a:ln/>
        </p:spPr>
        <p:txBody>
          <a:bodyPr wrap="square" lIns="0" tIns="0" rIns="0" bIns="0" rtlCol="0" anchor="ctr"/>
          <a:lstStyle/>
          <a:p>
            <a:pPr algn="ctr" indent="0" marL="0">
              <a:buNone/>
            </a:pPr>
            <a:r>
              <a:rPr lang="en-US" sz="1300" dirty="0">
                <a:solidFill>
                  <a:srgbClr val="5E7B9A"/>
                </a:solidFill>
                <a:latin typeface="Calibri" pitchFamily="34" charset="0"/>
                <a:ea typeface="Calibri" pitchFamily="34" charset="-122"/>
                <a:cs typeface="Calibri" pitchFamily="34" charset="-120"/>
              </a:rPr>
              <a:t>Materials: kitchen scale (grams) · flat paper · ice cube in zip-top bag · cup with lid + salt + water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07D35"/>
          </a:solidFill>
          <a:ln w="12700">
            <a:solidFill>
              <a:srgbClr val="F07D35"/>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Record Your Predictions Before You Measure</a:t>
            </a:r>
            <a:endParaRPr lang="en-US" sz="2600" dirty="0"/>
          </a:p>
        </p:txBody>
      </p:sp>
      <p:sp>
        <p:nvSpPr>
          <p:cNvPr id="5" name="Shape 3"/>
          <p:cNvSpPr/>
          <p:nvPr/>
        </p:nvSpPr>
        <p:spPr>
          <a:xfrm>
            <a:off x="365760" y="804672"/>
            <a:ext cx="8412480" cy="658368"/>
          </a:xfrm>
          <a:prstGeom prst="rect">
            <a:avLst/>
          </a:prstGeom>
          <a:solidFill>
            <a:srgbClr val="FFFFFF"/>
          </a:solidFill>
          <a:ln w="12700">
            <a:solidFill>
              <a:srgbClr val="FFFFFF"/>
            </a:solidFill>
            <a:prstDash val="solid"/>
          </a:ln>
        </p:spPr>
      </p:sp>
      <p:sp>
        <p:nvSpPr>
          <p:cNvPr id="6" name="Text 4"/>
          <p:cNvSpPr/>
          <p:nvPr/>
        </p:nvSpPr>
        <p:spPr>
          <a:xfrm>
            <a:off x="457200" y="859536"/>
            <a:ext cx="8229600" cy="548640"/>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Prediction Prompt:</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"For each trial, predict whether the mass will go UP, DOWN, or STAY THE SAME after the change. Explain your reasoning for each using what you know about particles."</a:t>
            </a:r>
            <a:endParaRPr lang="en-US" sz="1500" dirty="0"/>
          </a:p>
        </p:txBody>
      </p:sp>
      <p:sp>
        <p:nvSpPr>
          <p:cNvPr id="7" name="Shape 5"/>
          <p:cNvSpPr/>
          <p:nvPr/>
        </p:nvSpPr>
        <p:spPr>
          <a:xfrm>
            <a:off x="365760" y="1572768"/>
            <a:ext cx="8412480" cy="566928"/>
          </a:xfrm>
          <a:prstGeom prst="rect">
            <a:avLst/>
          </a:prstGeom>
          <a:solidFill>
            <a:srgbClr val="EBF4FA"/>
          </a:solidFill>
          <a:ln w="12700">
            <a:solidFill>
              <a:srgbClr val="EBF4FA"/>
            </a:solidFill>
            <a:prstDash val="solid"/>
          </a:ln>
        </p:spPr>
      </p:sp>
      <p:sp>
        <p:nvSpPr>
          <p:cNvPr id="8" name="Text 6"/>
          <p:cNvSpPr/>
          <p:nvPr/>
        </p:nvSpPr>
        <p:spPr>
          <a:xfrm>
            <a:off x="457200" y="1627632"/>
            <a:ext cx="822960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Trial 1 — Crumple paper:</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My prediction: _______________ because _______________</a:t>
            </a:r>
            <a:endParaRPr lang="en-US" sz="1300" dirty="0"/>
          </a:p>
        </p:txBody>
      </p:sp>
      <p:sp>
        <p:nvSpPr>
          <p:cNvPr id="9" name="Shape 7"/>
          <p:cNvSpPr/>
          <p:nvPr/>
        </p:nvSpPr>
        <p:spPr>
          <a:xfrm>
            <a:off x="365760" y="2231136"/>
            <a:ext cx="8412480" cy="566928"/>
          </a:xfrm>
          <a:prstGeom prst="rect">
            <a:avLst/>
          </a:prstGeom>
          <a:solidFill>
            <a:srgbClr val="EBF4FA"/>
          </a:solidFill>
          <a:ln w="12700">
            <a:solidFill>
              <a:srgbClr val="EBF4FA"/>
            </a:solidFill>
            <a:prstDash val="solid"/>
          </a:ln>
        </p:spPr>
      </p:sp>
      <p:sp>
        <p:nvSpPr>
          <p:cNvPr id="10" name="Text 8"/>
          <p:cNvSpPr/>
          <p:nvPr/>
        </p:nvSpPr>
        <p:spPr>
          <a:xfrm>
            <a:off x="457200" y="2286000"/>
            <a:ext cx="822960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Trial 2 — Melt ice in sealed bag:</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My prediction: _______________ because _______________</a:t>
            </a:r>
            <a:endParaRPr lang="en-US" sz="1300" dirty="0"/>
          </a:p>
        </p:txBody>
      </p:sp>
      <p:sp>
        <p:nvSpPr>
          <p:cNvPr id="11" name="Shape 9"/>
          <p:cNvSpPr/>
          <p:nvPr/>
        </p:nvSpPr>
        <p:spPr>
          <a:xfrm>
            <a:off x="365760" y="2889504"/>
            <a:ext cx="8412480" cy="566928"/>
          </a:xfrm>
          <a:prstGeom prst="rect">
            <a:avLst/>
          </a:prstGeom>
          <a:solidFill>
            <a:srgbClr val="EBF4FA"/>
          </a:solidFill>
          <a:ln w="12700">
            <a:solidFill>
              <a:srgbClr val="EBF4FA"/>
            </a:solidFill>
            <a:prstDash val="solid"/>
          </a:ln>
        </p:spPr>
      </p:sp>
      <p:sp>
        <p:nvSpPr>
          <p:cNvPr id="12" name="Text 10"/>
          <p:cNvSpPr/>
          <p:nvPr/>
        </p:nvSpPr>
        <p:spPr>
          <a:xfrm>
            <a:off x="457200" y="2944368"/>
            <a:ext cx="822960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Trial 3 — Dissolve salt in sealed cup:</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My prediction: _______________ because _______________</a:t>
            </a:r>
            <a:endParaRPr lang="en-US" sz="1300" dirty="0"/>
          </a:p>
        </p:txBody>
      </p:sp>
      <p:sp>
        <p:nvSpPr>
          <p:cNvPr id="13" name="Text 11"/>
          <p:cNvSpPr/>
          <p:nvPr/>
        </p:nvSpPr>
        <p:spPr>
          <a:xfrm>
            <a:off x="365760" y="3584448"/>
            <a:ext cx="8412480" cy="347472"/>
          </a:xfrm>
          <a:prstGeom prst="rect">
            <a:avLst/>
          </a:prstGeom>
          <a:noFill/>
          <a:ln/>
        </p:spPr>
        <p:txBody>
          <a:bodyPr wrap="square" lIns="0" tIns="0" rIns="0" bIns="0" rtlCol="0" anchor="ctr"/>
          <a:lstStyle/>
          <a:p>
            <a:pPr algn="ctr" indent="0" marL="0">
              <a:buNone/>
            </a:pPr>
            <a:r>
              <a:rPr lang="en-US" sz="1300" dirty="0">
                <a:solidFill>
                  <a:srgbClr val="2C4A6E"/>
                </a:solidFill>
                <a:latin typeface="Calibri" pitchFamily="34" charset="0"/>
                <a:ea typeface="Calibri" pitchFamily="34" charset="-122"/>
                <a:cs typeface="Calibri" pitchFamily="34" charset="-120"/>
              </a:rPr>
              <a:t>You will compare predictions to actual data after running all three trials.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 REVIEW</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Words for This Investigation</a:t>
            </a:r>
            <a:endParaRPr lang="en-US" sz="2800" dirty="0"/>
          </a:p>
        </p:txBody>
      </p:sp>
      <p:sp>
        <p:nvSpPr>
          <p:cNvPr id="5" name="Shape 3"/>
          <p:cNvSpPr/>
          <p:nvPr/>
        </p:nvSpPr>
        <p:spPr>
          <a:xfrm>
            <a:off x="365760" y="822960"/>
            <a:ext cx="4114800" cy="1417320"/>
          </a:xfrm>
          <a:prstGeom prst="rect">
            <a:avLst/>
          </a:prstGeom>
          <a:solidFill>
            <a:srgbClr val="2C4A6E"/>
          </a:solidFill>
          <a:ln w="12700">
            <a:solidFill>
              <a:srgbClr val="2C4A6E"/>
            </a:solidFill>
            <a:prstDash val="solid"/>
          </a:ln>
        </p:spPr>
      </p:sp>
      <p:sp>
        <p:nvSpPr>
          <p:cNvPr id="6" name="Text 4"/>
          <p:cNvSpPr/>
          <p:nvPr/>
        </p:nvSpPr>
        <p:spPr>
          <a:xfrm>
            <a:off x="45720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MASS</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Amount of matter in an object. Measured in grams (g). Does not change during physical changes in a closed system.</a:t>
            </a:r>
            <a:endParaRPr lang="en-US" sz="1500" dirty="0"/>
          </a:p>
        </p:txBody>
      </p:sp>
      <p:sp>
        <p:nvSpPr>
          <p:cNvPr id="7" name="Shape 5"/>
          <p:cNvSpPr/>
          <p:nvPr/>
        </p:nvSpPr>
        <p:spPr>
          <a:xfrm>
            <a:off x="4663440" y="822960"/>
            <a:ext cx="4114800" cy="1417320"/>
          </a:xfrm>
          <a:prstGeom prst="rect">
            <a:avLst/>
          </a:prstGeom>
          <a:solidFill>
            <a:srgbClr val="2C4A6E"/>
          </a:solidFill>
          <a:ln w="12700">
            <a:solidFill>
              <a:srgbClr val="2C4A6E"/>
            </a:solidFill>
            <a:prstDash val="solid"/>
          </a:ln>
        </p:spPr>
      </p:sp>
      <p:sp>
        <p:nvSpPr>
          <p:cNvPr id="8" name="Text 6"/>
          <p:cNvSpPr/>
          <p:nvPr/>
        </p:nvSpPr>
        <p:spPr>
          <a:xfrm>
            <a:off x="475488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CONSERVATION</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Matter is never created or destroyed. Mass before = mass after in a sealed system.</a:t>
            </a:r>
            <a:endParaRPr lang="en-US" sz="1500" dirty="0"/>
          </a:p>
        </p:txBody>
      </p:sp>
      <p:sp>
        <p:nvSpPr>
          <p:cNvPr id="9" name="Shape 7"/>
          <p:cNvSpPr/>
          <p:nvPr/>
        </p:nvSpPr>
        <p:spPr>
          <a:xfrm>
            <a:off x="365760" y="2359152"/>
            <a:ext cx="4114800" cy="1417320"/>
          </a:xfrm>
          <a:prstGeom prst="rect">
            <a:avLst/>
          </a:prstGeom>
          <a:solidFill>
            <a:srgbClr val="2C4A6E"/>
          </a:solidFill>
          <a:ln w="12700">
            <a:solidFill>
              <a:srgbClr val="2C4A6E"/>
            </a:solidFill>
            <a:prstDash val="solid"/>
          </a:ln>
        </p:spPr>
      </p:sp>
      <p:sp>
        <p:nvSpPr>
          <p:cNvPr id="10" name="Text 8"/>
          <p:cNvSpPr/>
          <p:nvPr/>
        </p:nvSpPr>
        <p:spPr>
          <a:xfrm>
            <a:off x="457200" y="2414016"/>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CLOSED SYSTEM</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A container where nothing can enter or exit. Makes it possible to prove conservation with a scale.</a:t>
            </a:r>
            <a:endParaRPr lang="en-US" sz="1500" dirty="0"/>
          </a:p>
        </p:txBody>
      </p:sp>
      <p:sp>
        <p:nvSpPr>
          <p:cNvPr id="11" name="Shape 9"/>
          <p:cNvSpPr/>
          <p:nvPr/>
        </p:nvSpPr>
        <p:spPr>
          <a:xfrm>
            <a:off x="4663440" y="2359152"/>
            <a:ext cx="4114800" cy="1417320"/>
          </a:xfrm>
          <a:prstGeom prst="rect">
            <a:avLst/>
          </a:prstGeom>
          <a:solidFill>
            <a:srgbClr val="2C4A6E"/>
          </a:solidFill>
          <a:ln w="12700">
            <a:solidFill>
              <a:srgbClr val="2C4A6E"/>
            </a:solidFill>
            <a:prstDash val="solid"/>
          </a:ln>
        </p:spPr>
      </p:sp>
      <p:sp>
        <p:nvSpPr>
          <p:cNvPr id="12" name="Text 10"/>
          <p:cNvSpPr/>
          <p:nvPr/>
        </p:nvSpPr>
        <p:spPr>
          <a:xfrm>
            <a:off x="4754880" y="2414016"/>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DATA</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Numbers you collect. Before and after masses = your data. The data either supports or challenges your prediction.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 REVIEW</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Graph and Comparison Words</a:t>
            </a:r>
            <a:endParaRPr lang="en-US" sz="2800" dirty="0"/>
          </a:p>
        </p:txBody>
      </p:sp>
      <p:sp>
        <p:nvSpPr>
          <p:cNvPr id="5" name="Shape 3"/>
          <p:cNvSpPr/>
          <p:nvPr/>
        </p:nvSpPr>
        <p:spPr>
          <a:xfrm>
            <a:off x="365760" y="822960"/>
            <a:ext cx="4114800" cy="1417320"/>
          </a:xfrm>
          <a:prstGeom prst="rect">
            <a:avLst/>
          </a:prstGeom>
          <a:solidFill>
            <a:srgbClr val="2C4A6E"/>
          </a:solidFill>
          <a:ln w="12700">
            <a:solidFill>
              <a:srgbClr val="2C4A6E"/>
            </a:solidFill>
            <a:prstDash val="solid"/>
          </a:ln>
        </p:spPr>
      </p:sp>
      <p:sp>
        <p:nvSpPr>
          <p:cNvPr id="6" name="Text 4"/>
          <p:cNvSpPr/>
          <p:nvPr/>
        </p:nvSpPr>
        <p:spPr>
          <a:xfrm>
            <a:off x="45720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BAR GRAPH</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A visual display of data. Two bars per trial (before / after) show visually whether mass stayed the same.</a:t>
            </a:r>
            <a:endParaRPr lang="en-US" sz="1500" dirty="0"/>
          </a:p>
        </p:txBody>
      </p:sp>
      <p:sp>
        <p:nvSpPr>
          <p:cNvPr id="7" name="Shape 5"/>
          <p:cNvSpPr/>
          <p:nvPr/>
        </p:nvSpPr>
        <p:spPr>
          <a:xfrm>
            <a:off x="4663440" y="822960"/>
            <a:ext cx="4114800" cy="1417320"/>
          </a:xfrm>
          <a:prstGeom prst="rect">
            <a:avLst/>
          </a:prstGeom>
          <a:solidFill>
            <a:srgbClr val="2C4A6E"/>
          </a:solidFill>
          <a:ln w="12700">
            <a:solidFill>
              <a:srgbClr val="2C4A6E"/>
            </a:solidFill>
            <a:prstDash val="solid"/>
          </a:ln>
        </p:spPr>
      </p:sp>
      <p:sp>
        <p:nvSpPr>
          <p:cNvPr id="8" name="Text 6"/>
          <p:cNvSpPr/>
          <p:nvPr/>
        </p:nvSpPr>
        <p:spPr>
          <a:xfrm>
            <a:off x="475488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BEFORE / AFTER</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Comparing measurements at two points in time. If before = after in a sealed system → conservation confirmed.</a:t>
            </a:r>
            <a:endParaRPr lang="en-US" sz="1500" dirty="0"/>
          </a:p>
        </p:txBody>
      </p:sp>
      <p:sp>
        <p:nvSpPr>
          <p:cNvPr id="9" name="Shape 7"/>
          <p:cNvSpPr/>
          <p:nvPr/>
        </p:nvSpPr>
        <p:spPr>
          <a:xfrm>
            <a:off x="365760" y="2359152"/>
            <a:ext cx="8412480" cy="1417320"/>
          </a:xfrm>
          <a:prstGeom prst="rect">
            <a:avLst/>
          </a:prstGeom>
          <a:solidFill>
            <a:srgbClr val="1A3A5C"/>
          </a:solidFill>
          <a:ln w="12700">
            <a:solidFill>
              <a:srgbClr val="1A3A5C"/>
            </a:solidFill>
            <a:prstDash val="solid"/>
          </a:ln>
        </p:spPr>
      </p:sp>
      <p:sp>
        <p:nvSpPr>
          <p:cNvPr id="10" name="Text 8"/>
          <p:cNvSpPr/>
          <p:nvPr/>
        </p:nvSpPr>
        <p:spPr>
          <a:xfrm>
            <a:off x="457200" y="2414016"/>
            <a:ext cx="822960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KEY REMINDER: Equal bars on a bar graph = conservation. A bar that drops after the change = matter left the system (open container). A bar that rises = matter entered the system.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1A3A5C"/>
          </a:solidFill>
          <a:ln w="12700">
            <a:solidFill>
              <a:srgbClr val="1A3A5C"/>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Sealed + Same Mass = Conservation Proved</a:t>
            </a:r>
            <a:endParaRPr lang="en-US" sz="2600" dirty="0"/>
          </a:p>
        </p:txBody>
      </p:sp>
      <p:sp>
        <p:nvSpPr>
          <p:cNvPr id="5" name="Text 3"/>
          <p:cNvSpPr/>
          <p:nvPr/>
        </p:nvSpPr>
        <p:spPr>
          <a:xfrm>
            <a:off x="365760" y="749808"/>
            <a:ext cx="8412480" cy="59436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A sealed system means nothing can escape. If mass stays the same after a change — that is direct evidence that matter was conserved.</a:t>
            </a:r>
            <a:endParaRPr lang="en-US" sz="1500" dirty="0"/>
          </a:p>
        </p:txBody>
      </p:sp>
      <p:sp>
        <p:nvSpPr>
          <p:cNvPr id="6" name="Shape 4"/>
          <p:cNvSpPr/>
          <p:nvPr/>
        </p:nvSpPr>
        <p:spPr>
          <a:xfrm>
            <a:off x="365760" y="1417320"/>
            <a:ext cx="2560320" cy="2148840"/>
          </a:xfrm>
          <a:prstGeom prst="rect">
            <a:avLst/>
          </a:prstGeom>
          <a:solidFill>
            <a:srgbClr val="1A3A5C"/>
          </a:solidFill>
          <a:ln w="12700">
            <a:solidFill>
              <a:srgbClr val="1A3A5C"/>
            </a:solidFill>
            <a:prstDash val="solid"/>
          </a:ln>
        </p:spPr>
      </p:sp>
      <p:sp>
        <p:nvSpPr>
          <p:cNvPr id="7" name="Text 5"/>
          <p:cNvSpPr/>
          <p:nvPr/>
        </p:nvSpPr>
        <p:spPr>
          <a:xfrm>
            <a:off x="457200" y="1472184"/>
            <a:ext cx="2377440" cy="20391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TRIAL 1</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Paper crumpled</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Before: 12g</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After: 12g</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 Same</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 CONSERVED</a:t>
            </a:r>
            <a:endParaRPr lang="en-US" sz="1400" dirty="0"/>
          </a:p>
        </p:txBody>
      </p:sp>
      <p:sp>
        <p:nvSpPr>
          <p:cNvPr id="8" name="Shape 6"/>
          <p:cNvSpPr/>
          <p:nvPr/>
        </p:nvSpPr>
        <p:spPr>
          <a:xfrm>
            <a:off x="3017520" y="1417320"/>
            <a:ext cx="2560320" cy="2148840"/>
          </a:xfrm>
          <a:prstGeom prst="rect">
            <a:avLst/>
          </a:prstGeom>
          <a:solidFill>
            <a:srgbClr val="1A3A5C"/>
          </a:solidFill>
          <a:ln w="12700">
            <a:solidFill>
              <a:srgbClr val="1A3A5C"/>
            </a:solidFill>
            <a:prstDash val="solid"/>
          </a:ln>
        </p:spPr>
      </p:sp>
      <p:sp>
        <p:nvSpPr>
          <p:cNvPr id="9" name="Text 7"/>
          <p:cNvSpPr/>
          <p:nvPr/>
        </p:nvSpPr>
        <p:spPr>
          <a:xfrm>
            <a:off x="3108960" y="1472184"/>
            <a:ext cx="2377440" cy="20391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TRIAL 2</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Ice → water</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Before: 85g</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After: 85g</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 Same</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 CONSERVED</a:t>
            </a:r>
            <a:endParaRPr lang="en-US" sz="1400" dirty="0"/>
          </a:p>
        </p:txBody>
      </p:sp>
      <p:sp>
        <p:nvSpPr>
          <p:cNvPr id="10" name="Shape 8"/>
          <p:cNvSpPr/>
          <p:nvPr/>
        </p:nvSpPr>
        <p:spPr>
          <a:xfrm>
            <a:off x="5669280" y="1417320"/>
            <a:ext cx="3108960" cy="2148840"/>
          </a:xfrm>
          <a:prstGeom prst="rect">
            <a:avLst/>
          </a:prstGeom>
          <a:solidFill>
            <a:srgbClr val="1A3A5C"/>
          </a:solidFill>
          <a:ln w="12700">
            <a:solidFill>
              <a:srgbClr val="1A3A5C"/>
            </a:solidFill>
            <a:prstDash val="solid"/>
          </a:ln>
        </p:spPr>
      </p:sp>
      <p:sp>
        <p:nvSpPr>
          <p:cNvPr id="11" name="Text 9"/>
          <p:cNvSpPr/>
          <p:nvPr/>
        </p:nvSpPr>
        <p:spPr>
          <a:xfrm>
            <a:off x="5760720" y="1472184"/>
            <a:ext cx="2926080" cy="20391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TRIAL 3</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Salt dissolved</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Before: 200g</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After: 200g</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 Same</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 CONSERVED</a:t>
            </a:r>
            <a:endParaRPr lang="en-US" sz="1400" dirty="0"/>
          </a:p>
        </p:txBody>
      </p:sp>
      <p:sp>
        <p:nvSpPr>
          <p:cNvPr id="12" name="Text 10"/>
          <p:cNvSpPr/>
          <p:nvPr/>
        </p:nvSpPr>
        <p:spPr>
          <a:xfrm>
            <a:off x="365760" y="3657600"/>
            <a:ext cx="8412480" cy="411480"/>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Equal before and after = proof. Any change = matter left or entered the system (not conservation failing).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906524" cy="274320"/>
          </a:xfrm>
          <a:prstGeom prst="rect">
            <a:avLst/>
          </a:prstGeom>
          <a:solidFill>
            <a:srgbClr val="2E86AB"/>
          </a:solidFill>
          <a:ln w="12700">
            <a:solidFill>
              <a:srgbClr val="2E86AB"/>
            </a:solidFill>
            <a:prstDash val="solid"/>
          </a:ln>
        </p:spPr>
      </p:sp>
      <p:sp>
        <p:nvSpPr>
          <p:cNvPr id="3" name="Text 1"/>
          <p:cNvSpPr/>
          <p:nvPr/>
        </p:nvSpPr>
        <p:spPr>
          <a:xfrm>
            <a:off x="365760" y="109728"/>
            <a:ext cx="19065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HOW TO RUN EACH TRIAL</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Three Trials — Setup and Measurement</a:t>
            </a:r>
            <a:endParaRPr lang="en-US" sz="2600" dirty="0"/>
          </a:p>
        </p:txBody>
      </p:sp>
      <p:sp>
        <p:nvSpPr>
          <p:cNvPr id="5" name="Shape 3"/>
          <p:cNvSpPr/>
          <p:nvPr/>
        </p:nvSpPr>
        <p:spPr>
          <a:xfrm>
            <a:off x="365760" y="749808"/>
            <a:ext cx="2743200" cy="2834640"/>
          </a:xfrm>
          <a:prstGeom prst="rect">
            <a:avLst/>
          </a:prstGeom>
          <a:solidFill>
            <a:srgbClr val="FFFFFF"/>
          </a:solidFill>
          <a:ln w="12700">
            <a:solidFill>
              <a:srgbClr val="FFFFFF"/>
            </a:solidFill>
            <a:prstDash val="solid"/>
          </a:ln>
        </p:spPr>
      </p:sp>
      <p:sp>
        <p:nvSpPr>
          <p:cNvPr id="6" name="Text 4"/>
          <p:cNvSpPr/>
          <p:nvPr/>
        </p:nvSpPr>
        <p:spPr>
          <a:xfrm>
            <a:off x="457200" y="804672"/>
            <a:ext cx="2560320" cy="2724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TRIAL 1</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CRUMPLE PAPER</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1. Weigh flat paper on scale.</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2. Record mass (g).</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3. Crumple the paper completely.</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4. Weigh crumpled paper.</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5. Record mass (g).</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Expected: same mass.</a:t>
            </a:r>
            <a:endParaRPr lang="en-US" sz="1300" dirty="0"/>
          </a:p>
        </p:txBody>
      </p:sp>
      <p:sp>
        <p:nvSpPr>
          <p:cNvPr id="7" name="Shape 5"/>
          <p:cNvSpPr/>
          <p:nvPr/>
        </p:nvSpPr>
        <p:spPr>
          <a:xfrm>
            <a:off x="3246120" y="749808"/>
            <a:ext cx="2743200" cy="2834640"/>
          </a:xfrm>
          <a:prstGeom prst="rect">
            <a:avLst/>
          </a:prstGeom>
          <a:solidFill>
            <a:srgbClr val="FFFFFF"/>
          </a:solidFill>
          <a:ln w="12700">
            <a:solidFill>
              <a:srgbClr val="FFFFFF"/>
            </a:solidFill>
            <a:prstDash val="solid"/>
          </a:ln>
        </p:spPr>
      </p:sp>
      <p:sp>
        <p:nvSpPr>
          <p:cNvPr id="8" name="Text 6"/>
          <p:cNvSpPr/>
          <p:nvPr/>
        </p:nvSpPr>
        <p:spPr>
          <a:xfrm>
            <a:off x="3337560" y="804672"/>
            <a:ext cx="2560320" cy="2724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TRIAL 2</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MELT ICE</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1. Weigh sealed bag with ice cube.</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2. Record mass (g).</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3. Leave at room temp until fully melted.</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4. Weigh sealed bag with water.</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5. Record mass (g).</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Expected: same mass.</a:t>
            </a:r>
            <a:endParaRPr lang="en-US" sz="1300" dirty="0"/>
          </a:p>
        </p:txBody>
      </p:sp>
      <p:sp>
        <p:nvSpPr>
          <p:cNvPr id="9" name="Shape 7"/>
          <p:cNvSpPr/>
          <p:nvPr/>
        </p:nvSpPr>
        <p:spPr>
          <a:xfrm>
            <a:off x="6080760" y="749808"/>
            <a:ext cx="2743200" cy="2834640"/>
          </a:xfrm>
          <a:prstGeom prst="rect">
            <a:avLst/>
          </a:prstGeom>
          <a:solidFill>
            <a:srgbClr val="FFFFFF"/>
          </a:solidFill>
          <a:ln w="12700">
            <a:solidFill>
              <a:srgbClr val="FFFFFF"/>
            </a:solidFill>
            <a:prstDash val="solid"/>
          </a:ln>
        </p:spPr>
      </p:sp>
      <p:sp>
        <p:nvSpPr>
          <p:cNvPr id="10" name="Text 8"/>
          <p:cNvSpPr/>
          <p:nvPr/>
        </p:nvSpPr>
        <p:spPr>
          <a:xfrm>
            <a:off x="6172200" y="804672"/>
            <a:ext cx="2560320" cy="2724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TRIAL 3</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DISSOLVE SALT</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1. Weigh sealed cup with ¼ cup water.</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2. Open, add 1 tsp salt, reseal.</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3. Weigh again before dissolving.</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4. Stir until dissolved.</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5. Weigh sealed cup again.</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Expected: same mass.</a:t>
            </a:r>
            <a:endParaRPr lang="en-US" sz="1300" dirty="0"/>
          </a:p>
        </p:txBody>
      </p:sp>
      <p:sp>
        <p:nvSpPr>
          <p:cNvPr id="11" name="Text 9"/>
          <p:cNvSpPr/>
          <p:nvPr/>
        </p:nvSpPr>
        <p:spPr>
          <a:xfrm>
            <a:off x="365760" y="3657600"/>
            <a:ext cx="8412480" cy="411480"/>
          </a:xfrm>
          <a:prstGeom prst="rect">
            <a:avLst/>
          </a:prstGeom>
          <a:noFill/>
          <a:ln/>
        </p:spPr>
        <p:txBody>
          <a:bodyPr wrap="square" lIns="0" tIns="0" rIns="0" bIns="0" rtlCol="0" anchor="ctr"/>
          <a:lstStyle/>
          <a:p>
            <a:pPr indent="0" marL="0">
              <a:buNone/>
            </a:pPr>
            <a:r>
              <a:rPr lang="en-US" sz="1300" i="1" dirty="0">
                <a:solidFill>
                  <a:srgbClr val="2C4A6E"/>
                </a:solidFill>
                <a:latin typeface="Calibri" pitchFamily="34" charset="0"/>
                <a:ea typeface="Calibri" pitchFamily="34" charset="-122"/>
                <a:cs typeface="Calibri" pitchFamily="34" charset="-120"/>
              </a:rPr>
              <a:t>Important: weigh BEFORE and AFTER. Never open the container between weighings for Trial 2 and 3.</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517904" cy="274320"/>
          </a:xfrm>
          <a:prstGeom prst="rect">
            <a:avLst/>
          </a:prstGeom>
          <a:solidFill>
            <a:srgbClr val="2E86AB"/>
          </a:solidFill>
          <a:ln w="12700">
            <a:solidFill>
              <a:srgbClr val="2E86AB"/>
            </a:solidFill>
            <a:prstDash val="solid"/>
          </a:ln>
        </p:spPr>
      </p:sp>
      <p:sp>
        <p:nvSpPr>
          <p:cNvPr id="3" name="Text 1"/>
          <p:cNvSpPr/>
          <p:nvPr/>
        </p:nvSpPr>
        <p:spPr>
          <a:xfrm>
            <a:off x="365760" y="109728"/>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SAMPLE BAR GRAPH</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400" b="1" dirty="0">
                <a:solidFill>
                  <a:srgbClr val="1A1A2E"/>
                </a:solidFill>
                <a:latin typeface="Cambria" pitchFamily="34" charset="0"/>
                <a:ea typeface="Cambria" pitchFamily="34" charset="-122"/>
                <a:cs typeface="Cambria" pitchFamily="34" charset="-120"/>
              </a:rPr>
              <a:t>Equal Bars = Conservation Proved</a:t>
            </a:r>
            <a:endParaRPr lang="en-US" sz="2400" dirty="0"/>
          </a:p>
        </p:txBody>
      </p:sp>
      <p:sp>
        <p:nvSpPr>
          <p:cNvPr id="5" name="Text 3"/>
          <p:cNvSpPr/>
          <p:nvPr/>
        </p:nvSpPr>
        <p:spPr>
          <a:xfrm>
            <a:off x="365760" y="749808"/>
            <a:ext cx="8412480" cy="411480"/>
          </a:xfrm>
          <a:prstGeom prst="rect">
            <a:avLst/>
          </a:prstGeom>
          <a:noFill/>
          <a:ln/>
        </p:spPr>
        <p:txBody>
          <a:bodyPr wrap="square" lIns="0" tIns="0" rIns="0" bIns="0" rtlCol="0" anchor="ctr"/>
          <a:lstStyle/>
          <a:p>
            <a:pPr indent="0" marL="0">
              <a:buNone/>
            </a:pPr>
            <a:r>
              <a:rPr lang="en-US" sz="1400" dirty="0">
                <a:solidFill>
                  <a:srgbClr val="2C4A6E"/>
                </a:solidFill>
                <a:latin typeface="Calibri" pitchFamily="34" charset="0"/>
                <a:ea typeface="Calibri" pitchFamily="34" charset="-122"/>
                <a:cs typeface="Calibri" pitchFamily="34" charset="-120"/>
              </a:rPr>
              <a:t>Each trial has two bars: BEFORE (left) and AFTER (right). Equal heights = same mass = conservation.</a:t>
            </a:r>
            <a:endParaRPr lang="en-US" sz="1400" dirty="0"/>
          </a:p>
        </p:txBody>
      </p:sp>
      <p:sp>
        <p:nvSpPr>
          <p:cNvPr id="6" name="Text 4"/>
          <p:cNvSpPr/>
          <p:nvPr/>
        </p:nvSpPr>
        <p:spPr>
          <a:xfrm rot="16200000">
            <a:off x="109728" y="1828800"/>
            <a:ext cx="777240" cy="1828800"/>
          </a:xfrm>
          <a:prstGeom prst="rect">
            <a:avLst/>
          </a:prstGeom>
          <a:noFill/>
          <a:ln/>
        </p:spPr>
        <p:txBody>
          <a:bodyPr wrap="square" lIns="0" tIns="0" rIns="0" bIns="0" rtlCol="0" anchor="ctr"/>
          <a:lstStyle/>
          <a:p>
            <a:pPr algn="ctr" indent="0" marL="0">
              <a:buNone/>
            </a:pPr>
            <a:r>
              <a:rPr lang="en-US" sz="1200" dirty="0">
                <a:solidFill>
                  <a:srgbClr val="2C4A6E"/>
                </a:solidFill>
                <a:latin typeface="Calibri" pitchFamily="34" charset="0"/>
                <a:ea typeface="Calibri" pitchFamily="34" charset="-122"/>
                <a:cs typeface="Calibri" pitchFamily="34" charset="-120"/>
              </a:rPr>
              <a:t>Mass (grams)</a:t>
            </a:r>
            <a:endParaRPr lang="en-US" sz="1200" dirty="0"/>
          </a:p>
        </p:txBody>
      </p:sp>
      <p:sp>
        <p:nvSpPr>
          <p:cNvPr id="7" name="Text 5"/>
          <p:cNvSpPr/>
          <p:nvPr/>
        </p:nvSpPr>
        <p:spPr>
          <a:xfrm>
            <a:off x="841248" y="3840480"/>
            <a:ext cx="411480" cy="274320"/>
          </a:xfrm>
          <a:prstGeom prst="rect">
            <a:avLst/>
          </a:prstGeom>
          <a:noFill/>
          <a:ln/>
        </p:spPr>
        <p:txBody>
          <a:bodyPr wrap="square" lIns="0" tIns="0" rIns="0" bIns="0" rtlCol="0" anchor="ctr"/>
          <a:lstStyle/>
          <a:p>
            <a:pPr algn="r" indent="0" marL="0">
              <a:buNone/>
            </a:pPr>
            <a:r>
              <a:rPr lang="en-US" sz="1100" dirty="0">
                <a:solidFill>
                  <a:srgbClr val="2C4A6E"/>
                </a:solidFill>
                <a:latin typeface="Calibri" pitchFamily="34" charset="0"/>
                <a:ea typeface="Calibri" pitchFamily="34" charset="-122"/>
                <a:cs typeface="Calibri" pitchFamily="34" charset="-120"/>
              </a:rPr>
              <a:t>0</a:t>
            </a:r>
            <a:endParaRPr lang="en-US" sz="1100" dirty="0"/>
          </a:p>
        </p:txBody>
      </p:sp>
      <p:sp>
        <p:nvSpPr>
          <p:cNvPr id="8" name="Shape 6"/>
          <p:cNvSpPr/>
          <p:nvPr/>
        </p:nvSpPr>
        <p:spPr>
          <a:xfrm>
            <a:off x="1280160" y="3977640"/>
            <a:ext cx="7498080" cy="18288"/>
          </a:xfrm>
          <a:prstGeom prst="rect">
            <a:avLst/>
          </a:prstGeom>
          <a:solidFill>
            <a:srgbClr val="DDDDDD"/>
          </a:solidFill>
          <a:ln w="12700">
            <a:solidFill>
              <a:srgbClr val="DDDDDD"/>
            </a:solidFill>
            <a:prstDash val="solid"/>
          </a:ln>
        </p:spPr>
      </p:sp>
      <p:sp>
        <p:nvSpPr>
          <p:cNvPr id="9" name="Text 7"/>
          <p:cNvSpPr/>
          <p:nvPr/>
        </p:nvSpPr>
        <p:spPr>
          <a:xfrm>
            <a:off x="841248" y="3273552"/>
            <a:ext cx="411480" cy="274320"/>
          </a:xfrm>
          <a:prstGeom prst="rect">
            <a:avLst/>
          </a:prstGeom>
          <a:noFill/>
          <a:ln/>
        </p:spPr>
        <p:txBody>
          <a:bodyPr wrap="square" lIns="0" tIns="0" rIns="0" bIns="0" rtlCol="0" anchor="ctr"/>
          <a:lstStyle/>
          <a:p>
            <a:pPr algn="r" indent="0" marL="0">
              <a:buNone/>
            </a:pPr>
            <a:r>
              <a:rPr lang="en-US" sz="1100" dirty="0">
                <a:solidFill>
                  <a:srgbClr val="2C4A6E"/>
                </a:solidFill>
                <a:latin typeface="Calibri" pitchFamily="34" charset="0"/>
                <a:ea typeface="Calibri" pitchFamily="34" charset="-122"/>
                <a:cs typeface="Calibri" pitchFamily="34" charset="-120"/>
              </a:rPr>
              <a:t>50</a:t>
            </a:r>
            <a:endParaRPr lang="en-US" sz="1100" dirty="0"/>
          </a:p>
        </p:txBody>
      </p:sp>
      <p:sp>
        <p:nvSpPr>
          <p:cNvPr id="10" name="Shape 8"/>
          <p:cNvSpPr/>
          <p:nvPr/>
        </p:nvSpPr>
        <p:spPr>
          <a:xfrm>
            <a:off x="1280160" y="3410712"/>
            <a:ext cx="7498080" cy="18288"/>
          </a:xfrm>
          <a:prstGeom prst="rect">
            <a:avLst/>
          </a:prstGeom>
          <a:solidFill>
            <a:srgbClr val="DDDDDD"/>
          </a:solidFill>
          <a:ln w="12700">
            <a:solidFill>
              <a:srgbClr val="DDDDDD"/>
            </a:solidFill>
            <a:prstDash val="solid"/>
          </a:ln>
        </p:spPr>
      </p:sp>
      <p:sp>
        <p:nvSpPr>
          <p:cNvPr id="11" name="Text 9"/>
          <p:cNvSpPr/>
          <p:nvPr/>
        </p:nvSpPr>
        <p:spPr>
          <a:xfrm>
            <a:off x="841248" y="2706624"/>
            <a:ext cx="411480" cy="274320"/>
          </a:xfrm>
          <a:prstGeom prst="rect">
            <a:avLst/>
          </a:prstGeom>
          <a:noFill/>
          <a:ln/>
        </p:spPr>
        <p:txBody>
          <a:bodyPr wrap="square" lIns="0" tIns="0" rIns="0" bIns="0" rtlCol="0" anchor="ctr"/>
          <a:lstStyle/>
          <a:p>
            <a:pPr algn="r" indent="0" marL="0">
              <a:buNone/>
            </a:pPr>
            <a:r>
              <a:rPr lang="en-US" sz="1100" dirty="0">
                <a:solidFill>
                  <a:srgbClr val="2C4A6E"/>
                </a:solidFill>
                <a:latin typeface="Calibri" pitchFamily="34" charset="0"/>
                <a:ea typeface="Calibri" pitchFamily="34" charset="-122"/>
                <a:cs typeface="Calibri" pitchFamily="34" charset="-120"/>
              </a:rPr>
              <a:t>100</a:t>
            </a:r>
            <a:endParaRPr lang="en-US" sz="1100" dirty="0"/>
          </a:p>
        </p:txBody>
      </p:sp>
      <p:sp>
        <p:nvSpPr>
          <p:cNvPr id="12" name="Shape 10"/>
          <p:cNvSpPr/>
          <p:nvPr/>
        </p:nvSpPr>
        <p:spPr>
          <a:xfrm>
            <a:off x="1280160" y="2843784"/>
            <a:ext cx="7498080" cy="18288"/>
          </a:xfrm>
          <a:prstGeom prst="rect">
            <a:avLst/>
          </a:prstGeom>
          <a:solidFill>
            <a:srgbClr val="DDDDDD"/>
          </a:solidFill>
          <a:ln w="12700">
            <a:solidFill>
              <a:srgbClr val="DDDDDD"/>
            </a:solidFill>
            <a:prstDash val="solid"/>
          </a:ln>
        </p:spPr>
      </p:sp>
      <p:sp>
        <p:nvSpPr>
          <p:cNvPr id="13" name="Text 11"/>
          <p:cNvSpPr/>
          <p:nvPr/>
        </p:nvSpPr>
        <p:spPr>
          <a:xfrm>
            <a:off x="841248" y="2139696"/>
            <a:ext cx="411480" cy="274320"/>
          </a:xfrm>
          <a:prstGeom prst="rect">
            <a:avLst/>
          </a:prstGeom>
          <a:noFill/>
          <a:ln/>
        </p:spPr>
        <p:txBody>
          <a:bodyPr wrap="square" lIns="0" tIns="0" rIns="0" bIns="0" rtlCol="0" anchor="ctr"/>
          <a:lstStyle/>
          <a:p>
            <a:pPr algn="r" indent="0" marL="0">
              <a:buNone/>
            </a:pPr>
            <a:r>
              <a:rPr lang="en-US" sz="1100" dirty="0">
                <a:solidFill>
                  <a:srgbClr val="2C4A6E"/>
                </a:solidFill>
                <a:latin typeface="Calibri" pitchFamily="34" charset="0"/>
                <a:ea typeface="Calibri" pitchFamily="34" charset="-122"/>
                <a:cs typeface="Calibri" pitchFamily="34" charset="-120"/>
              </a:rPr>
              <a:t>150</a:t>
            </a:r>
            <a:endParaRPr lang="en-US" sz="1100" dirty="0"/>
          </a:p>
        </p:txBody>
      </p:sp>
      <p:sp>
        <p:nvSpPr>
          <p:cNvPr id="14" name="Shape 12"/>
          <p:cNvSpPr/>
          <p:nvPr/>
        </p:nvSpPr>
        <p:spPr>
          <a:xfrm>
            <a:off x="1280160" y="2276856"/>
            <a:ext cx="7498080" cy="18288"/>
          </a:xfrm>
          <a:prstGeom prst="rect">
            <a:avLst/>
          </a:prstGeom>
          <a:solidFill>
            <a:srgbClr val="DDDDDD"/>
          </a:solidFill>
          <a:ln w="12700">
            <a:solidFill>
              <a:srgbClr val="DDDDDD"/>
            </a:solidFill>
            <a:prstDash val="solid"/>
          </a:ln>
        </p:spPr>
      </p:sp>
      <p:sp>
        <p:nvSpPr>
          <p:cNvPr id="15" name="Text 13"/>
          <p:cNvSpPr/>
          <p:nvPr/>
        </p:nvSpPr>
        <p:spPr>
          <a:xfrm>
            <a:off x="841248" y="1572768"/>
            <a:ext cx="411480" cy="274320"/>
          </a:xfrm>
          <a:prstGeom prst="rect">
            <a:avLst/>
          </a:prstGeom>
          <a:noFill/>
          <a:ln/>
        </p:spPr>
        <p:txBody>
          <a:bodyPr wrap="square" lIns="0" tIns="0" rIns="0" bIns="0" rtlCol="0" anchor="ctr"/>
          <a:lstStyle/>
          <a:p>
            <a:pPr algn="r" indent="0" marL="0">
              <a:buNone/>
            </a:pPr>
            <a:r>
              <a:rPr lang="en-US" sz="1100" dirty="0">
                <a:solidFill>
                  <a:srgbClr val="2C4A6E"/>
                </a:solidFill>
                <a:latin typeface="Calibri" pitchFamily="34" charset="0"/>
                <a:ea typeface="Calibri" pitchFamily="34" charset="-122"/>
                <a:cs typeface="Calibri" pitchFamily="34" charset="-120"/>
              </a:rPr>
              <a:t>200</a:t>
            </a:r>
            <a:endParaRPr lang="en-US" sz="1100" dirty="0"/>
          </a:p>
        </p:txBody>
      </p:sp>
      <p:sp>
        <p:nvSpPr>
          <p:cNvPr id="16" name="Shape 14"/>
          <p:cNvSpPr/>
          <p:nvPr/>
        </p:nvSpPr>
        <p:spPr>
          <a:xfrm>
            <a:off x="1280160" y="1709928"/>
            <a:ext cx="7498080" cy="18288"/>
          </a:xfrm>
          <a:prstGeom prst="rect">
            <a:avLst/>
          </a:prstGeom>
          <a:solidFill>
            <a:srgbClr val="DDDDDD"/>
          </a:solidFill>
          <a:ln w="12700">
            <a:solidFill>
              <a:srgbClr val="DDDDDD"/>
            </a:solidFill>
            <a:prstDash val="solid"/>
          </a:ln>
        </p:spPr>
      </p:sp>
      <p:sp>
        <p:nvSpPr>
          <p:cNvPr id="17" name="Shape 15"/>
          <p:cNvSpPr/>
          <p:nvPr/>
        </p:nvSpPr>
        <p:spPr>
          <a:xfrm>
            <a:off x="1463040" y="3853947"/>
            <a:ext cx="566928" cy="123693"/>
          </a:xfrm>
          <a:prstGeom prst="rect">
            <a:avLst/>
          </a:prstGeom>
          <a:solidFill>
            <a:srgbClr val="2E86AB"/>
          </a:solidFill>
          <a:ln w="12700">
            <a:solidFill>
              <a:srgbClr val="2E86AB"/>
            </a:solidFill>
            <a:prstDash val="solid"/>
          </a:ln>
        </p:spPr>
      </p:sp>
      <p:sp>
        <p:nvSpPr>
          <p:cNvPr id="18" name="Text 16"/>
          <p:cNvSpPr/>
          <p:nvPr/>
        </p:nvSpPr>
        <p:spPr>
          <a:xfrm>
            <a:off x="1463040" y="3995928"/>
            <a:ext cx="566928" cy="256032"/>
          </a:xfrm>
          <a:prstGeom prst="rect">
            <a:avLst/>
          </a:prstGeom>
          <a:noFill/>
          <a:ln/>
        </p:spPr>
        <p:txBody>
          <a:bodyPr wrap="square" lIns="0" tIns="0" rIns="0" bIns="0" rtlCol="0" anchor="ctr"/>
          <a:lstStyle/>
          <a:p>
            <a:pPr algn="ctr" indent="0" marL="0">
              <a:buNone/>
            </a:pPr>
            <a:r>
              <a:rPr lang="en-US" sz="900" b="1" dirty="0">
                <a:solidFill>
                  <a:srgbClr val="2E86AB"/>
                </a:solidFill>
                <a:latin typeface="Calibri" pitchFamily="34" charset="0"/>
                <a:ea typeface="Calibri" pitchFamily="34" charset="-122"/>
                <a:cs typeface="Calibri" pitchFamily="34" charset="-120"/>
              </a:rPr>
              <a:t>Before</a:t>
            </a:r>
            <a:endParaRPr lang="en-US" sz="900" dirty="0"/>
          </a:p>
        </p:txBody>
      </p:sp>
      <p:sp>
        <p:nvSpPr>
          <p:cNvPr id="19" name="Shape 17"/>
          <p:cNvSpPr/>
          <p:nvPr/>
        </p:nvSpPr>
        <p:spPr>
          <a:xfrm>
            <a:off x="2121408" y="3853947"/>
            <a:ext cx="566928" cy="123693"/>
          </a:xfrm>
          <a:prstGeom prst="rect">
            <a:avLst/>
          </a:prstGeom>
          <a:solidFill>
            <a:srgbClr val="F6C90E"/>
          </a:solidFill>
          <a:ln w="12700">
            <a:solidFill>
              <a:srgbClr val="F6C90E"/>
            </a:solidFill>
            <a:prstDash val="solid"/>
          </a:ln>
        </p:spPr>
      </p:sp>
      <p:sp>
        <p:nvSpPr>
          <p:cNvPr id="20" name="Text 18"/>
          <p:cNvSpPr/>
          <p:nvPr/>
        </p:nvSpPr>
        <p:spPr>
          <a:xfrm>
            <a:off x="2121408" y="3995928"/>
            <a:ext cx="566928" cy="256032"/>
          </a:xfrm>
          <a:prstGeom prst="rect">
            <a:avLst/>
          </a:prstGeom>
          <a:noFill/>
          <a:ln/>
        </p:spPr>
        <p:txBody>
          <a:bodyPr wrap="square" lIns="0" tIns="0" rIns="0" bIns="0" rtlCol="0" anchor="ctr"/>
          <a:lstStyle/>
          <a:p>
            <a:pPr algn="ctr" indent="0" marL="0">
              <a:buNone/>
            </a:pPr>
            <a:r>
              <a:rPr lang="en-US" sz="900" b="1" dirty="0">
                <a:solidFill>
                  <a:srgbClr val="F6C90E"/>
                </a:solidFill>
                <a:latin typeface="Calibri" pitchFamily="34" charset="0"/>
                <a:ea typeface="Calibri" pitchFamily="34" charset="-122"/>
                <a:cs typeface="Calibri" pitchFamily="34" charset="-120"/>
              </a:rPr>
              <a:t>After</a:t>
            </a:r>
            <a:endParaRPr lang="en-US" sz="900" dirty="0"/>
          </a:p>
        </p:txBody>
      </p:sp>
      <p:sp>
        <p:nvSpPr>
          <p:cNvPr id="21" name="Text 19"/>
          <p:cNvSpPr/>
          <p:nvPr/>
        </p:nvSpPr>
        <p:spPr>
          <a:xfrm>
            <a:off x="1463040" y="4270248"/>
            <a:ext cx="1280160"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Trial 1</a:t>
            </a:r>
            <a:endParaRPr lang="en-US" sz="1100" dirty="0"/>
          </a:p>
          <a:p>
            <a:pPr algn="ctr" indent="0" marL="0">
              <a:buNone/>
            </a:pPr>
            <a:r>
              <a:rPr lang="en-US" sz="1100" b="1" dirty="0">
                <a:solidFill>
                  <a:srgbClr val="1A1A2E"/>
                </a:solidFill>
                <a:latin typeface="Calibri" pitchFamily="34" charset="0"/>
                <a:ea typeface="Calibri" pitchFamily="34" charset="-122"/>
                <a:cs typeface="Calibri" pitchFamily="34" charset="-120"/>
              </a:rPr>
              <a:t>Paper</a:t>
            </a:r>
            <a:endParaRPr lang="en-US" sz="1100" dirty="0"/>
          </a:p>
        </p:txBody>
      </p:sp>
      <p:sp>
        <p:nvSpPr>
          <p:cNvPr id="22" name="Shape 20"/>
          <p:cNvSpPr/>
          <p:nvPr/>
        </p:nvSpPr>
        <p:spPr>
          <a:xfrm>
            <a:off x="3977640" y="3101479"/>
            <a:ext cx="566928" cy="876161"/>
          </a:xfrm>
          <a:prstGeom prst="rect">
            <a:avLst/>
          </a:prstGeom>
          <a:solidFill>
            <a:srgbClr val="2E86AB"/>
          </a:solidFill>
          <a:ln w="12700">
            <a:solidFill>
              <a:srgbClr val="2E86AB"/>
            </a:solidFill>
            <a:prstDash val="solid"/>
          </a:ln>
        </p:spPr>
      </p:sp>
      <p:sp>
        <p:nvSpPr>
          <p:cNvPr id="23" name="Text 21"/>
          <p:cNvSpPr/>
          <p:nvPr/>
        </p:nvSpPr>
        <p:spPr>
          <a:xfrm>
            <a:off x="3977640" y="3995928"/>
            <a:ext cx="566928" cy="256032"/>
          </a:xfrm>
          <a:prstGeom prst="rect">
            <a:avLst/>
          </a:prstGeom>
          <a:noFill/>
          <a:ln/>
        </p:spPr>
        <p:txBody>
          <a:bodyPr wrap="square" lIns="0" tIns="0" rIns="0" bIns="0" rtlCol="0" anchor="ctr"/>
          <a:lstStyle/>
          <a:p>
            <a:pPr algn="ctr" indent="0" marL="0">
              <a:buNone/>
            </a:pPr>
            <a:r>
              <a:rPr lang="en-US" sz="900" b="1" dirty="0">
                <a:solidFill>
                  <a:srgbClr val="2E86AB"/>
                </a:solidFill>
                <a:latin typeface="Calibri" pitchFamily="34" charset="0"/>
                <a:ea typeface="Calibri" pitchFamily="34" charset="-122"/>
                <a:cs typeface="Calibri" pitchFamily="34" charset="-120"/>
              </a:rPr>
              <a:t>Before</a:t>
            </a:r>
            <a:endParaRPr lang="en-US" sz="900" dirty="0"/>
          </a:p>
        </p:txBody>
      </p:sp>
      <p:sp>
        <p:nvSpPr>
          <p:cNvPr id="24" name="Shape 22"/>
          <p:cNvSpPr/>
          <p:nvPr/>
        </p:nvSpPr>
        <p:spPr>
          <a:xfrm>
            <a:off x="4636008" y="3101479"/>
            <a:ext cx="566928" cy="876161"/>
          </a:xfrm>
          <a:prstGeom prst="rect">
            <a:avLst/>
          </a:prstGeom>
          <a:solidFill>
            <a:srgbClr val="F6C90E"/>
          </a:solidFill>
          <a:ln w="12700">
            <a:solidFill>
              <a:srgbClr val="F6C90E"/>
            </a:solidFill>
            <a:prstDash val="solid"/>
          </a:ln>
        </p:spPr>
      </p:sp>
      <p:sp>
        <p:nvSpPr>
          <p:cNvPr id="25" name="Text 23"/>
          <p:cNvSpPr/>
          <p:nvPr/>
        </p:nvSpPr>
        <p:spPr>
          <a:xfrm>
            <a:off x="4636008" y="3995928"/>
            <a:ext cx="566928" cy="256032"/>
          </a:xfrm>
          <a:prstGeom prst="rect">
            <a:avLst/>
          </a:prstGeom>
          <a:noFill/>
          <a:ln/>
        </p:spPr>
        <p:txBody>
          <a:bodyPr wrap="square" lIns="0" tIns="0" rIns="0" bIns="0" rtlCol="0" anchor="ctr"/>
          <a:lstStyle/>
          <a:p>
            <a:pPr algn="ctr" indent="0" marL="0">
              <a:buNone/>
            </a:pPr>
            <a:r>
              <a:rPr lang="en-US" sz="900" b="1" dirty="0">
                <a:solidFill>
                  <a:srgbClr val="F6C90E"/>
                </a:solidFill>
                <a:latin typeface="Calibri" pitchFamily="34" charset="0"/>
                <a:ea typeface="Calibri" pitchFamily="34" charset="-122"/>
                <a:cs typeface="Calibri" pitchFamily="34" charset="-120"/>
              </a:rPr>
              <a:t>After</a:t>
            </a:r>
            <a:endParaRPr lang="en-US" sz="900" dirty="0"/>
          </a:p>
        </p:txBody>
      </p:sp>
      <p:sp>
        <p:nvSpPr>
          <p:cNvPr id="26" name="Text 24"/>
          <p:cNvSpPr/>
          <p:nvPr/>
        </p:nvSpPr>
        <p:spPr>
          <a:xfrm>
            <a:off x="3977640" y="4270248"/>
            <a:ext cx="1280160"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Trial 2</a:t>
            </a:r>
            <a:endParaRPr lang="en-US" sz="1100" dirty="0"/>
          </a:p>
          <a:p>
            <a:pPr algn="ctr" indent="0" marL="0">
              <a:buNone/>
            </a:pPr>
            <a:r>
              <a:rPr lang="en-US" sz="1100" b="1" dirty="0">
                <a:solidFill>
                  <a:srgbClr val="1A1A2E"/>
                </a:solidFill>
                <a:latin typeface="Calibri" pitchFamily="34" charset="0"/>
                <a:ea typeface="Calibri" pitchFamily="34" charset="-122"/>
                <a:cs typeface="Calibri" pitchFamily="34" charset="-120"/>
              </a:rPr>
              <a:t>Ice</a:t>
            </a:r>
            <a:endParaRPr lang="en-US" sz="1100" dirty="0"/>
          </a:p>
        </p:txBody>
      </p:sp>
      <p:sp>
        <p:nvSpPr>
          <p:cNvPr id="27" name="Shape 25"/>
          <p:cNvSpPr/>
          <p:nvPr/>
        </p:nvSpPr>
        <p:spPr>
          <a:xfrm>
            <a:off x="6492240" y="1916084"/>
            <a:ext cx="566928" cy="2061556"/>
          </a:xfrm>
          <a:prstGeom prst="rect">
            <a:avLst/>
          </a:prstGeom>
          <a:solidFill>
            <a:srgbClr val="2E86AB"/>
          </a:solidFill>
          <a:ln w="12700">
            <a:solidFill>
              <a:srgbClr val="2E86AB"/>
            </a:solidFill>
            <a:prstDash val="solid"/>
          </a:ln>
        </p:spPr>
      </p:sp>
      <p:sp>
        <p:nvSpPr>
          <p:cNvPr id="28" name="Text 26"/>
          <p:cNvSpPr/>
          <p:nvPr/>
        </p:nvSpPr>
        <p:spPr>
          <a:xfrm>
            <a:off x="6492240" y="3995928"/>
            <a:ext cx="566928" cy="256032"/>
          </a:xfrm>
          <a:prstGeom prst="rect">
            <a:avLst/>
          </a:prstGeom>
          <a:noFill/>
          <a:ln/>
        </p:spPr>
        <p:txBody>
          <a:bodyPr wrap="square" lIns="0" tIns="0" rIns="0" bIns="0" rtlCol="0" anchor="ctr"/>
          <a:lstStyle/>
          <a:p>
            <a:pPr algn="ctr" indent="0" marL="0">
              <a:buNone/>
            </a:pPr>
            <a:r>
              <a:rPr lang="en-US" sz="900" b="1" dirty="0">
                <a:solidFill>
                  <a:srgbClr val="2E86AB"/>
                </a:solidFill>
                <a:latin typeface="Calibri" pitchFamily="34" charset="0"/>
                <a:ea typeface="Calibri" pitchFamily="34" charset="-122"/>
                <a:cs typeface="Calibri" pitchFamily="34" charset="-120"/>
              </a:rPr>
              <a:t>Before</a:t>
            </a:r>
            <a:endParaRPr lang="en-US" sz="900" dirty="0"/>
          </a:p>
        </p:txBody>
      </p:sp>
      <p:sp>
        <p:nvSpPr>
          <p:cNvPr id="29" name="Shape 27"/>
          <p:cNvSpPr/>
          <p:nvPr/>
        </p:nvSpPr>
        <p:spPr>
          <a:xfrm>
            <a:off x="7150608" y="1916084"/>
            <a:ext cx="566928" cy="2061556"/>
          </a:xfrm>
          <a:prstGeom prst="rect">
            <a:avLst/>
          </a:prstGeom>
          <a:solidFill>
            <a:srgbClr val="F6C90E"/>
          </a:solidFill>
          <a:ln w="12700">
            <a:solidFill>
              <a:srgbClr val="F6C90E"/>
            </a:solidFill>
            <a:prstDash val="solid"/>
          </a:ln>
        </p:spPr>
      </p:sp>
      <p:sp>
        <p:nvSpPr>
          <p:cNvPr id="30" name="Text 28"/>
          <p:cNvSpPr/>
          <p:nvPr/>
        </p:nvSpPr>
        <p:spPr>
          <a:xfrm>
            <a:off x="7150608" y="3995928"/>
            <a:ext cx="566928" cy="256032"/>
          </a:xfrm>
          <a:prstGeom prst="rect">
            <a:avLst/>
          </a:prstGeom>
          <a:noFill/>
          <a:ln/>
        </p:spPr>
        <p:txBody>
          <a:bodyPr wrap="square" lIns="0" tIns="0" rIns="0" bIns="0" rtlCol="0" anchor="ctr"/>
          <a:lstStyle/>
          <a:p>
            <a:pPr algn="ctr" indent="0" marL="0">
              <a:buNone/>
            </a:pPr>
            <a:r>
              <a:rPr lang="en-US" sz="900" b="1" dirty="0">
                <a:solidFill>
                  <a:srgbClr val="F6C90E"/>
                </a:solidFill>
                <a:latin typeface="Calibri" pitchFamily="34" charset="0"/>
                <a:ea typeface="Calibri" pitchFamily="34" charset="-122"/>
                <a:cs typeface="Calibri" pitchFamily="34" charset="-120"/>
              </a:rPr>
              <a:t>After</a:t>
            </a:r>
            <a:endParaRPr lang="en-US" sz="900" dirty="0"/>
          </a:p>
        </p:txBody>
      </p:sp>
      <p:sp>
        <p:nvSpPr>
          <p:cNvPr id="31" name="Text 29"/>
          <p:cNvSpPr/>
          <p:nvPr/>
        </p:nvSpPr>
        <p:spPr>
          <a:xfrm>
            <a:off x="6492240" y="4270248"/>
            <a:ext cx="1280160"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Trial 3</a:t>
            </a:r>
            <a:endParaRPr lang="en-US" sz="1100" dirty="0"/>
          </a:p>
          <a:p>
            <a:pPr algn="ctr" indent="0" marL="0">
              <a:buNone/>
            </a:pPr>
            <a:r>
              <a:rPr lang="en-US" sz="1100" b="1" dirty="0">
                <a:solidFill>
                  <a:srgbClr val="1A1A2E"/>
                </a:solidFill>
                <a:latin typeface="Calibri" pitchFamily="34" charset="0"/>
                <a:ea typeface="Calibri" pitchFamily="34" charset="-122"/>
                <a:cs typeface="Calibri" pitchFamily="34" charset="-120"/>
              </a:rPr>
              <a:t>Salt</a:t>
            </a:r>
            <a:endParaRPr lang="en-US" sz="1100" dirty="0"/>
          </a:p>
        </p:txBody>
      </p:sp>
      <p:sp>
        <p:nvSpPr>
          <p:cNvPr id="32" name="Text 30"/>
          <p:cNvSpPr/>
          <p:nvPr/>
        </p:nvSpPr>
        <p:spPr>
          <a:xfrm>
            <a:off x="1280160" y="4480560"/>
            <a:ext cx="7498080" cy="274320"/>
          </a:xfrm>
          <a:prstGeom prst="rect">
            <a:avLst/>
          </a:prstGeom>
          <a:noFill/>
          <a:ln/>
        </p:spPr>
        <p:txBody>
          <a:bodyPr wrap="square" lIns="0" tIns="0" rIns="0" bIns="0" rtlCol="0" anchor="ctr"/>
          <a:lstStyle/>
          <a:p>
            <a:pPr algn="ctr" indent="0" marL="0">
              <a:buNone/>
            </a:pPr>
            <a:r>
              <a:rPr lang="en-US" sz="1200" dirty="0">
                <a:solidFill>
                  <a:srgbClr val="2C4A6E"/>
                </a:solidFill>
                <a:latin typeface="Calibri" pitchFamily="34" charset="0"/>
                <a:ea typeface="Calibri" pitchFamily="34" charset="-122"/>
                <a:cs typeface="Calibri" pitchFamily="34" charset="-120"/>
              </a:rPr>
              <a:t>Blue = Before  |  Gold = After  |  Equal heights confirm conservation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A7A4B"/>
          </a:solidFill>
          <a:ln w="12700">
            <a:solidFill>
              <a:srgbClr val="2A7A4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Run All Three Trials</a:t>
            </a:r>
            <a:endParaRPr lang="en-US" sz="2800" dirty="0"/>
          </a:p>
        </p:txBody>
      </p:sp>
      <p:sp>
        <p:nvSpPr>
          <p:cNvPr id="5" name="Shape 3"/>
          <p:cNvSpPr/>
          <p:nvPr/>
        </p:nvSpPr>
        <p:spPr>
          <a:xfrm>
            <a:off x="365760" y="804672"/>
            <a:ext cx="8412480" cy="731520"/>
          </a:xfrm>
          <a:prstGeom prst="rect">
            <a:avLst/>
          </a:prstGeom>
          <a:solidFill>
            <a:srgbClr val="2C4A6E"/>
          </a:solidFill>
          <a:ln w="12700">
            <a:solidFill>
              <a:srgbClr val="2C4A6E"/>
            </a:solidFill>
            <a:prstDash val="solid"/>
          </a:ln>
        </p:spPr>
      </p:sp>
      <p:sp>
        <p:nvSpPr>
          <p:cNvPr id="6" name="Text 4"/>
          <p:cNvSpPr/>
          <p:nvPr/>
        </p:nvSpPr>
        <p:spPr>
          <a:xfrm>
            <a:off x="457200" y="859536"/>
            <a:ext cx="8229600" cy="6217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TRIAL 1 — CRUMPLE: Weigh flat paper. Record. Crumple fully. Weigh again. Record.</a:t>
            </a:r>
            <a:endParaRPr lang="en-US" sz="1300" dirty="0"/>
          </a:p>
        </p:txBody>
      </p:sp>
      <p:sp>
        <p:nvSpPr>
          <p:cNvPr id="7" name="Shape 5"/>
          <p:cNvSpPr/>
          <p:nvPr/>
        </p:nvSpPr>
        <p:spPr>
          <a:xfrm>
            <a:off x="365760" y="1627632"/>
            <a:ext cx="8412480" cy="731520"/>
          </a:xfrm>
          <a:prstGeom prst="rect">
            <a:avLst/>
          </a:prstGeom>
          <a:solidFill>
            <a:srgbClr val="2C4A6E"/>
          </a:solidFill>
          <a:ln w="12700">
            <a:solidFill>
              <a:srgbClr val="2C4A6E"/>
            </a:solidFill>
            <a:prstDash val="solid"/>
          </a:ln>
        </p:spPr>
      </p:sp>
      <p:sp>
        <p:nvSpPr>
          <p:cNvPr id="8" name="Text 6"/>
          <p:cNvSpPr/>
          <p:nvPr/>
        </p:nvSpPr>
        <p:spPr>
          <a:xfrm>
            <a:off x="457200" y="1682496"/>
            <a:ext cx="8229600" cy="6217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TRIAL 2 — MELT ICE: Weigh sealed bag with ice cube. Record. Leave at room temp. When fully melted, weigh sealed bag. Record.</a:t>
            </a:r>
            <a:endParaRPr lang="en-US" sz="1300" dirty="0"/>
          </a:p>
        </p:txBody>
      </p:sp>
      <p:sp>
        <p:nvSpPr>
          <p:cNvPr id="9" name="Shape 7"/>
          <p:cNvSpPr/>
          <p:nvPr/>
        </p:nvSpPr>
        <p:spPr>
          <a:xfrm>
            <a:off x="365760" y="2450592"/>
            <a:ext cx="8412480" cy="731520"/>
          </a:xfrm>
          <a:prstGeom prst="rect">
            <a:avLst/>
          </a:prstGeom>
          <a:solidFill>
            <a:srgbClr val="2C4A6E"/>
          </a:solidFill>
          <a:ln w="12700">
            <a:solidFill>
              <a:srgbClr val="2C4A6E"/>
            </a:solidFill>
            <a:prstDash val="solid"/>
          </a:ln>
        </p:spPr>
      </p:sp>
      <p:sp>
        <p:nvSpPr>
          <p:cNvPr id="10" name="Text 8"/>
          <p:cNvSpPr/>
          <p:nvPr/>
        </p:nvSpPr>
        <p:spPr>
          <a:xfrm>
            <a:off x="457200" y="2505456"/>
            <a:ext cx="8229600" cy="6217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TRIAL 3 — DISSOLVE SALT: Weigh sealed cup with ¼ cup water. Open, add salt, reseal. Weigh again (before dissolving). Stir until dissolved. Weigh sealed cup again. Record.</a:t>
            </a:r>
            <a:endParaRPr lang="en-US" sz="1300" dirty="0"/>
          </a:p>
        </p:txBody>
      </p:sp>
      <p:sp>
        <p:nvSpPr>
          <p:cNvPr id="11" name="Shape 9"/>
          <p:cNvSpPr/>
          <p:nvPr/>
        </p:nvSpPr>
        <p:spPr>
          <a:xfrm>
            <a:off x="365760" y="3273552"/>
            <a:ext cx="8412480" cy="731520"/>
          </a:xfrm>
          <a:prstGeom prst="rect">
            <a:avLst/>
          </a:prstGeom>
          <a:solidFill>
            <a:srgbClr val="2C4A6E"/>
          </a:solidFill>
          <a:ln w="12700">
            <a:solidFill>
              <a:srgbClr val="2C4A6E"/>
            </a:solidFill>
            <a:prstDash val="solid"/>
          </a:ln>
        </p:spPr>
      </p:sp>
      <p:sp>
        <p:nvSpPr>
          <p:cNvPr id="12" name="Text 10"/>
          <p:cNvSpPr/>
          <p:nvPr/>
        </p:nvSpPr>
        <p:spPr>
          <a:xfrm>
            <a:off x="457200" y="3328416"/>
            <a:ext cx="8229600" cy="6217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GRAPH: For each trial, draw two bars (before and after) on your bar graph. Label axes. Compare heights.</a:t>
            </a:r>
            <a:endParaRPr lang="en-US" sz="1300" dirty="0"/>
          </a:p>
        </p:txBody>
      </p:sp>
      <p:sp>
        <p:nvSpPr>
          <p:cNvPr id="13" name="Text 11"/>
          <p:cNvSpPr/>
          <p:nvPr/>
        </p:nvSpPr>
        <p:spPr>
          <a:xfrm>
            <a:off x="365760" y="4187952"/>
            <a:ext cx="8412480" cy="347472"/>
          </a:xfrm>
          <a:prstGeom prst="rect">
            <a:avLst/>
          </a:prstGeom>
          <a:noFill/>
          <a:ln/>
        </p:spPr>
        <p:txBody>
          <a:bodyPr wrap="square" lIns="0" tIns="0" rIns="0" bIns="0" rtlCol="0" anchor="ctr"/>
          <a:lstStyle/>
          <a:p>
            <a:pPr indent="0" marL="0">
              <a:buNone/>
            </a:pPr>
            <a:r>
              <a:rPr lang="en-US" sz="1300" dirty="0">
                <a:solidFill>
                  <a:srgbClr val="F6C90E"/>
                </a:solidFill>
                <a:latin typeface="Calibri" pitchFamily="34" charset="0"/>
                <a:ea typeface="Calibri" pitchFamily="34" charset="-122"/>
                <a:cs typeface="Calibri" pitchFamily="34" charset="-120"/>
              </a:rPr>
              <a:t>Record all 6 measurements in your data table before drawing the graph.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2139696" cy="274320"/>
          </a:xfrm>
          <a:prstGeom prst="rect">
            <a:avLst/>
          </a:prstGeom>
          <a:solidFill>
            <a:srgbClr val="2E86AB"/>
          </a:solidFill>
          <a:ln w="12700">
            <a:solidFill>
              <a:srgbClr val="2E86AB"/>
            </a:solidFill>
            <a:prstDash val="solid"/>
          </a:ln>
        </p:spPr>
      </p:sp>
      <p:sp>
        <p:nvSpPr>
          <p:cNvPr id="3" name="Text 1"/>
          <p:cNvSpPr/>
          <p:nvPr/>
        </p:nvSpPr>
        <p:spPr>
          <a:xfrm>
            <a:off x="365760" y="109728"/>
            <a:ext cx="21396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TABLE + GRAPH SETUP</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Record All Six Measurements</a:t>
            </a:r>
            <a:endParaRPr lang="en-US" sz="2600" dirty="0"/>
          </a:p>
        </p:txBody>
      </p:sp>
      <p:sp>
        <p:nvSpPr>
          <p:cNvPr id="5" name="Shape 3"/>
          <p:cNvSpPr/>
          <p:nvPr/>
        </p:nvSpPr>
        <p:spPr>
          <a:xfrm>
            <a:off x="365760" y="749808"/>
            <a:ext cx="438912" cy="402336"/>
          </a:xfrm>
          <a:prstGeom prst="rect">
            <a:avLst/>
          </a:prstGeom>
          <a:solidFill>
            <a:srgbClr val="1A3A5C"/>
          </a:solidFill>
          <a:ln w="12700">
            <a:solidFill>
              <a:srgbClr val="1A3A5C"/>
            </a:solidFill>
            <a:prstDash val="solid"/>
          </a:ln>
        </p:spPr>
      </p:sp>
      <p:sp>
        <p:nvSpPr>
          <p:cNvPr id="6" name="Text 4"/>
          <p:cNvSpPr/>
          <p:nvPr/>
        </p:nvSpPr>
        <p:spPr>
          <a:xfrm>
            <a:off x="457200" y="804672"/>
            <a:ext cx="256032"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TRIAL</a:t>
            </a:r>
            <a:endParaRPr lang="en-US" sz="1000" dirty="0"/>
          </a:p>
        </p:txBody>
      </p:sp>
      <p:sp>
        <p:nvSpPr>
          <p:cNvPr id="7" name="Shape 5"/>
          <p:cNvSpPr/>
          <p:nvPr/>
        </p:nvSpPr>
        <p:spPr>
          <a:xfrm>
            <a:off x="868680" y="749808"/>
            <a:ext cx="1463040" cy="402336"/>
          </a:xfrm>
          <a:prstGeom prst="rect">
            <a:avLst/>
          </a:prstGeom>
          <a:solidFill>
            <a:srgbClr val="1A3A5C"/>
          </a:solidFill>
          <a:ln w="12700">
            <a:solidFill>
              <a:srgbClr val="1A3A5C"/>
            </a:solidFill>
            <a:prstDash val="solid"/>
          </a:ln>
        </p:spPr>
      </p:sp>
      <p:sp>
        <p:nvSpPr>
          <p:cNvPr id="8" name="Text 6"/>
          <p:cNvSpPr/>
          <p:nvPr/>
        </p:nvSpPr>
        <p:spPr>
          <a:xfrm>
            <a:off x="960120" y="804672"/>
            <a:ext cx="12801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9" name="Shape 7"/>
          <p:cNvSpPr/>
          <p:nvPr/>
        </p:nvSpPr>
        <p:spPr>
          <a:xfrm>
            <a:off x="2423160" y="749808"/>
            <a:ext cx="1554480" cy="402336"/>
          </a:xfrm>
          <a:prstGeom prst="rect">
            <a:avLst/>
          </a:prstGeom>
          <a:solidFill>
            <a:srgbClr val="1A3A5C"/>
          </a:solidFill>
          <a:ln w="12700">
            <a:solidFill>
              <a:srgbClr val="1A3A5C"/>
            </a:solidFill>
            <a:prstDash val="solid"/>
          </a:ln>
        </p:spPr>
      </p:sp>
      <p:sp>
        <p:nvSpPr>
          <p:cNvPr id="10" name="Text 8"/>
          <p:cNvSpPr/>
          <p:nvPr/>
        </p:nvSpPr>
        <p:spPr>
          <a:xfrm>
            <a:off x="2514600" y="804672"/>
            <a:ext cx="137160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BEFORE MASS (g)</a:t>
            </a:r>
            <a:endParaRPr lang="en-US" sz="1000" dirty="0"/>
          </a:p>
        </p:txBody>
      </p:sp>
      <p:sp>
        <p:nvSpPr>
          <p:cNvPr id="11" name="Shape 9"/>
          <p:cNvSpPr/>
          <p:nvPr/>
        </p:nvSpPr>
        <p:spPr>
          <a:xfrm>
            <a:off x="4069080" y="749808"/>
            <a:ext cx="1508760" cy="402336"/>
          </a:xfrm>
          <a:prstGeom prst="rect">
            <a:avLst/>
          </a:prstGeom>
          <a:solidFill>
            <a:srgbClr val="1A3A5C"/>
          </a:solidFill>
          <a:ln w="12700">
            <a:solidFill>
              <a:srgbClr val="1A3A5C"/>
            </a:solidFill>
            <a:prstDash val="solid"/>
          </a:ln>
        </p:spPr>
      </p:sp>
      <p:sp>
        <p:nvSpPr>
          <p:cNvPr id="12" name="Text 10"/>
          <p:cNvSpPr/>
          <p:nvPr/>
        </p:nvSpPr>
        <p:spPr>
          <a:xfrm>
            <a:off x="4160520" y="804672"/>
            <a:ext cx="132588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AFTER MASS (g)</a:t>
            </a:r>
            <a:endParaRPr lang="en-US" sz="1000" dirty="0"/>
          </a:p>
        </p:txBody>
      </p:sp>
      <p:sp>
        <p:nvSpPr>
          <p:cNvPr id="13" name="Shape 11"/>
          <p:cNvSpPr/>
          <p:nvPr/>
        </p:nvSpPr>
        <p:spPr>
          <a:xfrm>
            <a:off x="5669280" y="749808"/>
            <a:ext cx="1188720" cy="402336"/>
          </a:xfrm>
          <a:prstGeom prst="rect">
            <a:avLst/>
          </a:prstGeom>
          <a:solidFill>
            <a:srgbClr val="1A3A5C"/>
          </a:solidFill>
          <a:ln w="12700">
            <a:solidFill>
              <a:srgbClr val="1A3A5C"/>
            </a:solidFill>
            <a:prstDash val="solid"/>
          </a:ln>
        </p:spPr>
      </p:sp>
      <p:sp>
        <p:nvSpPr>
          <p:cNvPr id="14" name="Text 12"/>
          <p:cNvSpPr/>
          <p:nvPr/>
        </p:nvSpPr>
        <p:spPr>
          <a:xfrm>
            <a:off x="5760720" y="804672"/>
            <a:ext cx="100584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CHANGE?</a:t>
            </a:r>
            <a:endParaRPr lang="en-US" sz="1000" dirty="0"/>
          </a:p>
        </p:txBody>
      </p:sp>
      <p:sp>
        <p:nvSpPr>
          <p:cNvPr id="15" name="Shape 13"/>
          <p:cNvSpPr/>
          <p:nvPr/>
        </p:nvSpPr>
        <p:spPr>
          <a:xfrm>
            <a:off x="6949440" y="749808"/>
            <a:ext cx="1828800" cy="402336"/>
          </a:xfrm>
          <a:prstGeom prst="rect">
            <a:avLst/>
          </a:prstGeom>
          <a:solidFill>
            <a:srgbClr val="1A3A5C"/>
          </a:solidFill>
          <a:ln w="12700">
            <a:solidFill>
              <a:srgbClr val="1A3A5C"/>
            </a:solidFill>
            <a:prstDash val="solid"/>
          </a:ln>
        </p:spPr>
      </p:sp>
      <p:sp>
        <p:nvSpPr>
          <p:cNvPr id="16" name="Text 14"/>
          <p:cNvSpPr/>
          <p:nvPr/>
        </p:nvSpPr>
        <p:spPr>
          <a:xfrm>
            <a:off x="7040880" y="804672"/>
            <a:ext cx="164592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CONSERVED?</a:t>
            </a:r>
            <a:endParaRPr lang="en-US" sz="1000" dirty="0"/>
          </a:p>
        </p:txBody>
      </p:sp>
      <p:sp>
        <p:nvSpPr>
          <p:cNvPr id="17" name="Shape 15"/>
          <p:cNvSpPr/>
          <p:nvPr/>
        </p:nvSpPr>
        <p:spPr>
          <a:xfrm>
            <a:off x="365760" y="1225296"/>
            <a:ext cx="438912" cy="676656"/>
          </a:xfrm>
          <a:prstGeom prst="rect">
            <a:avLst/>
          </a:prstGeom>
          <a:solidFill>
            <a:srgbClr val="EBF4FA"/>
          </a:solidFill>
          <a:ln w="12700">
            <a:solidFill>
              <a:srgbClr val="EBF4FA"/>
            </a:solidFill>
            <a:prstDash val="solid"/>
          </a:ln>
        </p:spPr>
      </p:sp>
      <p:sp>
        <p:nvSpPr>
          <p:cNvPr id="18" name="Text 16"/>
          <p:cNvSpPr/>
          <p:nvPr/>
        </p:nvSpPr>
        <p:spPr>
          <a:xfrm>
            <a:off x="457200" y="1280160"/>
            <a:ext cx="256032" cy="566928"/>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T1</a:t>
            </a:r>
            <a:endParaRPr lang="en-US" sz="1200" dirty="0"/>
          </a:p>
        </p:txBody>
      </p:sp>
      <p:sp>
        <p:nvSpPr>
          <p:cNvPr id="19" name="Shape 17"/>
          <p:cNvSpPr/>
          <p:nvPr/>
        </p:nvSpPr>
        <p:spPr>
          <a:xfrm>
            <a:off x="868680" y="1225296"/>
            <a:ext cx="1463040" cy="676656"/>
          </a:xfrm>
          <a:prstGeom prst="rect">
            <a:avLst/>
          </a:prstGeom>
          <a:solidFill>
            <a:srgbClr val="EBF4FA"/>
          </a:solidFill>
          <a:ln w="12700">
            <a:solidFill>
              <a:srgbClr val="EBF4FA"/>
            </a:solidFill>
            <a:prstDash val="solid"/>
          </a:ln>
        </p:spPr>
      </p:sp>
      <p:sp>
        <p:nvSpPr>
          <p:cNvPr id="20" name="Text 18"/>
          <p:cNvSpPr/>
          <p:nvPr/>
        </p:nvSpPr>
        <p:spPr>
          <a:xfrm>
            <a:off x="960120" y="1280160"/>
            <a:ext cx="1280160" cy="566928"/>
          </a:xfrm>
          <a:prstGeom prst="rect">
            <a:avLst/>
          </a:prstGeom>
          <a:noFill/>
          <a:ln/>
        </p:spPr>
        <p:txBody>
          <a:bodyPr wrap="square" lIns="0" tIns="0" rIns="0" bIns="0" rtlCol="0" anchor="ctr"/>
          <a:lstStyle/>
          <a:p>
            <a:pPr algn="l" indent="0" marL="0">
              <a:buNone/>
            </a:pPr>
            <a:r>
              <a:rPr lang="en-US" sz="1100" dirty="0">
                <a:solidFill>
                  <a:srgbClr val="2C4A6E"/>
                </a:solidFill>
                <a:latin typeface="Calibri" pitchFamily="34" charset="0"/>
                <a:ea typeface="Calibri" pitchFamily="34" charset="-122"/>
                <a:cs typeface="Calibri" pitchFamily="34" charset="-120"/>
              </a:rPr>
              <a:t>Trial 1 — Crumple paper</a:t>
            </a:r>
            <a:endParaRPr lang="en-US" sz="1100" dirty="0"/>
          </a:p>
        </p:txBody>
      </p:sp>
      <p:sp>
        <p:nvSpPr>
          <p:cNvPr id="21" name="Shape 19"/>
          <p:cNvSpPr/>
          <p:nvPr/>
        </p:nvSpPr>
        <p:spPr>
          <a:xfrm>
            <a:off x="2423160" y="1225296"/>
            <a:ext cx="1554480" cy="676656"/>
          </a:xfrm>
          <a:prstGeom prst="rect">
            <a:avLst/>
          </a:prstGeom>
          <a:solidFill>
            <a:srgbClr val="EBF4FA"/>
          </a:solidFill>
          <a:ln w="12700">
            <a:solidFill>
              <a:srgbClr val="EBF4FA"/>
            </a:solidFill>
            <a:prstDash val="solid"/>
          </a:ln>
        </p:spPr>
      </p:sp>
      <p:sp>
        <p:nvSpPr>
          <p:cNvPr id="22" name="Shape 20"/>
          <p:cNvSpPr/>
          <p:nvPr/>
        </p:nvSpPr>
        <p:spPr>
          <a:xfrm>
            <a:off x="4069080" y="1225296"/>
            <a:ext cx="1508760" cy="676656"/>
          </a:xfrm>
          <a:prstGeom prst="rect">
            <a:avLst/>
          </a:prstGeom>
          <a:solidFill>
            <a:srgbClr val="EBF4FA"/>
          </a:solidFill>
          <a:ln w="12700">
            <a:solidFill>
              <a:srgbClr val="EBF4FA"/>
            </a:solidFill>
            <a:prstDash val="solid"/>
          </a:ln>
        </p:spPr>
      </p:sp>
      <p:sp>
        <p:nvSpPr>
          <p:cNvPr id="23" name="Shape 21"/>
          <p:cNvSpPr/>
          <p:nvPr/>
        </p:nvSpPr>
        <p:spPr>
          <a:xfrm>
            <a:off x="5669280" y="1225296"/>
            <a:ext cx="1188720" cy="676656"/>
          </a:xfrm>
          <a:prstGeom prst="rect">
            <a:avLst/>
          </a:prstGeom>
          <a:solidFill>
            <a:srgbClr val="EBF4FA"/>
          </a:solidFill>
          <a:ln w="12700">
            <a:solidFill>
              <a:srgbClr val="EBF4FA"/>
            </a:solidFill>
            <a:prstDash val="solid"/>
          </a:ln>
        </p:spPr>
      </p:sp>
      <p:sp>
        <p:nvSpPr>
          <p:cNvPr id="24" name="Shape 22"/>
          <p:cNvSpPr/>
          <p:nvPr/>
        </p:nvSpPr>
        <p:spPr>
          <a:xfrm>
            <a:off x="6949440" y="1225296"/>
            <a:ext cx="1828800" cy="676656"/>
          </a:xfrm>
          <a:prstGeom prst="rect">
            <a:avLst/>
          </a:prstGeom>
          <a:solidFill>
            <a:srgbClr val="EBF4FA"/>
          </a:solidFill>
          <a:ln w="12700">
            <a:solidFill>
              <a:srgbClr val="EBF4FA"/>
            </a:solidFill>
            <a:prstDash val="solid"/>
          </a:ln>
        </p:spPr>
      </p:sp>
      <p:sp>
        <p:nvSpPr>
          <p:cNvPr id="25" name="Shape 23"/>
          <p:cNvSpPr/>
          <p:nvPr/>
        </p:nvSpPr>
        <p:spPr>
          <a:xfrm>
            <a:off x="365760" y="1975104"/>
            <a:ext cx="438912" cy="676656"/>
          </a:xfrm>
          <a:prstGeom prst="rect">
            <a:avLst/>
          </a:prstGeom>
          <a:solidFill>
            <a:srgbClr val="FFFFFF"/>
          </a:solidFill>
          <a:ln w="12700">
            <a:solidFill>
              <a:srgbClr val="FFFFFF"/>
            </a:solidFill>
            <a:prstDash val="solid"/>
          </a:ln>
        </p:spPr>
      </p:sp>
      <p:sp>
        <p:nvSpPr>
          <p:cNvPr id="26" name="Text 24"/>
          <p:cNvSpPr/>
          <p:nvPr/>
        </p:nvSpPr>
        <p:spPr>
          <a:xfrm>
            <a:off x="457200" y="2029968"/>
            <a:ext cx="256032" cy="566928"/>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T2</a:t>
            </a:r>
            <a:endParaRPr lang="en-US" sz="1200" dirty="0"/>
          </a:p>
        </p:txBody>
      </p:sp>
      <p:sp>
        <p:nvSpPr>
          <p:cNvPr id="27" name="Shape 25"/>
          <p:cNvSpPr/>
          <p:nvPr/>
        </p:nvSpPr>
        <p:spPr>
          <a:xfrm>
            <a:off x="868680" y="1975104"/>
            <a:ext cx="1463040" cy="676656"/>
          </a:xfrm>
          <a:prstGeom prst="rect">
            <a:avLst/>
          </a:prstGeom>
          <a:solidFill>
            <a:srgbClr val="FFFFFF"/>
          </a:solidFill>
          <a:ln w="12700">
            <a:solidFill>
              <a:srgbClr val="FFFFFF"/>
            </a:solidFill>
            <a:prstDash val="solid"/>
          </a:ln>
        </p:spPr>
      </p:sp>
      <p:sp>
        <p:nvSpPr>
          <p:cNvPr id="28" name="Text 26"/>
          <p:cNvSpPr/>
          <p:nvPr/>
        </p:nvSpPr>
        <p:spPr>
          <a:xfrm>
            <a:off x="960120" y="2029968"/>
            <a:ext cx="1280160" cy="566928"/>
          </a:xfrm>
          <a:prstGeom prst="rect">
            <a:avLst/>
          </a:prstGeom>
          <a:noFill/>
          <a:ln/>
        </p:spPr>
        <p:txBody>
          <a:bodyPr wrap="square" lIns="0" tIns="0" rIns="0" bIns="0" rtlCol="0" anchor="ctr"/>
          <a:lstStyle/>
          <a:p>
            <a:pPr algn="l" indent="0" marL="0">
              <a:buNone/>
            </a:pPr>
            <a:r>
              <a:rPr lang="en-US" sz="1100" dirty="0">
                <a:solidFill>
                  <a:srgbClr val="2C4A6E"/>
                </a:solidFill>
                <a:latin typeface="Calibri" pitchFamily="34" charset="0"/>
                <a:ea typeface="Calibri" pitchFamily="34" charset="-122"/>
                <a:cs typeface="Calibri" pitchFamily="34" charset="-120"/>
              </a:rPr>
              <a:t>Trial 2 — Melt ice (sealed bag)</a:t>
            </a:r>
            <a:endParaRPr lang="en-US" sz="1100" dirty="0"/>
          </a:p>
        </p:txBody>
      </p:sp>
      <p:sp>
        <p:nvSpPr>
          <p:cNvPr id="29" name="Shape 27"/>
          <p:cNvSpPr/>
          <p:nvPr/>
        </p:nvSpPr>
        <p:spPr>
          <a:xfrm>
            <a:off x="2423160" y="1975104"/>
            <a:ext cx="1554480" cy="676656"/>
          </a:xfrm>
          <a:prstGeom prst="rect">
            <a:avLst/>
          </a:prstGeom>
          <a:solidFill>
            <a:srgbClr val="FFFFFF"/>
          </a:solidFill>
          <a:ln w="12700">
            <a:solidFill>
              <a:srgbClr val="FFFFFF"/>
            </a:solidFill>
            <a:prstDash val="solid"/>
          </a:ln>
        </p:spPr>
      </p:sp>
      <p:sp>
        <p:nvSpPr>
          <p:cNvPr id="30" name="Shape 28"/>
          <p:cNvSpPr/>
          <p:nvPr/>
        </p:nvSpPr>
        <p:spPr>
          <a:xfrm>
            <a:off x="4069080" y="1975104"/>
            <a:ext cx="1508760" cy="676656"/>
          </a:xfrm>
          <a:prstGeom prst="rect">
            <a:avLst/>
          </a:prstGeom>
          <a:solidFill>
            <a:srgbClr val="FFFFFF"/>
          </a:solidFill>
          <a:ln w="12700">
            <a:solidFill>
              <a:srgbClr val="FFFFFF"/>
            </a:solidFill>
            <a:prstDash val="solid"/>
          </a:ln>
        </p:spPr>
      </p:sp>
      <p:sp>
        <p:nvSpPr>
          <p:cNvPr id="31" name="Shape 29"/>
          <p:cNvSpPr/>
          <p:nvPr/>
        </p:nvSpPr>
        <p:spPr>
          <a:xfrm>
            <a:off x="5669280" y="1975104"/>
            <a:ext cx="1188720" cy="676656"/>
          </a:xfrm>
          <a:prstGeom prst="rect">
            <a:avLst/>
          </a:prstGeom>
          <a:solidFill>
            <a:srgbClr val="FFFFFF"/>
          </a:solidFill>
          <a:ln w="12700">
            <a:solidFill>
              <a:srgbClr val="FFFFFF"/>
            </a:solidFill>
            <a:prstDash val="solid"/>
          </a:ln>
        </p:spPr>
      </p:sp>
      <p:sp>
        <p:nvSpPr>
          <p:cNvPr id="32" name="Shape 30"/>
          <p:cNvSpPr/>
          <p:nvPr/>
        </p:nvSpPr>
        <p:spPr>
          <a:xfrm>
            <a:off x="6949440" y="1975104"/>
            <a:ext cx="1828800" cy="676656"/>
          </a:xfrm>
          <a:prstGeom prst="rect">
            <a:avLst/>
          </a:prstGeom>
          <a:solidFill>
            <a:srgbClr val="FFFFFF"/>
          </a:solidFill>
          <a:ln w="12700">
            <a:solidFill>
              <a:srgbClr val="FFFFFF"/>
            </a:solidFill>
            <a:prstDash val="solid"/>
          </a:ln>
        </p:spPr>
      </p:sp>
      <p:sp>
        <p:nvSpPr>
          <p:cNvPr id="33" name="Shape 31"/>
          <p:cNvSpPr/>
          <p:nvPr/>
        </p:nvSpPr>
        <p:spPr>
          <a:xfrm>
            <a:off x="365760" y="2724912"/>
            <a:ext cx="438912" cy="676656"/>
          </a:xfrm>
          <a:prstGeom prst="rect">
            <a:avLst/>
          </a:prstGeom>
          <a:solidFill>
            <a:srgbClr val="EBF4FA"/>
          </a:solidFill>
          <a:ln w="12700">
            <a:solidFill>
              <a:srgbClr val="EBF4FA"/>
            </a:solidFill>
            <a:prstDash val="solid"/>
          </a:ln>
        </p:spPr>
      </p:sp>
      <p:sp>
        <p:nvSpPr>
          <p:cNvPr id="34" name="Text 32"/>
          <p:cNvSpPr/>
          <p:nvPr/>
        </p:nvSpPr>
        <p:spPr>
          <a:xfrm>
            <a:off x="457200" y="2779776"/>
            <a:ext cx="256032" cy="566928"/>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T3</a:t>
            </a:r>
            <a:endParaRPr lang="en-US" sz="1200" dirty="0"/>
          </a:p>
        </p:txBody>
      </p:sp>
      <p:sp>
        <p:nvSpPr>
          <p:cNvPr id="35" name="Shape 33"/>
          <p:cNvSpPr/>
          <p:nvPr/>
        </p:nvSpPr>
        <p:spPr>
          <a:xfrm>
            <a:off x="868680" y="2724912"/>
            <a:ext cx="1463040" cy="676656"/>
          </a:xfrm>
          <a:prstGeom prst="rect">
            <a:avLst/>
          </a:prstGeom>
          <a:solidFill>
            <a:srgbClr val="EBF4FA"/>
          </a:solidFill>
          <a:ln w="12700">
            <a:solidFill>
              <a:srgbClr val="EBF4FA"/>
            </a:solidFill>
            <a:prstDash val="solid"/>
          </a:ln>
        </p:spPr>
      </p:sp>
      <p:sp>
        <p:nvSpPr>
          <p:cNvPr id="36" name="Text 34"/>
          <p:cNvSpPr/>
          <p:nvPr/>
        </p:nvSpPr>
        <p:spPr>
          <a:xfrm>
            <a:off x="960120" y="2779776"/>
            <a:ext cx="1280160" cy="566928"/>
          </a:xfrm>
          <a:prstGeom prst="rect">
            <a:avLst/>
          </a:prstGeom>
          <a:noFill/>
          <a:ln/>
        </p:spPr>
        <p:txBody>
          <a:bodyPr wrap="square" lIns="0" tIns="0" rIns="0" bIns="0" rtlCol="0" anchor="ctr"/>
          <a:lstStyle/>
          <a:p>
            <a:pPr algn="l" indent="0" marL="0">
              <a:buNone/>
            </a:pPr>
            <a:r>
              <a:rPr lang="en-US" sz="1100" dirty="0">
                <a:solidFill>
                  <a:srgbClr val="2C4A6E"/>
                </a:solidFill>
                <a:latin typeface="Calibri" pitchFamily="34" charset="0"/>
                <a:ea typeface="Calibri" pitchFamily="34" charset="-122"/>
                <a:cs typeface="Calibri" pitchFamily="34" charset="-120"/>
              </a:rPr>
              <a:t>Trial 3 — Dissolve salt (sealed cup)</a:t>
            </a:r>
            <a:endParaRPr lang="en-US" sz="1100" dirty="0"/>
          </a:p>
        </p:txBody>
      </p:sp>
      <p:sp>
        <p:nvSpPr>
          <p:cNvPr id="37" name="Shape 35"/>
          <p:cNvSpPr/>
          <p:nvPr/>
        </p:nvSpPr>
        <p:spPr>
          <a:xfrm>
            <a:off x="2423160" y="2724912"/>
            <a:ext cx="1554480" cy="676656"/>
          </a:xfrm>
          <a:prstGeom prst="rect">
            <a:avLst/>
          </a:prstGeom>
          <a:solidFill>
            <a:srgbClr val="EBF4FA"/>
          </a:solidFill>
          <a:ln w="12700">
            <a:solidFill>
              <a:srgbClr val="EBF4FA"/>
            </a:solidFill>
            <a:prstDash val="solid"/>
          </a:ln>
        </p:spPr>
      </p:sp>
      <p:sp>
        <p:nvSpPr>
          <p:cNvPr id="38" name="Shape 36"/>
          <p:cNvSpPr/>
          <p:nvPr/>
        </p:nvSpPr>
        <p:spPr>
          <a:xfrm>
            <a:off x="4069080" y="2724912"/>
            <a:ext cx="1508760" cy="676656"/>
          </a:xfrm>
          <a:prstGeom prst="rect">
            <a:avLst/>
          </a:prstGeom>
          <a:solidFill>
            <a:srgbClr val="EBF4FA"/>
          </a:solidFill>
          <a:ln w="12700">
            <a:solidFill>
              <a:srgbClr val="EBF4FA"/>
            </a:solidFill>
            <a:prstDash val="solid"/>
          </a:ln>
        </p:spPr>
      </p:sp>
      <p:sp>
        <p:nvSpPr>
          <p:cNvPr id="39" name="Shape 37"/>
          <p:cNvSpPr/>
          <p:nvPr/>
        </p:nvSpPr>
        <p:spPr>
          <a:xfrm>
            <a:off x="5669280" y="2724912"/>
            <a:ext cx="1188720" cy="676656"/>
          </a:xfrm>
          <a:prstGeom prst="rect">
            <a:avLst/>
          </a:prstGeom>
          <a:solidFill>
            <a:srgbClr val="EBF4FA"/>
          </a:solidFill>
          <a:ln w="12700">
            <a:solidFill>
              <a:srgbClr val="EBF4FA"/>
            </a:solidFill>
            <a:prstDash val="solid"/>
          </a:ln>
        </p:spPr>
      </p:sp>
      <p:sp>
        <p:nvSpPr>
          <p:cNvPr id="40" name="Shape 38"/>
          <p:cNvSpPr/>
          <p:nvPr/>
        </p:nvSpPr>
        <p:spPr>
          <a:xfrm>
            <a:off x="6949440" y="2724912"/>
            <a:ext cx="1828800" cy="676656"/>
          </a:xfrm>
          <a:prstGeom prst="rect">
            <a:avLst/>
          </a:prstGeom>
          <a:solidFill>
            <a:srgbClr val="EBF4FA"/>
          </a:solidFill>
          <a:ln w="12700">
            <a:solidFill>
              <a:srgbClr val="EBF4FA"/>
            </a:solidFill>
            <a:prstDash val="solid"/>
          </a:ln>
        </p:spPr>
      </p:sp>
      <p:sp>
        <p:nvSpPr>
          <p:cNvPr id="41" name="Text 39"/>
          <p:cNvSpPr/>
          <p:nvPr/>
        </p:nvSpPr>
        <p:spPr>
          <a:xfrm>
            <a:off x="365760" y="3584448"/>
            <a:ext cx="8412480" cy="347472"/>
          </a:xfrm>
          <a:prstGeom prst="rect">
            <a:avLst/>
          </a:prstGeom>
          <a:noFill/>
          <a:ln/>
        </p:spPr>
        <p:txBody>
          <a:bodyPr wrap="square" lIns="0" tIns="0" rIns="0" bIns="0" rtlCol="0" anchor="ctr"/>
          <a:lstStyle/>
          <a:p>
            <a:pPr indent="0" marL="0">
              <a:buNone/>
            </a:pPr>
            <a:r>
              <a:rPr lang="en-US" sz="1200" i="1" dirty="0">
                <a:solidFill>
                  <a:srgbClr val="5E7B9A"/>
                </a:solidFill>
                <a:latin typeface="Calibri" pitchFamily="34" charset="0"/>
                <a:ea typeface="Calibri" pitchFamily="34" charset="-122"/>
                <a:cs typeface="Calibri" pitchFamily="34" charset="-120"/>
              </a:rPr>
              <a:t>SAMPLE DATA (for reference): Trial 1 ≈ 12g/12g  |  Trial 2 ≈ 85g/85g  |  Trial 3 ≈ 230g/230g</a:t>
            </a:r>
            <a:endParaRPr lang="en-US" sz="1200" dirty="0"/>
          </a:p>
        </p:txBody>
      </p:sp>
      <p:sp>
        <p:nvSpPr>
          <p:cNvPr id="42" name="Text 40"/>
          <p:cNvSpPr/>
          <p:nvPr/>
        </p:nvSpPr>
        <p:spPr>
          <a:xfrm>
            <a:off x="365760" y="4023360"/>
            <a:ext cx="8412480" cy="411480"/>
          </a:xfrm>
          <a:prstGeom prst="rect">
            <a:avLst/>
          </a:prstGeom>
          <a:noFill/>
          <a:ln/>
        </p:spPr>
        <p:txBody>
          <a:bodyPr wrap="square" lIns="0" tIns="0" rIns="0" bIns="0" rtlCol="0" anchor="ctr"/>
          <a:lstStyle/>
          <a:p>
            <a:pPr indent="0" marL="0">
              <a:buNone/>
            </a:pPr>
            <a:r>
              <a:rPr lang="en-US" sz="1300" dirty="0">
                <a:solidFill>
                  <a:srgbClr val="2C4A6E"/>
                </a:solidFill>
                <a:latin typeface="Calibri" pitchFamily="34" charset="0"/>
                <a:ea typeface="Calibri" pitchFamily="34" charset="-122"/>
                <a:cs typeface="Calibri" pitchFamily="34" charset="-120"/>
              </a:rPr>
              <a:t>After completing the table, draw your bar graph: two bars per trial (before = blue, after = gold). Label both axes.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828800" cy="274320"/>
          </a:xfrm>
          <a:prstGeom prst="rect">
            <a:avLst/>
          </a:prstGeom>
          <a:solidFill>
            <a:srgbClr val="2E86AB"/>
          </a:solidFill>
          <a:ln w="12700">
            <a:solidFill>
              <a:srgbClr val="2E86AB"/>
            </a:solidFill>
            <a:prstDash val="solid"/>
          </a:ln>
        </p:spPr>
      </p:sp>
      <p:sp>
        <p:nvSpPr>
          <p:cNvPr id="3" name="Text 1"/>
          <p:cNvSpPr/>
          <p:nvPr/>
        </p:nvSpPr>
        <p:spPr>
          <a:xfrm>
            <a:off x="365760" y="10972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 YOUR THINKING</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Answer in Complete Sentences</a:t>
            </a:r>
            <a:endParaRPr lang="en-US" sz="2600" dirty="0"/>
          </a:p>
        </p:txBody>
      </p:sp>
      <p:sp>
        <p:nvSpPr>
          <p:cNvPr id="5" name="Shape 3"/>
          <p:cNvSpPr/>
          <p:nvPr/>
        </p:nvSpPr>
        <p:spPr>
          <a:xfrm>
            <a:off x="365760" y="822960"/>
            <a:ext cx="8412480" cy="1005840"/>
          </a:xfrm>
          <a:prstGeom prst="rect">
            <a:avLst/>
          </a:prstGeom>
          <a:solidFill>
            <a:srgbClr val="FFFFFF"/>
          </a:solidFill>
          <a:ln w="12700">
            <a:solidFill>
              <a:srgbClr val="FFFFFF"/>
            </a:solidFill>
            <a:prstDash val="solid"/>
          </a:ln>
        </p:spPr>
      </p:sp>
      <p:sp>
        <p:nvSpPr>
          <p:cNvPr id="6" name="Text 4"/>
          <p:cNvSpPr/>
          <p:nvPr/>
        </p:nvSpPr>
        <p:spPr>
          <a:xfrm>
            <a:off x="457200" y="877824"/>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1.  Record all six measurements. Did any trial show a mass change? If yes, what do you think caused it?</a:t>
            </a:r>
            <a:endParaRPr lang="en-US" sz="1400" dirty="0"/>
          </a:p>
        </p:txBody>
      </p:sp>
      <p:sp>
        <p:nvSpPr>
          <p:cNvPr id="7" name="Shape 5"/>
          <p:cNvSpPr/>
          <p:nvPr/>
        </p:nvSpPr>
        <p:spPr>
          <a:xfrm>
            <a:off x="365760" y="1938528"/>
            <a:ext cx="8412480" cy="1005840"/>
          </a:xfrm>
          <a:prstGeom prst="rect">
            <a:avLst/>
          </a:prstGeom>
          <a:solidFill>
            <a:srgbClr val="FFFFFF"/>
          </a:solidFill>
          <a:ln w="12700">
            <a:solidFill>
              <a:srgbClr val="FFFFFF"/>
            </a:solidFill>
            <a:prstDash val="solid"/>
          </a:ln>
        </p:spPr>
      </p:sp>
      <p:sp>
        <p:nvSpPr>
          <p:cNvPr id="8" name="Text 6"/>
          <p:cNvSpPr/>
          <p:nvPr/>
        </p:nvSpPr>
        <p:spPr>
          <a:xfrm>
            <a:off x="457200" y="1993392"/>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2.  Did ANY trial fail to conserve mass? If so, explain why. If not, what does this tell you about physical changes?</a:t>
            </a:r>
            <a:endParaRPr lang="en-US" sz="1400" dirty="0"/>
          </a:p>
        </p:txBody>
      </p:sp>
      <p:sp>
        <p:nvSpPr>
          <p:cNvPr id="9" name="Shape 7"/>
          <p:cNvSpPr/>
          <p:nvPr/>
        </p:nvSpPr>
        <p:spPr>
          <a:xfrm>
            <a:off x="365760" y="3054096"/>
            <a:ext cx="8412480" cy="1005840"/>
          </a:xfrm>
          <a:prstGeom prst="rect">
            <a:avLst/>
          </a:prstGeom>
          <a:solidFill>
            <a:srgbClr val="FFFFFF"/>
          </a:solidFill>
          <a:ln w="12700">
            <a:solidFill>
              <a:srgbClr val="FFFFFF"/>
            </a:solidFill>
            <a:prstDash val="solid"/>
          </a:ln>
        </p:spPr>
      </p:sp>
      <p:sp>
        <p:nvSpPr>
          <p:cNvPr id="10" name="Text 8"/>
          <p:cNvSpPr/>
          <p:nvPr/>
        </p:nvSpPr>
        <p:spPr>
          <a:xfrm>
            <a:off x="457200" y="3108960"/>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3.  Write a sentence connecting your data to the idea of conservation of matter — using at least two specific numbers.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17904" cy="274320"/>
          </a:xfrm>
          <a:prstGeom prst="rect">
            <a:avLst/>
          </a:prstGeom>
          <a:solidFill>
            <a:srgbClr val="F07D35"/>
          </a:solidFill>
          <a:ln w="12700">
            <a:solidFill>
              <a:srgbClr val="F07D35"/>
            </a:solidFill>
            <a:prstDash val="solid"/>
          </a:ln>
        </p:spPr>
      </p:sp>
      <p:sp>
        <p:nvSpPr>
          <p:cNvPr id="3" name="Text 1"/>
          <p:cNvSpPr/>
          <p:nvPr/>
        </p:nvSpPr>
        <p:spPr>
          <a:xfrm>
            <a:off x="365760" y="109728"/>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Push Your Thinking</a:t>
            </a:r>
            <a:endParaRPr lang="en-US" sz="2800" dirty="0"/>
          </a:p>
        </p:txBody>
      </p:sp>
      <p:sp>
        <p:nvSpPr>
          <p:cNvPr id="5" name="Shape 3"/>
          <p:cNvSpPr/>
          <p:nvPr/>
        </p:nvSpPr>
        <p:spPr>
          <a:xfrm>
            <a:off x="365760" y="822960"/>
            <a:ext cx="8412480" cy="1024128"/>
          </a:xfrm>
          <a:prstGeom prst="rect">
            <a:avLst/>
          </a:prstGeom>
          <a:solidFill>
            <a:srgbClr val="2C4A6E"/>
          </a:solidFill>
          <a:ln w="12700">
            <a:solidFill>
              <a:srgbClr val="2C4A6E"/>
            </a:solidFill>
            <a:prstDash val="solid"/>
          </a:ln>
        </p:spPr>
      </p:sp>
      <p:sp>
        <p:nvSpPr>
          <p:cNvPr id="6" name="Text 4"/>
          <p:cNvSpPr/>
          <p:nvPr/>
        </p:nvSpPr>
        <p:spPr>
          <a:xfrm>
            <a:off x="457200" y="877824"/>
            <a:ext cx="8229600" cy="9144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"In Trial 1, the paper changed shape completely — from flat to crumpled. Did matter disappear? What is your evidence from the scale that it did not?"</a:t>
            </a:r>
            <a:endParaRPr lang="en-US" sz="1500" dirty="0"/>
          </a:p>
        </p:txBody>
      </p:sp>
      <p:sp>
        <p:nvSpPr>
          <p:cNvPr id="7" name="Shape 5"/>
          <p:cNvSpPr/>
          <p:nvPr/>
        </p:nvSpPr>
        <p:spPr>
          <a:xfrm>
            <a:off x="365760" y="1938528"/>
            <a:ext cx="8412480" cy="1024128"/>
          </a:xfrm>
          <a:prstGeom prst="rect">
            <a:avLst/>
          </a:prstGeom>
          <a:solidFill>
            <a:srgbClr val="2C4A6E"/>
          </a:solidFill>
          <a:ln w="12700">
            <a:solidFill>
              <a:srgbClr val="2C4A6E"/>
            </a:solidFill>
            <a:prstDash val="solid"/>
          </a:ln>
        </p:spPr>
      </p:sp>
      <p:sp>
        <p:nvSpPr>
          <p:cNvPr id="8" name="Text 6"/>
          <p:cNvSpPr/>
          <p:nvPr/>
        </p:nvSpPr>
        <p:spPr>
          <a:xfrm>
            <a:off x="457200" y="1993392"/>
            <a:ext cx="8229600" cy="9144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"If a student forgot to seal the cup in Trial 3 and measured 198g after (started at 200g) — what happened? Does this disprove conservation of matter?"</a:t>
            </a:r>
            <a:endParaRPr lang="en-US" sz="1500" dirty="0"/>
          </a:p>
        </p:txBody>
      </p:sp>
      <p:sp>
        <p:nvSpPr>
          <p:cNvPr id="9" name="Text 7"/>
          <p:cNvSpPr/>
          <p:nvPr/>
        </p:nvSpPr>
        <p:spPr>
          <a:xfrm>
            <a:off x="365760" y="3090672"/>
            <a:ext cx="8412480" cy="502920"/>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Starters: "The scale shows ___ before and ___ after, which means…" / "It doesn't disprove conservation because the system was open and matter…"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6C90E"/>
          </a:solidFill>
          <a:ln w="12700">
            <a:solidFill>
              <a:srgbClr val="F6C90E"/>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Claim — Evidence — Reasoning</a:t>
            </a:r>
            <a:endParaRPr lang="en-US" sz="3000" dirty="0"/>
          </a:p>
        </p:txBody>
      </p:sp>
      <p:sp>
        <p:nvSpPr>
          <p:cNvPr id="5" name="Shape 3"/>
          <p:cNvSpPr/>
          <p:nvPr/>
        </p:nvSpPr>
        <p:spPr>
          <a:xfrm>
            <a:off x="365760" y="822960"/>
            <a:ext cx="8412480" cy="658368"/>
          </a:xfrm>
          <a:prstGeom prst="rect">
            <a:avLst/>
          </a:prstGeom>
          <a:solidFill>
            <a:srgbClr val="1A3A5C"/>
          </a:solidFill>
          <a:ln w="12700">
            <a:solidFill>
              <a:srgbClr val="1A3A5C"/>
            </a:solidFill>
            <a:prstDash val="solid"/>
          </a:ln>
        </p:spPr>
      </p:sp>
      <p:sp>
        <p:nvSpPr>
          <p:cNvPr id="6" name="Text 4"/>
          <p:cNvSpPr/>
          <p:nvPr/>
        </p:nvSpPr>
        <p:spPr>
          <a:xfrm>
            <a:off x="457200" y="877824"/>
            <a:ext cx="8229600"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  CLAIM:  "My data from all three trials supports the idea that matter is conserved during physical changes."</a:t>
            </a:r>
            <a:endParaRPr lang="en-US" sz="1500" dirty="0"/>
          </a:p>
        </p:txBody>
      </p:sp>
      <p:sp>
        <p:nvSpPr>
          <p:cNvPr id="7" name="Shape 5"/>
          <p:cNvSpPr/>
          <p:nvPr/>
        </p:nvSpPr>
        <p:spPr>
          <a:xfrm>
            <a:off x="365760" y="1554480"/>
            <a:ext cx="8412480" cy="777240"/>
          </a:xfrm>
          <a:prstGeom prst="rect">
            <a:avLst/>
          </a:prstGeom>
          <a:solidFill>
            <a:srgbClr val="2C4A6E"/>
          </a:solidFill>
          <a:ln w="12700">
            <a:solidFill>
              <a:srgbClr val="2C4A6E"/>
            </a:solidFill>
            <a:prstDash val="solid"/>
          </a:ln>
        </p:spPr>
      </p:sp>
      <p:sp>
        <p:nvSpPr>
          <p:cNvPr id="8" name="Text 6"/>
          <p:cNvSpPr/>
          <p:nvPr/>
        </p:nvSpPr>
        <p:spPr>
          <a:xfrm>
            <a:off x="457200" y="1609344"/>
            <a:ext cx="8229600" cy="6675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EVIDENCE:  "In Trial 1, the before-mass was ___ g and the after-mass was ___ g — identical. The same was true in Trials 2 and 3. All three bar graph pairs showed equal heights."</a:t>
            </a:r>
            <a:endParaRPr lang="en-US" sz="1400" dirty="0"/>
          </a:p>
        </p:txBody>
      </p:sp>
      <p:sp>
        <p:nvSpPr>
          <p:cNvPr id="9" name="Shape 7"/>
          <p:cNvSpPr/>
          <p:nvPr/>
        </p:nvSpPr>
        <p:spPr>
          <a:xfrm>
            <a:off x="365760" y="2423160"/>
            <a:ext cx="8412480" cy="777240"/>
          </a:xfrm>
          <a:prstGeom prst="rect">
            <a:avLst/>
          </a:prstGeom>
          <a:solidFill>
            <a:srgbClr val="2C4A6E"/>
          </a:solidFill>
          <a:ln w="12700">
            <a:solidFill>
              <a:srgbClr val="2C4A6E"/>
            </a:solidFill>
            <a:prstDash val="solid"/>
          </a:ln>
        </p:spPr>
      </p:sp>
      <p:sp>
        <p:nvSpPr>
          <p:cNvPr id="10" name="Text 8"/>
          <p:cNvSpPr/>
          <p:nvPr/>
        </p:nvSpPr>
        <p:spPr>
          <a:xfrm>
            <a:off x="457200" y="2478024"/>
            <a:ext cx="8229600" cy="6675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REASONING:  "Because all three containers were sealed, no particles could escape. Any change would have shown up as different masses. The equal readings confirm all particles remained in the system."</a:t>
            </a:r>
            <a:endParaRPr lang="en-US" sz="1400" dirty="0"/>
          </a:p>
        </p:txBody>
      </p:sp>
      <p:sp>
        <p:nvSpPr>
          <p:cNvPr id="11" name="Text 9"/>
          <p:cNvSpPr/>
          <p:nvPr/>
        </p:nvSpPr>
        <p:spPr>
          <a:xfrm>
            <a:off x="365760" y="3310128"/>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For Part C: use data from all three trials as evidence. Include specific numbers.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Question 1 of 2</a:t>
            </a:r>
            <a:endParaRPr lang="en-US" sz="2600" dirty="0"/>
          </a:p>
        </p:txBody>
      </p:sp>
      <p:sp>
        <p:nvSpPr>
          <p:cNvPr id="5" name="Shape 3"/>
          <p:cNvSpPr/>
          <p:nvPr/>
        </p:nvSpPr>
        <p:spPr>
          <a:xfrm>
            <a:off x="365760" y="777240"/>
            <a:ext cx="8412480" cy="658368"/>
          </a:xfrm>
          <a:prstGeom prst="rect">
            <a:avLst/>
          </a:prstGeom>
          <a:solidFill>
            <a:srgbClr val="2C4A6E"/>
          </a:solidFill>
          <a:ln w="12700">
            <a:solidFill>
              <a:srgbClr val="2C4A6E"/>
            </a:solidFill>
            <a:prstDash val="solid"/>
          </a:ln>
        </p:spPr>
      </p:sp>
      <p:sp>
        <p:nvSpPr>
          <p:cNvPr id="6" name="Text 4"/>
          <p:cNvSpPr/>
          <p:nvPr/>
        </p:nvSpPr>
        <p:spPr>
          <a:xfrm>
            <a:off x="457200" y="832104"/>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You weigh a sealed bag with an ice cube: 85g. You wait until it fully melts. What should the sealed bag weigh?</a:t>
            </a:r>
            <a:endParaRPr lang="en-US" sz="1600" dirty="0"/>
          </a:p>
        </p:txBody>
      </p:sp>
      <p:sp>
        <p:nvSpPr>
          <p:cNvPr id="7" name="Shape 5"/>
          <p:cNvSpPr/>
          <p:nvPr/>
        </p:nvSpPr>
        <p:spPr>
          <a:xfrm>
            <a:off x="365760" y="1536192"/>
            <a:ext cx="8412480" cy="566928"/>
          </a:xfrm>
          <a:prstGeom prst="rect">
            <a:avLst/>
          </a:prstGeom>
          <a:solidFill>
            <a:srgbClr val="2C4A6E"/>
          </a:solidFill>
          <a:ln w="12700">
            <a:solidFill>
              <a:srgbClr val="2C4A6E"/>
            </a:solidFill>
            <a:prstDash val="solid"/>
          </a:ln>
        </p:spPr>
      </p:sp>
      <p:sp>
        <p:nvSpPr>
          <p:cNvPr id="8" name="Text 6"/>
          <p:cNvSpPr/>
          <p:nvPr/>
        </p:nvSpPr>
        <p:spPr>
          <a:xfrm>
            <a:off x="457200" y="159105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Less than 85g — water is lighter than ice</a:t>
            </a:r>
            <a:endParaRPr lang="en-US" sz="1500" dirty="0"/>
          </a:p>
        </p:txBody>
      </p:sp>
      <p:sp>
        <p:nvSpPr>
          <p:cNvPr id="9" name="Shape 7"/>
          <p:cNvSpPr/>
          <p:nvPr/>
        </p:nvSpPr>
        <p:spPr>
          <a:xfrm>
            <a:off x="365760" y="2176272"/>
            <a:ext cx="8412480" cy="566928"/>
          </a:xfrm>
          <a:prstGeom prst="rect">
            <a:avLst/>
          </a:prstGeom>
          <a:solidFill>
            <a:srgbClr val="2C4A6E"/>
          </a:solidFill>
          <a:ln w="12700">
            <a:solidFill>
              <a:srgbClr val="2C4A6E"/>
            </a:solidFill>
            <a:prstDash val="solid"/>
          </a:ln>
        </p:spPr>
      </p:sp>
      <p:sp>
        <p:nvSpPr>
          <p:cNvPr id="10" name="Text 8"/>
          <p:cNvSpPr/>
          <p:nvPr/>
        </p:nvSpPr>
        <p:spPr>
          <a:xfrm>
            <a:off x="457200" y="223113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B)  More than 85g — water expands</a:t>
            </a:r>
            <a:endParaRPr lang="en-US" sz="1500" dirty="0"/>
          </a:p>
        </p:txBody>
      </p:sp>
      <p:sp>
        <p:nvSpPr>
          <p:cNvPr id="11" name="Shape 9"/>
          <p:cNvSpPr/>
          <p:nvPr/>
        </p:nvSpPr>
        <p:spPr>
          <a:xfrm>
            <a:off x="365760" y="2816352"/>
            <a:ext cx="8412480" cy="566928"/>
          </a:xfrm>
          <a:prstGeom prst="rect">
            <a:avLst/>
          </a:prstGeom>
          <a:solidFill>
            <a:srgbClr val="2A7A4B"/>
          </a:solidFill>
          <a:ln w="12700">
            <a:solidFill>
              <a:srgbClr val="2A7A4B"/>
            </a:solidFill>
            <a:prstDash val="solid"/>
          </a:ln>
        </p:spPr>
      </p:sp>
      <p:sp>
        <p:nvSpPr>
          <p:cNvPr id="12" name="Text 10"/>
          <p:cNvSpPr/>
          <p:nvPr/>
        </p:nvSpPr>
        <p:spPr>
          <a:xfrm>
            <a:off x="457200" y="2871216"/>
            <a:ext cx="8229600"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C)  Still 85g  ✓  CORRECT</a:t>
            </a:r>
            <a:endParaRPr lang="en-US" sz="1500" dirty="0"/>
          </a:p>
        </p:txBody>
      </p:sp>
      <p:sp>
        <p:nvSpPr>
          <p:cNvPr id="13" name="Text 11"/>
          <p:cNvSpPr/>
          <p:nvPr/>
        </p:nvSpPr>
        <p:spPr>
          <a:xfrm>
            <a:off x="365760" y="3547872"/>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Ice and water are the same substance. The particles didn't change — only their arrangement did. Sealed bag = nothing escaped. Mass stays at 85g.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Question 2 of 2</a:t>
            </a:r>
            <a:endParaRPr lang="en-US" sz="2600" dirty="0"/>
          </a:p>
        </p:txBody>
      </p:sp>
      <p:sp>
        <p:nvSpPr>
          <p:cNvPr id="5" name="Shape 3"/>
          <p:cNvSpPr/>
          <p:nvPr/>
        </p:nvSpPr>
        <p:spPr>
          <a:xfrm>
            <a:off x="365760" y="777240"/>
            <a:ext cx="8412480" cy="658368"/>
          </a:xfrm>
          <a:prstGeom prst="rect">
            <a:avLst/>
          </a:prstGeom>
          <a:solidFill>
            <a:srgbClr val="2C4A6E"/>
          </a:solidFill>
          <a:ln w="12700">
            <a:solidFill>
              <a:srgbClr val="2C4A6E"/>
            </a:solidFill>
            <a:prstDash val="solid"/>
          </a:ln>
        </p:spPr>
      </p:sp>
      <p:sp>
        <p:nvSpPr>
          <p:cNvPr id="6" name="Text 4"/>
          <p:cNvSpPr/>
          <p:nvPr/>
        </p:nvSpPr>
        <p:spPr>
          <a:xfrm>
            <a:off x="457200" y="832104"/>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Your bar graph for Trial 2 shows equal before and after bars. What does this prove?</a:t>
            </a:r>
            <a:endParaRPr lang="en-US" sz="1600" dirty="0"/>
          </a:p>
        </p:txBody>
      </p:sp>
      <p:sp>
        <p:nvSpPr>
          <p:cNvPr id="7" name="Shape 5"/>
          <p:cNvSpPr/>
          <p:nvPr/>
        </p:nvSpPr>
        <p:spPr>
          <a:xfrm>
            <a:off x="365760" y="1536192"/>
            <a:ext cx="8412480" cy="566928"/>
          </a:xfrm>
          <a:prstGeom prst="rect">
            <a:avLst/>
          </a:prstGeom>
          <a:solidFill>
            <a:srgbClr val="2C4A6E"/>
          </a:solidFill>
          <a:ln w="12700">
            <a:solidFill>
              <a:srgbClr val="2C4A6E"/>
            </a:solidFill>
            <a:prstDash val="solid"/>
          </a:ln>
        </p:spPr>
      </p:sp>
      <p:sp>
        <p:nvSpPr>
          <p:cNvPr id="8" name="Text 6"/>
          <p:cNvSpPr/>
          <p:nvPr/>
        </p:nvSpPr>
        <p:spPr>
          <a:xfrm>
            <a:off x="457200" y="159105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Ice and water have the same density</a:t>
            </a:r>
            <a:endParaRPr lang="en-US" sz="1500" dirty="0"/>
          </a:p>
        </p:txBody>
      </p:sp>
      <p:sp>
        <p:nvSpPr>
          <p:cNvPr id="9" name="Shape 7"/>
          <p:cNvSpPr/>
          <p:nvPr/>
        </p:nvSpPr>
        <p:spPr>
          <a:xfrm>
            <a:off x="365760" y="2176272"/>
            <a:ext cx="8412480" cy="566928"/>
          </a:xfrm>
          <a:prstGeom prst="rect">
            <a:avLst/>
          </a:prstGeom>
          <a:solidFill>
            <a:srgbClr val="2A7A4B"/>
          </a:solidFill>
          <a:ln w="12700">
            <a:solidFill>
              <a:srgbClr val="2A7A4B"/>
            </a:solidFill>
            <a:prstDash val="solid"/>
          </a:ln>
        </p:spPr>
      </p:sp>
      <p:sp>
        <p:nvSpPr>
          <p:cNvPr id="10" name="Text 8"/>
          <p:cNvSpPr/>
          <p:nvPr/>
        </p:nvSpPr>
        <p:spPr>
          <a:xfrm>
            <a:off x="457200" y="2231136"/>
            <a:ext cx="8229600"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Mass was conserved during melting  ✓  CORRECT</a:t>
            </a:r>
            <a:endParaRPr lang="en-US" sz="1500" dirty="0"/>
          </a:p>
        </p:txBody>
      </p:sp>
      <p:sp>
        <p:nvSpPr>
          <p:cNvPr id="11" name="Shape 9"/>
          <p:cNvSpPr/>
          <p:nvPr/>
        </p:nvSpPr>
        <p:spPr>
          <a:xfrm>
            <a:off x="365760" y="2816352"/>
            <a:ext cx="8412480" cy="566928"/>
          </a:xfrm>
          <a:prstGeom prst="rect">
            <a:avLst/>
          </a:prstGeom>
          <a:solidFill>
            <a:srgbClr val="2C4A6E"/>
          </a:solidFill>
          <a:ln w="12700">
            <a:solidFill>
              <a:srgbClr val="2C4A6E"/>
            </a:solidFill>
            <a:prstDash val="solid"/>
          </a:ln>
        </p:spPr>
      </p:sp>
      <p:sp>
        <p:nvSpPr>
          <p:cNvPr id="12" name="Text 10"/>
          <p:cNvSpPr/>
          <p:nvPr/>
        </p:nvSpPr>
        <p:spPr>
          <a:xfrm>
            <a:off x="457200" y="287121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The scale was broken</a:t>
            </a:r>
            <a:endParaRPr lang="en-US" sz="1500" dirty="0"/>
          </a:p>
        </p:txBody>
      </p:sp>
      <p:sp>
        <p:nvSpPr>
          <p:cNvPr id="13" name="Text 11"/>
          <p:cNvSpPr/>
          <p:nvPr/>
        </p:nvSpPr>
        <p:spPr>
          <a:xfrm>
            <a:off x="365760" y="3547872"/>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Equal bars = same mass before and after. In a sealed system, that means no matter escaped or entered. Conservation is confirmed for this trial.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475488"/>
            <a:ext cx="841248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Are Made of Ancient Star Stuff</a:t>
            </a:r>
            <a:endParaRPr lang="en-US" sz="3200" dirty="0"/>
          </a:p>
        </p:txBody>
      </p:sp>
      <p:sp>
        <p:nvSpPr>
          <p:cNvPr id="5" name="Text 3"/>
          <p:cNvSpPr/>
          <p:nvPr/>
        </p:nvSpPr>
        <p:spPr>
          <a:xfrm>
            <a:off x="365760" y="1207008"/>
            <a:ext cx="8412480" cy="109728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The atoms in your body were forged inside ancient stars billions of years ago. Conservation of matter means those atoms existed before Earth was born — and will exist long after. When you eat, breathe, or exercise, those atoms rearrange into different forms. They never disappear. Every carbon atom in you was once part of the universe before the solar system existed.</a:t>
            </a:r>
            <a:endParaRPr lang="en-US" sz="1500" dirty="0"/>
          </a:p>
        </p:txBody>
      </p:sp>
      <p:sp>
        <p:nvSpPr>
          <p:cNvPr id="6" name="Shape 4"/>
          <p:cNvSpPr/>
          <p:nvPr/>
        </p:nvSpPr>
        <p:spPr>
          <a:xfrm>
            <a:off x="365760" y="2423160"/>
            <a:ext cx="4114800" cy="1207008"/>
          </a:xfrm>
          <a:prstGeom prst="rect">
            <a:avLst/>
          </a:prstGeom>
          <a:solidFill>
            <a:srgbClr val="2C4A6E"/>
          </a:solidFill>
          <a:ln w="12700">
            <a:solidFill>
              <a:srgbClr val="2C4A6E"/>
            </a:solidFill>
            <a:prstDash val="solid"/>
          </a:ln>
        </p:spPr>
      </p:sp>
      <p:sp>
        <p:nvSpPr>
          <p:cNvPr id="7" name="Text 5"/>
          <p:cNvSpPr/>
          <p:nvPr/>
        </p:nvSpPr>
        <p:spPr>
          <a:xfrm>
            <a:off x="457200" y="2478024"/>
            <a:ext cx="3931920" cy="10972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Extension Q1:</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If conservation of matter is always true, what happens to the atoms in your body when you die? Where do they go? Is this consistent with conservation?</a:t>
            </a:r>
            <a:endParaRPr lang="en-US" sz="1400" dirty="0"/>
          </a:p>
        </p:txBody>
      </p:sp>
      <p:sp>
        <p:nvSpPr>
          <p:cNvPr id="8" name="Shape 6"/>
          <p:cNvSpPr/>
          <p:nvPr/>
        </p:nvSpPr>
        <p:spPr>
          <a:xfrm>
            <a:off x="4663440" y="2423160"/>
            <a:ext cx="4114800" cy="1207008"/>
          </a:xfrm>
          <a:prstGeom prst="rect">
            <a:avLst/>
          </a:prstGeom>
          <a:solidFill>
            <a:srgbClr val="2C4A6E"/>
          </a:solidFill>
          <a:ln w="12700">
            <a:solidFill>
              <a:srgbClr val="2C4A6E"/>
            </a:solidFill>
            <a:prstDash val="solid"/>
          </a:ln>
        </p:spPr>
      </p:sp>
      <p:sp>
        <p:nvSpPr>
          <p:cNvPr id="9" name="Text 7"/>
          <p:cNvSpPr/>
          <p:nvPr/>
        </p:nvSpPr>
        <p:spPr>
          <a:xfrm>
            <a:off x="4754880" y="2478024"/>
            <a:ext cx="3931920" cy="10972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Extension Q2:</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You added salt to water in Trial 3 and it dissolved. The mass stayed the same. How could you get the salt BACK as dry crystals — without breaking the conservation law?</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673352" cy="274320"/>
          </a:xfrm>
          <a:prstGeom prst="rect">
            <a:avLst/>
          </a:prstGeom>
          <a:solidFill>
            <a:srgbClr val="1A3A5C"/>
          </a:solidFill>
          <a:ln w="12700">
            <a:solidFill>
              <a:srgbClr val="1A3A5C"/>
            </a:solidFill>
            <a:prstDash val="solid"/>
          </a:ln>
        </p:spPr>
      </p:sp>
      <p:sp>
        <p:nvSpPr>
          <p:cNvPr id="3" name="Text 1"/>
          <p:cNvSpPr/>
          <p:nvPr/>
        </p:nvSpPr>
        <p:spPr>
          <a:xfrm>
            <a:off x="365760" y="10972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1A1A2E"/>
                </a:solidFill>
                <a:latin typeface="Cambria" pitchFamily="34" charset="0"/>
                <a:ea typeface="Cambria" pitchFamily="34" charset="-122"/>
                <a:cs typeface="Cambria" pitchFamily="34" charset="-120"/>
              </a:rPr>
              <a:t>What You Will Turn In</a:t>
            </a:r>
            <a:endParaRPr lang="en-US" sz="2800" dirty="0"/>
          </a:p>
        </p:txBody>
      </p:sp>
      <p:sp>
        <p:nvSpPr>
          <p:cNvPr id="5" name="Shape 3"/>
          <p:cNvSpPr/>
          <p:nvPr/>
        </p:nvSpPr>
        <p:spPr>
          <a:xfrm>
            <a:off x="365760" y="804672"/>
            <a:ext cx="8412480" cy="1188720"/>
          </a:xfrm>
          <a:prstGeom prst="rect">
            <a:avLst/>
          </a:prstGeom>
          <a:solidFill>
            <a:srgbClr val="FFFFFF"/>
          </a:solidFill>
          <a:ln w="12700">
            <a:solidFill>
              <a:srgbClr val="FFFFFF"/>
            </a:solidFill>
            <a:prstDash val="solid"/>
          </a:ln>
        </p:spPr>
      </p:sp>
      <p:sp>
        <p:nvSpPr>
          <p:cNvPr id="6" name="Text 4"/>
          <p:cNvSpPr/>
          <p:nvPr/>
        </p:nvSpPr>
        <p:spPr>
          <a:xfrm>
            <a:off x="457200" y="859536"/>
            <a:ext cx="8229600" cy="1078992"/>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PART A — Completed Data Table + Bar Graph</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Fill in all 6 measurements (2 per trial). Draw a bar graph with two bars per trial, axes labeled (x = Trial number, y = Mass in grams). Equal bars = conservation shown.</a:t>
            </a:r>
            <a:endParaRPr lang="en-US" sz="1500" dirty="0"/>
          </a:p>
        </p:txBody>
      </p:sp>
      <p:sp>
        <p:nvSpPr>
          <p:cNvPr id="7" name="Shape 5"/>
          <p:cNvSpPr/>
          <p:nvPr/>
        </p:nvSpPr>
        <p:spPr>
          <a:xfrm>
            <a:off x="365760" y="2084832"/>
            <a:ext cx="8412480" cy="1005840"/>
          </a:xfrm>
          <a:prstGeom prst="rect">
            <a:avLst/>
          </a:prstGeom>
          <a:solidFill>
            <a:srgbClr val="FFFFFF"/>
          </a:solidFill>
          <a:ln w="12700">
            <a:solidFill>
              <a:srgbClr val="FFFFFF"/>
            </a:solidFill>
            <a:prstDash val="solid"/>
          </a:ln>
        </p:spPr>
      </p:sp>
      <p:sp>
        <p:nvSpPr>
          <p:cNvPr id="8" name="Text 6"/>
          <p:cNvSpPr/>
          <p:nvPr/>
        </p:nvSpPr>
        <p:spPr>
          <a:xfrm>
            <a:off x="457200" y="2139696"/>
            <a:ext cx="8229600" cy="896112"/>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PART B — Mass Comparison Questions</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(1) Did all three trials confirm conservation? (2) What would a bar graph look like if conservation FAILED in Trial 2? (3) If Trial 3 showed a 2g drop — what would explain it (without disproving conservation)?</a:t>
            </a:r>
            <a:endParaRPr lang="en-US" sz="1500" dirty="0"/>
          </a:p>
        </p:txBody>
      </p:sp>
      <p:sp>
        <p:nvSpPr>
          <p:cNvPr id="9" name="Text 7"/>
          <p:cNvSpPr/>
          <p:nvPr/>
        </p:nvSpPr>
        <p:spPr>
          <a:xfrm>
            <a:off x="365760" y="3218688"/>
            <a:ext cx="8412480" cy="347472"/>
          </a:xfrm>
          <a:prstGeom prst="rect">
            <a:avLst/>
          </a:prstGeom>
          <a:noFill/>
          <a:ln/>
        </p:spPr>
        <p:txBody>
          <a:bodyPr wrap="square" lIns="0" tIns="0" rIns="0" bIns="0" rtlCol="0" anchor="ctr"/>
          <a:lstStyle/>
          <a:p>
            <a:pPr algn="ctr" indent="0" marL="0">
              <a:buNone/>
            </a:pPr>
            <a:r>
              <a:rPr lang="en-US" sz="1300" dirty="0">
                <a:solidFill>
                  <a:srgbClr val="2C4A6E"/>
                </a:solidFill>
                <a:latin typeface="Calibri" pitchFamily="34" charset="0"/>
                <a:ea typeface="Calibri" pitchFamily="34" charset="-122"/>
                <a:cs typeface="Calibri" pitchFamily="34" charset="-120"/>
              </a:rPr>
              <a:t>Part C and Revise Your Thinking are on the next slide.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751076" cy="274320"/>
          </a:xfrm>
          <a:prstGeom prst="rect">
            <a:avLst/>
          </a:prstGeom>
          <a:solidFill>
            <a:srgbClr val="1A3A5C"/>
          </a:solidFill>
          <a:ln w="12700">
            <a:solidFill>
              <a:srgbClr val="1A3A5C"/>
            </a:solidFill>
            <a:prstDash val="solid"/>
          </a:ln>
        </p:spPr>
      </p:sp>
      <p:sp>
        <p:nvSpPr>
          <p:cNvPr id="3" name="Text 1"/>
          <p:cNvSpPr/>
          <p:nvPr/>
        </p:nvSpPr>
        <p:spPr>
          <a:xfrm>
            <a:off x="365760" y="10972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 PART C</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CER — All Three Trials as Evidence</a:t>
            </a:r>
            <a:endParaRPr lang="en-US" sz="2600" dirty="0"/>
          </a:p>
        </p:txBody>
      </p:sp>
      <p:sp>
        <p:nvSpPr>
          <p:cNvPr id="5" name="Shape 3"/>
          <p:cNvSpPr/>
          <p:nvPr/>
        </p:nvSpPr>
        <p:spPr>
          <a:xfrm>
            <a:off x="365760" y="777240"/>
            <a:ext cx="8412480" cy="502920"/>
          </a:xfrm>
          <a:prstGeom prst="rect">
            <a:avLst/>
          </a:prstGeom>
          <a:solidFill>
            <a:srgbClr val="1A3A5C"/>
          </a:solidFill>
          <a:ln w="12700">
            <a:solidFill>
              <a:srgbClr val="1A3A5C"/>
            </a:solidFill>
            <a:prstDash val="solid"/>
          </a:ln>
        </p:spPr>
      </p:sp>
      <p:sp>
        <p:nvSpPr>
          <p:cNvPr id="6" name="Text 4"/>
          <p:cNvSpPr/>
          <p:nvPr/>
        </p:nvSpPr>
        <p:spPr>
          <a:xfrm>
            <a:off x="457200" y="832104"/>
            <a:ext cx="8229600"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Write a CER using data from all three trials to argue that matter is conserved during physical changes.</a:t>
            </a:r>
            <a:endParaRPr lang="en-US" sz="1300" dirty="0"/>
          </a:p>
        </p:txBody>
      </p:sp>
      <p:sp>
        <p:nvSpPr>
          <p:cNvPr id="7" name="Shape 5"/>
          <p:cNvSpPr/>
          <p:nvPr/>
        </p:nvSpPr>
        <p:spPr>
          <a:xfrm>
            <a:off x="365760" y="1371600"/>
            <a:ext cx="8412480" cy="621792"/>
          </a:xfrm>
          <a:prstGeom prst="rect">
            <a:avLst/>
          </a:prstGeom>
          <a:solidFill>
            <a:srgbClr val="EBF4FA"/>
          </a:solidFill>
          <a:ln w="12700">
            <a:solidFill>
              <a:srgbClr val="EBF4FA"/>
            </a:solidFill>
            <a:prstDash val="solid"/>
          </a:ln>
        </p:spPr>
      </p:sp>
      <p:sp>
        <p:nvSpPr>
          <p:cNvPr id="8" name="Text 6"/>
          <p:cNvSpPr/>
          <p:nvPr/>
        </p:nvSpPr>
        <p:spPr>
          <a:xfrm>
            <a:off x="457200" y="1426464"/>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CLAIM:  "My data supports conservation of matter because ..."</a:t>
            </a:r>
            <a:endParaRPr lang="en-US" sz="1400" dirty="0"/>
          </a:p>
        </p:txBody>
      </p:sp>
      <p:sp>
        <p:nvSpPr>
          <p:cNvPr id="9" name="Shape 7"/>
          <p:cNvSpPr/>
          <p:nvPr/>
        </p:nvSpPr>
        <p:spPr>
          <a:xfrm>
            <a:off x="365760" y="2066544"/>
            <a:ext cx="8412480" cy="621792"/>
          </a:xfrm>
          <a:prstGeom prst="rect">
            <a:avLst/>
          </a:prstGeom>
          <a:solidFill>
            <a:srgbClr val="EBF4FA"/>
          </a:solidFill>
          <a:ln w="12700">
            <a:solidFill>
              <a:srgbClr val="EBF4FA"/>
            </a:solidFill>
            <a:prstDash val="solid"/>
          </a:ln>
        </p:spPr>
      </p:sp>
      <p:sp>
        <p:nvSpPr>
          <p:cNvPr id="10" name="Text 8"/>
          <p:cNvSpPr/>
          <p:nvPr/>
        </p:nvSpPr>
        <p:spPr>
          <a:xfrm>
            <a:off x="457200" y="2121408"/>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EVIDENCE:  "In Trial 1, before = ___ g and after = ___ g. In Trial 2... In Trial 3... All three showed equal masses."</a:t>
            </a:r>
            <a:endParaRPr lang="en-US" sz="1400" dirty="0"/>
          </a:p>
        </p:txBody>
      </p:sp>
      <p:sp>
        <p:nvSpPr>
          <p:cNvPr id="11" name="Shape 9"/>
          <p:cNvSpPr/>
          <p:nvPr/>
        </p:nvSpPr>
        <p:spPr>
          <a:xfrm>
            <a:off x="365760" y="2761488"/>
            <a:ext cx="8412480" cy="621792"/>
          </a:xfrm>
          <a:prstGeom prst="rect">
            <a:avLst/>
          </a:prstGeom>
          <a:solidFill>
            <a:srgbClr val="EBF4FA"/>
          </a:solidFill>
          <a:ln w="12700">
            <a:solidFill>
              <a:srgbClr val="EBF4FA"/>
            </a:solidFill>
            <a:prstDash val="solid"/>
          </a:ln>
        </p:spPr>
      </p:sp>
      <p:sp>
        <p:nvSpPr>
          <p:cNvPr id="12" name="Text 10"/>
          <p:cNvSpPr/>
          <p:nvPr/>
        </p:nvSpPr>
        <p:spPr>
          <a:xfrm>
            <a:off x="457200" y="2816352"/>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REASONING:  "Because all three containers were sealed, no particles could escape, which means [any real change would have shown up as unequal masses] ..."</a:t>
            </a:r>
            <a:endParaRPr lang="en-US" sz="1400" dirty="0"/>
          </a:p>
        </p:txBody>
      </p:sp>
      <p:sp>
        <p:nvSpPr>
          <p:cNvPr id="13" name="Text 11"/>
          <p:cNvSpPr/>
          <p:nvPr/>
        </p:nvSpPr>
        <p:spPr>
          <a:xfrm>
            <a:off x="365760" y="3547872"/>
            <a:ext cx="8412480" cy="347472"/>
          </a:xfrm>
          <a:prstGeom prst="rect">
            <a:avLst/>
          </a:prstGeom>
          <a:noFill/>
          <a:ln/>
        </p:spPr>
        <p:txBody>
          <a:bodyPr wrap="square" lIns="0" tIns="0" rIns="0" bIns="0" rtlCol="0" anchor="ctr"/>
          <a:lstStyle/>
          <a:p>
            <a:pPr algn="ctr" indent="0" marL="0">
              <a:buNone/>
            </a:pPr>
            <a:r>
              <a:rPr lang="en-US" sz="1300" dirty="0">
                <a:solidFill>
                  <a:srgbClr val="2C4A6E"/>
                </a:solidFill>
                <a:latin typeface="Calibri" pitchFamily="34" charset="0"/>
                <a:ea typeface="Calibri" pitchFamily="34" charset="-122"/>
                <a:cs typeface="Calibri" pitchFamily="34" charset="-120"/>
              </a:rPr>
              <a:t>4+ sentences. Include six specific mass measurements.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109728"/>
            <a:ext cx="1828800" cy="274320"/>
          </a:xfrm>
          <a:prstGeom prst="rect">
            <a:avLst/>
          </a:prstGeom>
          <a:solidFill>
            <a:srgbClr val="1A3A5C"/>
          </a:solidFill>
          <a:ln w="12700">
            <a:solidFill>
              <a:srgbClr val="1A3A5C"/>
            </a:solidFill>
            <a:prstDash val="solid"/>
          </a:ln>
        </p:spPr>
      </p:sp>
      <p:sp>
        <p:nvSpPr>
          <p:cNvPr id="3" name="Text 1"/>
          <p:cNvSpPr/>
          <p:nvPr/>
        </p:nvSpPr>
        <p:spPr>
          <a:xfrm>
            <a:off x="365760" y="10972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Return to Your Predictions</a:t>
            </a:r>
            <a:endParaRPr lang="en-US" sz="2800" dirty="0"/>
          </a:p>
        </p:txBody>
      </p:sp>
      <p:sp>
        <p:nvSpPr>
          <p:cNvPr id="5" name="Text 3"/>
          <p:cNvSpPr/>
          <p:nvPr/>
        </p:nvSpPr>
        <p:spPr>
          <a:xfrm>
            <a:off x="365760" y="804672"/>
            <a:ext cx="8412480" cy="41148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Look at your three predictions from the beginning of the investigation.</a:t>
            </a:r>
            <a:endParaRPr lang="en-US" sz="1500" dirty="0"/>
          </a:p>
        </p:txBody>
      </p:sp>
      <p:sp>
        <p:nvSpPr>
          <p:cNvPr id="6" name="Shape 4"/>
          <p:cNvSpPr/>
          <p:nvPr/>
        </p:nvSpPr>
        <p:spPr>
          <a:xfrm>
            <a:off x="365760" y="1298448"/>
            <a:ext cx="8412480" cy="658368"/>
          </a:xfrm>
          <a:prstGeom prst="rect">
            <a:avLst/>
          </a:prstGeom>
          <a:solidFill>
            <a:srgbClr val="1A3A5C"/>
          </a:solidFill>
          <a:ln w="12700">
            <a:solidFill>
              <a:srgbClr val="1A3A5C"/>
            </a:solidFill>
            <a:prstDash val="solid"/>
          </a:ln>
        </p:spPr>
      </p:sp>
      <p:sp>
        <p:nvSpPr>
          <p:cNvPr id="7" name="Text 5"/>
          <p:cNvSpPr/>
          <p:nvPr/>
        </p:nvSpPr>
        <p:spPr>
          <a:xfrm>
            <a:off x="457200" y="135331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  How many predictions were correct? Did any trial surprise you? Which one and why?</a:t>
            </a:r>
            <a:endParaRPr lang="en-US" sz="1400" dirty="0"/>
          </a:p>
        </p:txBody>
      </p:sp>
      <p:sp>
        <p:nvSpPr>
          <p:cNvPr id="8" name="Shape 6"/>
          <p:cNvSpPr/>
          <p:nvPr/>
        </p:nvSpPr>
        <p:spPr>
          <a:xfrm>
            <a:off x="365760" y="2029968"/>
            <a:ext cx="8412480" cy="658368"/>
          </a:xfrm>
          <a:prstGeom prst="rect">
            <a:avLst/>
          </a:prstGeom>
          <a:solidFill>
            <a:srgbClr val="1A3A5C"/>
          </a:solidFill>
          <a:ln w="12700">
            <a:solidFill>
              <a:srgbClr val="1A3A5C"/>
            </a:solidFill>
            <a:prstDash val="solid"/>
          </a:ln>
        </p:spPr>
      </p:sp>
      <p:sp>
        <p:nvSpPr>
          <p:cNvPr id="9" name="Text 7"/>
          <p:cNvSpPr/>
          <p:nvPr/>
        </p:nvSpPr>
        <p:spPr>
          <a:xfrm>
            <a:off x="457200" y="208483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  Were you surprised that the ice-water trial (Trial 2) showed equal masses? What did you expect — and what does the data tell you about ice vs. water?</a:t>
            </a:r>
            <a:endParaRPr lang="en-US" sz="1400" dirty="0"/>
          </a:p>
        </p:txBody>
      </p:sp>
      <p:sp>
        <p:nvSpPr>
          <p:cNvPr id="10" name="Shape 8"/>
          <p:cNvSpPr/>
          <p:nvPr/>
        </p:nvSpPr>
        <p:spPr>
          <a:xfrm>
            <a:off x="365760" y="2761488"/>
            <a:ext cx="8412480" cy="658368"/>
          </a:xfrm>
          <a:prstGeom prst="rect">
            <a:avLst/>
          </a:prstGeom>
          <a:solidFill>
            <a:srgbClr val="1A3A5C"/>
          </a:solidFill>
          <a:ln w="12700">
            <a:solidFill>
              <a:srgbClr val="1A3A5C"/>
            </a:solidFill>
            <a:prstDash val="solid"/>
          </a:ln>
        </p:spPr>
      </p:sp>
      <p:sp>
        <p:nvSpPr>
          <p:cNvPr id="11" name="Text 9"/>
          <p:cNvSpPr/>
          <p:nvPr/>
        </p:nvSpPr>
        <p:spPr>
          <a:xfrm>
            <a:off x="457200" y="281635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3.  Write 2–3 sentences: how do your three trials together prove that physical changes conserve matter — using specific evidence from your data?</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47548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Lesson 8.02 — Submission Checklist</a:t>
            </a:r>
            <a:endParaRPr lang="en-US" sz="2800" dirty="0"/>
          </a:p>
        </p:txBody>
      </p:sp>
      <p:sp>
        <p:nvSpPr>
          <p:cNvPr id="5" name="Shape 3"/>
          <p:cNvSpPr/>
          <p:nvPr/>
        </p:nvSpPr>
        <p:spPr>
          <a:xfrm>
            <a:off x="365760" y="1115568"/>
            <a:ext cx="8412480" cy="521208"/>
          </a:xfrm>
          <a:prstGeom prst="rect">
            <a:avLst/>
          </a:prstGeom>
          <a:solidFill>
            <a:srgbClr val="2C4A6E"/>
          </a:solidFill>
          <a:ln w="12700">
            <a:solidFill>
              <a:srgbClr val="2C4A6E"/>
            </a:solidFill>
            <a:prstDash val="solid"/>
          </a:ln>
        </p:spPr>
      </p:sp>
      <p:sp>
        <p:nvSpPr>
          <p:cNvPr id="6" name="Text 4"/>
          <p:cNvSpPr/>
          <p:nvPr/>
        </p:nvSpPr>
        <p:spPr>
          <a:xfrm>
            <a:off x="457200" y="117043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A — Data table: all 6 measurements filled in. Bar graph: 2 bars per trial, axes labeled.</a:t>
            </a:r>
            <a:endParaRPr lang="en-US" sz="1300" dirty="0"/>
          </a:p>
        </p:txBody>
      </p:sp>
      <p:sp>
        <p:nvSpPr>
          <p:cNvPr id="7" name="Shape 5"/>
          <p:cNvSpPr/>
          <p:nvPr/>
        </p:nvSpPr>
        <p:spPr>
          <a:xfrm>
            <a:off x="365760" y="1709928"/>
            <a:ext cx="8412480" cy="521208"/>
          </a:xfrm>
          <a:prstGeom prst="rect">
            <a:avLst/>
          </a:prstGeom>
          <a:solidFill>
            <a:srgbClr val="2C4A6E"/>
          </a:solidFill>
          <a:ln w="12700">
            <a:solidFill>
              <a:srgbClr val="2C4A6E"/>
            </a:solidFill>
            <a:prstDash val="solid"/>
          </a:ln>
        </p:spPr>
      </p:sp>
      <p:sp>
        <p:nvSpPr>
          <p:cNvPr id="8" name="Text 6"/>
          <p:cNvSpPr/>
          <p:nvPr/>
        </p:nvSpPr>
        <p:spPr>
          <a:xfrm>
            <a:off x="457200" y="176479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B — Three questions answered; includes explanation of what unequal bars would mean.</a:t>
            </a:r>
            <a:endParaRPr lang="en-US" sz="1300" dirty="0"/>
          </a:p>
        </p:txBody>
      </p:sp>
      <p:sp>
        <p:nvSpPr>
          <p:cNvPr id="9" name="Shape 7"/>
          <p:cNvSpPr/>
          <p:nvPr/>
        </p:nvSpPr>
        <p:spPr>
          <a:xfrm>
            <a:off x="365760" y="2304288"/>
            <a:ext cx="8412480" cy="521208"/>
          </a:xfrm>
          <a:prstGeom prst="rect">
            <a:avLst/>
          </a:prstGeom>
          <a:solidFill>
            <a:srgbClr val="2C4A6E"/>
          </a:solidFill>
          <a:ln w="12700">
            <a:solidFill>
              <a:srgbClr val="2C4A6E"/>
            </a:solidFill>
            <a:prstDash val="solid"/>
          </a:ln>
        </p:spPr>
      </p:sp>
      <p:sp>
        <p:nvSpPr>
          <p:cNvPr id="10" name="Text 8"/>
          <p:cNvSpPr/>
          <p:nvPr/>
        </p:nvSpPr>
        <p:spPr>
          <a:xfrm>
            <a:off x="457200" y="235915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C — CER: claim + 6 specific mass values as evidence + sealed-system reasoning.</a:t>
            </a:r>
            <a:endParaRPr lang="en-US" sz="1300" dirty="0"/>
          </a:p>
        </p:txBody>
      </p:sp>
      <p:sp>
        <p:nvSpPr>
          <p:cNvPr id="11" name="Shape 9"/>
          <p:cNvSpPr/>
          <p:nvPr/>
        </p:nvSpPr>
        <p:spPr>
          <a:xfrm>
            <a:off x="365760" y="2898648"/>
            <a:ext cx="8412480" cy="521208"/>
          </a:xfrm>
          <a:prstGeom prst="rect">
            <a:avLst/>
          </a:prstGeom>
          <a:solidFill>
            <a:srgbClr val="2C4A6E"/>
          </a:solidFill>
          <a:ln w="12700">
            <a:solidFill>
              <a:srgbClr val="2C4A6E"/>
            </a:solidFill>
            <a:prstDash val="solid"/>
          </a:ln>
        </p:spPr>
      </p:sp>
      <p:sp>
        <p:nvSpPr>
          <p:cNvPr id="12" name="Text 10"/>
          <p:cNvSpPr/>
          <p:nvPr/>
        </p:nvSpPr>
        <p:spPr>
          <a:xfrm>
            <a:off x="457200" y="295351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Revise Your Thinking — 2–3 sentences connecting data to conservation, with numbers.</a:t>
            </a:r>
            <a:endParaRPr lang="en-US" sz="1300" dirty="0"/>
          </a:p>
        </p:txBody>
      </p:sp>
      <p:sp>
        <p:nvSpPr>
          <p:cNvPr id="13" name="Shape 11"/>
          <p:cNvSpPr/>
          <p:nvPr/>
        </p:nvSpPr>
        <p:spPr>
          <a:xfrm>
            <a:off x="365760" y="3493008"/>
            <a:ext cx="8412480" cy="521208"/>
          </a:xfrm>
          <a:prstGeom prst="rect">
            <a:avLst/>
          </a:prstGeom>
          <a:solidFill>
            <a:srgbClr val="2C4A6E"/>
          </a:solidFill>
          <a:ln w="12700">
            <a:solidFill>
              <a:srgbClr val="2C4A6E"/>
            </a:solidFill>
            <a:prstDash val="solid"/>
          </a:ln>
        </p:spPr>
      </p:sp>
      <p:sp>
        <p:nvSpPr>
          <p:cNvPr id="14" name="Text 12"/>
          <p:cNvSpPr/>
          <p:nvPr/>
        </p:nvSpPr>
        <p:spPr>
          <a:xfrm>
            <a:off x="457200" y="354787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Vocab check — mass, conservation, sealed system, before/after, physical change used accurately.</a:t>
            </a:r>
            <a:endParaRPr lang="en-US" sz="1300" dirty="0"/>
          </a:p>
        </p:txBody>
      </p:sp>
      <p:sp>
        <p:nvSpPr>
          <p:cNvPr id="15" name="Text 13"/>
          <p:cNvSpPr/>
          <p:nvPr/>
        </p:nvSpPr>
        <p:spPr>
          <a:xfrm>
            <a:off x="365760" y="4224528"/>
            <a:ext cx="8412480" cy="347472"/>
          </a:xfrm>
          <a:prstGeom prst="rect">
            <a:avLst/>
          </a:prstGeom>
          <a:noFill/>
          <a:ln/>
        </p:spPr>
        <p:txBody>
          <a:bodyPr wrap="square" lIns="0" tIns="0" rIns="0" bIns="0" rtlCol="0" anchor="ctr"/>
          <a:lstStyle/>
          <a:p>
            <a:pPr algn="l" indent="0" marL="0">
              <a:buNone/>
            </a:pPr>
            <a:r>
              <a:rPr lang="en-US" sz="1300" dirty="0">
                <a:solidFill>
                  <a:srgbClr val="F6C90E"/>
                </a:solidFill>
                <a:latin typeface="Calibri" pitchFamily="34" charset="0"/>
                <a:ea typeface="Calibri" pitchFamily="34" charset="-122"/>
                <a:cs typeface="Calibri" pitchFamily="34" charset="-120"/>
              </a:rPr>
              <a:t>Unit 2 — Matter is complete. Outstanding work this quarter!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8.02 — Investigation: Mass Before and After Change</dc:title>
  <dc:subject>PptxGenJS Presentation</dc:subject>
  <dc:creator>PptxGenJS</dc:creator>
  <cp:lastModifiedBy>PptxGenJS</cp:lastModifiedBy>
  <cp:revision>1</cp:revision>
  <dcterms:created xsi:type="dcterms:W3CDTF">2026-07-16T18:50:52Z</dcterms:created>
  <dcterms:modified xsi:type="dcterms:W3CDTF">2026-07-16T18:50:52Z</dcterms:modified>
</cp:coreProperties>
</file>