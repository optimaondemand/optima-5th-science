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Introduce the lesson title and the three I Can statements. Ask students to hold those goals in mind as they work through today's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scenario aloud. Give students 30 seconds of quiet thinking before taking responses.
Follow-up: "What makes you say that?" / "Can you say more?" / "Does anyone see it differently?"
Don't answer yet — just surface observations and questions. The goal is curiosity, not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2-3 minutes to write. This is a real prediction they'll revisit.
Ask 2-3 students to share before moving on. Don't reveal the "answer" — just validate that both sides have interesting reasoning.
Follow-up move: "What specific words in Student B's notes gave you that idea?"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both cards at the same time.
Ask: "Look at Student B's notes — which parts are observations? Which parts might be inferences?"
Copywork sentence is brief — it captures the whole lesson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"Why are clouds beautiful?" — not testable. Beauty is an opinion.
"Do clouds form more often in the morning or afternoon?" — testable! You could watch the sky for a week and count.
Ask: "What would you need to DO to answer a testable question?"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take 2-3 answers on each Stop and Think. Push back gently: "What would it take to turn that inference INTO an observation?"
Follow-up: "What does this tell us about why Student B was thinking more like a scientist?"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 together. Point to each item and ask "how do we know this is an observation?" and "what makes this an inference?"
The words must/probably/because are the tell. Write those on the board or in a shared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2-3 minutes to copy the table and begin sorting before whole-class discussion.
Circulate and look for interesting reasoning to highlight.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Observations: 1, 3, 5 — can be seen, measured, or counted.
Inferences: 2, 4, 6 — guesses about meaning, use "must," "scared," "probably."
Don't reveal answers until students have written their own sort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students share their testable questions, highlight 2-3 that are strong.
Ask: "How could we actually test that question? What would we observe or measure?"
Follow-up: "Would everyone reach the same conclusion from this data? Why or why not?"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Discuss &amp; Defend questions from the HTML lesson — use them here before students see the assignment.
Insist on evidence: "What specifically in Sam's notebook makes you say that?"
Follow-up moves: "Who can add on?" / "What would change your mind?"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say their Claim aloud to a partner first — 60 seconds.
Then share Evidence + Reasoning with the class.
This is exactly the CER frame from the assignment — students are practicing it live right now.
Remind them: "You'll use these same sentence starters in your written assignment."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Connecting back to Student B from slide 2 — her notebook is already building evidence.
Ask: "What would make Student B's notes even MORE useful ten years from now?"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vote before you reveal. Ask a wrong-choice student: "What made you think A or C?" — it's useful to surface the reasoning.
"The dog looks happy" — looks is vague and emotional, not measurable.
"Wagging its tail" — precise, observable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(2 cm, three days) are observations — measurable, repeatable.
"Must like its new spot" — the word "must" is the inference signal.
Ask: "What observation would you need to actually SUPPORT the idea that the plant likes this spot?"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discussion — 1-2 minutes.
Key takeaway: specific, measurable observations age well. Vague impressions don't.
Ask: "What does this tell us about the notebook YOU'll keep this year?"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both parts briefly — 60 seconds each.
Students have already done Part A's thinking on slide 7, and Part B's thinking on slides 9-10.
This should feel familiar, not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just did this live on Slide 12 — remind them: "You already practiced this. Your written response uses the same sentence starters."
The expectation is 4-6 sentences — three parts, briefly developed.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2-3 minutes for students to write this reflection before the closing.
Ask 1-2 students to share how their thinking changed.
"What is the most important thing you learned today that you didn't know before?"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the checklist together. Ask: "Does anyone have a question about what's expected?"
Remind students they can type, photo, or record their answers in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1.01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Scientist Do?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1 — Practice of Science   |   Week 1   |   SC.5.N.1.1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I can…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496312"/>
            <a:ext cx="8010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Tell the difference between an observation and an inference.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3090672"/>
            <a:ext cx="8010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Support an idea with evidence from what I observed.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3685032"/>
            <a:ext cx="8010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Write a testable question about something I notice.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Grade Science  ·  Optima Academy Online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Kids. One Shell. Two Very Different Notebooks.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18288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2296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walk past the same shell on the beach.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 says: "Pretty shell. Someone must have dropped it."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 writes: "White. About the size of my thumb. Two small cracks on the outside. Rough on the inside."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090672"/>
            <a:ext cx="84124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3163824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about how these two students responded?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621024"/>
            <a:ext cx="84124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3694176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wonder about why they reacted so differently?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645920" cy="292608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student is thinking more like a scientist?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80160"/>
            <a:ext cx="38039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"Pretty shell. Someone must have dropped it."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07008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280160"/>
            <a:ext cx="38039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"White. About thumb-sized. Two small cracks. Rough inside."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611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Science Notebook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9136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student is starting to think like a scientist, and how can you tell? Write at least two sentences. Use evidence from their words.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come back to your prediction at the end of the lesson.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words that scientists keep separate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2743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notice using your senses or measurements.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you can describe, count, or measure.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shell has two cracks."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You can see it. You can count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931920" cy="274320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 about what an observation means.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guess built from what you observed.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697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"Someone dropped this shell here."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127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 guess. You can't see it directly.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9776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→ In your science notebook: "An observation is what I notice. An inference is what I think it means."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an idea worth defending?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2560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or data that help support or test an idea.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what backs up your thinking.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"Six of its eight leaves are brown."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2560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QUESTION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you can answer by collecting data, doing a test, or observing something carefully.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clouds form more often in the morning?"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794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"Why are clouds beautiful?" — testable or not? What about: "Do clouds form more in the morning or afternoon?"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3251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(Hint: can you collect data or run a test to find out?)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scientists keep them separate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solidFill>
            <a:srgbClr val="0D5E5D"/>
          </a:solidFill>
          <a:ln w="12700">
            <a:solidFill>
              <a:srgbClr val="0D5E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with two cracks could have been dropped — or bumped by waves — or stepped on by a bird.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more evidence, you can't be sure. That's why scientists separate what they see from what they think it means.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puddle is bigger than it was yesterday." — Observation or inference?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must have rained last night." — Observation or inference? How do you know?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7307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Reason: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1: "The plant looks sad." / Friend 2: "Six of eight leaves are brown, soil dry for five days."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claim is stronger? Why?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Scientist's Notebook: Two Columns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70432"/>
            <a:ext cx="3712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OBSERVATIONS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56048" y="1170432"/>
            <a:ext cx="3712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INFERENCES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655064"/>
            <a:ext cx="37124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shell has two cracks"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Something I can see or measure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267712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340864"/>
            <a:ext cx="37124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water feels cold"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Something I can see or measure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53512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026664"/>
            <a:ext cx="37124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leaf is 4 cm long"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Something I can see or measure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581912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56048" y="1655064"/>
            <a:ext cx="37124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"Someone dropped it"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 idea I can't see directly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267712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56048" y="2340864"/>
            <a:ext cx="37124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fish must be cold too"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 idea I can't see directly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953512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3026664"/>
            <a:ext cx="37124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young because it's small"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 idea I can't see directly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840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pattern: observations use measurable facts. Inferences use words like "must," "probably," or "because."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Sam's Notebook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5th grader named Sam was watching a small lizard on a sidewalk and wrote six things in his notebook. Some are observations. Some are inferences.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 Sort them out — and figure out WHY it matters.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8412480" cy="4572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221992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Copy the table into your science notebook.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79192"/>
            <a:ext cx="8412480" cy="4572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752344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For each note, decide: Observation or Inference?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209544"/>
            <a:ext cx="8412480" cy="4572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3282696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Look for the pattern — what do observations have in common?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739896"/>
            <a:ext cx="8412480" cy="4572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813048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Turn one inference into a testable question.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SAM'S NOTEBOOK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 or Inference? You Decide.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384048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972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024128"/>
            <a:ext cx="658368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1097280"/>
            <a:ext cx="6364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Sam Wrote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88352" y="1024128"/>
            <a:ext cx="1389888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0" y="109728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or Inf?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417320"/>
            <a:ext cx="384048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1490472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1417320"/>
            <a:ext cx="6583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1490472"/>
            <a:ext cx="6364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lizard is brown with darker stripes on its back."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88352" y="1417320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149047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1901952"/>
            <a:ext cx="384048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1975104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1901952"/>
            <a:ext cx="6583680" cy="4572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1975104"/>
            <a:ext cx="6364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must be hot, because the lizard is staying still."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88352" y="1901952"/>
            <a:ext cx="1389888" cy="4572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19751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386584"/>
            <a:ext cx="384048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245973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2386584"/>
            <a:ext cx="6583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" y="2459736"/>
            <a:ext cx="6364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is about 4 inches long, from nose to tail."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88352" y="2386584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0" y="245973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2871216"/>
            <a:ext cx="384048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" y="2944368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" y="2871216"/>
            <a:ext cx="6583680" cy="4572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86968" y="2944368"/>
            <a:ext cx="6364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lizard is scared of me."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88352" y="2871216"/>
            <a:ext cx="1389888" cy="4572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98080" y="294436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3355848"/>
            <a:ext cx="384048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" y="342900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7240" y="3355848"/>
            <a:ext cx="6583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86968" y="3429000"/>
            <a:ext cx="6364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blinked twice in ten seconds."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388352" y="3355848"/>
            <a:ext cx="13898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98080" y="342900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5760" y="3840480"/>
            <a:ext cx="384048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5488" y="3913632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77240" y="3840480"/>
            <a:ext cx="6583680" cy="4572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86968" y="3913632"/>
            <a:ext cx="6364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probably eats bugs from the garden."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388352" y="3840480"/>
            <a:ext cx="1389888" cy="4572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498080" y="391363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for the Pattern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09728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16152"/>
            <a:ext cx="877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1143000"/>
            <a:ext cx="7269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18488" y="1216152"/>
            <a:ext cx="7050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notes you marked as observations. What do they have in common?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1097280" cy="82296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176272"/>
            <a:ext cx="877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08760" y="2103120"/>
            <a:ext cx="7269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18488" y="2176272"/>
            <a:ext cx="7050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look at the inferences. What words tip you off — words like "must," "probably," or "because"?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1097280" cy="8229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136392"/>
            <a:ext cx="877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ONE AROUND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08760" y="3063240"/>
            <a:ext cx="7269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18488" y="3136392"/>
            <a:ext cx="7050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of Sam's inferences. Rewrite it as a testable question.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"Do lizards stay still when it gets hotter?"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069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"must," "probably," "scared," and "because" are your clues — they show you're making a guess, not a measurement.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Sam's Notebook as Your Evidence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09728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88720"/>
            <a:ext cx="8193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classmate says: Observations and inferences are basically the same — it doesn't matter which is which."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say back? Use Sam's notebook as your evidence.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304288"/>
            <a:ext cx="8412480" cy="9144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377440"/>
            <a:ext cx="8193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of Sam's six notes would be most useful to a different scientist a year from now? Which would be least useful? Why?"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"I think ___ is most useful because the evidence shows ___."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7673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 for 30 seconds — then be ready to defend your answer.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practice explaining our thinking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 for scientists to keep observations and inferences separate?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Sam's notebook to support your answer.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371600" cy="7498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856232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783080"/>
            <a:ext cx="6995160" cy="74980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78308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is true?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"Scientists keep observations and inferences separate because…"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24328"/>
            <a:ext cx="1371600" cy="7498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69748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2624328"/>
            <a:ext cx="6995160" cy="74980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62432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from Sam's notebook supports your claim?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Sam's notebook, I noticed that…"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65576"/>
            <a:ext cx="1371600" cy="749808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3538728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83080" y="3465576"/>
            <a:ext cx="6995160" cy="74980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3465576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evidence support your claim?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shows that observations are stronger evidence because…"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try to use observation, inference, evidence, testable question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46304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Evidence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88720"/>
            <a:ext cx="81930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what scientists use to back up their ideas. The more careful your observations, the stronger your evidence becomes.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scientist doesn't say "I think the leaves are turning yellow." They write down the dates, the colors, and the counts — so anyone could check.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base an idea on evidence, you can defend it.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944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7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base it on a guess, someone can easily push back.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4015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Connection: Park rangers and field biologists keep notebooks just like yours. Every careful observation they write today might become evidence in a study someone uses ten years from now.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check our thinking together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Which sentence below is an observation, not an inference?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581912"/>
            <a:ext cx="81930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"The dog looks happy."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8412480" cy="5943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267712"/>
            <a:ext cx="81930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"The dog is wagging its tail."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8412480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953512"/>
            <a:ext cx="81930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"The dog probably wants to play."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3611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"Wagging its tail" is something you can see and count — a clean observation. The other two are guesses about what the dog is feeling.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scientist writes: "The plant grew 2 cm in three days. It must like its new spot."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Which part is the inference?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8412480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700784"/>
            <a:ext cx="81930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"The plant grew 2 cm."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8412480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386584"/>
            <a:ext cx="81930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"…in three days."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8412480" cy="5943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3072384"/>
            <a:ext cx="81930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"It must like its new spot."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37307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"Must like its new spot" is a guess about WHY the plant grew. The measurements (2 cm, three days) are the observations — they can be verified.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Charles Darwin kept field notebooks for almost 50 years.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399032"/>
            <a:ext cx="819302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his sketches and notes from a single beetle on a single afternoon are still being used by scientists today — almost 200 years later.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scientists still mostly use paper notebooks in the field. They don't run out of battery. They survive rain. And you can flip back through 40 years of data in a minute.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Further: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218688"/>
            <a:ext cx="8412480" cy="47548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3291840"/>
            <a:ext cx="8193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Darwin's notes so useful for future scientists?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767328"/>
            <a:ext cx="8412480" cy="47548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3840480"/>
            <a:ext cx="8193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 had written "the beetle was interesting" instead of exact measurements — what would be lost?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Do on Your Own — Parts A &amp; 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640080" cy="1691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88720"/>
            <a:ext cx="42062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51560" y="1115568"/>
            <a:ext cx="7726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61288" y="1188720"/>
            <a:ext cx="750722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DIFFERENCE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one object you can see right now. Draw a vertical line down the page. Left side: 3 observations. Right side: 2 inferences. Below: one sentence explaining the difference.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07792"/>
            <a:ext cx="640080" cy="15727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980944"/>
            <a:ext cx="4206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051560" y="2907792"/>
            <a:ext cx="7726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61288" y="2980944"/>
            <a:ext cx="75072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QUESTIONS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is Sam's "4 inches long" note strong evidence? (use "measure")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would you need to observe to test "the lizard is scared"?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words showed you which notes were inferences?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C — Your Written CER Response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 for scientists to keep observations and inferences separate? Use Sam's notebook to support your answer. Aim for 4–6 sentences total.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371600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856232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83080" y="1783080"/>
            <a:ext cx="6995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92808" y="1856232"/>
            <a:ext cx="6775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"Scientists keep observations and inferences separate because…"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13716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606040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83080" y="2532888"/>
            <a:ext cx="6995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92808" y="2606040"/>
            <a:ext cx="6775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Sam's notebook, I noticed that…"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282696"/>
            <a:ext cx="1371600" cy="658368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335584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83080" y="3282696"/>
            <a:ext cx="6995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92808" y="3355848"/>
            <a:ext cx="6775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shows that observations are stronger evidence because…"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069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2 of: observation · inference · evidence · testable question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back to your prediction from the start.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predicted which student was thinking like a scientist. Now that you know more…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621792"/>
          </a:xfrm>
          <a:prstGeom prst="rect">
            <a:avLst/>
          </a:prstGeom>
          <a:solidFill>
            <a:srgbClr val="0D5E5D"/>
          </a:solidFill>
          <a:ln w="12700">
            <a:solidFill>
              <a:srgbClr val="0D5E5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645920"/>
            <a:ext cx="8193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predict at the start? Was it accurate?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621792"/>
          </a:xfrm>
          <a:prstGeom prst="rect">
            <a:avLst/>
          </a:prstGeom>
          <a:solidFill>
            <a:srgbClr val="0D5E5D"/>
          </a:solidFill>
          <a:ln w="12700">
            <a:solidFill>
              <a:srgbClr val="0D5E5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359152"/>
            <a:ext cx="8193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from the lesson changed or confirmed your thinking?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8412480" cy="621792"/>
          </a:xfrm>
          <a:prstGeom prst="rect">
            <a:avLst/>
          </a:prstGeom>
          <a:solidFill>
            <a:srgbClr val="0D5E5D"/>
          </a:solidFill>
          <a:ln w="12700">
            <a:solidFill>
              <a:srgbClr val="0D5E5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3072384"/>
            <a:ext cx="8193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your final explanation more complete than your first prediction?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37947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sentences in your notebook. Be honest — it's fine if your thinking changed completely.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Turn In — Lesson 1.01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70432"/>
            <a:ext cx="8193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  Sketch with two-column sides: 3 observations left, 2 inferences right + one explanation sentence underneath.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764792"/>
            <a:ext cx="8193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 All three evidence questions answered in complete sentences, citing words from Sam's notebook.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359152"/>
            <a:ext cx="8193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  CER response: Claim + Evidence from Sam's notebook + Reasoning. 4–6 sentences total.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953512"/>
            <a:ext cx="8193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Revise Your Thinking  3–4 sentences: prediction, what changed, how your explanation improved.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547872"/>
            <a:ext cx="8193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Vocab Check  At least 2 lesson words used accurately anywhere in your response.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Lesson 1.02 — Observing Like a Scientist (you'll take your own specimen notes!)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1.01 — What Does a Scientist Do?</dc:title>
  <dc:subject>PptxGenJS Presentation</dc:subject>
  <dc:creator>PptxGenJS</dc:creator>
  <cp:lastModifiedBy>PptxGenJS</cp:lastModifiedBy>
  <cp:revision>1</cp:revision>
  <dcterms:created xsi:type="dcterms:W3CDTF">2026-07-16T17:40:46Z</dcterms:created>
  <dcterms:modified xsi:type="dcterms:W3CDTF">2026-07-16T17:40:46Z</dcterms:modified>
</cp:coreProperties>
</file>