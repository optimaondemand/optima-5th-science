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Engage. Let students write a number before any discussion.
Follow-up moves: "What makes you say that?" / "Can you say more?" / "Does anyone see it differently?" / "Who can add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Prediction. Students commit to specific numbers before testing.
Follow-up moves: "What makes you say that?" / "Can you say more?" /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Key Concept. After teaching surface tension, ask students if their predictions have changed.
Follow-up moves: "What makes you say that?" / "Can you say more?" / "Does anyone see it differently?" / "Who can add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Discuss &amp; Defend.
Follow-up moves: "What makes you say that?" / "Can you say more?" / "Does anyone see it differently?" / "Who can add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Scientist Talk (CER).
Follow-up moves: "What makes you say that?" / "Can you say more?" / "Does anyone see it differently?" / "Who can add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Self-Check Q1.
Follow-up moves: "What makes you say that?" / "Can you say more?" /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Self-Check Q2.
Follow-up moves: "What makes you say that?" / "Can you say more?" /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Text 1"/>
          <p:cNvSpPr/>
          <p:nvPr/>
        </p:nvSpPr>
        <p:spPr>
          <a:xfrm>
            <a:off x="457200" y="365760"/>
            <a:ext cx="8229600" cy="411480"/>
          </a:xfrm>
          <a:prstGeom prst="rect">
            <a:avLst/>
          </a:prstGeom>
          <a:noFill/>
          <a:ln/>
        </p:spPr>
        <p:txBody>
          <a:bodyPr wrap="square" rtlCol="0" anchor="ctr"/>
          <a:lstStyle/>
          <a:p>
            <a:pPr indent="0" marL="0">
              <a:buNone/>
            </a:pPr>
            <a:r>
              <a:rPr lang="en-US" sz="1600" b="1" dirty="0">
                <a:solidFill>
                  <a:srgbClr val="F6C90E"/>
                </a:solidFill>
                <a:latin typeface="Calibri" pitchFamily="34" charset="0"/>
                <a:ea typeface="Calibri" pitchFamily="34" charset="-122"/>
                <a:cs typeface="Calibri" pitchFamily="34" charset="-120"/>
              </a:rPr>
              <a:t>Lesson 2.02</a:t>
            </a:r>
            <a:endParaRPr lang="en-US" sz="1600" dirty="0"/>
          </a:p>
        </p:txBody>
      </p:sp>
      <p:sp>
        <p:nvSpPr>
          <p:cNvPr id="4" name="Text 2"/>
          <p:cNvSpPr/>
          <p:nvPr/>
        </p:nvSpPr>
        <p:spPr>
          <a:xfrm>
            <a:off x="457200" y="822960"/>
            <a:ext cx="8229600" cy="9144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Investigation: Plan, Test, Compare, Defend</a:t>
            </a:r>
            <a:endParaRPr lang="en-US" sz="3400" dirty="0"/>
          </a:p>
        </p:txBody>
      </p:sp>
      <p:sp>
        <p:nvSpPr>
          <p:cNvPr id="5" name="Shape 3"/>
          <p:cNvSpPr/>
          <p:nvPr/>
        </p:nvSpPr>
        <p:spPr>
          <a:xfrm>
            <a:off x="457200" y="1874520"/>
            <a:ext cx="8229600" cy="320040"/>
          </a:xfrm>
          <a:prstGeom prst="rect">
            <a:avLst/>
          </a:prstGeom>
          <a:solidFill>
            <a:srgbClr val="2C4A6E"/>
          </a:solidFill>
          <a:ln w="12700">
            <a:solidFill>
              <a:srgbClr val="2C4A6E"/>
            </a:solidFill>
            <a:prstDash val="solid"/>
          </a:ln>
        </p:spPr>
      </p:sp>
      <p:sp>
        <p:nvSpPr>
          <p:cNvPr id="6" name="Text 4"/>
          <p:cNvSpPr/>
          <p:nvPr/>
        </p:nvSpPr>
        <p:spPr>
          <a:xfrm>
            <a:off x="548640" y="1929384"/>
            <a:ext cx="8046720" cy="21031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Q1 · Unit 1 — Practice of Science  |  Week 2  |  SC.5.N.1.1</a:t>
            </a:r>
            <a:endParaRPr lang="en-US" sz="1200" dirty="0"/>
          </a:p>
        </p:txBody>
      </p:sp>
      <p:sp>
        <p:nvSpPr>
          <p:cNvPr id="7" name="Text 5"/>
          <p:cNvSpPr/>
          <p:nvPr/>
        </p:nvSpPr>
        <p:spPr>
          <a:xfrm>
            <a:off x="457200" y="2331720"/>
            <a:ext cx="1828800" cy="27432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I Can…</a:t>
            </a:r>
            <a:endParaRPr lang="en-US" sz="1200" dirty="0"/>
          </a:p>
        </p:txBody>
      </p:sp>
      <p:sp>
        <p:nvSpPr>
          <p:cNvPr id="8" name="Shape 6"/>
          <p:cNvSpPr/>
          <p:nvPr/>
        </p:nvSpPr>
        <p:spPr>
          <a:xfrm>
            <a:off x="457200" y="2633472"/>
            <a:ext cx="8229600" cy="438912"/>
          </a:xfrm>
          <a:prstGeom prst="rect">
            <a:avLst/>
          </a:prstGeom>
          <a:solidFill>
            <a:srgbClr val="2C4A6E"/>
          </a:solidFill>
          <a:ln w="12700">
            <a:solidFill>
              <a:srgbClr val="2C4A6E"/>
            </a:solidFill>
            <a:prstDash val="solid"/>
          </a:ln>
        </p:spPr>
      </p:sp>
      <p:sp>
        <p:nvSpPr>
          <p:cNvPr id="9" name="Text 7"/>
          <p:cNvSpPr/>
          <p:nvPr/>
        </p:nvSpPr>
        <p:spPr>
          <a:xfrm>
            <a:off x="548640" y="2688336"/>
            <a:ext cx="804672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1.  Plan and run a fair test with controlled variables.</a:t>
            </a:r>
            <a:endParaRPr lang="en-US" sz="1300" dirty="0"/>
          </a:p>
        </p:txBody>
      </p:sp>
      <p:sp>
        <p:nvSpPr>
          <p:cNvPr id="10" name="Shape 8"/>
          <p:cNvSpPr/>
          <p:nvPr/>
        </p:nvSpPr>
        <p:spPr>
          <a:xfrm>
            <a:off x="457200" y="3108960"/>
            <a:ext cx="8229600" cy="438912"/>
          </a:xfrm>
          <a:prstGeom prst="rect">
            <a:avLst/>
          </a:prstGeom>
          <a:solidFill>
            <a:srgbClr val="2C4A6E"/>
          </a:solidFill>
          <a:ln w="12700">
            <a:solidFill>
              <a:srgbClr val="2C4A6E"/>
            </a:solidFill>
            <a:prstDash val="solid"/>
          </a:ln>
        </p:spPr>
      </p:sp>
      <p:sp>
        <p:nvSpPr>
          <p:cNvPr id="11" name="Text 9"/>
          <p:cNvSpPr/>
          <p:nvPr/>
        </p:nvSpPr>
        <p:spPr>
          <a:xfrm>
            <a:off x="548640" y="3163824"/>
            <a:ext cx="804672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2.  Collect data in a table across repeated trials.</a:t>
            </a:r>
            <a:endParaRPr lang="en-US" sz="1300" dirty="0"/>
          </a:p>
        </p:txBody>
      </p:sp>
      <p:sp>
        <p:nvSpPr>
          <p:cNvPr id="12" name="Shape 10"/>
          <p:cNvSpPr/>
          <p:nvPr/>
        </p:nvSpPr>
        <p:spPr>
          <a:xfrm>
            <a:off x="457200" y="3584448"/>
            <a:ext cx="8229600" cy="438912"/>
          </a:xfrm>
          <a:prstGeom prst="rect">
            <a:avLst/>
          </a:prstGeom>
          <a:solidFill>
            <a:srgbClr val="2C4A6E"/>
          </a:solidFill>
          <a:ln w="12700">
            <a:solidFill>
              <a:srgbClr val="2C4A6E"/>
            </a:solidFill>
            <a:prstDash val="solid"/>
          </a:ln>
        </p:spPr>
      </p:sp>
      <p:sp>
        <p:nvSpPr>
          <p:cNvPr id="13" name="Text 11"/>
          <p:cNvSpPr/>
          <p:nvPr/>
        </p:nvSpPr>
        <p:spPr>
          <a:xfrm>
            <a:off x="548640" y="3639312"/>
            <a:ext cx="804672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3.  Defend a conclusion using evidence I collected.</a:t>
            </a:r>
            <a:endParaRPr lang="en-US" sz="1300" dirty="0"/>
          </a:p>
        </p:txBody>
      </p:sp>
      <p:sp>
        <p:nvSpPr>
          <p:cNvPr id="14" name="Shape 12"/>
          <p:cNvSpPr/>
          <p:nvPr/>
        </p:nvSpPr>
        <p:spPr>
          <a:xfrm>
            <a:off x="0" y="4800600"/>
            <a:ext cx="9144000" cy="347472"/>
          </a:xfrm>
          <a:prstGeom prst="rect">
            <a:avLst/>
          </a:prstGeom>
          <a:solidFill>
            <a:srgbClr val="2E86AB"/>
          </a:solidFill>
          <a:ln w="12700">
            <a:solidFill>
              <a:srgbClr val="2E86AB"/>
            </a:solidFill>
            <a:prstDash val="solid"/>
          </a:ln>
        </p:spPr>
      </p:sp>
      <p:sp>
        <p:nvSpPr>
          <p:cNvPr id="15" name="Text 13"/>
          <p:cNvSpPr/>
          <p:nvPr/>
        </p:nvSpPr>
        <p:spPr>
          <a:xfrm>
            <a:off x="0" y="4800600"/>
            <a:ext cx="9144000" cy="34747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Optima Academy Online  ·  5th Grade Science  ·  Week 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74320"/>
            <a:ext cx="1440180" cy="274320"/>
          </a:xfrm>
          <a:prstGeom prst="rect">
            <a:avLst/>
          </a:prstGeom>
          <a:solidFill>
            <a:srgbClr val="0E7C7B"/>
          </a:solidFill>
          <a:ln w="12700">
            <a:solidFill>
              <a:srgbClr val="0E7C7B"/>
            </a:solidFill>
            <a:prstDash val="solid"/>
          </a:ln>
        </p:spPr>
      </p:sp>
      <p:sp>
        <p:nvSpPr>
          <p:cNvPr id="4" name="Text 2"/>
          <p:cNvSpPr/>
          <p:nvPr/>
        </p:nvSpPr>
        <p:spPr>
          <a:xfrm>
            <a:off x="457200" y="274320"/>
            <a:ext cx="14401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 &amp; WONDER</a:t>
            </a:r>
            <a:endParaRPr lang="en-US" sz="1000" dirty="0"/>
          </a:p>
        </p:txBody>
      </p:sp>
      <p:sp>
        <p:nvSpPr>
          <p:cNvPr id="5" name="Text 3"/>
          <p:cNvSpPr/>
          <p:nvPr/>
        </p:nvSpPr>
        <p:spPr>
          <a:xfrm>
            <a:off x="457200" y="685800"/>
            <a:ext cx="8229600" cy="5943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How Many Drops Can a Penny Hold?</a:t>
            </a:r>
            <a:endParaRPr lang="en-US" sz="2800" dirty="0"/>
          </a:p>
        </p:txBody>
      </p:sp>
      <p:sp>
        <p:nvSpPr>
          <p:cNvPr id="6" name="Shape 4"/>
          <p:cNvSpPr/>
          <p:nvPr/>
        </p:nvSpPr>
        <p:spPr>
          <a:xfrm>
            <a:off x="457200" y="1417320"/>
            <a:ext cx="8229600" cy="804672"/>
          </a:xfrm>
          <a:prstGeom prst="rect">
            <a:avLst/>
          </a:prstGeom>
          <a:solidFill>
            <a:srgbClr val="2C4A6E"/>
          </a:solidFill>
          <a:ln w="12700">
            <a:solidFill>
              <a:srgbClr val="2C4A6E"/>
            </a:solidFill>
            <a:prstDash val="solid"/>
          </a:ln>
        </p:spPr>
      </p:sp>
      <p:sp>
        <p:nvSpPr>
          <p:cNvPr id="7" name="Text 5"/>
          <p:cNvSpPr/>
          <p:nvPr/>
        </p:nvSpPr>
        <p:spPr>
          <a:xfrm>
            <a:off x="548640" y="1472184"/>
            <a:ext cx="8046720" cy="69494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Most adults guess a penny holds 5 to 10 drops of water. The actual answer is usually 20 to 30 drops — or more. Water molecules pull together at the surface, making a dome that holds far more than you expect.</a:t>
            </a:r>
            <a:endParaRPr lang="en-US" sz="1400" dirty="0"/>
          </a:p>
        </p:txBody>
      </p:sp>
      <p:sp>
        <p:nvSpPr>
          <p:cNvPr id="8" name="Text 6"/>
          <p:cNvSpPr/>
          <p:nvPr/>
        </p:nvSpPr>
        <p:spPr>
          <a:xfrm>
            <a:off x="457200" y="2359152"/>
            <a:ext cx="8229600" cy="27432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Before we investigate:</a:t>
            </a:r>
            <a:endParaRPr lang="en-US" sz="1200" dirty="0"/>
          </a:p>
        </p:txBody>
      </p:sp>
      <p:sp>
        <p:nvSpPr>
          <p:cNvPr id="9" name="Shape 7"/>
          <p:cNvSpPr/>
          <p:nvPr/>
        </p:nvSpPr>
        <p:spPr>
          <a:xfrm>
            <a:off x="457200" y="2670048"/>
            <a:ext cx="8229600" cy="530352"/>
          </a:xfrm>
          <a:prstGeom prst="rect">
            <a:avLst/>
          </a:prstGeom>
          <a:solidFill>
            <a:srgbClr val="1A3A5C"/>
          </a:solidFill>
          <a:ln w="12700">
            <a:solidFill>
              <a:srgbClr val="1A3A5C"/>
            </a:solidFill>
            <a:prstDash val="solid"/>
          </a:ln>
        </p:spPr>
      </p:sp>
      <p:sp>
        <p:nvSpPr>
          <p:cNvPr id="10" name="Text 8"/>
          <p:cNvSpPr/>
          <p:nvPr/>
        </p:nvSpPr>
        <p:spPr>
          <a:xfrm>
            <a:off x="548640" y="2724912"/>
            <a:ext cx="8046720" cy="4206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Write a specific number in your notebook: How many drops do you predict?</a:t>
            </a:r>
            <a:endParaRPr lang="en-US" sz="1400" dirty="0"/>
          </a:p>
        </p:txBody>
      </p:sp>
      <p:sp>
        <p:nvSpPr>
          <p:cNvPr id="11" name="Shape 9"/>
          <p:cNvSpPr/>
          <p:nvPr/>
        </p:nvSpPr>
        <p:spPr>
          <a:xfrm>
            <a:off x="457200" y="3273552"/>
            <a:ext cx="8229600" cy="530352"/>
          </a:xfrm>
          <a:prstGeom prst="rect">
            <a:avLst/>
          </a:prstGeom>
          <a:solidFill>
            <a:srgbClr val="1A3A5C"/>
          </a:solidFill>
          <a:ln w="12700">
            <a:solidFill>
              <a:srgbClr val="1A3A5C"/>
            </a:solidFill>
            <a:prstDash val="solid"/>
          </a:ln>
        </p:spPr>
      </p:sp>
      <p:sp>
        <p:nvSpPr>
          <p:cNvPr id="12" name="Text 10"/>
          <p:cNvSpPr/>
          <p:nvPr/>
        </p:nvSpPr>
        <p:spPr>
          <a:xfrm>
            <a:off x="548640" y="3328416"/>
            <a:ext cx="8046720" cy="4206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What makes you choose that number? What are you basing your prediction 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Shape 1"/>
          <p:cNvSpPr/>
          <p:nvPr/>
        </p:nvSpPr>
        <p:spPr>
          <a:xfrm>
            <a:off x="457200" y="274320"/>
            <a:ext cx="818388" cy="274320"/>
          </a:xfrm>
          <a:prstGeom prst="rect">
            <a:avLst/>
          </a:prstGeom>
          <a:solidFill>
            <a:srgbClr val="F07D35"/>
          </a:solidFill>
          <a:ln w="12700">
            <a:solidFill>
              <a:srgbClr val="F07D35"/>
            </a:solidFill>
            <a:prstDash val="solid"/>
          </a:ln>
        </p:spPr>
      </p:sp>
      <p:sp>
        <p:nvSpPr>
          <p:cNvPr id="4" name="Text 2"/>
          <p:cNvSpPr/>
          <p:nvPr/>
        </p:nvSpPr>
        <p:spPr>
          <a:xfrm>
            <a:off x="457200" y="274320"/>
            <a:ext cx="81838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a:t>
            </a:r>
            <a:endParaRPr lang="en-US" sz="1000" dirty="0"/>
          </a:p>
        </p:txBody>
      </p:sp>
      <p:sp>
        <p:nvSpPr>
          <p:cNvPr id="5" name="Text 3"/>
          <p:cNvSpPr/>
          <p:nvPr/>
        </p:nvSpPr>
        <p:spPr>
          <a:xfrm>
            <a:off x="457200" y="658368"/>
            <a:ext cx="8229600" cy="457200"/>
          </a:xfrm>
          <a:prstGeom prst="rect">
            <a:avLst/>
          </a:prstGeom>
          <a:noFill/>
          <a:ln/>
        </p:spPr>
        <p:txBody>
          <a:bodyPr wrap="square" rtlCol="0" anchor="ctr"/>
          <a:lstStyle/>
          <a:p>
            <a:pPr indent="0" marL="0">
              <a:buNone/>
            </a:pPr>
            <a:r>
              <a:rPr lang="en-US" sz="2600" b="1" dirty="0">
                <a:solidFill>
                  <a:srgbClr val="1A1A2E"/>
                </a:solidFill>
                <a:latin typeface="Cambria" pitchFamily="34" charset="0"/>
                <a:ea typeface="Cambria" pitchFamily="34" charset="-122"/>
                <a:cs typeface="Cambria" pitchFamily="34" charset="-120"/>
              </a:rPr>
              <a:t>Predict Before You Test</a:t>
            </a:r>
            <a:endParaRPr lang="en-US" sz="2600" dirty="0"/>
          </a:p>
        </p:txBody>
      </p:sp>
      <p:sp>
        <p:nvSpPr>
          <p:cNvPr id="6" name="Shape 4"/>
          <p:cNvSpPr/>
          <p:nvPr/>
        </p:nvSpPr>
        <p:spPr>
          <a:xfrm>
            <a:off x="457200" y="1234440"/>
            <a:ext cx="8229600" cy="566928"/>
          </a:xfrm>
          <a:prstGeom prst="rect">
            <a:avLst/>
          </a:prstGeom>
          <a:solidFill>
            <a:srgbClr val="FFFFFF"/>
          </a:solidFill>
          <a:ln w="12700">
            <a:solidFill>
              <a:srgbClr val="FFFFFF"/>
            </a:solidFill>
            <a:prstDash val="solid"/>
          </a:ln>
        </p:spPr>
      </p:sp>
      <p:sp>
        <p:nvSpPr>
          <p:cNvPr id="7" name="Text 5"/>
          <p:cNvSpPr/>
          <p:nvPr/>
        </p:nvSpPr>
        <p:spPr>
          <a:xfrm>
            <a:off x="548640" y="1289304"/>
            <a:ext cx="8046720" cy="457200"/>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Write in your notebook: How many drops do you think will fit on the HEADS side? On the TAILS side? Will one side hold more — or will they be the same?</a:t>
            </a:r>
            <a:endParaRPr lang="en-US" sz="1400" dirty="0"/>
          </a:p>
        </p:txBody>
      </p:sp>
      <p:sp>
        <p:nvSpPr>
          <p:cNvPr id="8" name="Text 6"/>
          <p:cNvSpPr/>
          <p:nvPr/>
        </p:nvSpPr>
        <p:spPr>
          <a:xfrm>
            <a:off x="457200" y="1920240"/>
            <a:ext cx="8229600" cy="274320"/>
          </a:xfrm>
          <a:prstGeom prst="rect">
            <a:avLst/>
          </a:prstGeom>
          <a:noFill/>
          <a:ln/>
        </p:spPr>
        <p:txBody>
          <a:bodyPr wrap="square" rtlCol="0" anchor="ctr"/>
          <a:lstStyle/>
          <a:p>
            <a:pPr indent="0" marL="0">
              <a:buNone/>
            </a:pPr>
            <a:r>
              <a:rPr lang="en-US" sz="1200" b="1" dirty="0">
                <a:solidFill>
                  <a:srgbClr val="2C4A6E"/>
                </a:solidFill>
                <a:latin typeface="Calibri" pitchFamily="34" charset="0"/>
                <a:ea typeface="Calibri" pitchFamily="34" charset="-122"/>
                <a:cs typeface="Calibri" pitchFamily="34" charset="-120"/>
              </a:rPr>
              <a:t>Two things to predict:</a:t>
            </a:r>
            <a:endParaRPr lang="en-US" sz="1200" dirty="0"/>
          </a:p>
        </p:txBody>
      </p:sp>
      <p:sp>
        <p:nvSpPr>
          <p:cNvPr id="9" name="Shape 7"/>
          <p:cNvSpPr/>
          <p:nvPr/>
        </p:nvSpPr>
        <p:spPr>
          <a:xfrm>
            <a:off x="457200" y="2240280"/>
            <a:ext cx="3931920" cy="685800"/>
          </a:xfrm>
          <a:prstGeom prst="rect">
            <a:avLst/>
          </a:prstGeom>
          <a:solidFill>
            <a:srgbClr val="D6EAF8"/>
          </a:solidFill>
          <a:ln w="12700">
            <a:solidFill>
              <a:srgbClr val="D6EAF8"/>
            </a:solidFill>
            <a:prstDash val="solid"/>
          </a:ln>
        </p:spPr>
      </p:sp>
      <p:sp>
        <p:nvSpPr>
          <p:cNvPr id="10" name="Text 8"/>
          <p:cNvSpPr/>
          <p:nvPr/>
        </p:nvSpPr>
        <p:spPr>
          <a:xfrm>
            <a:off x="548640" y="2295144"/>
            <a:ext cx="3749040" cy="57607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Heads side prediction:</a:t>
            </a:r>
            <a:endParaRPr lang="en-US" sz="1400" dirty="0"/>
          </a:p>
          <a:p>
            <a:pPr algn="l" indent="0" marL="0">
              <a:buNone/>
            </a:pPr>
            <a:r>
              <a:rPr lang="en-US" sz="1400" dirty="0">
                <a:solidFill>
                  <a:srgbClr val="1A1A2E"/>
                </a:solidFill>
                <a:latin typeface="Calibri" pitchFamily="34" charset="0"/>
                <a:ea typeface="Calibri" pitchFamily="34" charset="-122"/>
                <a:cs typeface="Calibri" pitchFamily="34" charset="-120"/>
              </a:rPr>
              <a:t>___ drops</a:t>
            </a:r>
            <a:endParaRPr lang="en-US" sz="1400" dirty="0"/>
          </a:p>
        </p:txBody>
      </p:sp>
      <p:sp>
        <p:nvSpPr>
          <p:cNvPr id="11" name="Shape 9"/>
          <p:cNvSpPr/>
          <p:nvPr/>
        </p:nvSpPr>
        <p:spPr>
          <a:xfrm>
            <a:off x="4663440" y="2240280"/>
            <a:ext cx="3931920" cy="685800"/>
          </a:xfrm>
          <a:prstGeom prst="rect">
            <a:avLst/>
          </a:prstGeom>
          <a:solidFill>
            <a:srgbClr val="D6EAF8"/>
          </a:solidFill>
          <a:ln w="12700">
            <a:solidFill>
              <a:srgbClr val="D6EAF8"/>
            </a:solidFill>
            <a:prstDash val="solid"/>
          </a:ln>
        </p:spPr>
      </p:sp>
      <p:sp>
        <p:nvSpPr>
          <p:cNvPr id="12" name="Text 10"/>
          <p:cNvSpPr/>
          <p:nvPr/>
        </p:nvSpPr>
        <p:spPr>
          <a:xfrm>
            <a:off x="4754880" y="2295144"/>
            <a:ext cx="3749040" cy="57607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Tails side prediction:</a:t>
            </a:r>
            <a:endParaRPr lang="en-US" sz="1400" dirty="0"/>
          </a:p>
          <a:p>
            <a:pPr algn="l" indent="0" marL="0">
              <a:buNone/>
            </a:pPr>
            <a:r>
              <a:rPr lang="en-US" sz="1400" dirty="0">
                <a:solidFill>
                  <a:srgbClr val="1A1A2E"/>
                </a:solidFill>
                <a:latin typeface="Calibri" pitchFamily="34" charset="0"/>
                <a:ea typeface="Calibri" pitchFamily="34" charset="-122"/>
                <a:cs typeface="Calibri" pitchFamily="34" charset="-120"/>
              </a:rPr>
              <a:t>___ drops</a:t>
            </a:r>
            <a:endParaRPr lang="en-US" sz="1400" dirty="0"/>
          </a:p>
        </p:txBody>
      </p:sp>
      <p:sp>
        <p:nvSpPr>
          <p:cNvPr id="13" name="Shape 11"/>
          <p:cNvSpPr/>
          <p:nvPr/>
        </p:nvSpPr>
        <p:spPr>
          <a:xfrm>
            <a:off x="457200" y="3035808"/>
            <a:ext cx="8229600" cy="548640"/>
          </a:xfrm>
          <a:prstGeom prst="rect">
            <a:avLst/>
          </a:prstGeom>
          <a:solidFill>
            <a:srgbClr val="FFFFFF"/>
          </a:solidFill>
          <a:ln w="12700">
            <a:solidFill>
              <a:srgbClr val="FFFFFF"/>
            </a:solidFill>
            <a:prstDash val="solid"/>
          </a:ln>
        </p:spPr>
      </p:sp>
      <p:sp>
        <p:nvSpPr>
          <p:cNvPr id="14" name="Text 12"/>
          <p:cNvSpPr/>
          <p:nvPr/>
        </p:nvSpPr>
        <p:spPr>
          <a:xfrm>
            <a:off x="548640" y="3090672"/>
            <a:ext cx="8046720" cy="4389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Why do you think one side might hold more (or the same)? Write your reasoning.</a:t>
            </a:r>
            <a:endParaRPr lang="en-US" sz="1400" dirty="0"/>
          </a:p>
        </p:txBody>
      </p:sp>
      <p:sp>
        <p:nvSpPr>
          <p:cNvPr id="15" name="Shape 13"/>
          <p:cNvSpPr/>
          <p:nvPr/>
        </p:nvSpPr>
        <p:spPr>
          <a:xfrm>
            <a:off x="457200" y="3675888"/>
            <a:ext cx="8229600" cy="530352"/>
          </a:xfrm>
          <a:prstGeom prst="rect">
            <a:avLst/>
          </a:prstGeom>
          <a:solidFill>
            <a:srgbClr val="1A3A5C"/>
          </a:solidFill>
          <a:ln w="12700">
            <a:solidFill>
              <a:srgbClr val="1A3A5C"/>
            </a:solidFill>
            <a:prstDash val="solid"/>
          </a:ln>
        </p:spPr>
      </p:sp>
      <p:sp>
        <p:nvSpPr>
          <p:cNvPr id="16" name="Text 14"/>
          <p:cNvSpPr/>
          <p:nvPr/>
        </p:nvSpPr>
        <p:spPr>
          <a:xfrm>
            <a:off x="548640" y="3730752"/>
            <a:ext cx="8046720" cy="4206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Write your prediction now — you will compare it to your real data at the end.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74320"/>
            <a:ext cx="1051560" cy="274320"/>
          </a:xfrm>
          <a:prstGeom prst="rect">
            <a:avLst/>
          </a:prstGeom>
          <a:solidFill>
            <a:srgbClr val="F6C90E"/>
          </a:solidFill>
          <a:ln w="12700">
            <a:solidFill>
              <a:srgbClr val="F6C90E"/>
            </a:solidFill>
            <a:prstDash val="solid"/>
          </a:ln>
        </p:spPr>
      </p:sp>
      <p:sp>
        <p:nvSpPr>
          <p:cNvPr id="4" name="Text 2"/>
          <p:cNvSpPr/>
          <p:nvPr/>
        </p:nvSpPr>
        <p:spPr>
          <a:xfrm>
            <a:off x="457200" y="27432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5" name="Text 3"/>
          <p:cNvSpPr/>
          <p:nvPr/>
        </p:nvSpPr>
        <p:spPr>
          <a:xfrm>
            <a:off x="457200" y="685800"/>
            <a:ext cx="8229600" cy="384048"/>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Key Words — Part 1</a:t>
            </a:r>
            <a:endParaRPr lang="en-US" sz="2400" dirty="0"/>
          </a:p>
        </p:txBody>
      </p:sp>
      <p:sp>
        <p:nvSpPr>
          <p:cNvPr id="6" name="Shape 4"/>
          <p:cNvSpPr/>
          <p:nvPr/>
        </p:nvSpPr>
        <p:spPr>
          <a:xfrm>
            <a:off x="457200" y="1170432"/>
            <a:ext cx="3931920" cy="1920240"/>
          </a:xfrm>
          <a:prstGeom prst="rect">
            <a:avLst/>
          </a:prstGeom>
          <a:solidFill>
            <a:srgbClr val="2E86AB"/>
          </a:solidFill>
          <a:ln w="12700">
            <a:solidFill>
              <a:srgbClr val="2E86AB"/>
            </a:solidFill>
            <a:prstDash val="solid"/>
          </a:ln>
        </p:spPr>
      </p:sp>
      <p:sp>
        <p:nvSpPr>
          <p:cNvPr id="7" name="Text 5"/>
          <p:cNvSpPr/>
          <p:nvPr/>
        </p:nvSpPr>
        <p:spPr>
          <a:xfrm>
            <a:off x="548640" y="1261872"/>
            <a:ext cx="3749040" cy="365760"/>
          </a:xfrm>
          <a:prstGeom prst="rect">
            <a:avLst/>
          </a:prstGeom>
          <a:noFill/>
          <a:ln/>
        </p:spPr>
        <p:txBody>
          <a:bodyPr wrap="square" rtlCol="0" anchor="ctr"/>
          <a:lstStyle/>
          <a:p>
            <a:pPr indent="0" marL="0">
              <a:buNone/>
            </a:pPr>
            <a:r>
              <a:rPr lang="en-US" sz="2200" b="1" dirty="0">
                <a:solidFill>
                  <a:srgbClr val="F6C90E"/>
                </a:solidFill>
                <a:latin typeface="Cambria" pitchFamily="34" charset="0"/>
                <a:ea typeface="Cambria" pitchFamily="34" charset="-122"/>
                <a:cs typeface="Cambria" pitchFamily="34" charset="-120"/>
              </a:rPr>
              <a:t>variable</a:t>
            </a:r>
            <a:endParaRPr lang="en-US" sz="2200" dirty="0"/>
          </a:p>
        </p:txBody>
      </p:sp>
      <p:sp>
        <p:nvSpPr>
          <p:cNvPr id="8" name="Text 6"/>
          <p:cNvSpPr/>
          <p:nvPr/>
        </p:nvSpPr>
        <p:spPr>
          <a:xfrm>
            <a:off x="548640" y="1691640"/>
            <a:ext cx="3749040" cy="6583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ONE thing you change on purpose in a fair test.</a:t>
            </a:r>
            <a:endParaRPr lang="en-US" sz="1400" dirty="0"/>
          </a:p>
        </p:txBody>
      </p:sp>
      <p:sp>
        <p:nvSpPr>
          <p:cNvPr id="9" name="Text 7"/>
          <p:cNvSpPr/>
          <p:nvPr/>
        </p:nvSpPr>
        <p:spPr>
          <a:xfrm>
            <a:off x="548640" y="2395728"/>
            <a:ext cx="3749040" cy="621792"/>
          </a:xfrm>
          <a:prstGeom prst="rect">
            <a:avLst/>
          </a:prstGeom>
          <a:noFill/>
          <a:ln/>
        </p:spPr>
        <p:txBody>
          <a:bodyPr wrap="square" rtlCol="0" anchor="ctr"/>
          <a:lstStyle/>
          <a:p>
            <a:pPr indent="0" marL="0">
              <a:buNone/>
            </a:pPr>
            <a:r>
              <a:rPr lang="en-US" sz="1200" dirty="0">
                <a:solidFill>
                  <a:srgbClr val="B8D4F0"/>
                </a:solidFill>
                <a:latin typeface="Calibri" pitchFamily="34" charset="0"/>
                <a:ea typeface="Calibri" pitchFamily="34" charset="-122"/>
                <a:cs typeface="Calibri" pitchFamily="34" charset="-120"/>
              </a:rPr>
              <a:t>In this investigation: which side of the penny (heads or tails).</a:t>
            </a:r>
            <a:endParaRPr lang="en-US" sz="1200" dirty="0"/>
          </a:p>
        </p:txBody>
      </p:sp>
      <p:sp>
        <p:nvSpPr>
          <p:cNvPr id="10" name="Shape 8"/>
          <p:cNvSpPr/>
          <p:nvPr/>
        </p:nvSpPr>
        <p:spPr>
          <a:xfrm>
            <a:off x="4754880" y="1170432"/>
            <a:ext cx="3931920" cy="1920240"/>
          </a:xfrm>
          <a:prstGeom prst="rect">
            <a:avLst/>
          </a:prstGeom>
          <a:solidFill>
            <a:srgbClr val="0E7C7B"/>
          </a:solidFill>
          <a:ln w="12700">
            <a:solidFill>
              <a:srgbClr val="0E7C7B"/>
            </a:solidFill>
            <a:prstDash val="solid"/>
          </a:ln>
        </p:spPr>
      </p:sp>
      <p:sp>
        <p:nvSpPr>
          <p:cNvPr id="11" name="Text 9"/>
          <p:cNvSpPr/>
          <p:nvPr/>
        </p:nvSpPr>
        <p:spPr>
          <a:xfrm>
            <a:off x="4846320" y="1261872"/>
            <a:ext cx="3749040" cy="365760"/>
          </a:xfrm>
          <a:prstGeom prst="rect">
            <a:avLst/>
          </a:prstGeom>
          <a:noFill/>
          <a:ln/>
        </p:spPr>
        <p:txBody>
          <a:bodyPr wrap="square" rtlCol="0" anchor="ctr"/>
          <a:lstStyle/>
          <a:p>
            <a:pPr indent="0" marL="0">
              <a:buNone/>
            </a:pPr>
            <a:r>
              <a:rPr lang="en-US" sz="2200" b="1" dirty="0">
                <a:solidFill>
                  <a:srgbClr val="F6C90E"/>
                </a:solidFill>
                <a:latin typeface="Cambria" pitchFamily="34" charset="0"/>
                <a:ea typeface="Cambria" pitchFamily="34" charset="-122"/>
                <a:cs typeface="Cambria" pitchFamily="34" charset="-120"/>
              </a:rPr>
              <a:t>control</a:t>
            </a:r>
            <a:endParaRPr lang="en-US" sz="2200" dirty="0"/>
          </a:p>
        </p:txBody>
      </p:sp>
      <p:sp>
        <p:nvSpPr>
          <p:cNvPr id="12" name="Text 10"/>
          <p:cNvSpPr/>
          <p:nvPr/>
        </p:nvSpPr>
        <p:spPr>
          <a:xfrm>
            <a:off x="4846320" y="1691640"/>
            <a:ext cx="3749040" cy="65836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Everything you keep exactly the same so only your variable can affect the result.</a:t>
            </a:r>
            <a:endParaRPr lang="en-US" sz="1400" dirty="0"/>
          </a:p>
        </p:txBody>
      </p:sp>
      <p:sp>
        <p:nvSpPr>
          <p:cNvPr id="13" name="Text 11"/>
          <p:cNvSpPr/>
          <p:nvPr/>
        </p:nvSpPr>
        <p:spPr>
          <a:xfrm>
            <a:off x="4846320" y="2395728"/>
            <a:ext cx="3749040" cy="621792"/>
          </a:xfrm>
          <a:prstGeom prst="rect">
            <a:avLst/>
          </a:prstGeom>
          <a:noFill/>
          <a:ln/>
        </p:spPr>
        <p:txBody>
          <a:bodyPr wrap="square" rtlCol="0" anchor="ctr"/>
          <a:lstStyle/>
          <a:p>
            <a:pPr indent="0" marL="0">
              <a:buNone/>
            </a:pPr>
            <a:r>
              <a:rPr lang="en-US" sz="1200" dirty="0">
                <a:solidFill>
                  <a:srgbClr val="B8EAE8"/>
                </a:solidFill>
                <a:latin typeface="Calibri" pitchFamily="34" charset="0"/>
                <a:ea typeface="Calibri" pitchFamily="34" charset="-122"/>
                <a:cs typeface="Calibri" pitchFamily="34" charset="-120"/>
              </a:rPr>
              <a:t>Same penny, same dropper, same pressure, same technique every trial.</a:t>
            </a:r>
            <a:endParaRPr lang="en-US" sz="1200" dirty="0"/>
          </a:p>
        </p:txBody>
      </p:sp>
      <p:sp>
        <p:nvSpPr>
          <p:cNvPr id="14" name="Shape 12"/>
          <p:cNvSpPr/>
          <p:nvPr/>
        </p:nvSpPr>
        <p:spPr>
          <a:xfrm>
            <a:off x="457200" y="3246120"/>
            <a:ext cx="8229600" cy="411480"/>
          </a:xfrm>
          <a:prstGeom prst="rect">
            <a:avLst/>
          </a:prstGeom>
          <a:solidFill>
            <a:srgbClr val="2C4A6E"/>
          </a:solidFill>
          <a:ln w="12700">
            <a:solidFill>
              <a:srgbClr val="2C4A6E"/>
            </a:solidFill>
            <a:prstDash val="solid"/>
          </a:ln>
        </p:spPr>
      </p:sp>
      <p:sp>
        <p:nvSpPr>
          <p:cNvPr id="15" name="Text 13"/>
          <p:cNvSpPr/>
          <p:nvPr/>
        </p:nvSpPr>
        <p:spPr>
          <a:xfrm>
            <a:off x="548640" y="3300984"/>
            <a:ext cx="8046720" cy="3017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Review: evidence = information you collect;  conclusion = what you decide based on evidence</a:t>
            </a:r>
            <a:endParaRPr lang="en-US" sz="1200" dirty="0"/>
          </a:p>
        </p:txBody>
      </p:sp>
      <p:sp>
        <p:nvSpPr>
          <p:cNvPr id="16" name="Shape 14"/>
          <p:cNvSpPr/>
          <p:nvPr/>
        </p:nvSpPr>
        <p:spPr>
          <a:xfrm>
            <a:off x="0" y="4800600"/>
            <a:ext cx="9144000" cy="347472"/>
          </a:xfrm>
          <a:prstGeom prst="rect">
            <a:avLst/>
          </a:prstGeom>
          <a:solidFill>
            <a:srgbClr val="2E86AB"/>
          </a:solidFill>
          <a:ln w="12700">
            <a:solidFill>
              <a:srgbClr val="2E86AB"/>
            </a:solidFill>
            <a:prstDash val="solid"/>
          </a:ln>
        </p:spPr>
      </p:sp>
      <p:sp>
        <p:nvSpPr>
          <p:cNvPr id="17" name="Text 15"/>
          <p:cNvSpPr/>
          <p:nvPr/>
        </p:nvSpPr>
        <p:spPr>
          <a:xfrm>
            <a:off x="0" y="4800600"/>
            <a:ext cx="9144000" cy="34747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Lesson 2.02  ·  SC.5.N.1.1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74320"/>
            <a:ext cx="1051560" cy="274320"/>
          </a:xfrm>
          <a:prstGeom prst="rect">
            <a:avLst/>
          </a:prstGeom>
          <a:solidFill>
            <a:srgbClr val="F6C90E"/>
          </a:solidFill>
          <a:ln w="12700">
            <a:solidFill>
              <a:srgbClr val="F6C90E"/>
            </a:solidFill>
            <a:prstDash val="solid"/>
          </a:ln>
        </p:spPr>
      </p:sp>
      <p:sp>
        <p:nvSpPr>
          <p:cNvPr id="4" name="Text 2"/>
          <p:cNvSpPr/>
          <p:nvPr/>
        </p:nvSpPr>
        <p:spPr>
          <a:xfrm>
            <a:off x="457200" y="27432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5" name="Text 3"/>
          <p:cNvSpPr/>
          <p:nvPr/>
        </p:nvSpPr>
        <p:spPr>
          <a:xfrm>
            <a:off x="457200" y="685800"/>
            <a:ext cx="8229600" cy="384048"/>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Key Words — Part 2</a:t>
            </a:r>
            <a:endParaRPr lang="en-US" sz="2400" dirty="0"/>
          </a:p>
        </p:txBody>
      </p:sp>
      <p:sp>
        <p:nvSpPr>
          <p:cNvPr id="6" name="Shape 4"/>
          <p:cNvSpPr/>
          <p:nvPr/>
        </p:nvSpPr>
        <p:spPr>
          <a:xfrm>
            <a:off x="457200" y="1170432"/>
            <a:ext cx="3931920" cy="1920240"/>
          </a:xfrm>
          <a:prstGeom prst="rect">
            <a:avLst/>
          </a:prstGeom>
          <a:solidFill>
            <a:srgbClr val="2A7A4B"/>
          </a:solidFill>
          <a:ln w="12700">
            <a:solidFill>
              <a:srgbClr val="2A7A4B"/>
            </a:solidFill>
            <a:prstDash val="solid"/>
          </a:ln>
        </p:spPr>
      </p:sp>
      <p:sp>
        <p:nvSpPr>
          <p:cNvPr id="7" name="Text 5"/>
          <p:cNvSpPr/>
          <p:nvPr/>
        </p:nvSpPr>
        <p:spPr>
          <a:xfrm>
            <a:off x="548640" y="1261872"/>
            <a:ext cx="3749040" cy="365760"/>
          </a:xfrm>
          <a:prstGeom prst="rect">
            <a:avLst/>
          </a:prstGeom>
          <a:noFill/>
          <a:ln/>
        </p:spPr>
        <p:txBody>
          <a:bodyPr wrap="square" rtlCol="0" anchor="ctr"/>
          <a:lstStyle/>
          <a:p>
            <a:pPr indent="0" marL="0">
              <a:buNone/>
            </a:pPr>
            <a:r>
              <a:rPr lang="en-US" sz="2000" b="1" dirty="0">
                <a:solidFill>
                  <a:srgbClr val="F6C90E"/>
                </a:solidFill>
                <a:latin typeface="Cambria" pitchFamily="34" charset="0"/>
                <a:ea typeface="Cambria" pitchFamily="34" charset="-122"/>
                <a:cs typeface="Cambria" pitchFamily="34" charset="-120"/>
              </a:rPr>
              <a:t>repeated trials</a:t>
            </a:r>
            <a:endParaRPr lang="en-US" sz="2000" dirty="0"/>
          </a:p>
        </p:txBody>
      </p:sp>
      <p:sp>
        <p:nvSpPr>
          <p:cNvPr id="8" name="Text 6"/>
          <p:cNvSpPr/>
          <p:nvPr/>
        </p:nvSpPr>
        <p:spPr>
          <a:xfrm>
            <a:off x="548640" y="1691640"/>
            <a:ext cx="3749040" cy="73152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Running the same test more than once. Averages out flukes and strengthens your evidence.</a:t>
            </a:r>
            <a:endParaRPr lang="en-US" sz="1400" dirty="0"/>
          </a:p>
        </p:txBody>
      </p:sp>
      <p:sp>
        <p:nvSpPr>
          <p:cNvPr id="9" name="Text 7"/>
          <p:cNvSpPr/>
          <p:nvPr/>
        </p:nvSpPr>
        <p:spPr>
          <a:xfrm>
            <a:off x="548640" y="2487168"/>
            <a:ext cx="3749040" cy="530352"/>
          </a:xfrm>
          <a:prstGeom prst="rect">
            <a:avLst/>
          </a:prstGeom>
          <a:noFill/>
          <a:ln/>
        </p:spPr>
        <p:txBody>
          <a:bodyPr wrap="square" rtlCol="0" anchor="ctr"/>
          <a:lstStyle/>
          <a:p>
            <a:pPr indent="0" marL="0">
              <a:buNone/>
            </a:pPr>
            <a:r>
              <a:rPr lang="en-US" sz="1200" dirty="0">
                <a:solidFill>
                  <a:srgbClr val="B8EAE8"/>
                </a:solidFill>
                <a:latin typeface="Calibri" pitchFamily="34" charset="0"/>
                <a:ea typeface="Calibri" pitchFamily="34" charset="-122"/>
                <a:cs typeface="Calibri" pitchFamily="34" charset="-120"/>
              </a:rPr>
              <a:t>We will run 3 trials for each side of the penny.</a:t>
            </a:r>
            <a:endParaRPr lang="en-US" sz="1200" dirty="0"/>
          </a:p>
        </p:txBody>
      </p:sp>
      <p:sp>
        <p:nvSpPr>
          <p:cNvPr id="10" name="Shape 8"/>
          <p:cNvSpPr/>
          <p:nvPr/>
        </p:nvSpPr>
        <p:spPr>
          <a:xfrm>
            <a:off x="4754880" y="1170432"/>
            <a:ext cx="3931920" cy="1920240"/>
          </a:xfrm>
          <a:prstGeom prst="rect">
            <a:avLst/>
          </a:prstGeom>
          <a:solidFill>
            <a:srgbClr val="F07D35"/>
          </a:solidFill>
          <a:ln w="12700">
            <a:solidFill>
              <a:srgbClr val="F07D35"/>
            </a:solidFill>
            <a:prstDash val="solid"/>
          </a:ln>
        </p:spPr>
      </p:sp>
      <p:sp>
        <p:nvSpPr>
          <p:cNvPr id="11" name="Text 9"/>
          <p:cNvSpPr/>
          <p:nvPr/>
        </p:nvSpPr>
        <p:spPr>
          <a:xfrm>
            <a:off x="4846320" y="1261872"/>
            <a:ext cx="3749040" cy="36576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data</a:t>
            </a:r>
            <a:endParaRPr lang="en-US" sz="2200" dirty="0"/>
          </a:p>
        </p:txBody>
      </p:sp>
      <p:sp>
        <p:nvSpPr>
          <p:cNvPr id="12" name="Text 10"/>
          <p:cNvSpPr/>
          <p:nvPr/>
        </p:nvSpPr>
        <p:spPr>
          <a:xfrm>
            <a:off x="4846320" y="1691640"/>
            <a:ext cx="3749040" cy="73152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Information you collect during an investigation — numbers, counts, or measurements.</a:t>
            </a:r>
            <a:endParaRPr lang="en-US" sz="1400" dirty="0"/>
          </a:p>
        </p:txBody>
      </p:sp>
      <p:sp>
        <p:nvSpPr>
          <p:cNvPr id="13" name="Text 11"/>
          <p:cNvSpPr/>
          <p:nvPr/>
        </p:nvSpPr>
        <p:spPr>
          <a:xfrm>
            <a:off x="4846320" y="2487168"/>
            <a:ext cx="3749040" cy="530352"/>
          </a:xfrm>
          <a:prstGeom prst="rect">
            <a:avLst/>
          </a:prstGeom>
          <a:noFill/>
          <a:ln/>
        </p:spPr>
        <p:txBody>
          <a:bodyPr wrap="square" rtlCol="0" anchor="ctr"/>
          <a:lstStyle/>
          <a:p>
            <a:pPr indent="0" marL="0">
              <a:buNone/>
            </a:pPr>
            <a:r>
              <a:rPr lang="en-US" sz="1200" dirty="0">
                <a:solidFill>
                  <a:srgbClr val="FDE8D4"/>
                </a:solidFill>
                <a:latin typeface="Calibri" pitchFamily="34" charset="0"/>
                <a:ea typeface="Calibri" pitchFamily="34" charset="-122"/>
                <a:cs typeface="Calibri" pitchFamily="34" charset="-120"/>
              </a:rPr>
              <a:t>Your data: the number of drops for each trial.</a:t>
            </a:r>
            <a:endParaRPr lang="en-US" sz="1200" dirty="0"/>
          </a:p>
        </p:txBody>
      </p:sp>
      <p:sp>
        <p:nvSpPr>
          <p:cNvPr id="14" name="Shape 12"/>
          <p:cNvSpPr/>
          <p:nvPr/>
        </p:nvSpPr>
        <p:spPr>
          <a:xfrm>
            <a:off x="457200" y="3246120"/>
            <a:ext cx="8229600" cy="594360"/>
          </a:xfrm>
          <a:prstGeom prst="rect">
            <a:avLst/>
          </a:prstGeom>
          <a:solidFill>
            <a:srgbClr val="2C4A6E"/>
          </a:solidFill>
          <a:ln w="12700">
            <a:solidFill>
              <a:srgbClr val="2C4A6E"/>
            </a:solidFill>
            <a:prstDash val="solid"/>
          </a:ln>
        </p:spPr>
      </p:sp>
      <p:sp>
        <p:nvSpPr>
          <p:cNvPr id="15" name="Text 13"/>
          <p:cNvSpPr/>
          <p:nvPr/>
        </p:nvSpPr>
        <p:spPr>
          <a:xfrm>
            <a:off x="548640" y="3300984"/>
            <a:ext cx="8046720" cy="4846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In this investigation: variable = which side (heads or tails). Controls = same penny, same dropper, same technique. Data = number of drops per trial.</a:t>
            </a:r>
            <a:endParaRPr lang="en-US" sz="1200" dirty="0"/>
          </a:p>
        </p:txBody>
      </p:sp>
      <p:sp>
        <p:nvSpPr>
          <p:cNvPr id="16" name="Shape 14"/>
          <p:cNvSpPr/>
          <p:nvPr/>
        </p:nvSpPr>
        <p:spPr>
          <a:xfrm>
            <a:off x="0" y="4800600"/>
            <a:ext cx="9144000" cy="347472"/>
          </a:xfrm>
          <a:prstGeom prst="rect">
            <a:avLst/>
          </a:prstGeom>
          <a:solidFill>
            <a:srgbClr val="2E86AB"/>
          </a:solidFill>
          <a:ln w="12700">
            <a:solidFill>
              <a:srgbClr val="2E86AB"/>
            </a:solidFill>
            <a:prstDash val="solid"/>
          </a:ln>
        </p:spPr>
      </p:sp>
      <p:sp>
        <p:nvSpPr>
          <p:cNvPr id="17" name="Text 15"/>
          <p:cNvSpPr/>
          <p:nvPr/>
        </p:nvSpPr>
        <p:spPr>
          <a:xfrm>
            <a:off x="0" y="4800600"/>
            <a:ext cx="9144000" cy="34747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Lesson 2.02  ·  SC.5.N.1.1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7C7B"/>
          </a:solidFill>
          <a:ln w="12700">
            <a:solidFill>
              <a:srgbClr val="0E7C7B"/>
            </a:solidFill>
            <a:prstDash val="solid"/>
          </a:ln>
        </p:spPr>
      </p:sp>
      <p:sp>
        <p:nvSpPr>
          <p:cNvPr id="3" name="Shape 1"/>
          <p:cNvSpPr/>
          <p:nvPr/>
        </p:nvSpPr>
        <p:spPr>
          <a:xfrm>
            <a:off x="457200" y="274320"/>
            <a:ext cx="1129284" cy="274320"/>
          </a:xfrm>
          <a:prstGeom prst="rect">
            <a:avLst/>
          </a:prstGeom>
          <a:solidFill>
            <a:srgbClr val="1A3A5C"/>
          </a:solidFill>
          <a:ln w="12700">
            <a:solidFill>
              <a:srgbClr val="1A3A5C"/>
            </a:solidFill>
            <a:prstDash val="solid"/>
          </a:ln>
        </p:spPr>
      </p:sp>
      <p:sp>
        <p:nvSpPr>
          <p:cNvPr id="4" name="Text 2"/>
          <p:cNvSpPr/>
          <p:nvPr/>
        </p:nvSpPr>
        <p:spPr>
          <a:xfrm>
            <a:off x="457200" y="274320"/>
            <a:ext cx="112928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5" name="Text 3"/>
          <p:cNvSpPr/>
          <p:nvPr/>
        </p:nvSpPr>
        <p:spPr>
          <a:xfrm>
            <a:off x="457200" y="685800"/>
            <a:ext cx="8229600" cy="45720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Surface Tension — Why the Dome Holds</a:t>
            </a:r>
            <a:endParaRPr lang="en-US" sz="2600" dirty="0"/>
          </a:p>
        </p:txBody>
      </p:sp>
      <p:sp>
        <p:nvSpPr>
          <p:cNvPr id="6" name="Shape 4"/>
          <p:cNvSpPr/>
          <p:nvPr/>
        </p:nvSpPr>
        <p:spPr>
          <a:xfrm>
            <a:off x="457200" y="1261872"/>
            <a:ext cx="8229600" cy="1005840"/>
          </a:xfrm>
          <a:prstGeom prst="rect">
            <a:avLst/>
          </a:prstGeom>
          <a:solidFill>
            <a:srgbClr val="075F5F"/>
          </a:solidFill>
          <a:ln w="12700">
            <a:solidFill>
              <a:srgbClr val="075F5F"/>
            </a:solidFill>
            <a:prstDash val="solid"/>
          </a:ln>
        </p:spPr>
      </p:sp>
      <p:sp>
        <p:nvSpPr>
          <p:cNvPr id="7" name="Text 5"/>
          <p:cNvSpPr/>
          <p:nvPr/>
        </p:nvSpPr>
        <p:spPr>
          <a:xfrm>
            <a:off x="548640" y="1316736"/>
            <a:ext cx="8046720" cy="8961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Water molecules pull toward each other at the surface, making a thin flexible film — called surface tension. This film stretches and forms a dome, holding more drops than you would expect.</a:t>
            </a:r>
            <a:endParaRPr lang="en-US" sz="1500" dirty="0"/>
          </a:p>
        </p:txBody>
      </p:sp>
      <p:sp>
        <p:nvSpPr>
          <p:cNvPr id="8" name="Text 6"/>
          <p:cNvSpPr/>
          <p:nvPr/>
        </p:nvSpPr>
        <p:spPr>
          <a:xfrm>
            <a:off x="457200" y="2395728"/>
            <a:ext cx="8229600" cy="27432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Your variable: which side of the penny</a:t>
            </a:r>
            <a:endParaRPr lang="en-US" sz="1200" dirty="0"/>
          </a:p>
        </p:txBody>
      </p:sp>
      <p:sp>
        <p:nvSpPr>
          <p:cNvPr id="9" name="Shape 7"/>
          <p:cNvSpPr/>
          <p:nvPr/>
        </p:nvSpPr>
        <p:spPr>
          <a:xfrm>
            <a:off x="457200" y="2724912"/>
            <a:ext cx="3931920" cy="713232"/>
          </a:xfrm>
          <a:prstGeom prst="rect">
            <a:avLst/>
          </a:prstGeom>
          <a:solidFill>
            <a:srgbClr val="075F5F"/>
          </a:solidFill>
          <a:ln w="12700">
            <a:solidFill>
              <a:srgbClr val="075F5F"/>
            </a:solidFill>
            <a:prstDash val="solid"/>
          </a:ln>
        </p:spPr>
      </p:sp>
      <p:sp>
        <p:nvSpPr>
          <p:cNvPr id="10" name="Text 8"/>
          <p:cNvSpPr/>
          <p:nvPr/>
        </p:nvSpPr>
        <p:spPr>
          <a:xfrm>
            <a:off x="548640" y="2779776"/>
            <a:ext cx="3749040" cy="60350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HEADS side: more raised texture and detail on the surface.</a:t>
            </a:r>
            <a:endParaRPr lang="en-US" sz="1300" dirty="0"/>
          </a:p>
        </p:txBody>
      </p:sp>
      <p:sp>
        <p:nvSpPr>
          <p:cNvPr id="11" name="Shape 9"/>
          <p:cNvSpPr/>
          <p:nvPr/>
        </p:nvSpPr>
        <p:spPr>
          <a:xfrm>
            <a:off x="4754880" y="2724912"/>
            <a:ext cx="3931920" cy="713232"/>
          </a:xfrm>
          <a:prstGeom prst="rect">
            <a:avLst/>
          </a:prstGeom>
          <a:solidFill>
            <a:srgbClr val="075F5F"/>
          </a:solidFill>
          <a:ln w="12700">
            <a:solidFill>
              <a:srgbClr val="075F5F"/>
            </a:solidFill>
            <a:prstDash val="solid"/>
          </a:ln>
        </p:spPr>
      </p:sp>
      <p:sp>
        <p:nvSpPr>
          <p:cNvPr id="12" name="Text 10"/>
          <p:cNvSpPr/>
          <p:nvPr/>
        </p:nvSpPr>
        <p:spPr>
          <a:xfrm>
            <a:off x="4846320" y="2779776"/>
            <a:ext cx="3749040" cy="60350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TAILS side: smoother surface with less raised texture.</a:t>
            </a:r>
            <a:endParaRPr lang="en-US" sz="1300" dirty="0"/>
          </a:p>
        </p:txBody>
      </p:sp>
      <p:sp>
        <p:nvSpPr>
          <p:cNvPr id="13" name="Text 11"/>
          <p:cNvSpPr/>
          <p:nvPr/>
        </p:nvSpPr>
        <p:spPr>
          <a:xfrm>
            <a:off x="457200" y="3547872"/>
            <a:ext cx="8229600" cy="22860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Stop and Think:</a:t>
            </a:r>
            <a:endParaRPr lang="en-US" sz="1200" dirty="0"/>
          </a:p>
        </p:txBody>
      </p:sp>
      <p:sp>
        <p:nvSpPr>
          <p:cNvPr id="14" name="Shape 12"/>
          <p:cNvSpPr/>
          <p:nvPr/>
        </p:nvSpPr>
        <p:spPr>
          <a:xfrm>
            <a:off x="457200" y="3794760"/>
            <a:ext cx="8229600" cy="566928"/>
          </a:xfrm>
          <a:prstGeom prst="rect">
            <a:avLst/>
          </a:prstGeom>
          <a:solidFill>
            <a:srgbClr val="075F5F"/>
          </a:solidFill>
          <a:ln w="12700">
            <a:solidFill>
              <a:srgbClr val="075F5F"/>
            </a:solidFill>
            <a:prstDash val="solid"/>
          </a:ln>
        </p:spPr>
      </p:sp>
      <p:sp>
        <p:nvSpPr>
          <p:cNvPr id="15" name="Text 13"/>
          <p:cNvSpPr/>
          <p:nvPr/>
        </p:nvSpPr>
        <p:spPr>
          <a:xfrm>
            <a:off x="548640" y="3849624"/>
            <a:ext cx="8046720" cy="45720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Based on what you know about surface texture, which side do you now predict will hold more drops? Has your prediction changed?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2600" b="1" dirty="0">
                <a:solidFill>
                  <a:srgbClr val="1A3A5C"/>
                </a:solidFill>
                <a:latin typeface="Cambria" pitchFamily="34" charset="0"/>
                <a:ea typeface="Cambria" pitchFamily="34" charset="-122"/>
                <a:cs typeface="Cambria" pitchFamily="34" charset="-120"/>
              </a:rPr>
              <a:t>Setting Up a Fair Penny Test</a:t>
            </a:r>
            <a:endParaRPr lang="en-US" sz="2600" dirty="0"/>
          </a:p>
        </p:txBody>
      </p:sp>
      <p:sp>
        <p:nvSpPr>
          <p:cNvPr id="4" name="Shape 2"/>
          <p:cNvSpPr/>
          <p:nvPr/>
        </p:nvSpPr>
        <p:spPr>
          <a:xfrm>
            <a:off x="457200" y="749808"/>
            <a:ext cx="8229600" cy="530352"/>
          </a:xfrm>
          <a:prstGeom prst="rect">
            <a:avLst/>
          </a:prstGeom>
          <a:solidFill>
            <a:srgbClr val="FFFFFF"/>
          </a:solidFill>
          <a:ln w="12700">
            <a:solidFill>
              <a:srgbClr val="FFFFFF"/>
            </a:solidFill>
            <a:prstDash val="solid"/>
          </a:ln>
        </p:spPr>
      </p:sp>
      <p:sp>
        <p:nvSpPr>
          <p:cNvPr id="5" name="Text 3"/>
          <p:cNvSpPr/>
          <p:nvPr/>
        </p:nvSpPr>
        <p:spPr>
          <a:xfrm>
            <a:off x="548640" y="804672"/>
            <a:ext cx="8046720" cy="420624"/>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For this test to be fair, every single trial must be set up the same way — except for which side of the penny faces up.</a:t>
            </a:r>
            <a:endParaRPr lang="en-US" sz="1400" dirty="0"/>
          </a:p>
        </p:txBody>
      </p:sp>
      <p:sp>
        <p:nvSpPr>
          <p:cNvPr id="6" name="Text 4"/>
          <p:cNvSpPr/>
          <p:nvPr/>
        </p:nvSpPr>
        <p:spPr>
          <a:xfrm>
            <a:off x="457200" y="1417320"/>
            <a:ext cx="8229600" cy="274320"/>
          </a:xfrm>
          <a:prstGeom prst="rect">
            <a:avLst/>
          </a:prstGeom>
          <a:noFill/>
          <a:ln/>
        </p:spPr>
        <p:txBody>
          <a:bodyPr wrap="square" rtlCol="0" anchor="ctr"/>
          <a:lstStyle/>
          <a:p>
            <a:pPr indent="0" marL="0">
              <a:buNone/>
            </a:pPr>
            <a:r>
              <a:rPr lang="en-US" sz="1200" b="1" dirty="0">
                <a:solidFill>
                  <a:srgbClr val="1A3A5C"/>
                </a:solidFill>
                <a:latin typeface="Calibri" pitchFamily="34" charset="0"/>
                <a:ea typeface="Calibri" pitchFamily="34" charset="-122"/>
                <a:cs typeface="Calibri" pitchFamily="34" charset="-120"/>
              </a:rPr>
              <a:t>Your controls (keep these exactly the same every trial):</a:t>
            </a:r>
            <a:endParaRPr lang="en-US" sz="1200" dirty="0"/>
          </a:p>
        </p:txBody>
      </p:sp>
      <p:sp>
        <p:nvSpPr>
          <p:cNvPr id="7" name="Shape 5"/>
          <p:cNvSpPr/>
          <p:nvPr/>
        </p:nvSpPr>
        <p:spPr>
          <a:xfrm>
            <a:off x="457200" y="1755648"/>
            <a:ext cx="2011680" cy="566928"/>
          </a:xfrm>
          <a:prstGeom prst="rect">
            <a:avLst/>
          </a:prstGeom>
          <a:solidFill>
            <a:srgbClr val="0E7C7B"/>
          </a:solidFill>
          <a:ln w="12700">
            <a:solidFill>
              <a:srgbClr val="0E7C7B"/>
            </a:solidFill>
            <a:prstDash val="solid"/>
          </a:ln>
        </p:spPr>
      </p:sp>
      <p:sp>
        <p:nvSpPr>
          <p:cNvPr id="8" name="Text 6"/>
          <p:cNvSpPr/>
          <p:nvPr/>
        </p:nvSpPr>
        <p:spPr>
          <a:xfrm>
            <a:off x="548640" y="1810512"/>
            <a:ext cx="1828800" cy="45720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Same penny</a:t>
            </a:r>
            <a:endParaRPr lang="en-US" sz="1300" dirty="0"/>
          </a:p>
        </p:txBody>
      </p:sp>
      <p:sp>
        <p:nvSpPr>
          <p:cNvPr id="9" name="Shape 7"/>
          <p:cNvSpPr/>
          <p:nvPr/>
        </p:nvSpPr>
        <p:spPr>
          <a:xfrm>
            <a:off x="2560320" y="1755648"/>
            <a:ext cx="6126480" cy="566928"/>
          </a:xfrm>
          <a:prstGeom prst="rect">
            <a:avLst/>
          </a:prstGeom>
          <a:solidFill>
            <a:srgbClr val="D6EAF8"/>
          </a:solidFill>
          <a:ln w="12700">
            <a:solidFill>
              <a:srgbClr val="D6EAF8"/>
            </a:solidFill>
            <a:prstDash val="solid"/>
          </a:ln>
        </p:spPr>
      </p:sp>
      <p:sp>
        <p:nvSpPr>
          <p:cNvPr id="10" name="Text 8"/>
          <p:cNvSpPr/>
          <p:nvPr/>
        </p:nvSpPr>
        <p:spPr>
          <a:xfrm>
            <a:off x="2651760" y="1810512"/>
            <a:ext cx="5943600" cy="457200"/>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Use the same penny for all 6 trials.</a:t>
            </a:r>
            <a:endParaRPr lang="en-US" sz="1300" dirty="0"/>
          </a:p>
        </p:txBody>
      </p:sp>
      <p:sp>
        <p:nvSpPr>
          <p:cNvPr id="11" name="Shape 9"/>
          <p:cNvSpPr/>
          <p:nvPr/>
        </p:nvSpPr>
        <p:spPr>
          <a:xfrm>
            <a:off x="457200" y="2414016"/>
            <a:ext cx="2011680" cy="566928"/>
          </a:xfrm>
          <a:prstGeom prst="rect">
            <a:avLst/>
          </a:prstGeom>
          <a:solidFill>
            <a:srgbClr val="0E7C7B"/>
          </a:solidFill>
          <a:ln w="12700">
            <a:solidFill>
              <a:srgbClr val="0E7C7B"/>
            </a:solidFill>
            <a:prstDash val="solid"/>
          </a:ln>
        </p:spPr>
      </p:sp>
      <p:sp>
        <p:nvSpPr>
          <p:cNvPr id="12" name="Text 10"/>
          <p:cNvSpPr/>
          <p:nvPr/>
        </p:nvSpPr>
        <p:spPr>
          <a:xfrm>
            <a:off x="548640" y="2468880"/>
            <a:ext cx="1828800" cy="45720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Same dropper</a:t>
            </a:r>
            <a:endParaRPr lang="en-US" sz="1300" dirty="0"/>
          </a:p>
        </p:txBody>
      </p:sp>
      <p:sp>
        <p:nvSpPr>
          <p:cNvPr id="13" name="Shape 11"/>
          <p:cNvSpPr/>
          <p:nvPr/>
        </p:nvSpPr>
        <p:spPr>
          <a:xfrm>
            <a:off x="2560320" y="2414016"/>
            <a:ext cx="6126480" cy="566928"/>
          </a:xfrm>
          <a:prstGeom prst="rect">
            <a:avLst/>
          </a:prstGeom>
          <a:solidFill>
            <a:srgbClr val="D6EAF8"/>
          </a:solidFill>
          <a:ln w="12700">
            <a:solidFill>
              <a:srgbClr val="D6EAF8"/>
            </a:solidFill>
            <a:prstDash val="solid"/>
          </a:ln>
        </p:spPr>
      </p:sp>
      <p:sp>
        <p:nvSpPr>
          <p:cNvPr id="14" name="Text 12"/>
          <p:cNvSpPr/>
          <p:nvPr/>
        </p:nvSpPr>
        <p:spPr>
          <a:xfrm>
            <a:off x="2651760" y="2468880"/>
            <a:ext cx="5943600" cy="457200"/>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One dropper, same amount of pressure each time.</a:t>
            </a:r>
            <a:endParaRPr lang="en-US" sz="1300" dirty="0"/>
          </a:p>
        </p:txBody>
      </p:sp>
      <p:sp>
        <p:nvSpPr>
          <p:cNvPr id="15" name="Shape 13"/>
          <p:cNvSpPr/>
          <p:nvPr/>
        </p:nvSpPr>
        <p:spPr>
          <a:xfrm>
            <a:off x="457200" y="3072384"/>
            <a:ext cx="2011680" cy="566928"/>
          </a:xfrm>
          <a:prstGeom prst="rect">
            <a:avLst/>
          </a:prstGeom>
          <a:solidFill>
            <a:srgbClr val="0E7C7B"/>
          </a:solidFill>
          <a:ln w="12700">
            <a:solidFill>
              <a:srgbClr val="0E7C7B"/>
            </a:solidFill>
            <a:prstDash val="solid"/>
          </a:ln>
        </p:spPr>
      </p:sp>
      <p:sp>
        <p:nvSpPr>
          <p:cNvPr id="16" name="Text 14"/>
          <p:cNvSpPr/>
          <p:nvPr/>
        </p:nvSpPr>
        <p:spPr>
          <a:xfrm>
            <a:off x="548640" y="3127248"/>
            <a:ext cx="1828800" cy="45720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Same technique</a:t>
            </a:r>
            <a:endParaRPr lang="en-US" sz="1300" dirty="0"/>
          </a:p>
        </p:txBody>
      </p:sp>
      <p:sp>
        <p:nvSpPr>
          <p:cNvPr id="17" name="Shape 15"/>
          <p:cNvSpPr/>
          <p:nvPr/>
        </p:nvSpPr>
        <p:spPr>
          <a:xfrm>
            <a:off x="2560320" y="3072384"/>
            <a:ext cx="6126480" cy="566928"/>
          </a:xfrm>
          <a:prstGeom prst="rect">
            <a:avLst/>
          </a:prstGeom>
          <a:solidFill>
            <a:srgbClr val="D6EAF8"/>
          </a:solidFill>
          <a:ln w="12700">
            <a:solidFill>
              <a:srgbClr val="D6EAF8"/>
            </a:solidFill>
            <a:prstDash val="solid"/>
          </a:ln>
        </p:spPr>
      </p:sp>
      <p:sp>
        <p:nvSpPr>
          <p:cNvPr id="18" name="Text 16"/>
          <p:cNvSpPr/>
          <p:nvPr/>
        </p:nvSpPr>
        <p:spPr>
          <a:xfrm>
            <a:off x="2651760" y="3127248"/>
            <a:ext cx="5943600" cy="457200"/>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Hold dropper same height, release drops at same pace.</a:t>
            </a:r>
            <a:endParaRPr lang="en-US" sz="1300" dirty="0"/>
          </a:p>
        </p:txBody>
      </p:sp>
      <p:sp>
        <p:nvSpPr>
          <p:cNvPr id="19" name="Shape 17"/>
          <p:cNvSpPr/>
          <p:nvPr/>
        </p:nvSpPr>
        <p:spPr>
          <a:xfrm>
            <a:off x="457200" y="3730752"/>
            <a:ext cx="2011680" cy="566928"/>
          </a:xfrm>
          <a:prstGeom prst="rect">
            <a:avLst/>
          </a:prstGeom>
          <a:solidFill>
            <a:srgbClr val="0E7C7B"/>
          </a:solidFill>
          <a:ln w="12700">
            <a:solidFill>
              <a:srgbClr val="0E7C7B"/>
            </a:solidFill>
            <a:prstDash val="solid"/>
          </a:ln>
        </p:spPr>
      </p:sp>
      <p:sp>
        <p:nvSpPr>
          <p:cNvPr id="20" name="Text 18"/>
          <p:cNvSpPr/>
          <p:nvPr/>
        </p:nvSpPr>
        <p:spPr>
          <a:xfrm>
            <a:off x="548640" y="3785616"/>
            <a:ext cx="1828800" cy="45720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Same surface</a:t>
            </a:r>
            <a:endParaRPr lang="en-US" sz="1300" dirty="0"/>
          </a:p>
        </p:txBody>
      </p:sp>
      <p:sp>
        <p:nvSpPr>
          <p:cNvPr id="21" name="Shape 19"/>
          <p:cNvSpPr/>
          <p:nvPr/>
        </p:nvSpPr>
        <p:spPr>
          <a:xfrm>
            <a:off x="2560320" y="3730752"/>
            <a:ext cx="6126480" cy="566928"/>
          </a:xfrm>
          <a:prstGeom prst="rect">
            <a:avLst/>
          </a:prstGeom>
          <a:solidFill>
            <a:srgbClr val="D6EAF8"/>
          </a:solidFill>
          <a:ln w="12700">
            <a:solidFill>
              <a:srgbClr val="D6EAF8"/>
            </a:solidFill>
            <a:prstDash val="solid"/>
          </a:ln>
        </p:spPr>
      </p:sp>
      <p:sp>
        <p:nvSpPr>
          <p:cNvPr id="22" name="Text 20"/>
          <p:cNvSpPr/>
          <p:nvPr/>
        </p:nvSpPr>
        <p:spPr>
          <a:xfrm>
            <a:off x="2651760" y="3785616"/>
            <a:ext cx="5943600" cy="457200"/>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Penny rests on a paper towel, same spot each time.</a:t>
            </a:r>
            <a:endParaRPr lang="en-US" sz="1300" dirty="0"/>
          </a:p>
        </p:txBody>
      </p:sp>
      <p:sp>
        <p:nvSpPr>
          <p:cNvPr id="23" name="Shape 21"/>
          <p:cNvSpPr/>
          <p:nvPr/>
        </p:nvSpPr>
        <p:spPr>
          <a:xfrm>
            <a:off x="457200" y="4407408"/>
            <a:ext cx="8229600" cy="384048"/>
          </a:xfrm>
          <a:prstGeom prst="rect">
            <a:avLst/>
          </a:prstGeom>
          <a:solidFill>
            <a:srgbClr val="1A3A5C"/>
          </a:solidFill>
          <a:ln w="12700">
            <a:solidFill>
              <a:srgbClr val="1A3A5C"/>
            </a:solidFill>
            <a:prstDash val="solid"/>
          </a:ln>
        </p:spPr>
      </p:sp>
      <p:sp>
        <p:nvSpPr>
          <p:cNvPr id="24" name="Text 22"/>
          <p:cNvSpPr/>
          <p:nvPr/>
        </p:nvSpPr>
        <p:spPr>
          <a:xfrm>
            <a:off x="548640" y="4462272"/>
            <a:ext cx="8046720" cy="27432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Your variable: which side faces up — heads for 3 trials, tails for 3 trials.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457200" y="137160"/>
            <a:ext cx="8229600" cy="384048"/>
          </a:xfrm>
          <a:prstGeom prst="rect">
            <a:avLst/>
          </a:prstGeom>
          <a:noFill/>
          <a:ln/>
        </p:spPr>
        <p:txBody>
          <a:bodyPr wrap="square" rtlCol="0" anchor="ctr"/>
          <a:lstStyle/>
          <a:p>
            <a:pPr indent="0" marL="0">
              <a:buNone/>
            </a:pPr>
            <a:r>
              <a:rPr lang="en-US" sz="2400" b="1" dirty="0">
                <a:solidFill>
                  <a:srgbClr val="1A3A5C"/>
                </a:solidFill>
                <a:latin typeface="Cambria" pitchFamily="34" charset="0"/>
                <a:ea typeface="Cambria" pitchFamily="34" charset="-122"/>
                <a:cs typeface="Cambria" pitchFamily="34" charset="-120"/>
              </a:rPr>
              <a:t>The Penny Test — Setup Diagram</a:t>
            </a:r>
            <a:endParaRPr lang="en-US" sz="2400" dirty="0"/>
          </a:p>
        </p:txBody>
      </p:sp>
      <p:sp>
        <p:nvSpPr>
          <p:cNvPr id="4" name="Shape 2"/>
          <p:cNvSpPr/>
          <p:nvPr/>
        </p:nvSpPr>
        <p:spPr>
          <a:xfrm>
            <a:off x="274320" y="640080"/>
            <a:ext cx="4114800" cy="4114800"/>
          </a:xfrm>
          <a:prstGeom prst="rect">
            <a:avLst/>
          </a:prstGeom>
          <a:solidFill>
            <a:srgbClr val="E8F4FD"/>
          </a:solidFill>
          <a:ln w="12700">
            <a:solidFill>
              <a:srgbClr val="E8F4FD"/>
            </a:solidFill>
            <a:prstDash val="solid"/>
          </a:ln>
        </p:spPr>
      </p:sp>
      <p:sp>
        <p:nvSpPr>
          <p:cNvPr id="5" name="Text 3"/>
          <p:cNvSpPr/>
          <p:nvPr/>
        </p:nvSpPr>
        <p:spPr>
          <a:xfrm>
            <a:off x="365760" y="749808"/>
            <a:ext cx="3931920" cy="347472"/>
          </a:xfrm>
          <a:prstGeom prst="rect">
            <a:avLst/>
          </a:prstGeom>
          <a:noFill/>
          <a:ln/>
        </p:spPr>
        <p:txBody>
          <a:bodyPr wrap="square" rtlCol="0" anchor="ctr"/>
          <a:lstStyle/>
          <a:p>
            <a:pPr algn="ctr" indent="0" marL="0">
              <a:buNone/>
            </a:pPr>
            <a:r>
              <a:rPr lang="en-US" sz="1600" b="1" dirty="0">
                <a:solidFill>
                  <a:srgbClr val="2E86AB"/>
                </a:solidFill>
                <a:latin typeface="Calibri" pitchFamily="34" charset="0"/>
                <a:ea typeface="Calibri" pitchFamily="34" charset="-122"/>
                <a:cs typeface="Calibri" pitchFamily="34" charset="-120"/>
              </a:rPr>
              <a:t>HEADS SIDE</a:t>
            </a:r>
            <a:endParaRPr lang="en-US" sz="1600" dirty="0"/>
          </a:p>
        </p:txBody>
      </p:sp>
      <p:sp>
        <p:nvSpPr>
          <p:cNvPr id="6" name="Shape 4"/>
          <p:cNvSpPr/>
          <p:nvPr/>
        </p:nvSpPr>
        <p:spPr>
          <a:xfrm>
            <a:off x="1371600" y="1234440"/>
            <a:ext cx="1920240" cy="1920240"/>
          </a:xfrm>
          <a:prstGeom prst="rect">
            <a:avLst/>
          </a:prstGeom>
          <a:solidFill>
            <a:srgbClr val="C8C8C8"/>
          </a:solidFill>
          <a:ln w="12700">
            <a:solidFill>
              <a:srgbClr val="999999"/>
            </a:solidFill>
            <a:prstDash val="solid"/>
          </a:ln>
        </p:spPr>
      </p:sp>
      <p:sp>
        <p:nvSpPr>
          <p:cNvPr id="7" name="Text 5"/>
          <p:cNvSpPr/>
          <p:nvPr/>
        </p:nvSpPr>
        <p:spPr>
          <a:xfrm>
            <a:off x="1371600" y="1234440"/>
            <a:ext cx="1920240" cy="1920240"/>
          </a:xfrm>
          <a:prstGeom prst="rect">
            <a:avLst/>
          </a:prstGeom>
          <a:noFill/>
          <a:ln/>
        </p:spPr>
        <p:txBody>
          <a:bodyPr wrap="square" rtlCol="0" anchor="ctr"/>
          <a:lstStyle/>
          <a:p>
            <a:pPr algn="ctr" indent="0" marL="0">
              <a:buNone/>
            </a:pPr>
            <a:r>
              <a:rPr lang="en-US" sz="1800" b="1" dirty="0">
                <a:solidFill>
                  <a:srgbClr val="555555"/>
                </a:solidFill>
                <a:latin typeface="Calibri" pitchFamily="34" charset="0"/>
                <a:ea typeface="Calibri" pitchFamily="34" charset="-122"/>
                <a:cs typeface="Calibri" pitchFamily="34" charset="-120"/>
              </a:rPr>
              <a:t>HEADS</a:t>
            </a:r>
            <a:endParaRPr lang="en-US" sz="1800" dirty="0"/>
          </a:p>
        </p:txBody>
      </p:sp>
      <p:sp>
        <p:nvSpPr>
          <p:cNvPr id="8" name="Text 6"/>
          <p:cNvSpPr/>
          <p:nvPr/>
        </p:nvSpPr>
        <p:spPr>
          <a:xfrm>
            <a:off x="457200" y="3246120"/>
            <a:ext cx="3657600" cy="274320"/>
          </a:xfrm>
          <a:prstGeom prst="rect">
            <a:avLst/>
          </a:prstGeom>
          <a:noFill/>
          <a:ln/>
        </p:spPr>
        <p:txBody>
          <a:bodyPr wrap="square" rtlCol="0" anchor="ctr"/>
          <a:lstStyle/>
          <a:p>
            <a:pPr algn="ctr" indent="0" marL="0">
              <a:buNone/>
            </a:pPr>
            <a:r>
              <a:rPr lang="en-US" sz="1200" dirty="0">
                <a:solidFill>
                  <a:srgbClr val="2C4A6E"/>
                </a:solidFill>
                <a:latin typeface="Calibri" pitchFamily="34" charset="0"/>
                <a:ea typeface="Calibri" pitchFamily="34" charset="-122"/>
                <a:cs typeface="Calibri" pitchFamily="34" charset="-120"/>
              </a:rPr>
              <a:t>Raised texture</a:t>
            </a:r>
            <a:endParaRPr lang="en-US" sz="1200" dirty="0"/>
          </a:p>
        </p:txBody>
      </p:sp>
      <p:sp>
        <p:nvSpPr>
          <p:cNvPr id="9" name="Text 7"/>
          <p:cNvSpPr/>
          <p:nvPr/>
        </p:nvSpPr>
        <p:spPr>
          <a:xfrm>
            <a:off x="365760" y="3566160"/>
            <a:ext cx="3931920" cy="347472"/>
          </a:xfrm>
          <a:prstGeom prst="rect">
            <a:avLst/>
          </a:prstGeom>
          <a:noFill/>
          <a:ln/>
        </p:spPr>
        <p:txBody>
          <a:bodyPr wrap="square" rtlCol="0" anchor="ctr"/>
          <a:lstStyle/>
          <a:p>
            <a:pPr algn="ctr" indent="0" marL="0">
              <a:buNone/>
            </a:pPr>
            <a:r>
              <a:rPr lang="en-US" sz="1100" dirty="0">
                <a:solidFill>
                  <a:srgbClr val="2E86AB"/>
                </a:solidFill>
                <a:latin typeface="Calibri" pitchFamily="34" charset="0"/>
                <a:ea typeface="Calibri" pitchFamily="34" charset="-122"/>
                <a:cs typeface="Calibri" pitchFamily="34" charset="-120"/>
              </a:rPr>
              <a:t>Variable: this side faces up in Trials 1-2-3</a:t>
            </a:r>
            <a:endParaRPr lang="en-US" sz="1100" dirty="0"/>
          </a:p>
        </p:txBody>
      </p:sp>
      <p:sp>
        <p:nvSpPr>
          <p:cNvPr id="10" name="Text 8"/>
          <p:cNvSpPr/>
          <p:nvPr/>
        </p:nvSpPr>
        <p:spPr>
          <a:xfrm>
            <a:off x="365760" y="3977640"/>
            <a:ext cx="3931920" cy="64008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Drops counted: Trial 1: ___ Trial 2: ___ Trial 3: ___</a:t>
            </a:r>
            <a:endParaRPr lang="en-US" sz="1100" dirty="0"/>
          </a:p>
        </p:txBody>
      </p:sp>
      <p:sp>
        <p:nvSpPr>
          <p:cNvPr id="11" name="Shape 9"/>
          <p:cNvSpPr/>
          <p:nvPr/>
        </p:nvSpPr>
        <p:spPr>
          <a:xfrm>
            <a:off x="4754880" y="640080"/>
            <a:ext cx="4114800" cy="4114800"/>
          </a:xfrm>
          <a:prstGeom prst="rect">
            <a:avLst/>
          </a:prstGeom>
          <a:solidFill>
            <a:srgbClr val="FFF8E8"/>
          </a:solidFill>
          <a:ln w="12700">
            <a:solidFill>
              <a:srgbClr val="FFF8E8"/>
            </a:solidFill>
            <a:prstDash val="solid"/>
          </a:ln>
        </p:spPr>
      </p:sp>
      <p:sp>
        <p:nvSpPr>
          <p:cNvPr id="12" name="Text 10"/>
          <p:cNvSpPr/>
          <p:nvPr/>
        </p:nvSpPr>
        <p:spPr>
          <a:xfrm>
            <a:off x="4846320" y="749808"/>
            <a:ext cx="3931920" cy="347472"/>
          </a:xfrm>
          <a:prstGeom prst="rect">
            <a:avLst/>
          </a:prstGeom>
          <a:noFill/>
          <a:ln/>
        </p:spPr>
        <p:txBody>
          <a:bodyPr wrap="square" rtlCol="0" anchor="ctr"/>
          <a:lstStyle/>
          <a:p>
            <a:pPr algn="ctr" indent="0" marL="0">
              <a:buNone/>
            </a:pPr>
            <a:r>
              <a:rPr lang="en-US" sz="1600" b="1" dirty="0">
                <a:solidFill>
                  <a:srgbClr val="F07D35"/>
                </a:solidFill>
                <a:latin typeface="Calibri" pitchFamily="34" charset="0"/>
                <a:ea typeface="Calibri" pitchFamily="34" charset="-122"/>
                <a:cs typeface="Calibri" pitchFamily="34" charset="-120"/>
              </a:rPr>
              <a:t>TAILS SIDE</a:t>
            </a:r>
            <a:endParaRPr lang="en-US" sz="1600" dirty="0"/>
          </a:p>
        </p:txBody>
      </p:sp>
      <p:sp>
        <p:nvSpPr>
          <p:cNvPr id="13" name="Shape 11"/>
          <p:cNvSpPr/>
          <p:nvPr/>
        </p:nvSpPr>
        <p:spPr>
          <a:xfrm>
            <a:off x="5852160" y="1234440"/>
            <a:ext cx="1920240" cy="1920240"/>
          </a:xfrm>
          <a:prstGeom prst="rect">
            <a:avLst/>
          </a:prstGeom>
          <a:solidFill>
            <a:srgbClr val="D4D4D4"/>
          </a:solidFill>
          <a:ln w="12700">
            <a:solidFill>
              <a:srgbClr val="999999"/>
            </a:solidFill>
            <a:prstDash val="solid"/>
          </a:ln>
        </p:spPr>
      </p:sp>
      <p:sp>
        <p:nvSpPr>
          <p:cNvPr id="14" name="Text 12"/>
          <p:cNvSpPr/>
          <p:nvPr/>
        </p:nvSpPr>
        <p:spPr>
          <a:xfrm>
            <a:off x="5852160" y="1234440"/>
            <a:ext cx="1920240" cy="1920240"/>
          </a:xfrm>
          <a:prstGeom prst="rect">
            <a:avLst/>
          </a:prstGeom>
          <a:noFill/>
          <a:ln/>
        </p:spPr>
        <p:txBody>
          <a:bodyPr wrap="square" rtlCol="0" anchor="ctr"/>
          <a:lstStyle/>
          <a:p>
            <a:pPr algn="ctr" indent="0" marL="0">
              <a:buNone/>
            </a:pPr>
            <a:r>
              <a:rPr lang="en-US" sz="1800" b="1" dirty="0">
                <a:solidFill>
                  <a:srgbClr val="555555"/>
                </a:solidFill>
                <a:latin typeface="Calibri" pitchFamily="34" charset="0"/>
                <a:ea typeface="Calibri" pitchFamily="34" charset="-122"/>
                <a:cs typeface="Calibri" pitchFamily="34" charset="-120"/>
              </a:rPr>
              <a:t>TAILS</a:t>
            </a:r>
            <a:endParaRPr lang="en-US" sz="1800" dirty="0"/>
          </a:p>
        </p:txBody>
      </p:sp>
      <p:sp>
        <p:nvSpPr>
          <p:cNvPr id="15" name="Text 13"/>
          <p:cNvSpPr/>
          <p:nvPr/>
        </p:nvSpPr>
        <p:spPr>
          <a:xfrm>
            <a:off x="4846320" y="3246120"/>
            <a:ext cx="3931920" cy="274320"/>
          </a:xfrm>
          <a:prstGeom prst="rect">
            <a:avLst/>
          </a:prstGeom>
          <a:noFill/>
          <a:ln/>
        </p:spPr>
        <p:txBody>
          <a:bodyPr wrap="square" rtlCol="0" anchor="ctr"/>
          <a:lstStyle/>
          <a:p>
            <a:pPr algn="ctr" indent="0" marL="0">
              <a:buNone/>
            </a:pPr>
            <a:r>
              <a:rPr lang="en-US" sz="1200" dirty="0">
                <a:solidFill>
                  <a:srgbClr val="2C4A6E"/>
                </a:solidFill>
                <a:latin typeface="Calibri" pitchFamily="34" charset="0"/>
                <a:ea typeface="Calibri" pitchFamily="34" charset="-122"/>
                <a:cs typeface="Calibri" pitchFamily="34" charset="-120"/>
              </a:rPr>
              <a:t>Smoother surface</a:t>
            </a:r>
            <a:endParaRPr lang="en-US" sz="1200" dirty="0"/>
          </a:p>
        </p:txBody>
      </p:sp>
      <p:sp>
        <p:nvSpPr>
          <p:cNvPr id="16" name="Text 14"/>
          <p:cNvSpPr/>
          <p:nvPr/>
        </p:nvSpPr>
        <p:spPr>
          <a:xfrm>
            <a:off x="4846320" y="3566160"/>
            <a:ext cx="3931920" cy="347472"/>
          </a:xfrm>
          <a:prstGeom prst="rect">
            <a:avLst/>
          </a:prstGeom>
          <a:noFill/>
          <a:ln/>
        </p:spPr>
        <p:txBody>
          <a:bodyPr wrap="square" rtlCol="0" anchor="ctr"/>
          <a:lstStyle/>
          <a:p>
            <a:pPr algn="ctr" indent="0" marL="0">
              <a:buNone/>
            </a:pPr>
            <a:r>
              <a:rPr lang="en-US" sz="1100" dirty="0">
                <a:solidFill>
                  <a:srgbClr val="F07D35"/>
                </a:solidFill>
                <a:latin typeface="Calibri" pitchFamily="34" charset="0"/>
                <a:ea typeface="Calibri" pitchFamily="34" charset="-122"/>
                <a:cs typeface="Calibri" pitchFamily="34" charset="-120"/>
              </a:rPr>
              <a:t>Variable: this side faces up in Trials 4-5-6</a:t>
            </a:r>
            <a:endParaRPr lang="en-US" sz="1100" dirty="0"/>
          </a:p>
        </p:txBody>
      </p:sp>
      <p:sp>
        <p:nvSpPr>
          <p:cNvPr id="17" name="Text 15"/>
          <p:cNvSpPr/>
          <p:nvPr/>
        </p:nvSpPr>
        <p:spPr>
          <a:xfrm>
            <a:off x="4846320" y="3977640"/>
            <a:ext cx="3931920" cy="64008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Drops counted: Trial 4: ___ Trial 5: ___ Trial 6: ___</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74320"/>
            <a:ext cx="1129284" cy="274320"/>
          </a:xfrm>
          <a:prstGeom prst="rect">
            <a:avLst/>
          </a:prstGeom>
          <a:solidFill>
            <a:srgbClr val="2A7A4B"/>
          </a:solidFill>
          <a:ln w="12700">
            <a:solidFill>
              <a:srgbClr val="2A7A4B"/>
            </a:solidFill>
            <a:prstDash val="solid"/>
          </a:ln>
        </p:spPr>
      </p:sp>
      <p:sp>
        <p:nvSpPr>
          <p:cNvPr id="4" name="Text 2"/>
          <p:cNvSpPr/>
          <p:nvPr/>
        </p:nvSpPr>
        <p:spPr>
          <a:xfrm>
            <a:off x="457200" y="274320"/>
            <a:ext cx="112928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INVESTIGATE</a:t>
            </a:r>
            <a:endParaRPr lang="en-US" sz="1000" dirty="0"/>
          </a:p>
        </p:txBody>
      </p:sp>
      <p:sp>
        <p:nvSpPr>
          <p:cNvPr id="5" name="Text 3"/>
          <p:cNvSpPr/>
          <p:nvPr/>
        </p:nvSpPr>
        <p:spPr>
          <a:xfrm>
            <a:off x="457200" y="685800"/>
            <a:ext cx="8229600" cy="475488"/>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Penny Drop Investigation</a:t>
            </a:r>
            <a:endParaRPr lang="en-US" sz="2800" dirty="0"/>
          </a:p>
        </p:txBody>
      </p:sp>
      <p:sp>
        <p:nvSpPr>
          <p:cNvPr id="6" name="Shape 4"/>
          <p:cNvSpPr/>
          <p:nvPr/>
        </p:nvSpPr>
        <p:spPr>
          <a:xfrm>
            <a:off x="457200" y="1261872"/>
            <a:ext cx="8229600" cy="457200"/>
          </a:xfrm>
          <a:prstGeom prst="rect">
            <a:avLst/>
          </a:prstGeom>
          <a:solidFill>
            <a:srgbClr val="2C4A6E"/>
          </a:solidFill>
          <a:ln w="12700">
            <a:solidFill>
              <a:srgbClr val="2C4A6E"/>
            </a:solidFill>
            <a:prstDash val="solid"/>
          </a:ln>
        </p:spPr>
      </p:sp>
      <p:sp>
        <p:nvSpPr>
          <p:cNvPr id="7" name="Text 5"/>
          <p:cNvSpPr/>
          <p:nvPr/>
        </p:nvSpPr>
        <p:spPr>
          <a:xfrm>
            <a:off x="548640" y="1316736"/>
            <a:ext cx="8046720" cy="3474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You will test both sides of a penny and collect data across 3 trials each. Follow each step carefully.</a:t>
            </a:r>
            <a:endParaRPr lang="en-US" sz="1300" dirty="0"/>
          </a:p>
        </p:txBody>
      </p:sp>
      <p:sp>
        <p:nvSpPr>
          <p:cNvPr id="8" name="Shape 6"/>
          <p:cNvSpPr/>
          <p:nvPr/>
        </p:nvSpPr>
        <p:spPr>
          <a:xfrm>
            <a:off x="457200" y="1828800"/>
            <a:ext cx="438912" cy="502920"/>
          </a:xfrm>
          <a:prstGeom prst="rect">
            <a:avLst/>
          </a:prstGeom>
          <a:solidFill>
            <a:srgbClr val="2A7A4B"/>
          </a:solidFill>
          <a:ln w="12700">
            <a:solidFill>
              <a:srgbClr val="2A7A4B"/>
            </a:solidFill>
            <a:prstDash val="solid"/>
          </a:ln>
        </p:spPr>
      </p:sp>
      <p:sp>
        <p:nvSpPr>
          <p:cNvPr id="9" name="Text 7"/>
          <p:cNvSpPr/>
          <p:nvPr/>
        </p:nvSpPr>
        <p:spPr>
          <a:xfrm>
            <a:off x="548640" y="1883664"/>
            <a:ext cx="256032" cy="393192"/>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Shape 8"/>
          <p:cNvSpPr/>
          <p:nvPr/>
        </p:nvSpPr>
        <p:spPr>
          <a:xfrm>
            <a:off x="1024128" y="1828800"/>
            <a:ext cx="7662672" cy="502920"/>
          </a:xfrm>
          <a:prstGeom prst="rect">
            <a:avLst/>
          </a:prstGeom>
          <a:solidFill>
            <a:srgbClr val="1A3A5C"/>
          </a:solidFill>
          <a:ln w="12700">
            <a:solidFill>
              <a:srgbClr val="1A3A5C"/>
            </a:solidFill>
            <a:prstDash val="solid"/>
          </a:ln>
        </p:spPr>
      </p:sp>
      <p:sp>
        <p:nvSpPr>
          <p:cNvPr id="11" name="Text 9"/>
          <p:cNvSpPr/>
          <p:nvPr/>
        </p:nvSpPr>
        <p:spPr>
          <a:xfrm>
            <a:off x="1115568" y="1883664"/>
            <a:ext cx="7479792" cy="3931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1: Set up your penny heads side up on a paper towel.</a:t>
            </a:r>
            <a:endParaRPr lang="en-US" sz="1300" dirty="0"/>
          </a:p>
        </p:txBody>
      </p:sp>
      <p:sp>
        <p:nvSpPr>
          <p:cNvPr id="12" name="Shape 10"/>
          <p:cNvSpPr/>
          <p:nvPr/>
        </p:nvSpPr>
        <p:spPr>
          <a:xfrm>
            <a:off x="457200" y="2450592"/>
            <a:ext cx="438912" cy="502920"/>
          </a:xfrm>
          <a:prstGeom prst="rect">
            <a:avLst/>
          </a:prstGeom>
          <a:solidFill>
            <a:srgbClr val="2A7A4B"/>
          </a:solidFill>
          <a:ln w="12700">
            <a:solidFill>
              <a:srgbClr val="2A7A4B"/>
            </a:solidFill>
            <a:prstDash val="solid"/>
          </a:ln>
        </p:spPr>
      </p:sp>
      <p:sp>
        <p:nvSpPr>
          <p:cNvPr id="13" name="Text 11"/>
          <p:cNvSpPr/>
          <p:nvPr/>
        </p:nvSpPr>
        <p:spPr>
          <a:xfrm>
            <a:off x="548640" y="2505456"/>
            <a:ext cx="256032" cy="393192"/>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Shape 12"/>
          <p:cNvSpPr/>
          <p:nvPr/>
        </p:nvSpPr>
        <p:spPr>
          <a:xfrm>
            <a:off x="1024128" y="2450592"/>
            <a:ext cx="7662672" cy="502920"/>
          </a:xfrm>
          <a:prstGeom prst="rect">
            <a:avLst/>
          </a:prstGeom>
          <a:solidFill>
            <a:srgbClr val="1A3A5C"/>
          </a:solidFill>
          <a:ln w="12700">
            <a:solidFill>
              <a:srgbClr val="1A3A5C"/>
            </a:solidFill>
            <a:prstDash val="solid"/>
          </a:ln>
        </p:spPr>
      </p:sp>
      <p:sp>
        <p:nvSpPr>
          <p:cNvPr id="15" name="Text 13"/>
          <p:cNvSpPr/>
          <p:nvPr/>
        </p:nvSpPr>
        <p:spPr>
          <a:xfrm>
            <a:off x="1115568" y="2505456"/>
            <a:ext cx="7479792" cy="3931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2: Using a dropper, add drops one at a time. Count each drop until water spills.</a:t>
            </a:r>
            <a:endParaRPr lang="en-US" sz="1300" dirty="0"/>
          </a:p>
        </p:txBody>
      </p:sp>
      <p:sp>
        <p:nvSpPr>
          <p:cNvPr id="16" name="Shape 14"/>
          <p:cNvSpPr/>
          <p:nvPr/>
        </p:nvSpPr>
        <p:spPr>
          <a:xfrm>
            <a:off x="457200" y="3072384"/>
            <a:ext cx="438912" cy="502920"/>
          </a:xfrm>
          <a:prstGeom prst="rect">
            <a:avLst/>
          </a:prstGeom>
          <a:solidFill>
            <a:srgbClr val="2A7A4B"/>
          </a:solidFill>
          <a:ln w="12700">
            <a:solidFill>
              <a:srgbClr val="2A7A4B"/>
            </a:solidFill>
            <a:prstDash val="solid"/>
          </a:ln>
        </p:spPr>
      </p:sp>
      <p:sp>
        <p:nvSpPr>
          <p:cNvPr id="17" name="Text 15"/>
          <p:cNvSpPr/>
          <p:nvPr/>
        </p:nvSpPr>
        <p:spPr>
          <a:xfrm>
            <a:off x="548640" y="3127248"/>
            <a:ext cx="256032" cy="393192"/>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Shape 16"/>
          <p:cNvSpPr/>
          <p:nvPr/>
        </p:nvSpPr>
        <p:spPr>
          <a:xfrm>
            <a:off x="1024128" y="3072384"/>
            <a:ext cx="7662672" cy="502920"/>
          </a:xfrm>
          <a:prstGeom prst="rect">
            <a:avLst/>
          </a:prstGeom>
          <a:solidFill>
            <a:srgbClr val="1A3A5C"/>
          </a:solidFill>
          <a:ln w="12700">
            <a:solidFill>
              <a:srgbClr val="1A3A5C"/>
            </a:solidFill>
            <a:prstDash val="solid"/>
          </a:ln>
        </p:spPr>
      </p:sp>
      <p:sp>
        <p:nvSpPr>
          <p:cNvPr id="19" name="Text 17"/>
          <p:cNvSpPr/>
          <p:nvPr/>
        </p:nvSpPr>
        <p:spPr>
          <a:xfrm>
            <a:off x="1115568" y="3127248"/>
            <a:ext cx="7479792" cy="3931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3: Record the count. Dry the penny. Repeat for 3 total trials.</a:t>
            </a:r>
            <a:endParaRPr lang="en-US" sz="1300" dirty="0"/>
          </a:p>
        </p:txBody>
      </p:sp>
      <p:sp>
        <p:nvSpPr>
          <p:cNvPr id="20" name="Shape 18"/>
          <p:cNvSpPr/>
          <p:nvPr/>
        </p:nvSpPr>
        <p:spPr>
          <a:xfrm>
            <a:off x="457200" y="3694176"/>
            <a:ext cx="438912" cy="502920"/>
          </a:xfrm>
          <a:prstGeom prst="rect">
            <a:avLst/>
          </a:prstGeom>
          <a:solidFill>
            <a:srgbClr val="2A7A4B"/>
          </a:solidFill>
          <a:ln w="12700">
            <a:solidFill>
              <a:srgbClr val="2A7A4B"/>
            </a:solidFill>
            <a:prstDash val="solid"/>
          </a:ln>
        </p:spPr>
      </p:sp>
      <p:sp>
        <p:nvSpPr>
          <p:cNvPr id="21" name="Text 19"/>
          <p:cNvSpPr/>
          <p:nvPr/>
        </p:nvSpPr>
        <p:spPr>
          <a:xfrm>
            <a:off x="548640" y="3749040"/>
            <a:ext cx="256032" cy="393192"/>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Shape 20"/>
          <p:cNvSpPr/>
          <p:nvPr/>
        </p:nvSpPr>
        <p:spPr>
          <a:xfrm>
            <a:off x="1024128" y="3694176"/>
            <a:ext cx="7662672" cy="502920"/>
          </a:xfrm>
          <a:prstGeom prst="rect">
            <a:avLst/>
          </a:prstGeom>
          <a:solidFill>
            <a:srgbClr val="1A3A5C"/>
          </a:solidFill>
          <a:ln w="12700">
            <a:solidFill>
              <a:srgbClr val="1A3A5C"/>
            </a:solidFill>
            <a:prstDash val="solid"/>
          </a:ln>
        </p:spPr>
      </p:sp>
      <p:sp>
        <p:nvSpPr>
          <p:cNvPr id="23" name="Text 21"/>
          <p:cNvSpPr/>
          <p:nvPr/>
        </p:nvSpPr>
        <p:spPr>
          <a:xfrm>
            <a:off x="1115568" y="3749040"/>
            <a:ext cx="7479792" cy="3931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4: Flip to tails side. Repeat the same 3-trial process. Record all data.</a:t>
            </a:r>
            <a:endParaRPr lang="en-US" sz="1300" dirty="0"/>
          </a:p>
        </p:txBody>
      </p:sp>
      <p:sp>
        <p:nvSpPr>
          <p:cNvPr id="24" name="Shape 22"/>
          <p:cNvSpPr/>
          <p:nvPr/>
        </p:nvSpPr>
        <p:spPr>
          <a:xfrm>
            <a:off x="457200" y="4315968"/>
            <a:ext cx="438912" cy="502920"/>
          </a:xfrm>
          <a:prstGeom prst="rect">
            <a:avLst/>
          </a:prstGeom>
          <a:solidFill>
            <a:srgbClr val="2A7A4B"/>
          </a:solidFill>
          <a:ln w="12700">
            <a:solidFill>
              <a:srgbClr val="2A7A4B"/>
            </a:solidFill>
            <a:prstDash val="solid"/>
          </a:ln>
        </p:spPr>
      </p:sp>
      <p:sp>
        <p:nvSpPr>
          <p:cNvPr id="25" name="Text 23"/>
          <p:cNvSpPr/>
          <p:nvPr/>
        </p:nvSpPr>
        <p:spPr>
          <a:xfrm>
            <a:off x="548640" y="4370832"/>
            <a:ext cx="256032" cy="393192"/>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6" name="Shape 24"/>
          <p:cNvSpPr/>
          <p:nvPr/>
        </p:nvSpPr>
        <p:spPr>
          <a:xfrm>
            <a:off x="1024128" y="4315968"/>
            <a:ext cx="7662672" cy="502920"/>
          </a:xfrm>
          <a:prstGeom prst="rect">
            <a:avLst/>
          </a:prstGeom>
          <a:solidFill>
            <a:srgbClr val="1A3A5C"/>
          </a:solidFill>
          <a:ln w="12700">
            <a:solidFill>
              <a:srgbClr val="1A3A5C"/>
            </a:solidFill>
            <a:prstDash val="solid"/>
          </a:ln>
        </p:spPr>
      </p:sp>
      <p:sp>
        <p:nvSpPr>
          <p:cNvPr id="27" name="Text 25"/>
          <p:cNvSpPr/>
          <p:nvPr/>
        </p:nvSpPr>
        <p:spPr>
          <a:xfrm>
            <a:off x="1115568" y="4370832"/>
            <a:ext cx="7479792" cy="3931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5: Calculate the average for each side. Compare your results.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457200" y="137160"/>
            <a:ext cx="8229600" cy="384048"/>
          </a:xfrm>
          <a:prstGeom prst="rect">
            <a:avLst/>
          </a:prstGeom>
          <a:noFill/>
          <a:ln/>
        </p:spPr>
        <p:txBody>
          <a:bodyPr wrap="square" rtlCol="0" anchor="ctr"/>
          <a:lstStyle/>
          <a:p>
            <a:pPr indent="0" marL="0">
              <a:buNone/>
            </a:pPr>
            <a:r>
              <a:rPr lang="en-US" sz="2200" b="1" dirty="0">
                <a:solidFill>
                  <a:srgbClr val="1A3A5C"/>
                </a:solidFill>
                <a:latin typeface="Cambria" pitchFamily="34" charset="0"/>
                <a:ea typeface="Cambria" pitchFamily="34" charset="-122"/>
                <a:cs typeface="Cambria" pitchFamily="34" charset="-120"/>
              </a:rPr>
              <a:t>Data Table — Record Your Results</a:t>
            </a:r>
            <a:endParaRPr lang="en-US" sz="2200" dirty="0"/>
          </a:p>
        </p:txBody>
      </p:sp>
      <p:sp>
        <p:nvSpPr>
          <p:cNvPr id="4" name="Shape 2"/>
          <p:cNvSpPr/>
          <p:nvPr/>
        </p:nvSpPr>
        <p:spPr>
          <a:xfrm>
            <a:off x="457200" y="621792"/>
            <a:ext cx="8229600" cy="347472"/>
          </a:xfrm>
          <a:prstGeom prst="rect">
            <a:avLst/>
          </a:prstGeom>
          <a:solidFill>
            <a:srgbClr val="1A3A5C"/>
          </a:solidFill>
          <a:ln w="12700">
            <a:solidFill>
              <a:srgbClr val="1A3A5C"/>
            </a:solidFill>
            <a:prstDash val="solid"/>
          </a:ln>
        </p:spPr>
      </p:sp>
      <p:sp>
        <p:nvSpPr>
          <p:cNvPr id="5" name="Text 3"/>
          <p:cNvSpPr/>
          <p:nvPr/>
        </p:nvSpPr>
        <p:spPr>
          <a:xfrm>
            <a:off x="548640" y="676656"/>
            <a:ext cx="8046720" cy="23774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Copy this table into your notebook and fill in your results as you test.</a:t>
            </a:r>
            <a:endParaRPr lang="en-US" sz="1200" dirty="0"/>
          </a:p>
        </p:txBody>
      </p:sp>
      <p:sp>
        <p:nvSpPr>
          <p:cNvPr id="6" name="Shape 4"/>
          <p:cNvSpPr/>
          <p:nvPr/>
        </p:nvSpPr>
        <p:spPr>
          <a:xfrm>
            <a:off x="457200" y="1078992"/>
            <a:ext cx="8229600" cy="411480"/>
          </a:xfrm>
          <a:prstGeom prst="rect">
            <a:avLst/>
          </a:prstGeom>
          <a:solidFill>
            <a:srgbClr val="1A3A5C"/>
          </a:solidFill>
          <a:ln w="12700">
            <a:solidFill>
              <a:srgbClr val="1A3A5C"/>
            </a:solidFill>
            <a:prstDash val="solid"/>
          </a:ln>
        </p:spPr>
      </p:sp>
      <p:sp>
        <p:nvSpPr>
          <p:cNvPr id="7" name="Text 5"/>
          <p:cNvSpPr/>
          <p:nvPr/>
        </p:nvSpPr>
        <p:spPr>
          <a:xfrm>
            <a:off x="914400" y="1078992"/>
            <a:ext cx="1554480" cy="411480"/>
          </a:xfrm>
          <a:prstGeom prst="rect">
            <a:avLst/>
          </a:prstGeom>
          <a:noFill/>
          <a:ln/>
        </p:spPr>
        <p:txBody>
          <a:bodyPr wrap="square" rtlCol="0" anchor="ctr"/>
          <a:lstStyle/>
          <a:p>
            <a:pPr algn="ctr" indent="0" marL="0">
              <a:buNone/>
            </a:pPr>
            <a:endParaRPr lang="en-US" sz="1300" dirty="0"/>
          </a:p>
        </p:txBody>
      </p:sp>
      <p:sp>
        <p:nvSpPr>
          <p:cNvPr id="8" name="Text 6"/>
          <p:cNvSpPr/>
          <p:nvPr/>
        </p:nvSpPr>
        <p:spPr>
          <a:xfrm>
            <a:off x="2560320" y="1078992"/>
            <a:ext cx="1554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Trial 1</a:t>
            </a:r>
            <a:endParaRPr lang="en-US" sz="1300" dirty="0"/>
          </a:p>
        </p:txBody>
      </p:sp>
      <p:sp>
        <p:nvSpPr>
          <p:cNvPr id="9" name="Text 7"/>
          <p:cNvSpPr/>
          <p:nvPr/>
        </p:nvSpPr>
        <p:spPr>
          <a:xfrm>
            <a:off x="4206240" y="1078992"/>
            <a:ext cx="1554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Trial 2</a:t>
            </a:r>
            <a:endParaRPr lang="en-US" sz="1300" dirty="0"/>
          </a:p>
        </p:txBody>
      </p:sp>
      <p:sp>
        <p:nvSpPr>
          <p:cNvPr id="10" name="Text 8"/>
          <p:cNvSpPr/>
          <p:nvPr/>
        </p:nvSpPr>
        <p:spPr>
          <a:xfrm>
            <a:off x="5852160" y="1078992"/>
            <a:ext cx="1554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Trial 3</a:t>
            </a:r>
            <a:endParaRPr lang="en-US" sz="1300" dirty="0"/>
          </a:p>
        </p:txBody>
      </p:sp>
      <p:sp>
        <p:nvSpPr>
          <p:cNvPr id="11" name="Text 9"/>
          <p:cNvSpPr/>
          <p:nvPr/>
        </p:nvSpPr>
        <p:spPr>
          <a:xfrm>
            <a:off x="7498080" y="1078992"/>
            <a:ext cx="1554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Average</a:t>
            </a:r>
            <a:endParaRPr lang="en-US" sz="1300" dirty="0"/>
          </a:p>
        </p:txBody>
      </p:sp>
      <p:sp>
        <p:nvSpPr>
          <p:cNvPr id="12" name="Shape 10"/>
          <p:cNvSpPr/>
          <p:nvPr/>
        </p:nvSpPr>
        <p:spPr>
          <a:xfrm>
            <a:off x="457200" y="1508760"/>
            <a:ext cx="8229600" cy="685800"/>
          </a:xfrm>
          <a:prstGeom prst="rect">
            <a:avLst/>
          </a:prstGeom>
          <a:solidFill>
            <a:srgbClr val="D6EAF8"/>
          </a:solidFill>
          <a:ln w="12700">
            <a:solidFill>
              <a:srgbClr val="B0CCE0"/>
            </a:solidFill>
            <a:prstDash val="solid"/>
          </a:ln>
        </p:spPr>
      </p:sp>
      <p:sp>
        <p:nvSpPr>
          <p:cNvPr id="13" name="Text 11"/>
          <p:cNvSpPr/>
          <p:nvPr/>
        </p:nvSpPr>
        <p:spPr>
          <a:xfrm>
            <a:off x="914400" y="1508760"/>
            <a:ext cx="1554480" cy="685800"/>
          </a:xfrm>
          <a:prstGeom prst="rect">
            <a:avLst/>
          </a:prstGeom>
          <a:noFill/>
          <a:ln/>
        </p:spPr>
        <p:txBody>
          <a:bodyPr wrap="square" rtlCol="0" anchor="ctr"/>
          <a:lstStyle/>
          <a:p>
            <a:pPr algn="ctr" indent="0" marL="0">
              <a:buNone/>
            </a:pPr>
            <a:r>
              <a:rPr lang="en-US" sz="1400" b="1" dirty="0">
                <a:solidFill>
                  <a:srgbClr val="2E86AB"/>
                </a:solidFill>
                <a:latin typeface="Calibri" pitchFamily="34" charset="0"/>
                <a:ea typeface="Calibri" pitchFamily="34" charset="-122"/>
                <a:cs typeface="Calibri" pitchFamily="34" charset="-120"/>
              </a:rPr>
              <a:t>HEADS</a:t>
            </a:r>
            <a:endParaRPr lang="en-US" sz="1400" dirty="0"/>
          </a:p>
        </p:txBody>
      </p:sp>
      <p:sp>
        <p:nvSpPr>
          <p:cNvPr id="14" name="Text 12"/>
          <p:cNvSpPr/>
          <p:nvPr/>
        </p:nvSpPr>
        <p:spPr>
          <a:xfrm>
            <a:off x="2560320" y="1508760"/>
            <a:ext cx="1554480" cy="685800"/>
          </a:xfrm>
          <a:prstGeom prst="rect">
            <a:avLst/>
          </a:prstGeom>
          <a:noFill/>
          <a:ln/>
        </p:spPr>
        <p:txBody>
          <a:bodyPr wrap="square" rtlCol="0" anchor="ctr"/>
          <a:lstStyle/>
          <a:p>
            <a:pPr algn="ctr" indent="0" marL="0">
              <a:buNone/>
            </a:pPr>
            <a:r>
              <a:rPr lang="en-US" sz="1600" dirty="0">
                <a:solidFill>
                  <a:srgbClr val="1A1A2E"/>
                </a:solidFill>
                <a:latin typeface="Calibri" pitchFamily="34" charset="0"/>
                <a:ea typeface="Calibri" pitchFamily="34" charset="-122"/>
                <a:cs typeface="Calibri" pitchFamily="34" charset="-120"/>
              </a:rPr>
              <a:t>___</a:t>
            </a:r>
            <a:endParaRPr lang="en-US" sz="1600" dirty="0"/>
          </a:p>
        </p:txBody>
      </p:sp>
      <p:sp>
        <p:nvSpPr>
          <p:cNvPr id="15" name="Text 13"/>
          <p:cNvSpPr/>
          <p:nvPr/>
        </p:nvSpPr>
        <p:spPr>
          <a:xfrm>
            <a:off x="4206240" y="1508760"/>
            <a:ext cx="1554480" cy="685800"/>
          </a:xfrm>
          <a:prstGeom prst="rect">
            <a:avLst/>
          </a:prstGeom>
          <a:noFill/>
          <a:ln/>
        </p:spPr>
        <p:txBody>
          <a:bodyPr wrap="square" rtlCol="0" anchor="ctr"/>
          <a:lstStyle/>
          <a:p>
            <a:pPr algn="ctr" indent="0" marL="0">
              <a:buNone/>
            </a:pPr>
            <a:r>
              <a:rPr lang="en-US" sz="1600" dirty="0">
                <a:solidFill>
                  <a:srgbClr val="1A1A2E"/>
                </a:solidFill>
                <a:latin typeface="Calibri" pitchFamily="34" charset="0"/>
                <a:ea typeface="Calibri" pitchFamily="34" charset="-122"/>
                <a:cs typeface="Calibri" pitchFamily="34" charset="-120"/>
              </a:rPr>
              <a:t>___</a:t>
            </a:r>
            <a:endParaRPr lang="en-US" sz="1600" dirty="0"/>
          </a:p>
        </p:txBody>
      </p:sp>
      <p:sp>
        <p:nvSpPr>
          <p:cNvPr id="16" name="Text 14"/>
          <p:cNvSpPr/>
          <p:nvPr/>
        </p:nvSpPr>
        <p:spPr>
          <a:xfrm>
            <a:off x="5852160" y="1508760"/>
            <a:ext cx="1554480" cy="685800"/>
          </a:xfrm>
          <a:prstGeom prst="rect">
            <a:avLst/>
          </a:prstGeom>
          <a:noFill/>
          <a:ln/>
        </p:spPr>
        <p:txBody>
          <a:bodyPr wrap="square" rtlCol="0" anchor="ctr"/>
          <a:lstStyle/>
          <a:p>
            <a:pPr algn="ctr" indent="0" marL="0">
              <a:buNone/>
            </a:pPr>
            <a:r>
              <a:rPr lang="en-US" sz="1600" dirty="0">
                <a:solidFill>
                  <a:srgbClr val="1A1A2E"/>
                </a:solidFill>
                <a:latin typeface="Calibri" pitchFamily="34" charset="0"/>
                <a:ea typeface="Calibri" pitchFamily="34" charset="-122"/>
                <a:cs typeface="Calibri" pitchFamily="34" charset="-120"/>
              </a:rPr>
              <a:t>___</a:t>
            </a:r>
            <a:endParaRPr lang="en-US" sz="1600" dirty="0"/>
          </a:p>
        </p:txBody>
      </p:sp>
      <p:sp>
        <p:nvSpPr>
          <p:cNvPr id="17" name="Text 15"/>
          <p:cNvSpPr/>
          <p:nvPr/>
        </p:nvSpPr>
        <p:spPr>
          <a:xfrm>
            <a:off x="7498080" y="1508760"/>
            <a:ext cx="1554480" cy="685800"/>
          </a:xfrm>
          <a:prstGeom prst="rect">
            <a:avLst/>
          </a:prstGeom>
          <a:noFill/>
          <a:ln/>
        </p:spPr>
        <p:txBody>
          <a:bodyPr wrap="square" rtlCol="0" anchor="ctr"/>
          <a:lstStyle/>
          <a:p>
            <a:pPr algn="ctr" indent="0" marL="0">
              <a:buNone/>
            </a:pPr>
            <a:r>
              <a:rPr lang="en-US" sz="1600" dirty="0">
                <a:solidFill>
                  <a:srgbClr val="1A1A2E"/>
                </a:solidFill>
                <a:latin typeface="Calibri" pitchFamily="34" charset="0"/>
                <a:ea typeface="Calibri" pitchFamily="34" charset="-122"/>
                <a:cs typeface="Calibri" pitchFamily="34" charset="-120"/>
              </a:rPr>
              <a:t>___</a:t>
            </a:r>
            <a:endParaRPr lang="en-US" sz="1600" dirty="0"/>
          </a:p>
        </p:txBody>
      </p:sp>
      <p:sp>
        <p:nvSpPr>
          <p:cNvPr id="18" name="Shape 16"/>
          <p:cNvSpPr/>
          <p:nvPr/>
        </p:nvSpPr>
        <p:spPr>
          <a:xfrm>
            <a:off x="457200" y="2212848"/>
            <a:ext cx="8229600" cy="685800"/>
          </a:xfrm>
          <a:prstGeom prst="rect">
            <a:avLst/>
          </a:prstGeom>
          <a:solidFill>
            <a:srgbClr val="FFF3CD"/>
          </a:solidFill>
          <a:ln w="12700">
            <a:solidFill>
              <a:srgbClr val="D4C070"/>
            </a:solidFill>
            <a:prstDash val="solid"/>
          </a:ln>
        </p:spPr>
      </p:sp>
      <p:sp>
        <p:nvSpPr>
          <p:cNvPr id="19" name="Text 17"/>
          <p:cNvSpPr/>
          <p:nvPr/>
        </p:nvSpPr>
        <p:spPr>
          <a:xfrm>
            <a:off x="914400" y="2212848"/>
            <a:ext cx="1554480" cy="685800"/>
          </a:xfrm>
          <a:prstGeom prst="rect">
            <a:avLst/>
          </a:prstGeom>
          <a:noFill/>
          <a:ln/>
        </p:spPr>
        <p:txBody>
          <a:bodyPr wrap="square" rtlCol="0" anchor="ctr"/>
          <a:lstStyle/>
          <a:p>
            <a:pPr algn="ctr" indent="0" marL="0">
              <a:buNone/>
            </a:pPr>
            <a:r>
              <a:rPr lang="en-US" sz="1400" b="1" dirty="0">
                <a:solidFill>
                  <a:srgbClr val="F07D35"/>
                </a:solidFill>
                <a:latin typeface="Calibri" pitchFamily="34" charset="0"/>
                <a:ea typeface="Calibri" pitchFamily="34" charset="-122"/>
                <a:cs typeface="Calibri" pitchFamily="34" charset="-120"/>
              </a:rPr>
              <a:t>TAILS</a:t>
            </a:r>
            <a:endParaRPr lang="en-US" sz="1400" dirty="0"/>
          </a:p>
        </p:txBody>
      </p:sp>
      <p:sp>
        <p:nvSpPr>
          <p:cNvPr id="20" name="Text 18"/>
          <p:cNvSpPr/>
          <p:nvPr/>
        </p:nvSpPr>
        <p:spPr>
          <a:xfrm>
            <a:off x="2560320" y="2212848"/>
            <a:ext cx="1554480" cy="685800"/>
          </a:xfrm>
          <a:prstGeom prst="rect">
            <a:avLst/>
          </a:prstGeom>
          <a:noFill/>
          <a:ln/>
        </p:spPr>
        <p:txBody>
          <a:bodyPr wrap="square" rtlCol="0" anchor="ctr"/>
          <a:lstStyle/>
          <a:p>
            <a:pPr algn="ctr" indent="0" marL="0">
              <a:buNone/>
            </a:pPr>
            <a:r>
              <a:rPr lang="en-US" sz="1600" dirty="0">
                <a:solidFill>
                  <a:srgbClr val="1A1A2E"/>
                </a:solidFill>
                <a:latin typeface="Calibri" pitchFamily="34" charset="0"/>
                <a:ea typeface="Calibri" pitchFamily="34" charset="-122"/>
                <a:cs typeface="Calibri" pitchFamily="34" charset="-120"/>
              </a:rPr>
              <a:t>___</a:t>
            </a:r>
            <a:endParaRPr lang="en-US" sz="1600" dirty="0"/>
          </a:p>
        </p:txBody>
      </p:sp>
      <p:sp>
        <p:nvSpPr>
          <p:cNvPr id="21" name="Text 19"/>
          <p:cNvSpPr/>
          <p:nvPr/>
        </p:nvSpPr>
        <p:spPr>
          <a:xfrm>
            <a:off x="4206240" y="2212848"/>
            <a:ext cx="1554480" cy="685800"/>
          </a:xfrm>
          <a:prstGeom prst="rect">
            <a:avLst/>
          </a:prstGeom>
          <a:noFill/>
          <a:ln/>
        </p:spPr>
        <p:txBody>
          <a:bodyPr wrap="square" rtlCol="0" anchor="ctr"/>
          <a:lstStyle/>
          <a:p>
            <a:pPr algn="ctr" indent="0" marL="0">
              <a:buNone/>
            </a:pPr>
            <a:r>
              <a:rPr lang="en-US" sz="1600" dirty="0">
                <a:solidFill>
                  <a:srgbClr val="1A1A2E"/>
                </a:solidFill>
                <a:latin typeface="Calibri" pitchFamily="34" charset="0"/>
                <a:ea typeface="Calibri" pitchFamily="34" charset="-122"/>
                <a:cs typeface="Calibri" pitchFamily="34" charset="-120"/>
              </a:rPr>
              <a:t>___</a:t>
            </a:r>
            <a:endParaRPr lang="en-US" sz="1600" dirty="0"/>
          </a:p>
        </p:txBody>
      </p:sp>
      <p:sp>
        <p:nvSpPr>
          <p:cNvPr id="22" name="Text 20"/>
          <p:cNvSpPr/>
          <p:nvPr/>
        </p:nvSpPr>
        <p:spPr>
          <a:xfrm>
            <a:off x="5852160" y="2212848"/>
            <a:ext cx="1554480" cy="685800"/>
          </a:xfrm>
          <a:prstGeom prst="rect">
            <a:avLst/>
          </a:prstGeom>
          <a:noFill/>
          <a:ln/>
        </p:spPr>
        <p:txBody>
          <a:bodyPr wrap="square" rtlCol="0" anchor="ctr"/>
          <a:lstStyle/>
          <a:p>
            <a:pPr algn="ctr" indent="0" marL="0">
              <a:buNone/>
            </a:pPr>
            <a:r>
              <a:rPr lang="en-US" sz="1600" dirty="0">
                <a:solidFill>
                  <a:srgbClr val="1A1A2E"/>
                </a:solidFill>
                <a:latin typeface="Calibri" pitchFamily="34" charset="0"/>
                <a:ea typeface="Calibri" pitchFamily="34" charset="-122"/>
                <a:cs typeface="Calibri" pitchFamily="34" charset="-120"/>
              </a:rPr>
              <a:t>___</a:t>
            </a:r>
            <a:endParaRPr lang="en-US" sz="1600" dirty="0"/>
          </a:p>
        </p:txBody>
      </p:sp>
      <p:sp>
        <p:nvSpPr>
          <p:cNvPr id="23" name="Text 21"/>
          <p:cNvSpPr/>
          <p:nvPr/>
        </p:nvSpPr>
        <p:spPr>
          <a:xfrm>
            <a:off x="7498080" y="2212848"/>
            <a:ext cx="1554480" cy="685800"/>
          </a:xfrm>
          <a:prstGeom prst="rect">
            <a:avLst/>
          </a:prstGeom>
          <a:noFill/>
          <a:ln/>
        </p:spPr>
        <p:txBody>
          <a:bodyPr wrap="square" rtlCol="0" anchor="ctr"/>
          <a:lstStyle/>
          <a:p>
            <a:pPr algn="ctr" indent="0" marL="0">
              <a:buNone/>
            </a:pPr>
            <a:r>
              <a:rPr lang="en-US" sz="1600" dirty="0">
                <a:solidFill>
                  <a:srgbClr val="1A1A2E"/>
                </a:solidFill>
                <a:latin typeface="Calibri" pitchFamily="34" charset="0"/>
                <a:ea typeface="Calibri" pitchFamily="34" charset="-122"/>
                <a:cs typeface="Calibri" pitchFamily="34" charset="-120"/>
              </a:rPr>
              <a:t>___</a:t>
            </a:r>
            <a:endParaRPr lang="en-US" sz="1600" dirty="0"/>
          </a:p>
        </p:txBody>
      </p:sp>
      <p:sp>
        <p:nvSpPr>
          <p:cNvPr id="24" name="Shape 22"/>
          <p:cNvSpPr/>
          <p:nvPr/>
        </p:nvSpPr>
        <p:spPr>
          <a:xfrm>
            <a:off x="457200" y="3017520"/>
            <a:ext cx="8229600" cy="530352"/>
          </a:xfrm>
          <a:prstGeom prst="rect">
            <a:avLst/>
          </a:prstGeom>
          <a:solidFill>
            <a:srgbClr val="FFFFFF"/>
          </a:solidFill>
          <a:ln w="12700">
            <a:solidFill>
              <a:srgbClr val="FFFFFF"/>
            </a:solidFill>
            <a:prstDash val="solid"/>
          </a:ln>
        </p:spPr>
      </p:sp>
      <p:sp>
        <p:nvSpPr>
          <p:cNvPr id="25" name="Text 23"/>
          <p:cNvSpPr/>
          <p:nvPr/>
        </p:nvSpPr>
        <p:spPr>
          <a:xfrm>
            <a:off x="548640" y="3072384"/>
            <a:ext cx="8046720" cy="420624"/>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How to find your average: Add all 3 trials and divide by 3.</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Example: (22 + 19 + 24) divided by 3 = 21.7 drops average.</a:t>
            </a:r>
            <a:endParaRPr lang="en-US" sz="1300" dirty="0"/>
          </a:p>
        </p:txBody>
      </p:sp>
      <p:sp>
        <p:nvSpPr>
          <p:cNvPr id="26" name="Shape 24"/>
          <p:cNvSpPr/>
          <p:nvPr/>
        </p:nvSpPr>
        <p:spPr>
          <a:xfrm>
            <a:off x="457200" y="3639312"/>
            <a:ext cx="8229600" cy="502920"/>
          </a:xfrm>
          <a:prstGeom prst="rect">
            <a:avLst/>
          </a:prstGeom>
          <a:solidFill>
            <a:srgbClr val="0E7C7B"/>
          </a:solidFill>
          <a:ln w="12700">
            <a:solidFill>
              <a:srgbClr val="0E7C7B"/>
            </a:solidFill>
            <a:prstDash val="solid"/>
          </a:ln>
        </p:spPr>
      </p:sp>
      <p:sp>
        <p:nvSpPr>
          <p:cNvPr id="27" name="Text 25"/>
          <p:cNvSpPr/>
          <p:nvPr/>
        </p:nvSpPr>
        <p:spPr>
          <a:xfrm>
            <a:off x="548640" y="3694176"/>
            <a:ext cx="8046720" cy="39319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Testable question: Does the heads side or tails side of a penny hold more drops of water?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400" b="1" dirty="0">
                <a:solidFill>
                  <a:srgbClr val="1A3A5C"/>
                </a:solidFill>
                <a:latin typeface="Cambria" pitchFamily="34" charset="0"/>
                <a:ea typeface="Cambria" pitchFamily="34" charset="-122"/>
                <a:cs typeface="Cambria" pitchFamily="34" charset="-120"/>
              </a:rPr>
              <a:t>Record Your Thinking</a:t>
            </a:r>
            <a:endParaRPr lang="en-US" sz="2400" dirty="0"/>
          </a:p>
        </p:txBody>
      </p:sp>
      <p:sp>
        <p:nvSpPr>
          <p:cNvPr id="4" name="Shape 2"/>
          <p:cNvSpPr/>
          <p:nvPr/>
        </p:nvSpPr>
        <p:spPr>
          <a:xfrm>
            <a:off x="457200" y="658368"/>
            <a:ext cx="411480" cy="411480"/>
          </a:xfrm>
          <a:prstGeom prst="rect">
            <a:avLst/>
          </a:prstGeom>
          <a:solidFill>
            <a:srgbClr val="0E7C7B"/>
          </a:solidFill>
          <a:ln w="12700">
            <a:solidFill>
              <a:srgbClr val="0E7C7B"/>
            </a:solidFill>
            <a:prstDash val="solid"/>
          </a:ln>
        </p:spPr>
      </p:sp>
      <p:sp>
        <p:nvSpPr>
          <p:cNvPr id="5" name="Text 3"/>
          <p:cNvSpPr/>
          <p:nvPr/>
        </p:nvSpPr>
        <p:spPr>
          <a:xfrm>
            <a:off x="548640" y="713232"/>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1005840" y="658368"/>
            <a:ext cx="7680960" cy="1234440"/>
          </a:xfrm>
          <a:prstGeom prst="rect">
            <a:avLst/>
          </a:prstGeom>
          <a:solidFill>
            <a:srgbClr val="FFFFFF"/>
          </a:solidFill>
          <a:ln w="12700">
            <a:solidFill>
              <a:srgbClr val="FFFFFF"/>
            </a:solidFill>
            <a:prstDash val="solid"/>
          </a:ln>
        </p:spPr>
      </p:sp>
      <p:sp>
        <p:nvSpPr>
          <p:cNvPr id="7" name="Text 5"/>
          <p:cNvSpPr/>
          <p:nvPr/>
        </p:nvSpPr>
        <p:spPr>
          <a:xfrm>
            <a:off x="1097280" y="713232"/>
            <a:ext cx="7498080" cy="11247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Write your actual data — what did you find for each of the 6 trials? Calculate both averages.</a:t>
            </a:r>
            <a:endParaRPr lang="en-US" sz="1400" dirty="0"/>
          </a:p>
        </p:txBody>
      </p:sp>
      <p:sp>
        <p:nvSpPr>
          <p:cNvPr id="8" name="Shape 6"/>
          <p:cNvSpPr/>
          <p:nvPr/>
        </p:nvSpPr>
        <p:spPr>
          <a:xfrm>
            <a:off x="457200" y="2075688"/>
            <a:ext cx="411480" cy="411480"/>
          </a:xfrm>
          <a:prstGeom prst="rect">
            <a:avLst/>
          </a:prstGeom>
          <a:solidFill>
            <a:srgbClr val="0E7C7B"/>
          </a:solidFill>
          <a:ln w="12700">
            <a:solidFill>
              <a:srgbClr val="0E7C7B"/>
            </a:solidFill>
            <a:prstDash val="solid"/>
          </a:ln>
        </p:spPr>
      </p:sp>
      <p:sp>
        <p:nvSpPr>
          <p:cNvPr id="9" name="Text 7"/>
          <p:cNvSpPr/>
          <p:nvPr/>
        </p:nvSpPr>
        <p:spPr>
          <a:xfrm>
            <a:off x="548640" y="2130552"/>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Shape 8"/>
          <p:cNvSpPr/>
          <p:nvPr/>
        </p:nvSpPr>
        <p:spPr>
          <a:xfrm>
            <a:off x="1005840" y="2075688"/>
            <a:ext cx="7680960" cy="1234440"/>
          </a:xfrm>
          <a:prstGeom prst="rect">
            <a:avLst/>
          </a:prstGeom>
          <a:solidFill>
            <a:srgbClr val="FFFFFF"/>
          </a:solidFill>
          <a:ln w="12700">
            <a:solidFill>
              <a:srgbClr val="FFFFFF"/>
            </a:solidFill>
            <a:prstDash val="solid"/>
          </a:ln>
        </p:spPr>
      </p:sp>
      <p:sp>
        <p:nvSpPr>
          <p:cNvPr id="11" name="Text 9"/>
          <p:cNvSpPr/>
          <p:nvPr/>
        </p:nvSpPr>
        <p:spPr>
          <a:xfrm>
            <a:off x="1097280" y="2130552"/>
            <a:ext cx="7498080" cy="11247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What surprised you most about your results? Was your prediction close?</a:t>
            </a:r>
            <a:endParaRPr lang="en-US" sz="1400" dirty="0"/>
          </a:p>
        </p:txBody>
      </p:sp>
      <p:sp>
        <p:nvSpPr>
          <p:cNvPr id="12" name="Shape 10"/>
          <p:cNvSpPr/>
          <p:nvPr/>
        </p:nvSpPr>
        <p:spPr>
          <a:xfrm>
            <a:off x="457200" y="3493008"/>
            <a:ext cx="411480" cy="411480"/>
          </a:xfrm>
          <a:prstGeom prst="rect">
            <a:avLst/>
          </a:prstGeom>
          <a:solidFill>
            <a:srgbClr val="0E7C7B"/>
          </a:solidFill>
          <a:ln w="12700">
            <a:solidFill>
              <a:srgbClr val="0E7C7B"/>
            </a:solidFill>
            <a:prstDash val="solid"/>
          </a:ln>
        </p:spPr>
      </p:sp>
      <p:sp>
        <p:nvSpPr>
          <p:cNvPr id="13" name="Text 11"/>
          <p:cNvSpPr/>
          <p:nvPr/>
        </p:nvSpPr>
        <p:spPr>
          <a:xfrm>
            <a:off x="548640" y="3547872"/>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Shape 12"/>
          <p:cNvSpPr/>
          <p:nvPr/>
        </p:nvSpPr>
        <p:spPr>
          <a:xfrm>
            <a:off x="1005840" y="3493008"/>
            <a:ext cx="7680960" cy="1234440"/>
          </a:xfrm>
          <a:prstGeom prst="rect">
            <a:avLst/>
          </a:prstGeom>
          <a:solidFill>
            <a:srgbClr val="FFFFFF"/>
          </a:solidFill>
          <a:ln w="12700">
            <a:solidFill>
              <a:srgbClr val="FFFFFF"/>
            </a:solidFill>
            <a:prstDash val="solid"/>
          </a:ln>
        </p:spPr>
      </p:sp>
      <p:sp>
        <p:nvSpPr>
          <p:cNvPr id="15" name="Text 13"/>
          <p:cNvSpPr/>
          <p:nvPr/>
        </p:nvSpPr>
        <p:spPr>
          <a:xfrm>
            <a:off x="1097280" y="3547872"/>
            <a:ext cx="7498080" cy="11247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Write your testable question as a complete sentence: "Does [heads or tails] hold more drops of water on a penny?"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74320"/>
            <a:ext cx="1517904" cy="274320"/>
          </a:xfrm>
          <a:prstGeom prst="rect">
            <a:avLst/>
          </a:prstGeom>
          <a:solidFill>
            <a:srgbClr val="2E86AB"/>
          </a:solidFill>
          <a:ln w="12700">
            <a:solidFill>
              <a:srgbClr val="2E86AB"/>
            </a:solidFill>
            <a:prstDash val="solid"/>
          </a:ln>
        </p:spPr>
      </p:sp>
      <p:sp>
        <p:nvSpPr>
          <p:cNvPr id="4" name="Text 2"/>
          <p:cNvSpPr/>
          <p:nvPr/>
        </p:nvSpPr>
        <p:spPr>
          <a:xfrm>
            <a:off x="457200" y="274320"/>
            <a:ext cx="151790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DISCUSS &amp; DEFEND</a:t>
            </a:r>
            <a:endParaRPr lang="en-US" sz="1000" dirty="0"/>
          </a:p>
        </p:txBody>
      </p:sp>
      <p:sp>
        <p:nvSpPr>
          <p:cNvPr id="5" name="Text 3"/>
          <p:cNvSpPr/>
          <p:nvPr/>
        </p:nvSpPr>
        <p:spPr>
          <a:xfrm>
            <a:off x="457200" y="685800"/>
            <a:ext cx="8229600" cy="4114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Talk It Out</a:t>
            </a:r>
            <a:endParaRPr lang="en-US" sz="2600" dirty="0"/>
          </a:p>
        </p:txBody>
      </p:sp>
      <p:sp>
        <p:nvSpPr>
          <p:cNvPr id="6" name="Shape 4"/>
          <p:cNvSpPr/>
          <p:nvPr/>
        </p:nvSpPr>
        <p:spPr>
          <a:xfrm>
            <a:off x="457200" y="1188720"/>
            <a:ext cx="8229600" cy="1097280"/>
          </a:xfrm>
          <a:prstGeom prst="rect">
            <a:avLst/>
          </a:prstGeom>
          <a:solidFill>
            <a:srgbClr val="2C4A6E"/>
          </a:solidFill>
          <a:ln w="12700">
            <a:solidFill>
              <a:srgbClr val="2C4A6E"/>
            </a:solidFill>
            <a:prstDash val="solid"/>
          </a:ln>
        </p:spPr>
      </p:sp>
      <p:sp>
        <p:nvSpPr>
          <p:cNvPr id="7" name="Text 5"/>
          <p:cNvSpPr/>
          <p:nvPr/>
        </p:nvSpPr>
        <p:spPr>
          <a:xfrm>
            <a:off x="548640" y="1243584"/>
            <a:ext cx="8046720" cy="98755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"Your three Heads trials gave: 22, 19, 24 drops. Your Tails trials gave: 18, 21, 19 drops. Which side holds more? Is the difference big enough to be sure? What else would you need?"</a:t>
            </a:r>
            <a:endParaRPr lang="en-US" sz="1400" dirty="0"/>
          </a:p>
        </p:txBody>
      </p:sp>
      <p:sp>
        <p:nvSpPr>
          <p:cNvPr id="8" name="Shape 6"/>
          <p:cNvSpPr/>
          <p:nvPr/>
        </p:nvSpPr>
        <p:spPr>
          <a:xfrm>
            <a:off x="457200" y="2395728"/>
            <a:ext cx="8229600" cy="804672"/>
          </a:xfrm>
          <a:prstGeom prst="rect">
            <a:avLst/>
          </a:prstGeom>
          <a:solidFill>
            <a:srgbClr val="2C4A6E"/>
          </a:solidFill>
          <a:ln w="12700">
            <a:solidFill>
              <a:srgbClr val="2C4A6E"/>
            </a:solidFill>
            <a:prstDash val="solid"/>
          </a:ln>
        </p:spPr>
      </p:sp>
      <p:sp>
        <p:nvSpPr>
          <p:cNvPr id="9" name="Text 7"/>
          <p:cNvSpPr/>
          <p:nvPr/>
        </p:nvSpPr>
        <p:spPr>
          <a:xfrm>
            <a:off x="548640" y="2450592"/>
            <a:ext cx="8046720" cy="69494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"What was the variable? What were the controls? How do you know your test was fair?"</a:t>
            </a:r>
            <a:endParaRPr lang="en-US" sz="1400" dirty="0"/>
          </a:p>
        </p:txBody>
      </p:sp>
      <p:sp>
        <p:nvSpPr>
          <p:cNvPr id="10" name="Text 8"/>
          <p:cNvSpPr/>
          <p:nvPr/>
        </p:nvSpPr>
        <p:spPr>
          <a:xfrm>
            <a:off x="457200" y="3310128"/>
            <a:ext cx="8229600" cy="22860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Sentence starters:</a:t>
            </a:r>
            <a:endParaRPr lang="en-US" sz="1200" dirty="0"/>
          </a:p>
        </p:txBody>
      </p:sp>
      <p:sp>
        <p:nvSpPr>
          <p:cNvPr id="11" name="Shape 9"/>
          <p:cNvSpPr/>
          <p:nvPr/>
        </p:nvSpPr>
        <p:spPr>
          <a:xfrm>
            <a:off x="457200" y="3584448"/>
            <a:ext cx="3931920" cy="457200"/>
          </a:xfrm>
          <a:prstGeom prst="rect">
            <a:avLst/>
          </a:prstGeom>
          <a:solidFill>
            <a:srgbClr val="2E86AB"/>
          </a:solidFill>
          <a:ln w="12700">
            <a:solidFill>
              <a:srgbClr val="2E86AB"/>
            </a:solidFill>
            <a:prstDash val="solid"/>
          </a:ln>
        </p:spPr>
      </p:sp>
      <p:sp>
        <p:nvSpPr>
          <p:cNvPr id="12" name="Text 10"/>
          <p:cNvSpPr/>
          <p:nvPr/>
        </p:nvSpPr>
        <p:spPr>
          <a:xfrm>
            <a:off x="548640" y="3639312"/>
            <a:ext cx="3749040" cy="34747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"The evidence shows that…"</a:t>
            </a:r>
            <a:endParaRPr lang="en-US" sz="1200" dirty="0"/>
          </a:p>
        </p:txBody>
      </p:sp>
      <p:sp>
        <p:nvSpPr>
          <p:cNvPr id="13" name="Shape 11"/>
          <p:cNvSpPr/>
          <p:nvPr/>
        </p:nvSpPr>
        <p:spPr>
          <a:xfrm>
            <a:off x="4754880" y="3584448"/>
            <a:ext cx="3931920" cy="457200"/>
          </a:xfrm>
          <a:prstGeom prst="rect">
            <a:avLst/>
          </a:prstGeom>
          <a:solidFill>
            <a:srgbClr val="2E86AB"/>
          </a:solidFill>
          <a:ln w="12700">
            <a:solidFill>
              <a:srgbClr val="2E86AB"/>
            </a:solidFill>
            <a:prstDash val="solid"/>
          </a:ln>
        </p:spPr>
      </p:sp>
      <p:sp>
        <p:nvSpPr>
          <p:cNvPr id="14" name="Text 12"/>
          <p:cNvSpPr/>
          <p:nvPr/>
        </p:nvSpPr>
        <p:spPr>
          <a:xfrm>
            <a:off x="4846320" y="3639312"/>
            <a:ext cx="3749040" cy="34747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"My test was fair because…"</a:t>
            </a:r>
            <a:endParaRPr lang="en-US" sz="1200" dirty="0"/>
          </a:p>
        </p:txBody>
      </p:sp>
      <p:sp>
        <p:nvSpPr>
          <p:cNvPr id="15" name="Shape 13"/>
          <p:cNvSpPr/>
          <p:nvPr/>
        </p:nvSpPr>
        <p:spPr>
          <a:xfrm>
            <a:off x="457200" y="4114800"/>
            <a:ext cx="8229600" cy="502920"/>
          </a:xfrm>
          <a:prstGeom prst="rect">
            <a:avLst/>
          </a:prstGeom>
          <a:solidFill>
            <a:srgbClr val="2C4A6E"/>
          </a:solidFill>
          <a:ln w="12700">
            <a:solidFill>
              <a:srgbClr val="2C4A6E"/>
            </a:solidFill>
            <a:prstDash val="solid"/>
          </a:ln>
        </p:spPr>
      </p:sp>
      <p:sp>
        <p:nvSpPr>
          <p:cNvPr id="16" name="Text 14"/>
          <p:cNvSpPr/>
          <p:nvPr/>
        </p:nvSpPr>
        <p:spPr>
          <a:xfrm>
            <a:off x="548640" y="4169664"/>
            <a:ext cx="8046720" cy="39319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"To be more confident I would need… because one thing that could still affect the results is…"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74320"/>
            <a:ext cx="1362456" cy="274320"/>
          </a:xfrm>
          <a:prstGeom prst="rect">
            <a:avLst/>
          </a:prstGeom>
          <a:solidFill>
            <a:srgbClr val="F6C90E"/>
          </a:solidFill>
          <a:ln w="12700">
            <a:solidFill>
              <a:srgbClr val="F6C90E"/>
            </a:solidFill>
            <a:prstDash val="solid"/>
          </a:ln>
        </p:spPr>
      </p:sp>
      <p:sp>
        <p:nvSpPr>
          <p:cNvPr id="4" name="Text 2"/>
          <p:cNvSpPr/>
          <p:nvPr/>
        </p:nvSpPr>
        <p:spPr>
          <a:xfrm>
            <a:off x="457200" y="274320"/>
            <a:ext cx="136245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SCIENTIST TALK</a:t>
            </a:r>
            <a:endParaRPr lang="en-US" sz="1000" dirty="0"/>
          </a:p>
        </p:txBody>
      </p:sp>
      <p:sp>
        <p:nvSpPr>
          <p:cNvPr id="5" name="Text 3"/>
          <p:cNvSpPr/>
          <p:nvPr/>
        </p:nvSpPr>
        <p:spPr>
          <a:xfrm>
            <a:off x="457200" y="685800"/>
            <a:ext cx="8229600" cy="4114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Claim · Evidence · Reasoning</a:t>
            </a:r>
            <a:endParaRPr lang="en-US" sz="2600" dirty="0"/>
          </a:p>
        </p:txBody>
      </p:sp>
      <p:sp>
        <p:nvSpPr>
          <p:cNvPr id="6" name="Shape 4"/>
          <p:cNvSpPr/>
          <p:nvPr/>
        </p:nvSpPr>
        <p:spPr>
          <a:xfrm>
            <a:off x="457200" y="1188720"/>
            <a:ext cx="8229600" cy="438912"/>
          </a:xfrm>
          <a:prstGeom prst="rect">
            <a:avLst/>
          </a:prstGeom>
          <a:solidFill>
            <a:srgbClr val="2C4A6E"/>
          </a:solidFill>
          <a:ln w="12700">
            <a:solidFill>
              <a:srgbClr val="2C4A6E"/>
            </a:solidFill>
            <a:prstDash val="solid"/>
          </a:ln>
        </p:spPr>
      </p:sp>
      <p:sp>
        <p:nvSpPr>
          <p:cNvPr id="7" name="Text 5"/>
          <p:cNvSpPr/>
          <p:nvPr/>
        </p:nvSpPr>
        <p:spPr>
          <a:xfrm>
            <a:off x="548640" y="1243584"/>
            <a:ext cx="8046720" cy="329184"/>
          </a:xfrm>
          <a:prstGeom prst="rect">
            <a:avLst/>
          </a:prstGeom>
          <a:noFill/>
          <a:ln/>
        </p:spPr>
        <p:txBody>
          <a:bodyPr wrap="square" lIns="0" tIns="0" rIns="0" bIns="0" rtlCol="0" anchor="ctr"/>
          <a:lstStyle/>
          <a:p>
            <a:pPr algn="l" indent="0" marL="0">
              <a:buNone/>
            </a:pPr>
            <a:r>
              <a:rPr lang="en-US" sz="1400" dirty="0">
                <a:solidFill>
                  <a:srgbClr val="F6C90E"/>
                </a:solidFill>
                <a:latin typeface="Calibri" pitchFamily="34" charset="0"/>
                <a:ea typeface="Calibri" pitchFamily="34" charset="-122"/>
                <a:cs typeface="Calibri" pitchFamily="34" charset="-120"/>
              </a:rPr>
              <a:t>Question: Does the heads side or tails side of a penny hold more drops of water?</a:t>
            </a:r>
            <a:endParaRPr lang="en-US" sz="1400" dirty="0"/>
          </a:p>
        </p:txBody>
      </p:sp>
      <p:sp>
        <p:nvSpPr>
          <p:cNvPr id="8" name="Shape 6"/>
          <p:cNvSpPr/>
          <p:nvPr/>
        </p:nvSpPr>
        <p:spPr>
          <a:xfrm>
            <a:off x="457200" y="1719072"/>
            <a:ext cx="8229600" cy="822960"/>
          </a:xfrm>
          <a:prstGeom prst="rect">
            <a:avLst/>
          </a:prstGeom>
          <a:solidFill>
            <a:srgbClr val="1B4F72"/>
          </a:solidFill>
          <a:ln w="12700">
            <a:solidFill>
              <a:srgbClr val="1B4F72"/>
            </a:solidFill>
            <a:prstDash val="solid"/>
          </a:ln>
        </p:spPr>
      </p:sp>
      <p:sp>
        <p:nvSpPr>
          <p:cNvPr id="9" name="Shape 7"/>
          <p:cNvSpPr/>
          <p:nvPr/>
        </p:nvSpPr>
        <p:spPr>
          <a:xfrm>
            <a:off x="548640" y="1764792"/>
            <a:ext cx="662940" cy="274320"/>
          </a:xfrm>
          <a:prstGeom prst="rect">
            <a:avLst/>
          </a:prstGeom>
          <a:solidFill>
            <a:srgbClr val="2E86AB"/>
          </a:solidFill>
          <a:ln w="12700">
            <a:solidFill>
              <a:srgbClr val="2E86AB"/>
            </a:solidFill>
            <a:prstDash val="solid"/>
          </a:ln>
        </p:spPr>
      </p:sp>
      <p:sp>
        <p:nvSpPr>
          <p:cNvPr id="10" name="Text 8"/>
          <p:cNvSpPr/>
          <p:nvPr/>
        </p:nvSpPr>
        <p:spPr>
          <a:xfrm>
            <a:off x="548640" y="1764792"/>
            <a:ext cx="6629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CLAIM</a:t>
            </a:r>
            <a:endParaRPr lang="en-US" sz="1000" dirty="0"/>
          </a:p>
        </p:txBody>
      </p:sp>
      <p:sp>
        <p:nvSpPr>
          <p:cNvPr id="11" name="Text 9"/>
          <p:cNvSpPr/>
          <p:nvPr/>
        </p:nvSpPr>
        <p:spPr>
          <a:xfrm>
            <a:off x="548640" y="2084832"/>
            <a:ext cx="7955280" cy="38404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 claim that [heads/tails] holds more drops because…"</a:t>
            </a:r>
            <a:endParaRPr lang="en-US" sz="1400" dirty="0"/>
          </a:p>
        </p:txBody>
      </p:sp>
      <p:sp>
        <p:nvSpPr>
          <p:cNvPr id="12" name="Shape 10"/>
          <p:cNvSpPr/>
          <p:nvPr/>
        </p:nvSpPr>
        <p:spPr>
          <a:xfrm>
            <a:off x="457200" y="2606040"/>
            <a:ext cx="8229600" cy="822960"/>
          </a:xfrm>
          <a:prstGeom prst="rect">
            <a:avLst/>
          </a:prstGeom>
          <a:solidFill>
            <a:srgbClr val="1B4F72"/>
          </a:solidFill>
          <a:ln w="12700">
            <a:solidFill>
              <a:srgbClr val="1B4F72"/>
            </a:solidFill>
            <a:prstDash val="solid"/>
          </a:ln>
        </p:spPr>
      </p:sp>
      <p:sp>
        <p:nvSpPr>
          <p:cNvPr id="13" name="Shape 11"/>
          <p:cNvSpPr/>
          <p:nvPr/>
        </p:nvSpPr>
        <p:spPr>
          <a:xfrm>
            <a:off x="548640" y="2651760"/>
            <a:ext cx="896112" cy="274320"/>
          </a:xfrm>
          <a:prstGeom prst="rect">
            <a:avLst/>
          </a:prstGeom>
          <a:solidFill>
            <a:srgbClr val="0E7C7B"/>
          </a:solidFill>
          <a:ln w="12700">
            <a:solidFill>
              <a:srgbClr val="0E7C7B"/>
            </a:solidFill>
            <a:prstDash val="solid"/>
          </a:ln>
        </p:spPr>
      </p:sp>
      <p:sp>
        <p:nvSpPr>
          <p:cNvPr id="14" name="Text 12"/>
          <p:cNvSpPr/>
          <p:nvPr/>
        </p:nvSpPr>
        <p:spPr>
          <a:xfrm>
            <a:off x="548640" y="2651760"/>
            <a:ext cx="89611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EVIDENCE</a:t>
            </a:r>
            <a:endParaRPr lang="en-US" sz="1000" dirty="0"/>
          </a:p>
        </p:txBody>
      </p:sp>
      <p:sp>
        <p:nvSpPr>
          <p:cNvPr id="15" name="Text 13"/>
          <p:cNvSpPr/>
          <p:nvPr/>
        </p:nvSpPr>
        <p:spPr>
          <a:xfrm>
            <a:off x="548640" y="2971800"/>
            <a:ext cx="7955280" cy="38404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 my three trials, [heads/tails] averaged ___ drops while [the other side] averaged ___ drops…"</a:t>
            </a:r>
            <a:endParaRPr lang="en-US" sz="1400" dirty="0"/>
          </a:p>
        </p:txBody>
      </p:sp>
      <p:sp>
        <p:nvSpPr>
          <p:cNvPr id="16" name="Shape 14"/>
          <p:cNvSpPr/>
          <p:nvPr/>
        </p:nvSpPr>
        <p:spPr>
          <a:xfrm>
            <a:off x="457200" y="3493008"/>
            <a:ext cx="8229600" cy="822960"/>
          </a:xfrm>
          <a:prstGeom prst="rect">
            <a:avLst/>
          </a:prstGeom>
          <a:solidFill>
            <a:srgbClr val="1B4F72"/>
          </a:solidFill>
          <a:ln w="12700">
            <a:solidFill>
              <a:srgbClr val="1B4F72"/>
            </a:solidFill>
            <a:prstDash val="solid"/>
          </a:ln>
        </p:spPr>
      </p:sp>
      <p:sp>
        <p:nvSpPr>
          <p:cNvPr id="17" name="Shape 15"/>
          <p:cNvSpPr/>
          <p:nvPr/>
        </p:nvSpPr>
        <p:spPr>
          <a:xfrm>
            <a:off x="548640" y="3538728"/>
            <a:ext cx="973836" cy="274320"/>
          </a:xfrm>
          <a:prstGeom prst="rect">
            <a:avLst/>
          </a:prstGeom>
          <a:solidFill>
            <a:srgbClr val="2A7A4B"/>
          </a:solidFill>
          <a:ln w="12700">
            <a:solidFill>
              <a:srgbClr val="2A7A4B"/>
            </a:solidFill>
            <a:prstDash val="solid"/>
          </a:ln>
        </p:spPr>
      </p:sp>
      <p:sp>
        <p:nvSpPr>
          <p:cNvPr id="18" name="Text 16"/>
          <p:cNvSpPr/>
          <p:nvPr/>
        </p:nvSpPr>
        <p:spPr>
          <a:xfrm>
            <a:off x="548640" y="3538728"/>
            <a:ext cx="97383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REASONING</a:t>
            </a:r>
            <a:endParaRPr lang="en-US" sz="1000" dirty="0"/>
          </a:p>
        </p:txBody>
      </p:sp>
      <p:sp>
        <p:nvSpPr>
          <p:cNvPr id="19" name="Text 17"/>
          <p:cNvSpPr/>
          <p:nvPr/>
        </p:nvSpPr>
        <p:spPr>
          <a:xfrm>
            <a:off x="548640" y="3858768"/>
            <a:ext cx="7955280" cy="38404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"This shows [surface texture / smoothness] affects surface tension because…"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28600"/>
            <a:ext cx="1051560" cy="274320"/>
          </a:xfrm>
          <a:prstGeom prst="rect">
            <a:avLst/>
          </a:prstGeom>
          <a:solidFill>
            <a:srgbClr val="F6C90E"/>
          </a:solidFill>
          <a:ln w="12700">
            <a:solidFill>
              <a:srgbClr val="F6C90E"/>
            </a:solidFill>
            <a:prstDash val="solid"/>
          </a:ln>
        </p:spPr>
      </p:sp>
      <p:sp>
        <p:nvSpPr>
          <p:cNvPr id="4" name="Text 2"/>
          <p:cNvSpPr/>
          <p:nvPr/>
        </p:nvSpPr>
        <p:spPr>
          <a:xfrm>
            <a:off x="457200" y="22860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5" name="Text 3"/>
          <p:cNvSpPr/>
          <p:nvPr/>
        </p:nvSpPr>
        <p:spPr>
          <a:xfrm>
            <a:off x="457200" y="594360"/>
            <a:ext cx="8229600" cy="292608"/>
          </a:xfrm>
          <a:prstGeom prst="rect">
            <a:avLst/>
          </a:prstGeom>
          <a:noFill/>
          <a:ln/>
        </p:spPr>
        <p:txBody>
          <a:bodyPr wrap="square" rtlCol="0" anchor="ctr"/>
          <a:lstStyle/>
          <a:p>
            <a:pPr indent="0" marL="0">
              <a:buNone/>
            </a:pPr>
            <a:r>
              <a:rPr lang="en-US" sz="1400" dirty="0">
                <a:solidFill>
                  <a:srgbClr val="5E7B9A"/>
                </a:solidFill>
                <a:latin typeface="Calibri" pitchFamily="34" charset="0"/>
                <a:ea typeface="Calibri" pitchFamily="34" charset="-122"/>
                <a:cs typeface="Calibri" pitchFamily="34" charset="-120"/>
              </a:rPr>
              <a:t>Question 1 of 2</a:t>
            </a:r>
            <a:endParaRPr lang="en-US" sz="1400" dirty="0"/>
          </a:p>
        </p:txBody>
      </p:sp>
      <p:sp>
        <p:nvSpPr>
          <p:cNvPr id="6" name="Shape 4"/>
          <p:cNvSpPr/>
          <p:nvPr/>
        </p:nvSpPr>
        <p:spPr>
          <a:xfrm>
            <a:off x="457200" y="960120"/>
            <a:ext cx="8229600" cy="804672"/>
          </a:xfrm>
          <a:prstGeom prst="rect">
            <a:avLst/>
          </a:prstGeom>
          <a:solidFill>
            <a:srgbClr val="1A3A5C"/>
          </a:solidFill>
          <a:ln w="12700">
            <a:solidFill>
              <a:srgbClr val="1A3A5C"/>
            </a:solidFill>
            <a:prstDash val="solid"/>
          </a:ln>
        </p:spPr>
      </p:sp>
      <p:sp>
        <p:nvSpPr>
          <p:cNvPr id="7" name="Text 5"/>
          <p:cNvSpPr/>
          <p:nvPr/>
        </p:nvSpPr>
        <p:spPr>
          <a:xfrm>
            <a:off x="548640" y="1014984"/>
            <a:ext cx="8046720" cy="694944"/>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You ran 3 trials and got 22, 19, and 24 drops. What should you report as your evidence?</a:t>
            </a:r>
            <a:endParaRPr lang="en-US" sz="1600" dirty="0"/>
          </a:p>
        </p:txBody>
      </p:sp>
      <p:sp>
        <p:nvSpPr>
          <p:cNvPr id="8" name="Shape 6"/>
          <p:cNvSpPr/>
          <p:nvPr/>
        </p:nvSpPr>
        <p:spPr>
          <a:xfrm>
            <a:off x="457200" y="1901952"/>
            <a:ext cx="8229600" cy="548640"/>
          </a:xfrm>
          <a:prstGeom prst="rect">
            <a:avLst/>
          </a:prstGeom>
          <a:solidFill>
            <a:srgbClr val="2C4A6E"/>
          </a:solidFill>
          <a:ln w="12700">
            <a:solidFill>
              <a:srgbClr val="2C4A6E"/>
            </a:solidFill>
            <a:prstDash val="solid"/>
          </a:ln>
        </p:spPr>
      </p:sp>
      <p:sp>
        <p:nvSpPr>
          <p:cNvPr id="9" name="Text 7"/>
          <p:cNvSpPr/>
          <p:nvPr/>
        </p:nvSpPr>
        <p:spPr>
          <a:xfrm>
            <a:off x="548640" y="1956816"/>
            <a:ext cx="8046720" cy="4389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A)  Report 24 — the biggest number</a:t>
            </a:r>
            <a:endParaRPr lang="en-US" sz="1500" dirty="0"/>
          </a:p>
        </p:txBody>
      </p:sp>
      <p:sp>
        <p:nvSpPr>
          <p:cNvPr id="10" name="Shape 8"/>
          <p:cNvSpPr/>
          <p:nvPr/>
        </p:nvSpPr>
        <p:spPr>
          <a:xfrm>
            <a:off x="457200" y="2514600"/>
            <a:ext cx="8229600" cy="548640"/>
          </a:xfrm>
          <a:prstGeom prst="rect">
            <a:avLst/>
          </a:prstGeom>
          <a:solidFill>
            <a:srgbClr val="2A7A4B"/>
          </a:solidFill>
          <a:ln w="12700">
            <a:solidFill>
              <a:srgbClr val="2A7A4B"/>
            </a:solidFill>
            <a:prstDash val="solid"/>
          </a:ln>
        </p:spPr>
      </p:sp>
      <p:sp>
        <p:nvSpPr>
          <p:cNvPr id="11" name="Text 9"/>
          <p:cNvSpPr/>
          <p:nvPr/>
        </p:nvSpPr>
        <p:spPr>
          <a:xfrm>
            <a:off x="548640" y="2569464"/>
            <a:ext cx="8046720" cy="438912"/>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B)  Report the average (21.7 drops)   CORRECT</a:t>
            </a:r>
            <a:endParaRPr lang="en-US" sz="1500" dirty="0"/>
          </a:p>
        </p:txBody>
      </p:sp>
      <p:sp>
        <p:nvSpPr>
          <p:cNvPr id="12" name="Shape 10"/>
          <p:cNvSpPr/>
          <p:nvPr/>
        </p:nvSpPr>
        <p:spPr>
          <a:xfrm>
            <a:off x="457200" y="3127248"/>
            <a:ext cx="8229600" cy="548640"/>
          </a:xfrm>
          <a:prstGeom prst="rect">
            <a:avLst/>
          </a:prstGeom>
          <a:solidFill>
            <a:srgbClr val="2C4A6E"/>
          </a:solidFill>
          <a:ln w="12700">
            <a:solidFill>
              <a:srgbClr val="2C4A6E"/>
            </a:solidFill>
            <a:prstDash val="solid"/>
          </a:ln>
        </p:spPr>
      </p:sp>
      <p:sp>
        <p:nvSpPr>
          <p:cNvPr id="13" name="Text 11"/>
          <p:cNvSpPr/>
          <p:nvPr/>
        </p:nvSpPr>
        <p:spPr>
          <a:xfrm>
            <a:off x="548640" y="3182112"/>
            <a:ext cx="8046720" cy="4389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C)  Throw out the 19 because it is the smallest</a:t>
            </a:r>
            <a:endParaRPr lang="en-US" sz="1500" dirty="0"/>
          </a:p>
        </p:txBody>
      </p:sp>
      <p:sp>
        <p:nvSpPr>
          <p:cNvPr id="14" name="Shape 12"/>
          <p:cNvSpPr/>
          <p:nvPr/>
        </p:nvSpPr>
        <p:spPr>
          <a:xfrm>
            <a:off x="457200" y="3794760"/>
            <a:ext cx="8229600" cy="475488"/>
          </a:xfrm>
          <a:prstGeom prst="rect">
            <a:avLst/>
          </a:prstGeom>
          <a:solidFill>
            <a:srgbClr val="1B4F72"/>
          </a:solidFill>
          <a:ln w="12700">
            <a:solidFill>
              <a:srgbClr val="1B4F72"/>
            </a:solidFill>
            <a:prstDash val="solid"/>
          </a:ln>
        </p:spPr>
      </p:sp>
      <p:sp>
        <p:nvSpPr>
          <p:cNvPr id="15" name="Text 13"/>
          <p:cNvSpPr/>
          <p:nvPr/>
        </p:nvSpPr>
        <p:spPr>
          <a:xfrm>
            <a:off x="548640" y="3849624"/>
            <a:ext cx="804672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The average accounts for all three trials. Dropping the lowest number would bias your result.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28600"/>
            <a:ext cx="1051560" cy="274320"/>
          </a:xfrm>
          <a:prstGeom prst="rect">
            <a:avLst/>
          </a:prstGeom>
          <a:solidFill>
            <a:srgbClr val="F6C90E"/>
          </a:solidFill>
          <a:ln w="12700">
            <a:solidFill>
              <a:srgbClr val="F6C90E"/>
            </a:solidFill>
            <a:prstDash val="solid"/>
          </a:ln>
        </p:spPr>
      </p:sp>
      <p:sp>
        <p:nvSpPr>
          <p:cNvPr id="4" name="Text 2"/>
          <p:cNvSpPr/>
          <p:nvPr/>
        </p:nvSpPr>
        <p:spPr>
          <a:xfrm>
            <a:off x="457200" y="22860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5" name="Text 3"/>
          <p:cNvSpPr/>
          <p:nvPr/>
        </p:nvSpPr>
        <p:spPr>
          <a:xfrm>
            <a:off x="457200" y="594360"/>
            <a:ext cx="8229600" cy="292608"/>
          </a:xfrm>
          <a:prstGeom prst="rect">
            <a:avLst/>
          </a:prstGeom>
          <a:noFill/>
          <a:ln/>
        </p:spPr>
        <p:txBody>
          <a:bodyPr wrap="square" rtlCol="0" anchor="ctr"/>
          <a:lstStyle/>
          <a:p>
            <a:pPr indent="0" marL="0">
              <a:buNone/>
            </a:pPr>
            <a:r>
              <a:rPr lang="en-US" sz="1400" dirty="0">
                <a:solidFill>
                  <a:srgbClr val="5E7B9A"/>
                </a:solidFill>
                <a:latin typeface="Calibri" pitchFamily="34" charset="0"/>
                <a:ea typeface="Calibri" pitchFamily="34" charset="-122"/>
                <a:cs typeface="Calibri" pitchFamily="34" charset="-120"/>
              </a:rPr>
              <a:t>Question 2 of 2</a:t>
            </a:r>
            <a:endParaRPr lang="en-US" sz="1400" dirty="0"/>
          </a:p>
        </p:txBody>
      </p:sp>
      <p:sp>
        <p:nvSpPr>
          <p:cNvPr id="6" name="Shape 4"/>
          <p:cNvSpPr/>
          <p:nvPr/>
        </p:nvSpPr>
        <p:spPr>
          <a:xfrm>
            <a:off x="457200" y="960120"/>
            <a:ext cx="8229600" cy="804672"/>
          </a:xfrm>
          <a:prstGeom prst="rect">
            <a:avLst/>
          </a:prstGeom>
          <a:solidFill>
            <a:srgbClr val="1A3A5C"/>
          </a:solidFill>
          <a:ln w="12700">
            <a:solidFill>
              <a:srgbClr val="1A3A5C"/>
            </a:solidFill>
            <a:prstDash val="solid"/>
          </a:ln>
        </p:spPr>
      </p:sp>
      <p:sp>
        <p:nvSpPr>
          <p:cNvPr id="7" name="Text 5"/>
          <p:cNvSpPr/>
          <p:nvPr/>
        </p:nvSpPr>
        <p:spPr>
          <a:xfrm>
            <a:off x="548640" y="1014984"/>
            <a:ext cx="8046720" cy="694944"/>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What makes your penny test a FAIR test?</a:t>
            </a:r>
            <a:endParaRPr lang="en-US" sz="1600" dirty="0"/>
          </a:p>
        </p:txBody>
      </p:sp>
      <p:sp>
        <p:nvSpPr>
          <p:cNvPr id="8" name="Shape 6"/>
          <p:cNvSpPr/>
          <p:nvPr/>
        </p:nvSpPr>
        <p:spPr>
          <a:xfrm>
            <a:off x="457200" y="1901952"/>
            <a:ext cx="8229600" cy="548640"/>
          </a:xfrm>
          <a:prstGeom prst="rect">
            <a:avLst/>
          </a:prstGeom>
          <a:solidFill>
            <a:srgbClr val="2A7A4B"/>
          </a:solidFill>
          <a:ln w="12700">
            <a:solidFill>
              <a:srgbClr val="2A7A4B"/>
            </a:solidFill>
            <a:prstDash val="solid"/>
          </a:ln>
        </p:spPr>
      </p:sp>
      <p:sp>
        <p:nvSpPr>
          <p:cNvPr id="9" name="Text 7"/>
          <p:cNvSpPr/>
          <p:nvPr/>
        </p:nvSpPr>
        <p:spPr>
          <a:xfrm>
            <a:off x="548640" y="1956816"/>
            <a:ext cx="8046720" cy="438912"/>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A)  You used the same penny and same dropper for every trial   CORRECT</a:t>
            </a:r>
            <a:endParaRPr lang="en-US" sz="1500" dirty="0"/>
          </a:p>
        </p:txBody>
      </p:sp>
      <p:sp>
        <p:nvSpPr>
          <p:cNvPr id="10" name="Shape 8"/>
          <p:cNvSpPr/>
          <p:nvPr/>
        </p:nvSpPr>
        <p:spPr>
          <a:xfrm>
            <a:off x="457200" y="2514600"/>
            <a:ext cx="8229600" cy="548640"/>
          </a:xfrm>
          <a:prstGeom prst="rect">
            <a:avLst/>
          </a:prstGeom>
          <a:solidFill>
            <a:srgbClr val="2C4A6E"/>
          </a:solidFill>
          <a:ln w="12700">
            <a:solidFill>
              <a:srgbClr val="2C4A6E"/>
            </a:solidFill>
            <a:prstDash val="solid"/>
          </a:ln>
        </p:spPr>
      </p:sp>
      <p:sp>
        <p:nvSpPr>
          <p:cNvPr id="11" name="Text 9"/>
          <p:cNvSpPr/>
          <p:nvPr/>
        </p:nvSpPr>
        <p:spPr>
          <a:xfrm>
            <a:off x="548640" y="2569464"/>
            <a:ext cx="8046720" cy="4389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B)  You counted carefully</a:t>
            </a:r>
            <a:endParaRPr lang="en-US" sz="1500" dirty="0"/>
          </a:p>
        </p:txBody>
      </p:sp>
      <p:sp>
        <p:nvSpPr>
          <p:cNvPr id="12" name="Shape 10"/>
          <p:cNvSpPr/>
          <p:nvPr/>
        </p:nvSpPr>
        <p:spPr>
          <a:xfrm>
            <a:off x="457200" y="3127248"/>
            <a:ext cx="8229600" cy="548640"/>
          </a:xfrm>
          <a:prstGeom prst="rect">
            <a:avLst/>
          </a:prstGeom>
          <a:solidFill>
            <a:srgbClr val="2C4A6E"/>
          </a:solidFill>
          <a:ln w="12700">
            <a:solidFill>
              <a:srgbClr val="2C4A6E"/>
            </a:solidFill>
            <a:prstDash val="solid"/>
          </a:ln>
        </p:spPr>
      </p:sp>
      <p:sp>
        <p:nvSpPr>
          <p:cNvPr id="13" name="Text 11"/>
          <p:cNvSpPr/>
          <p:nvPr/>
        </p:nvSpPr>
        <p:spPr>
          <a:xfrm>
            <a:off x="548640" y="3182112"/>
            <a:ext cx="8046720" cy="4389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C)  You got a high number of drops</a:t>
            </a:r>
            <a:endParaRPr lang="en-US" sz="1500" dirty="0"/>
          </a:p>
        </p:txBody>
      </p:sp>
      <p:sp>
        <p:nvSpPr>
          <p:cNvPr id="14" name="Shape 12"/>
          <p:cNvSpPr/>
          <p:nvPr/>
        </p:nvSpPr>
        <p:spPr>
          <a:xfrm>
            <a:off x="457200" y="3794760"/>
            <a:ext cx="8229600" cy="475488"/>
          </a:xfrm>
          <a:prstGeom prst="rect">
            <a:avLst/>
          </a:prstGeom>
          <a:solidFill>
            <a:srgbClr val="1B4F72"/>
          </a:solidFill>
          <a:ln w="12700">
            <a:solidFill>
              <a:srgbClr val="1B4F72"/>
            </a:solidFill>
            <a:prstDash val="solid"/>
          </a:ln>
        </p:spPr>
      </p:sp>
      <p:sp>
        <p:nvSpPr>
          <p:cNvPr id="15" name="Text 13"/>
          <p:cNvSpPr/>
          <p:nvPr/>
        </p:nvSpPr>
        <p:spPr>
          <a:xfrm>
            <a:off x="548640" y="3849624"/>
            <a:ext cx="804672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A fair test requires controls. Careful counting and high numbers do not make a test fair by themselves.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74320"/>
            <a:ext cx="1595628" cy="274320"/>
          </a:xfrm>
          <a:prstGeom prst="rect">
            <a:avLst/>
          </a:prstGeom>
          <a:solidFill>
            <a:srgbClr val="F6C90E"/>
          </a:solidFill>
          <a:ln w="12700">
            <a:solidFill>
              <a:srgbClr val="F6C90E"/>
            </a:solidFill>
            <a:prstDash val="solid"/>
          </a:ln>
        </p:spPr>
      </p:sp>
      <p:sp>
        <p:nvSpPr>
          <p:cNvPr id="4" name="Text 2"/>
          <p:cNvSpPr/>
          <p:nvPr/>
        </p:nvSpPr>
        <p:spPr>
          <a:xfrm>
            <a:off x="457200" y="274320"/>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MIND-BLOWING FACT</a:t>
            </a:r>
            <a:endParaRPr lang="en-US" sz="1000" dirty="0"/>
          </a:p>
        </p:txBody>
      </p:sp>
      <p:sp>
        <p:nvSpPr>
          <p:cNvPr id="5" name="Text 3"/>
          <p:cNvSpPr/>
          <p:nvPr/>
        </p:nvSpPr>
        <p:spPr>
          <a:xfrm>
            <a:off x="457200" y="685800"/>
            <a:ext cx="8229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Water Striders — Walking on Water</a:t>
            </a:r>
            <a:endParaRPr lang="en-US" sz="2600" dirty="0"/>
          </a:p>
        </p:txBody>
      </p:sp>
      <p:sp>
        <p:nvSpPr>
          <p:cNvPr id="6" name="Shape 4"/>
          <p:cNvSpPr/>
          <p:nvPr/>
        </p:nvSpPr>
        <p:spPr>
          <a:xfrm>
            <a:off x="457200" y="1325880"/>
            <a:ext cx="8229600" cy="1051560"/>
          </a:xfrm>
          <a:prstGeom prst="rect">
            <a:avLst/>
          </a:prstGeom>
          <a:solidFill>
            <a:srgbClr val="1A3A5C"/>
          </a:solidFill>
          <a:ln w="12700">
            <a:solidFill>
              <a:srgbClr val="1A3A5C"/>
            </a:solidFill>
            <a:prstDash val="solid"/>
          </a:ln>
        </p:spPr>
      </p:sp>
      <p:sp>
        <p:nvSpPr>
          <p:cNvPr id="7" name="Text 5"/>
          <p:cNvSpPr/>
          <p:nvPr/>
        </p:nvSpPr>
        <p:spPr>
          <a:xfrm>
            <a:off x="548640" y="1380744"/>
            <a:ext cx="8046720" cy="94183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Water striders walk on the surface of ponds because of surface tension. They spread their weight across six long legs and never break through the surface film. The water acts like a flexible sheet.</a:t>
            </a:r>
            <a:endParaRPr lang="en-US" sz="1500" dirty="0"/>
          </a:p>
        </p:txBody>
      </p:sp>
      <p:sp>
        <p:nvSpPr>
          <p:cNvPr id="8" name="Text 6"/>
          <p:cNvSpPr/>
          <p:nvPr/>
        </p:nvSpPr>
        <p:spPr>
          <a:xfrm>
            <a:off x="457200" y="2487168"/>
            <a:ext cx="8229600" cy="256032"/>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Extension Questions:</a:t>
            </a:r>
            <a:endParaRPr lang="en-US" sz="1200" dirty="0"/>
          </a:p>
        </p:txBody>
      </p:sp>
      <p:sp>
        <p:nvSpPr>
          <p:cNvPr id="9" name="Shape 7"/>
          <p:cNvSpPr/>
          <p:nvPr/>
        </p:nvSpPr>
        <p:spPr>
          <a:xfrm>
            <a:off x="457200" y="2816352"/>
            <a:ext cx="3931920" cy="1353312"/>
          </a:xfrm>
          <a:prstGeom prst="rect">
            <a:avLst/>
          </a:prstGeom>
          <a:solidFill>
            <a:srgbClr val="2C4A6E"/>
          </a:solidFill>
          <a:ln w="12700">
            <a:solidFill>
              <a:srgbClr val="2C4A6E"/>
            </a:solidFill>
            <a:prstDash val="solid"/>
          </a:ln>
        </p:spPr>
      </p:sp>
      <p:sp>
        <p:nvSpPr>
          <p:cNvPr id="10" name="Text 8"/>
          <p:cNvSpPr/>
          <p:nvPr/>
        </p:nvSpPr>
        <p:spPr>
          <a:xfrm>
            <a:off x="548640" y="2871216"/>
            <a:ext cx="3749040" cy="12435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If you added a tiny drop of dish soap to the water, surface tension would break immediately. What do you predict would happen to a water strider? Why?</a:t>
            </a:r>
            <a:endParaRPr lang="en-US" sz="1300" dirty="0"/>
          </a:p>
        </p:txBody>
      </p:sp>
      <p:sp>
        <p:nvSpPr>
          <p:cNvPr id="11" name="Shape 9"/>
          <p:cNvSpPr/>
          <p:nvPr/>
        </p:nvSpPr>
        <p:spPr>
          <a:xfrm>
            <a:off x="4754880" y="2816352"/>
            <a:ext cx="3931920" cy="1353312"/>
          </a:xfrm>
          <a:prstGeom prst="rect">
            <a:avLst/>
          </a:prstGeom>
          <a:solidFill>
            <a:srgbClr val="2C4A6E"/>
          </a:solidFill>
          <a:ln w="12700">
            <a:solidFill>
              <a:srgbClr val="2C4A6E"/>
            </a:solidFill>
            <a:prstDash val="solid"/>
          </a:ln>
        </p:spPr>
      </p:sp>
      <p:sp>
        <p:nvSpPr>
          <p:cNvPr id="12" name="Text 10"/>
          <p:cNvSpPr/>
          <p:nvPr/>
        </p:nvSpPr>
        <p:spPr>
          <a:xfrm>
            <a:off x="4846320" y="2871216"/>
            <a:ext cx="3749040" cy="12435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How is a water strider using the same property — surface tension — that let your penny hold 25 drops without spilling?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Shape 1"/>
          <p:cNvSpPr/>
          <p:nvPr/>
        </p:nvSpPr>
        <p:spPr>
          <a:xfrm>
            <a:off x="457200" y="228600"/>
            <a:ext cx="1673352" cy="274320"/>
          </a:xfrm>
          <a:prstGeom prst="rect">
            <a:avLst/>
          </a:prstGeom>
          <a:solidFill>
            <a:srgbClr val="1A3A5C"/>
          </a:solidFill>
          <a:ln w="12700">
            <a:solidFill>
              <a:srgbClr val="1A3A5C"/>
            </a:solidFill>
            <a:prstDash val="solid"/>
          </a:ln>
        </p:spPr>
      </p:sp>
      <p:sp>
        <p:nvSpPr>
          <p:cNvPr id="4" name="Text 2"/>
          <p:cNvSpPr/>
          <p:nvPr/>
        </p:nvSpPr>
        <p:spPr>
          <a:xfrm>
            <a:off x="457200" y="228600"/>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5" name="Text 3"/>
          <p:cNvSpPr/>
          <p:nvPr/>
        </p:nvSpPr>
        <p:spPr>
          <a:xfrm>
            <a:off x="457200" y="594360"/>
            <a:ext cx="8229600" cy="411480"/>
          </a:xfrm>
          <a:prstGeom prst="rect">
            <a:avLst/>
          </a:prstGeom>
          <a:noFill/>
          <a:ln/>
        </p:spPr>
        <p:txBody>
          <a:bodyPr wrap="square" rtlCol="0" anchor="ctr"/>
          <a:lstStyle/>
          <a:p>
            <a:pPr indent="0" marL="0">
              <a:buNone/>
            </a:pPr>
            <a:r>
              <a:rPr lang="en-US" sz="2400" b="1" dirty="0">
                <a:solidFill>
                  <a:srgbClr val="1A3A5C"/>
                </a:solidFill>
                <a:latin typeface="Cambria" pitchFamily="34" charset="0"/>
                <a:ea typeface="Cambria" pitchFamily="34" charset="-122"/>
                <a:cs typeface="Cambria" pitchFamily="34" charset="-120"/>
              </a:rPr>
              <a:t>Your Assignment — Parts A &amp; B</a:t>
            </a:r>
            <a:endParaRPr lang="en-US" sz="2400" dirty="0"/>
          </a:p>
        </p:txBody>
      </p:sp>
      <p:sp>
        <p:nvSpPr>
          <p:cNvPr id="6" name="Shape 4"/>
          <p:cNvSpPr/>
          <p:nvPr/>
        </p:nvSpPr>
        <p:spPr>
          <a:xfrm>
            <a:off x="457200" y="1115568"/>
            <a:ext cx="4023360" cy="3520440"/>
          </a:xfrm>
          <a:prstGeom prst="rect">
            <a:avLst/>
          </a:prstGeom>
          <a:solidFill>
            <a:srgbClr val="FFFFFF"/>
          </a:solidFill>
          <a:ln w="12700">
            <a:solidFill>
              <a:srgbClr val="FFFFFF"/>
            </a:solidFill>
            <a:prstDash val="solid"/>
          </a:ln>
        </p:spPr>
      </p:sp>
      <p:sp>
        <p:nvSpPr>
          <p:cNvPr id="7" name="Shape 5"/>
          <p:cNvSpPr/>
          <p:nvPr/>
        </p:nvSpPr>
        <p:spPr>
          <a:xfrm>
            <a:off x="457200" y="1115568"/>
            <a:ext cx="4023360" cy="384048"/>
          </a:xfrm>
          <a:prstGeom prst="rect">
            <a:avLst/>
          </a:prstGeom>
          <a:solidFill>
            <a:srgbClr val="2E86AB"/>
          </a:solidFill>
          <a:ln w="12700">
            <a:solidFill>
              <a:srgbClr val="2E86AB"/>
            </a:solidFill>
            <a:prstDash val="solid"/>
          </a:ln>
        </p:spPr>
      </p:sp>
      <p:sp>
        <p:nvSpPr>
          <p:cNvPr id="8" name="Text 6"/>
          <p:cNvSpPr/>
          <p:nvPr/>
        </p:nvSpPr>
        <p:spPr>
          <a:xfrm>
            <a:off x="548640" y="1115568"/>
            <a:ext cx="3840480" cy="38404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Part A — Sketch</a:t>
            </a:r>
            <a:endParaRPr lang="en-US" sz="1400" dirty="0"/>
          </a:p>
        </p:txBody>
      </p:sp>
      <p:sp>
        <p:nvSpPr>
          <p:cNvPr id="9" name="Text 7"/>
          <p:cNvSpPr/>
          <p:nvPr/>
        </p:nvSpPr>
        <p:spPr>
          <a:xfrm>
            <a:off x="548640" y="1554480"/>
            <a:ext cx="3840480" cy="2999232"/>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Sketch your investigation setup.</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Label:</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The penny (show heads or tails)</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The dropper</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Circle the variable (which side)</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Star two controls you used</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Draw in your notebook.</a:t>
            </a:r>
            <a:endParaRPr lang="en-US" sz="1300" dirty="0"/>
          </a:p>
        </p:txBody>
      </p:sp>
      <p:sp>
        <p:nvSpPr>
          <p:cNvPr id="10" name="Shape 8"/>
          <p:cNvSpPr/>
          <p:nvPr/>
        </p:nvSpPr>
        <p:spPr>
          <a:xfrm>
            <a:off x="4663440" y="1115568"/>
            <a:ext cx="4023360" cy="3520440"/>
          </a:xfrm>
          <a:prstGeom prst="rect">
            <a:avLst/>
          </a:prstGeom>
          <a:solidFill>
            <a:srgbClr val="FFFFFF"/>
          </a:solidFill>
          <a:ln w="12700">
            <a:solidFill>
              <a:srgbClr val="FFFFFF"/>
            </a:solidFill>
            <a:prstDash val="solid"/>
          </a:ln>
        </p:spPr>
      </p:sp>
      <p:sp>
        <p:nvSpPr>
          <p:cNvPr id="11" name="Shape 9"/>
          <p:cNvSpPr/>
          <p:nvPr/>
        </p:nvSpPr>
        <p:spPr>
          <a:xfrm>
            <a:off x="4663440" y="1115568"/>
            <a:ext cx="4023360" cy="384048"/>
          </a:xfrm>
          <a:prstGeom prst="rect">
            <a:avLst/>
          </a:prstGeom>
          <a:solidFill>
            <a:srgbClr val="0E7C7B"/>
          </a:solidFill>
          <a:ln w="12700">
            <a:solidFill>
              <a:srgbClr val="0E7C7B"/>
            </a:solidFill>
            <a:prstDash val="solid"/>
          </a:ln>
        </p:spPr>
      </p:sp>
      <p:sp>
        <p:nvSpPr>
          <p:cNvPr id="12" name="Text 10"/>
          <p:cNvSpPr/>
          <p:nvPr/>
        </p:nvSpPr>
        <p:spPr>
          <a:xfrm>
            <a:off x="4754880" y="1115568"/>
            <a:ext cx="3840480" cy="38404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Part B — Data Questions</a:t>
            </a:r>
            <a:endParaRPr lang="en-US" sz="1400" dirty="0"/>
          </a:p>
        </p:txBody>
      </p:sp>
      <p:sp>
        <p:nvSpPr>
          <p:cNvPr id="13" name="Text 11"/>
          <p:cNvSpPr/>
          <p:nvPr/>
        </p:nvSpPr>
        <p:spPr>
          <a:xfrm>
            <a:off x="4754880" y="1554480"/>
            <a:ext cx="3840480" cy="2999232"/>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1. Write your data for all 6 trials (3 heads + 3 tails).</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2. Calculate your averages. Which side held more drops?</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3. Was your test fair? Name two specific controls you used.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Shape 1"/>
          <p:cNvSpPr/>
          <p:nvPr/>
        </p:nvSpPr>
        <p:spPr>
          <a:xfrm>
            <a:off x="457200" y="228600"/>
            <a:ext cx="1673352" cy="274320"/>
          </a:xfrm>
          <a:prstGeom prst="rect">
            <a:avLst/>
          </a:prstGeom>
          <a:solidFill>
            <a:srgbClr val="1A3A5C"/>
          </a:solidFill>
          <a:ln w="12700">
            <a:solidFill>
              <a:srgbClr val="1A3A5C"/>
            </a:solidFill>
            <a:prstDash val="solid"/>
          </a:ln>
        </p:spPr>
      </p:sp>
      <p:sp>
        <p:nvSpPr>
          <p:cNvPr id="4" name="Text 2"/>
          <p:cNvSpPr/>
          <p:nvPr/>
        </p:nvSpPr>
        <p:spPr>
          <a:xfrm>
            <a:off x="457200" y="228600"/>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5" name="Text 3"/>
          <p:cNvSpPr/>
          <p:nvPr/>
        </p:nvSpPr>
        <p:spPr>
          <a:xfrm>
            <a:off x="457200" y="594360"/>
            <a:ext cx="8229600" cy="411480"/>
          </a:xfrm>
          <a:prstGeom prst="rect">
            <a:avLst/>
          </a:prstGeom>
          <a:noFill/>
          <a:ln/>
        </p:spPr>
        <p:txBody>
          <a:bodyPr wrap="square" rtlCol="0" anchor="ctr"/>
          <a:lstStyle/>
          <a:p>
            <a:pPr indent="0" marL="0">
              <a:buNone/>
            </a:pPr>
            <a:r>
              <a:rPr lang="en-US" sz="2200" b="1" dirty="0">
                <a:solidFill>
                  <a:srgbClr val="1A3A5C"/>
                </a:solidFill>
                <a:latin typeface="Cambria" pitchFamily="34" charset="0"/>
                <a:ea typeface="Cambria" pitchFamily="34" charset="-122"/>
                <a:cs typeface="Cambria" pitchFamily="34" charset="-120"/>
              </a:rPr>
              <a:t>Your Assignment — Part C (CER Response)</a:t>
            </a:r>
            <a:endParaRPr lang="en-US" sz="2200" dirty="0"/>
          </a:p>
        </p:txBody>
      </p:sp>
      <p:sp>
        <p:nvSpPr>
          <p:cNvPr id="6" name="Shape 4"/>
          <p:cNvSpPr/>
          <p:nvPr/>
        </p:nvSpPr>
        <p:spPr>
          <a:xfrm>
            <a:off x="457200" y="1115568"/>
            <a:ext cx="8229600" cy="411480"/>
          </a:xfrm>
          <a:prstGeom prst="rect">
            <a:avLst/>
          </a:prstGeom>
          <a:solidFill>
            <a:srgbClr val="1A3A5C"/>
          </a:solidFill>
          <a:ln w="12700">
            <a:solidFill>
              <a:srgbClr val="1A3A5C"/>
            </a:solidFill>
            <a:prstDash val="solid"/>
          </a:ln>
        </p:spPr>
      </p:sp>
      <p:sp>
        <p:nvSpPr>
          <p:cNvPr id="7" name="Text 5"/>
          <p:cNvSpPr/>
          <p:nvPr/>
        </p:nvSpPr>
        <p:spPr>
          <a:xfrm>
            <a:off x="548640" y="1170432"/>
            <a:ext cx="8046720" cy="30175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Question: Which side of a penny holds more drops of water — heads or tails?  Use your data. Write 4-6 sentences.</a:t>
            </a:r>
            <a:endParaRPr lang="en-US" sz="1300" dirty="0"/>
          </a:p>
        </p:txBody>
      </p:sp>
      <p:sp>
        <p:nvSpPr>
          <p:cNvPr id="8" name="Shape 6"/>
          <p:cNvSpPr/>
          <p:nvPr/>
        </p:nvSpPr>
        <p:spPr>
          <a:xfrm>
            <a:off x="457200" y="1627632"/>
            <a:ext cx="8229600" cy="749808"/>
          </a:xfrm>
          <a:prstGeom prst="rect">
            <a:avLst/>
          </a:prstGeom>
          <a:solidFill>
            <a:srgbClr val="EBF5FB"/>
          </a:solidFill>
          <a:ln w="12700">
            <a:solidFill>
              <a:srgbClr val="EBF5FB"/>
            </a:solidFill>
            <a:prstDash val="solid"/>
          </a:ln>
        </p:spPr>
      </p:sp>
      <p:sp>
        <p:nvSpPr>
          <p:cNvPr id="9" name="Shape 7"/>
          <p:cNvSpPr/>
          <p:nvPr/>
        </p:nvSpPr>
        <p:spPr>
          <a:xfrm>
            <a:off x="548640" y="1691640"/>
            <a:ext cx="662940" cy="274320"/>
          </a:xfrm>
          <a:prstGeom prst="rect">
            <a:avLst/>
          </a:prstGeom>
          <a:solidFill>
            <a:srgbClr val="2E86AB"/>
          </a:solidFill>
          <a:ln w="12700">
            <a:solidFill>
              <a:srgbClr val="2E86AB"/>
            </a:solidFill>
            <a:prstDash val="solid"/>
          </a:ln>
        </p:spPr>
      </p:sp>
      <p:sp>
        <p:nvSpPr>
          <p:cNvPr id="10" name="Text 8"/>
          <p:cNvSpPr/>
          <p:nvPr/>
        </p:nvSpPr>
        <p:spPr>
          <a:xfrm>
            <a:off x="548640" y="1691640"/>
            <a:ext cx="6629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CLAIM</a:t>
            </a:r>
            <a:endParaRPr lang="en-US" sz="1000" dirty="0"/>
          </a:p>
        </p:txBody>
      </p:sp>
      <p:sp>
        <p:nvSpPr>
          <p:cNvPr id="11" name="Text 9"/>
          <p:cNvSpPr/>
          <p:nvPr/>
        </p:nvSpPr>
        <p:spPr>
          <a:xfrm>
            <a:off x="548640" y="1975104"/>
            <a:ext cx="7955280" cy="320040"/>
          </a:xfrm>
          <a:prstGeom prst="rect">
            <a:avLst/>
          </a:prstGeom>
          <a:noFill/>
          <a:ln/>
        </p:spPr>
        <p:txBody>
          <a:bodyPr wrap="square" rtlCol="0" anchor="ctr"/>
          <a:lstStyle/>
          <a:p>
            <a:pPr indent="0" marL="0">
              <a:buNone/>
            </a:pPr>
            <a:r>
              <a:rPr lang="en-US" sz="1300" dirty="0">
                <a:solidFill>
                  <a:srgbClr val="2C4A6E"/>
                </a:solidFill>
                <a:latin typeface="Calibri" pitchFamily="34" charset="0"/>
                <a:ea typeface="Calibri" pitchFamily="34" charset="-122"/>
                <a:cs typeface="Calibri" pitchFamily="34" charset="-120"/>
              </a:rPr>
              <a:t>"I claim that [heads/tails] holds more drops because…"</a:t>
            </a:r>
            <a:endParaRPr lang="en-US" sz="1300" dirty="0"/>
          </a:p>
        </p:txBody>
      </p:sp>
      <p:sp>
        <p:nvSpPr>
          <p:cNvPr id="12" name="Shape 10"/>
          <p:cNvSpPr/>
          <p:nvPr/>
        </p:nvSpPr>
        <p:spPr>
          <a:xfrm>
            <a:off x="457200" y="2450592"/>
            <a:ext cx="8229600" cy="749808"/>
          </a:xfrm>
          <a:prstGeom prst="rect">
            <a:avLst/>
          </a:prstGeom>
          <a:solidFill>
            <a:srgbClr val="E8F8F5"/>
          </a:solidFill>
          <a:ln w="12700">
            <a:solidFill>
              <a:srgbClr val="E8F8F5"/>
            </a:solidFill>
            <a:prstDash val="solid"/>
          </a:ln>
        </p:spPr>
      </p:sp>
      <p:sp>
        <p:nvSpPr>
          <p:cNvPr id="13" name="Shape 11"/>
          <p:cNvSpPr/>
          <p:nvPr/>
        </p:nvSpPr>
        <p:spPr>
          <a:xfrm>
            <a:off x="548640" y="2514600"/>
            <a:ext cx="896112" cy="274320"/>
          </a:xfrm>
          <a:prstGeom prst="rect">
            <a:avLst/>
          </a:prstGeom>
          <a:solidFill>
            <a:srgbClr val="0E7C7B"/>
          </a:solidFill>
          <a:ln w="12700">
            <a:solidFill>
              <a:srgbClr val="0E7C7B"/>
            </a:solidFill>
            <a:prstDash val="solid"/>
          </a:ln>
        </p:spPr>
      </p:sp>
      <p:sp>
        <p:nvSpPr>
          <p:cNvPr id="14" name="Text 12"/>
          <p:cNvSpPr/>
          <p:nvPr/>
        </p:nvSpPr>
        <p:spPr>
          <a:xfrm>
            <a:off x="548640" y="2514600"/>
            <a:ext cx="89611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EVIDENCE</a:t>
            </a:r>
            <a:endParaRPr lang="en-US" sz="1000" dirty="0"/>
          </a:p>
        </p:txBody>
      </p:sp>
      <p:sp>
        <p:nvSpPr>
          <p:cNvPr id="15" name="Text 13"/>
          <p:cNvSpPr/>
          <p:nvPr/>
        </p:nvSpPr>
        <p:spPr>
          <a:xfrm>
            <a:off x="548640" y="2788920"/>
            <a:ext cx="7955280" cy="320040"/>
          </a:xfrm>
          <a:prstGeom prst="rect">
            <a:avLst/>
          </a:prstGeom>
          <a:noFill/>
          <a:ln/>
        </p:spPr>
        <p:txBody>
          <a:bodyPr wrap="square" rtlCol="0" anchor="ctr"/>
          <a:lstStyle/>
          <a:p>
            <a:pPr indent="0" marL="0">
              <a:buNone/>
            </a:pPr>
            <a:r>
              <a:rPr lang="en-US" sz="1300" dirty="0">
                <a:solidFill>
                  <a:srgbClr val="2C4A6E"/>
                </a:solidFill>
                <a:latin typeface="Calibri" pitchFamily="34" charset="0"/>
                <a:ea typeface="Calibri" pitchFamily="34" charset="-122"/>
                <a:cs typeface="Calibri" pitchFamily="34" charset="-120"/>
              </a:rPr>
              <a:t>"In my three trials, [heads/tails] averaged ___ drops while [the other side] averaged ___ drops…"</a:t>
            </a:r>
            <a:endParaRPr lang="en-US" sz="1300" dirty="0"/>
          </a:p>
        </p:txBody>
      </p:sp>
      <p:sp>
        <p:nvSpPr>
          <p:cNvPr id="16" name="Shape 14"/>
          <p:cNvSpPr/>
          <p:nvPr/>
        </p:nvSpPr>
        <p:spPr>
          <a:xfrm>
            <a:off x="457200" y="3273552"/>
            <a:ext cx="8229600" cy="749808"/>
          </a:xfrm>
          <a:prstGeom prst="rect">
            <a:avLst/>
          </a:prstGeom>
          <a:solidFill>
            <a:srgbClr val="EAF9EA"/>
          </a:solidFill>
          <a:ln w="12700">
            <a:solidFill>
              <a:srgbClr val="EAF9EA"/>
            </a:solidFill>
            <a:prstDash val="solid"/>
          </a:ln>
        </p:spPr>
      </p:sp>
      <p:sp>
        <p:nvSpPr>
          <p:cNvPr id="17" name="Shape 15"/>
          <p:cNvSpPr/>
          <p:nvPr/>
        </p:nvSpPr>
        <p:spPr>
          <a:xfrm>
            <a:off x="548640" y="3337560"/>
            <a:ext cx="973836" cy="274320"/>
          </a:xfrm>
          <a:prstGeom prst="rect">
            <a:avLst/>
          </a:prstGeom>
          <a:solidFill>
            <a:srgbClr val="2A7A4B"/>
          </a:solidFill>
          <a:ln w="12700">
            <a:solidFill>
              <a:srgbClr val="2A7A4B"/>
            </a:solidFill>
            <a:prstDash val="solid"/>
          </a:ln>
        </p:spPr>
      </p:sp>
      <p:sp>
        <p:nvSpPr>
          <p:cNvPr id="18" name="Text 16"/>
          <p:cNvSpPr/>
          <p:nvPr/>
        </p:nvSpPr>
        <p:spPr>
          <a:xfrm>
            <a:off x="548640" y="3337560"/>
            <a:ext cx="97383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REASONING</a:t>
            </a:r>
            <a:endParaRPr lang="en-US" sz="1000" dirty="0"/>
          </a:p>
        </p:txBody>
      </p:sp>
      <p:sp>
        <p:nvSpPr>
          <p:cNvPr id="19" name="Text 17"/>
          <p:cNvSpPr/>
          <p:nvPr/>
        </p:nvSpPr>
        <p:spPr>
          <a:xfrm>
            <a:off x="548640" y="3611880"/>
            <a:ext cx="7955280" cy="320040"/>
          </a:xfrm>
          <a:prstGeom prst="rect">
            <a:avLst/>
          </a:prstGeom>
          <a:noFill/>
          <a:ln/>
        </p:spPr>
        <p:txBody>
          <a:bodyPr wrap="square" rtlCol="0" anchor="ctr"/>
          <a:lstStyle/>
          <a:p>
            <a:pPr indent="0" marL="0">
              <a:buNone/>
            </a:pPr>
            <a:r>
              <a:rPr lang="en-US" sz="1300" dirty="0">
                <a:solidFill>
                  <a:srgbClr val="2C4A6E"/>
                </a:solidFill>
                <a:latin typeface="Calibri" pitchFamily="34" charset="0"/>
                <a:ea typeface="Calibri" pitchFamily="34" charset="-122"/>
                <a:cs typeface="Calibri" pitchFamily="34" charset="-120"/>
              </a:rPr>
              <a:t>"This shows [surface texture / smoothness] affects surface tension because…"</a:t>
            </a:r>
            <a:endParaRPr lang="en-US" sz="1300" dirty="0"/>
          </a:p>
        </p:txBody>
      </p:sp>
      <p:sp>
        <p:nvSpPr>
          <p:cNvPr id="20" name="Shape 18"/>
          <p:cNvSpPr/>
          <p:nvPr/>
        </p:nvSpPr>
        <p:spPr>
          <a:xfrm>
            <a:off x="457200" y="4096512"/>
            <a:ext cx="8229600" cy="384048"/>
          </a:xfrm>
          <a:prstGeom prst="rect">
            <a:avLst/>
          </a:prstGeom>
          <a:solidFill>
            <a:srgbClr val="2C4A6E"/>
          </a:solidFill>
          <a:ln w="12700">
            <a:solidFill>
              <a:srgbClr val="2C4A6E"/>
            </a:solidFill>
            <a:prstDash val="solid"/>
          </a:ln>
        </p:spPr>
      </p:sp>
      <p:sp>
        <p:nvSpPr>
          <p:cNvPr id="21" name="Text 19"/>
          <p:cNvSpPr/>
          <p:nvPr/>
        </p:nvSpPr>
        <p:spPr>
          <a:xfrm>
            <a:off x="548640" y="4151376"/>
            <a:ext cx="8046720" cy="27432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Write your full CER response in your notebook. Use your actual data numbers as evidence.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7C7B"/>
          </a:solidFill>
          <a:ln w="12700">
            <a:solidFill>
              <a:srgbClr val="0E7C7B"/>
            </a:solidFill>
            <a:prstDash val="solid"/>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Revise Your Thinking</a:t>
            </a:r>
            <a:endParaRPr lang="en-US" sz="2800" dirty="0"/>
          </a:p>
        </p:txBody>
      </p:sp>
      <p:sp>
        <p:nvSpPr>
          <p:cNvPr id="4" name="Shape 2"/>
          <p:cNvSpPr/>
          <p:nvPr/>
        </p:nvSpPr>
        <p:spPr>
          <a:xfrm>
            <a:off x="457200" y="777240"/>
            <a:ext cx="8229600" cy="411480"/>
          </a:xfrm>
          <a:prstGeom prst="rect">
            <a:avLst/>
          </a:prstGeom>
          <a:solidFill>
            <a:srgbClr val="075F5F"/>
          </a:solidFill>
          <a:ln w="12700">
            <a:solidFill>
              <a:srgbClr val="075F5F"/>
            </a:solidFill>
            <a:prstDash val="solid"/>
          </a:ln>
        </p:spPr>
      </p:sp>
      <p:sp>
        <p:nvSpPr>
          <p:cNvPr id="5" name="Text 3"/>
          <p:cNvSpPr/>
          <p:nvPr/>
        </p:nvSpPr>
        <p:spPr>
          <a:xfrm>
            <a:off x="548640" y="832104"/>
            <a:ext cx="8046720" cy="30175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Look back at your prediction from the start. How close were you — and what changed your thinking?</a:t>
            </a:r>
            <a:endParaRPr lang="en-US" sz="1400" dirty="0"/>
          </a:p>
        </p:txBody>
      </p:sp>
      <p:sp>
        <p:nvSpPr>
          <p:cNvPr id="6" name="Shape 4"/>
          <p:cNvSpPr/>
          <p:nvPr/>
        </p:nvSpPr>
        <p:spPr>
          <a:xfrm>
            <a:off x="457200" y="1325880"/>
            <a:ext cx="411480" cy="411480"/>
          </a:xfrm>
          <a:prstGeom prst="rect">
            <a:avLst/>
          </a:prstGeom>
          <a:solidFill>
            <a:srgbClr val="1A3A5C"/>
          </a:solidFill>
          <a:ln w="12700">
            <a:solidFill>
              <a:srgbClr val="1A3A5C"/>
            </a:solidFill>
            <a:prstDash val="solid"/>
          </a:ln>
        </p:spPr>
      </p:sp>
      <p:sp>
        <p:nvSpPr>
          <p:cNvPr id="7" name="Text 5"/>
          <p:cNvSpPr/>
          <p:nvPr/>
        </p:nvSpPr>
        <p:spPr>
          <a:xfrm>
            <a:off x="548640" y="1380744"/>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Shape 6"/>
          <p:cNvSpPr/>
          <p:nvPr/>
        </p:nvSpPr>
        <p:spPr>
          <a:xfrm>
            <a:off x="1005840" y="1325880"/>
            <a:ext cx="7680960" cy="987552"/>
          </a:xfrm>
          <a:prstGeom prst="rect">
            <a:avLst/>
          </a:prstGeom>
          <a:solidFill>
            <a:srgbClr val="075F5F"/>
          </a:solidFill>
          <a:ln w="12700">
            <a:solidFill>
              <a:srgbClr val="075F5F"/>
            </a:solidFill>
            <a:prstDash val="solid"/>
          </a:ln>
        </p:spPr>
      </p:sp>
      <p:sp>
        <p:nvSpPr>
          <p:cNvPr id="9" name="Text 7"/>
          <p:cNvSpPr/>
          <p:nvPr/>
        </p:nvSpPr>
        <p:spPr>
          <a:xfrm>
            <a:off x="1097280" y="1380744"/>
            <a:ext cx="7498080"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At the start I predicted ___ drops. My actual result was ___ drops. My prediction was [close/off] because…</a:t>
            </a:r>
            <a:endParaRPr lang="en-US" sz="1400" dirty="0"/>
          </a:p>
        </p:txBody>
      </p:sp>
      <p:sp>
        <p:nvSpPr>
          <p:cNvPr id="10" name="Shape 8"/>
          <p:cNvSpPr/>
          <p:nvPr/>
        </p:nvSpPr>
        <p:spPr>
          <a:xfrm>
            <a:off x="457200" y="2496312"/>
            <a:ext cx="411480" cy="411480"/>
          </a:xfrm>
          <a:prstGeom prst="rect">
            <a:avLst/>
          </a:prstGeom>
          <a:solidFill>
            <a:srgbClr val="1A3A5C"/>
          </a:solidFill>
          <a:ln w="12700">
            <a:solidFill>
              <a:srgbClr val="1A3A5C"/>
            </a:solidFill>
            <a:prstDash val="solid"/>
          </a:ln>
        </p:spPr>
      </p:sp>
      <p:sp>
        <p:nvSpPr>
          <p:cNvPr id="11" name="Text 9"/>
          <p:cNvSpPr/>
          <p:nvPr/>
        </p:nvSpPr>
        <p:spPr>
          <a:xfrm>
            <a:off x="548640" y="2551176"/>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Shape 10"/>
          <p:cNvSpPr/>
          <p:nvPr/>
        </p:nvSpPr>
        <p:spPr>
          <a:xfrm>
            <a:off x="1005840" y="2496312"/>
            <a:ext cx="7680960" cy="987552"/>
          </a:xfrm>
          <a:prstGeom prst="rect">
            <a:avLst/>
          </a:prstGeom>
          <a:solidFill>
            <a:srgbClr val="075F5F"/>
          </a:solidFill>
          <a:ln w="12700">
            <a:solidFill>
              <a:srgbClr val="075F5F"/>
            </a:solidFill>
            <a:prstDash val="solid"/>
          </a:ln>
        </p:spPr>
      </p:sp>
      <p:sp>
        <p:nvSpPr>
          <p:cNvPr id="13" name="Text 11"/>
          <p:cNvSpPr/>
          <p:nvPr/>
        </p:nvSpPr>
        <p:spPr>
          <a:xfrm>
            <a:off x="1097280" y="2551176"/>
            <a:ext cx="7498080"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The most important thing I learned about collecting fair data is…</a:t>
            </a:r>
            <a:endParaRPr lang="en-US" sz="1400" dirty="0"/>
          </a:p>
        </p:txBody>
      </p:sp>
      <p:sp>
        <p:nvSpPr>
          <p:cNvPr id="14" name="Shape 12"/>
          <p:cNvSpPr/>
          <p:nvPr/>
        </p:nvSpPr>
        <p:spPr>
          <a:xfrm>
            <a:off x="457200" y="3666744"/>
            <a:ext cx="411480" cy="411480"/>
          </a:xfrm>
          <a:prstGeom prst="rect">
            <a:avLst/>
          </a:prstGeom>
          <a:solidFill>
            <a:srgbClr val="1A3A5C"/>
          </a:solidFill>
          <a:ln w="12700">
            <a:solidFill>
              <a:srgbClr val="1A3A5C"/>
            </a:solidFill>
            <a:prstDash val="solid"/>
          </a:ln>
        </p:spPr>
      </p:sp>
      <p:sp>
        <p:nvSpPr>
          <p:cNvPr id="15" name="Text 13"/>
          <p:cNvSpPr/>
          <p:nvPr/>
        </p:nvSpPr>
        <p:spPr>
          <a:xfrm>
            <a:off x="548640" y="3721608"/>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Shape 14"/>
          <p:cNvSpPr/>
          <p:nvPr/>
        </p:nvSpPr>
        <p:spPr>
          <a:xfrm>
            <a:off x="1005840" y="3666744"/>
            <a:ext cx="7680960" cy="987552"/>
          </a:xfrm>
          <a:prstGeom prst="rect">
            <a:avLst/>
          </a:prstGeom>
          <a:solidFill>
            <a:srgbClr val="075F5F"/>
          </a:solidFill>
          <a:ln w="12700">
            <a:solidFill>
              <a:srgbClr val="075F5F"/>
            </a:solidFill>
            <a:prstDash val="solid"/>
          </a:ln>
        </p:spPr>
      </p:sp>
      <p:sp>
        <p:nvSpPr>
          <p:cNvPr id="17" name="Text 15"/>
          <p:cNvSpPr/>
          <p:nvPr/>
        </p:nvSpPr>
        <p:spPr>
          <a:xfrm>
            <a:off x="1097280" y="3721608"/>
            <a:ext cx="7498080"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One thing I would change if I ran this investigation again is…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28600"/>
            <a:ext cx="1595628" cy="274320"/>
          </a:xfrm>
          <a:prstGeom prst="rect">
            <a:avLst/>
          </a:prstGeom>
          <a:solidFill>
            <a:srgbClr val="F6C90E"/>
          </a:solidFill>
          <a:ln w="12700">
            <a:solidFill>
              <a:srgbClr val="F6C90E"/>
            </a:solidFill>
            <a:prstDash val="solid"/>
          </a:ln>
        </p:spPr>
      </p:sp>
      <p:sp>
        <p:nvSpPr>
          <p:cNvPr id="4" name="Text 2"/>
          <p:cNvSpPr/>
          <p:nvPr/>
        </p:nvSpPr>
        <p:spPr>
          <a:xfrm>
            <a:off x="457200" y="228600"/>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 YOU SUBMIT</a:t>
            </a:r>
            <a:endParaRPr lang="en-US" sz="1000" dirty="0"/>
          </a:p>
        </p:txBody>
      </p:sp>
      <p:sp>
        <p:nvSpPr>
          <p:cNvPr id="5" name="Text 3"/>
          <p:cNvSpPr/>
          <p:nvPr/>
        </p:nvSpPr>
        <p:spPr>
          <a:xfrm>
            <a:off x="457200" y="640080"/>
            <a:ext cx="8229600" cy="4114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Submission Checklist</a:t>
            </a:r>
            <a:endParaRPr lang="en-US" sz="2600" dirty="0"/>
          </a:p>
        </p:txBody>
      </p:sp>
      <p:sp>
        <p:nvSpPr>
          <p:cNvPr id="6" name="Shape 4"/>
          <p:cNvSpPr/>
          <p:nvPr/>
        </p:nvSpPr>
        <p:spPr>
          <a:xfrm>
            <a:off x="457200" y="1170432"/>
            <a:ext cx="8229600" cy="566928"/>
          </a:xfrm>
          <a:prstGeom prst="rect">
            <a:avLst/>
          </a:prstGeom>
          <a:solidFill>
            <a:srgbClr val="2C4A6E"/>
          </a:solidFill>
          <a:ln w="12700">
            <a:solidFill>
              <a:srgbClr val="2C4A6E"/>
            </a:solidFill>
            <a:prstDash val="solid"/>
          </a:ln>
        </p:spPr>
      </p:sp>
      <p:sp>
        <p:nvSpPr>
          <p:cNvPr id="7" name="Text 5"/>
          <p:cNvSpPr/>
          <p:nvPr/>
        </p:nvSpPr>
        <p:spPr>
          <a:xfrm>
            <a:off x="548640" y="1225296"/>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Setup sketch — Part A: penny labeled, dropper labeled, variable circled, two controls starred.</a:t>
            </a:r>
            <a:endParaRPr lang="en-US" sz="1300" dirty="0"/>
          </a:p>
        </p:txBody>
      </p:sp>
      <p:sp>
        <p:nvSpPr>
          <p:cNvPr id="8" name="Shape 6"/>
          <p:cNvSpPr/>
          <p:nvPr/>
        </p:nvSpPr>
        <p:spPr>
          <a:xfrm>
            <a:off x="457200" y="1828800"/>
            <a:ext cx="8229600" cy="566928"/>
          </a:xfrm>
          <a:prstGeom prst="rect">
            <a:avLst/>
          </a:prstGeom>
          <a:solidFill>
            <a:srgbClr val="2C4A6E"/>
          </a:solidFill>
          <a:ln w="12700">
            <a:solidFill>
              <a:srgbClr val="2C4A6E"/>
            </a:solidFill>
            <a:prstDash val="solid"/>
          </a:ln>
        </p:spPr>
      </p:sp>
      <p:sp>
        <p:nvSpPr>
          <p:cNvPr id="9" name="Text 7"/>
          <p:cNvSpPr/>
          <p:nvPr/>
        </p:nvSpPr>
        <p:spPr>
          <a:xfrm>
            <a:off x="548640" y="1883664"/>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Data table — Part B: all 6 trials recorded, both averages calculated.</a:t>
            </a:r>
            <a:endParaRPr lang="en-US" sz="1300" dirty="0"/>
          </a:p>
        </p:txBody>
      </p:sp>
      <p:sp>
        <p:nvSpPr>
          <p:cNvPr id="10" name="Shape 8"/>
          <p:cNvSpPr/>
          <p:nvPr/>
        </p:nvSpPr>
        <p:spPr>
          <a:xfrm>
            <a:off x="457200" y="2487168"/>
            <a:ext cx="8229600" cy="566928"/>
          </a:xfrm>
          <a:prstGeom prst="rect">
            <a:avLst/>
          </a:prstGeom>
          <a:solidFill>
            <a:srgbClr val="2C4A6E"/>
          </a:solidFill>
          <a:ln w="12700">
            <a:solidFill>
              <a:srgbClr val="2C4A6E"/>
            </a:solidFill>
            <a:prstDash val="solid"/>
          </a:ln>
        </p:spPr>
      </p:sp>
      <p:sp>
        <p:nvSpPr>
          <p:cNvPr id="11" name="Text 9"/>
          <p:cNvSpPr/>
          <p:nvPr/>
        </p:nvSpPr>
        <p:spPr>
          <a:xfrm>
            <a:off x="548640" y="2542032"/>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Part B questions — all three questions answered in complete sentences.</a:t>
            </a:r>
            <a:endParaRPr lang="en-US" sz="1300" dirty="0"/>
          </a:p>
        </p:txBody>
      </p:sp>
      <p:sp>
        <p:nvSpPr>
          <p:cNvPr id="12" name="Shape 10"/>
          <p:cNvSpPr/>
          <p:nvPr/>
        </p:nvSpPr>
        <p:spPr>
          <a:xfrm>
            <a:off x="457200" y="3145536"/>
            <a:ext cx="8229600" cy="566928"/>
          </a:xfrm>
          <a:prstGeom prst="rect">
            <a:avLst/>
          </a:prstGeom>
          <a:solidFill>
            <a:srgbClr val="2C4A6E"/>
          </a:solidFill>
          <a:ln w="12700">
            <a:solidFill>
              <a:srgbClr val="2C4A6E"/>
            </a:solidFill>
            <a:prstDash val="solid"/>
          </a:ln>
        </p:spPr>
      </p:sp>
      <p:sp>
        <p:nvSpPr>
          <p:cNvPr id="13" name="Text 11"/>
          <p:cNvSpPr/>
          <p:nvPr/>
        </p:nvSpPr>
        <p:spPr>
          <a:xfrm>
            <a:off x="548640" y="3200400"/>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CER response — Part C: claim, evidence, reasoning, 4-6 sentences using your data.</a:t>
            </a:r>
            <a:endParaRPr lang="en-US" sz="1300" dirty="0"/>
          </a:p>
        </p:txBody>
      </p:sp>
      <p:sp>
        <p:nvSpPr>
          <p:cNvPr id="14" name="Shape 12"/>
          <p:cNvSpPr/>
          <p:nvPr/>
        </p:nvSpPr>
        <p:spPr>
          <a:xfrm>
            <a:off x="457200" y="3803904"/>
            <a:ext cx="8229600" cy="566928"/>
          </a:xfrm>
          <a:prstGeom prst="rect">
            <a:avLst/>
          </a:prstGeom>
          <a:solidFill>
            <a:srgbClr val="2C4A6E"/>
          </a:solidFill>
          <a:ln w="12700">
            <a:solidFill>
              <a:srgbClr val="2C4A6E"/>
            </a:solidFill>
            <a:prstDash val="solid"/>
          </a:ln>
        </p:spPr>
      </p:sp>
      <p:sp>
        <p:nvSpPr>
          <p:cNvPr id="15" name="Text 13"/>
          <p:cNvSpPr/>
          <p:nvPr/>
        </p:nvSpPr>
        <p:spPr>
          <a:xfrm>
            <a:off x="548640" y="3858768"/>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Revise Your Thinking — all three reflection prompts completed.</a:t>
            </a:r>
            <a:endParaRPr lang="en-US" sz="1300" dirty="0"/>
          </a:p>
        </p:txBody>
      </p:sp>
      <p:sp>
        <p:nvSpPr>
          <p:cNvPr id="16" name="Shape 14"/>
          <p:cNvSpPr/>
          <p:nvPr/>
        </p:nvSpPr>
        <p:spPr>
          <a:xfrm>
            <a:off x="457200" y="4553712"/>
            <a:ext cx="8229600" cy="347472"/>
          </a:xfrm>
          <a:prstGeom prst="rect">
            <a:avLst/>
          </a:prstGeom>
          <a:solidFill>
            <a:srgbClr val="2E86AB"/>
          </a:solidFill>
          <a:ln w="12700">
            <a:solidFill>
              <a:srgbClr val="2E86AB"/>
            </a:solidFill>
            <a:prstDash val="solid"/>
          </a:ln>
        </p:spPr>
      </p:sp>
      <p:sp>
        <p:nvSpPr>
          <p:cNvPr id="17" name="Text 15"/>
          <p:cNvSpPr/>
          <p:nvPr/>
        </p:nvSpPr>
        <p:spPr>
          <a:xfrm>
            <a:off x="548640" y="4608576"/>
            <a:ext cx="8046720" cy="237744"/>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Next up: Lesson 3.01 — What Is Matter?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2026-07-16T18:40:23Z</dcterms:created>
  <dcterms:modified xsi:type="dcterms:W3CDTF">2026-07-16T18:40:23Z</dcterms:modified>
</cp:coreProperties>
</file>