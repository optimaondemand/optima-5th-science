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have you experienced? Ask a student to describe what they noticed. Bridge to: Today we find out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2-3 min to write. Ask 2-3 students to share. Do NOT confirm or correct. Say: Hold that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follow-up: Ask students to put the concept in their own words. Then ask for a real-life example. Do not move on until two students can state the big idea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2 min to think. Cold-call one student per question. Follow-up: What evidence supports that?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 check: Use at least TWO of: electric charge, static electricity, attract, repel, positive, negative. If student writes only one sentence, ask: What does your evidence show?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UNIT 3  WEEK 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Charged Objects Attract or Repel?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SC.5.P.10.3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852928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electric charge and how it builds up on objects.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72968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236976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when charged objects attract or repel each other.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557016"/>
            <a:ext cx="594360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621024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evidence to predict whether two objects will attract or repel.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365760"/>
            <a:ext cx="2286000" cy="4389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5th Grade Science  |  Lesson 13.01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Have You Ever Felt Static Electricity?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046720" cy="100584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61288"/>
            <a:ext cx="78272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pull a sock out of the dryer and another sticks to it. You shuffle on carpet and touch a doorknob -- ZAP! These are examples of static electricity -- charge that builds up on objects.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402336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60904"/>
            <a:ext cx="3803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dryer socks and a doorknob shock have in common? Where did the energy come from?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249424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596896"/>
            <a:ext cx="420624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2660904"/>
            <a:ext cx="3986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charged objects push things apart -- or affect things they are not even touching?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Engage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-- Write Your Prediction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046720" cy="80467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7827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rub a balloon on your hair, the hair stands up and follows the balloon. Why do you think this happens? Write at least two sentences using what you already know.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Prediction: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046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50008"/>
            <a:ext cx="78272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science notebook. You will return to this at the 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charge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of tiny particles. Charge comes in two kinds: positive (+) and negative (-).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electricity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buildup of charge on an object. Static means it stays in place instead of flowing.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80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32918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pull toward each other. Opposite charges attract. Charged things can also attract uncharged things.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880360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73168" y="329184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push away from each other. Objects with the same kind of charge repel each other.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(cont.)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(+)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kind of electric charge. Particles called protons carry positive charge.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114800" cy="1645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033272"/>
            <a:ext cx="3895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(-)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73168" y="1444752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kind of electric charge. Electrons carry negative charge and can move between objects.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98648"/>
            <a:ext cx="81930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RULE: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attract. Like charges repel.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force = more change in motion.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forces = no motion.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 Idea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attract. Like charges repel. These pulls and pushes happen without touching. Charged objects can also attract uncharged objects by rearranging their charges from a distance.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42032"/>
            <a:ext cx="4114800" cy="14630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606040"/>
            <a:ext cx="3895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you rub a balloon on hair, which object gains extra negative charge? Which loses it? How could you tell?"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542032"/>
            <a:ext cx="4114800" cy="14630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606040"/>
            <a:ext cx="3895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"Imagine two balloons both rubbed on hair. Will they pull together or push apart? Why?"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Key Concept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Matter: Protons and Electrons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612648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every object are tiny particles: protons (positive) and electrons (negative). Normally equal -- balanced. When you rub two things together, electrons jump from one to the other. Now one has EXTRA negatives, one has FEWER. They are charged.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79222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Opposites Attract, Likes Repel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40280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 -- they pull toward each other without touching. Like charges repel -- they push apart. This happens across the air between objects.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419856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Charged Objects Attract Uncharged Objects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3803904"/>
            <a:ext cx="8412480" cy="1170432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867912"/>
            <a:ext cx="81930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charged balloon pushes the paper's negatives to the far side. Near side becomes positive. Balloon attracts it. Paper jumps to balloon -- without being charged itself!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Content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-- Visual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Opposites Pull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and (-) pull toward each other.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balloon (negative) and hair (positive) after rubbing.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72968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72968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Charges Push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4408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with SAME charge push apart.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two balloons rubbed on hair -- both negative -- swing away.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0176" y="621792"/>
            <a:ext cx="2807208" cy="42062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0176" y="658368"/>
            <a:ext cx="2807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Uncharged Object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71616" y="1078992"/>
            <a:ext cx="262432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Charged object rearranges charges inside uncharged object. Near side becomes opposite.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charged comb pulls paper bits.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Diagram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 or Repel? -- Three Scenarios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scenario: predict ATTRACT, REPEL, or NOTHING -- then explain why.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72184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A balloon rubbed on hair is held close to pepper flakes. What happens to the pepper?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32304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96312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Two balloons rubbed on the same hair. Hung next to each other from strings. What do they do?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56432"/>
            <a:ext cx="8412480" cy="91440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520440"/>
            <a:ext cx="8193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C: One balloon rubbed on hair, another on wool sweater. Hung near each other. Different surfaces -- different charges?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Investigate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Table -- Copy Into Your Notebook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20116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2179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77440" y="621792"/>
            <a:ext cx="1828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62179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621792"/>
            <a:ext cx="51206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6217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(use charge, opposite, or like)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01168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0058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Balloon + pepper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0058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005840"/>
            <a:ext cx="512064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10058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Balloon rearranges charges in uncharged pepper. Near side becomes positive.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9202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Two balloons (same hair)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192024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32304" y="19202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1920240"/>
            <a:ext cx="5120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9202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got negative charge. Like charges push apart.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201168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34640"/>
            <a:ext cx="1901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Hair balloon vs wool balloon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834640"/>
            <a:ext cx="182880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2304" y="2834640"/>
            <a:ext cx="1719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2834640"/>
            <a:ext cx="5120640" cy="914400"/>
          </a:xfrm>
          <a:prstGeom prst="rect">
            <a:avLst/>
          </a:prstGeom>
          <a:solidFill>
            <a:srgbClr val="D6EAF8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1104" y="2834640"/>
            <a:ext cx="5010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surfaces give different charges -- one positive, one negative. Opposites attract.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Data Table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sentences. Use vocabulary words.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8096" y="9144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9784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A (balloon + pepper), what will happen? Use the words charge and attract in your answer.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" y="22860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3500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B (two balloons, same hair), will they attract or repel? Explain using like charges.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29260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8096" y="3657600"/>
            <a:ext cx="8010144" cy="120700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721608"/>
            <a:ext cx="7790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Scenario C, the balloons were rubbed on different things. What charge does each have? Attract or repel?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Record Your Thinking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 Your Thinking with Evidence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05156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says: if two balloons both attract paper bits, they must also attract each other. Do you agree? Use what you learned."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8412480" cy="105156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258568"/>
            <a:ext cx="8193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balloons sometimes lose their static stick after a few minutes on a wall? What happened to the charges?"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12464"/>
            <a:ext cx="41148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77647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disagree because both balloons have the same charge, which means..."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712464"/>
            <a:ext cx="41148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3776472"/>
            <a:ext cx="3895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charges must have moved because in humid air..."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Discuss &amp; Defend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|  Evidence  |  Reasoning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4-6 sentences total. Use 2+ lesson vocab words.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8412480" cy="87782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53896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-- Which scenarios attract, repel, or do nothing? One clear sentence, your own words.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40864"/>
            <a:ext cx="8412480" cy="87782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404872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-- What charges did each object have in each scenario? At least two pieces.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8778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355848"/>
            <a:ext cx="8193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-- Why does this fit what we know?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"This makes sense because the rule says opposite charges attract, which means..."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CER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two objects with the SAME charge come close to each other?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They attract -- same charges always pull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30552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Nothing happens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69494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98648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They repel -- they push away from each other     CORRECT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8620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charges always repel. Two positives push apart. Two negatives push apart. This is one of the basic rules of electric force.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Self-Check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charged comb attracts small bits of paper. The paper is NOT charged. How can this happen?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62456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paper must secretly be charged the whole 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66544"/>
            <a:ext cx="8412480" cy="69494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30552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comb rearranges charges inside the paper -- near side becomes opposite -- opposites attract     CORRECT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8412480" cy="694944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98648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Magnetism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822192"/>
            <a:ext cx="841248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886200"/>
            <a:ext cx="8193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charged comb pushes negatives in the paper away. Near side becomes positive. Comb (negative) attracts paper's near positive side.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Self-Check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Incredible -- Beyond the Lesson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234440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15568"/>
            <a:ext cx="8193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lightning bolt carries about ONE BILLION VOLTS and reaches 50,000 degrees F -- five times hotter than the surface of the sun. All that power comes from the same static buildup that makes your sock stick to your shirt.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41148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825496"/>
            <a:ext cx="38953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static electricity worse in winter? (Hint: dry vs. humid air)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761488"/>
            <a:ext cx="411480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825496"/>
            <a:ext cx="389534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lived somewhere with zero humidity, would static shocks be more or less common? Why?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Elaborate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-- Parts A and 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123444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81930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Home Static Observations: Notice THREE places at home where static electricity happens -- clothes from dryer, hair standing up after a hat, shock from doorknob, lint on screen. Describe each 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8412480" cy="210312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350008"/>
            <a:ext cx="8193024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Scenarios A and B both involve balloons rubbed on hair. Which attracts and which repels? Why?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 Scenario B, both balloons got charge from the same hair. Same charge or different?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 Scenario C, balloons were rubbed on different materials. What charge does each probably have?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Assignment A &amp; B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 -- Part C (CER)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6692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51560"/>
            <a:ext cx="8193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C: Which scenarios attract, repel, or do nothing? Defend your answer using what you know about electric charge.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691640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CLAIM -- Which scenarios attract, repel, or do nothing? One clear sentence, your own words.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04872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EVIDENCE -- What charges did each object have in each scenario? At least two pieces.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54096"/>
            <a:ext cx="841248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118104"/>
            <a:ext cx="81930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This makes sense because the rule says opposite charges attract, which means...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8412480" cy="530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8313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of: electric charge, static electricity, attract, repel, positive, negative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Assignment C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Your Thinking Change?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424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prediction. Write 3-4 sentences answering these: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1389888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453896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about why hair sticks to a balloon?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" y="2560320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624328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today's lesson confirm or change your prediction?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730752"/>
            <a:ext cx="292608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" y="3730752"/>
            <a:ext cx="8010144" cy="1005840"/>
          </a:xfrm>
          <a:prstGeom prst="rect">
            <a:avLst/>
          </a:prstGeom>
          <a:solidFill>
            <a:srgbClr val="085E5D"/>
          </a:solidFill>
          <a:ln w="12700">
            <a:solidFill>
              <a:srgbClr val="085E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794760"/>
            <a:ext cx="77906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new idea about electric charge you would add now?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Revise Your Thinking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43000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A: Three home static observations -- each described clearly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92808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B: All three evidence questions answered using the scenarios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42616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 C: Claim, Evidence, Reasoning -- 4-6 sentences total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392424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Revise Your Thinking: 3-4 sentences on how your thinking changed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78224"/>
            <a:ext cx="841248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4142232"/>
            <a:ext cx="8193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Vocab Check: At least TWO lesson words used accurately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 via Canvas: copy text, photo your notebook, or record a video.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96612"/>
            <a:ext cx="9144000" cy="2468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4896612"/>
            <a:ext cx="8778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13.01  |  Optima Academy Online  |  SC.5.P.10.3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2026-08-28T17:39:56Z</dcterms:created>
  <dcterms:modified xsi:type="dcterms:W3CDTF">2026-08-28T17:39:56Z</dcterms:modified>
</cp:coreProperties>
</file>