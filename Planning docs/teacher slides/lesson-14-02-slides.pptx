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experienced? Ask a student to describe what they noticed. Bridge to: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 to write. Ask 2-3 students to share. Do NOT confirm or correct. Say: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follow-up: Ask students to put the concept in their own words. Then ask for a real-life example. Do not move on until two students can state the big idea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 to think. Cold-call one student per question. Follow-up: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check: Use at least TWO of: gravity, force, downward, weight, air resistance, evidence. If student writes only one sentence, ask: What does your evidence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751076" cy="274320"/>
          </a:xfrm>
          <a:prstGeom prst="rect">
            <a:avLst/>
          </a:prstGeom>
          <a:solidFill>
            <a:srgbClr val="0E7C7B"/>
          </a:solidFill>
          <a:ln w="12700">
            <a:solidFill>
              <a:srgbClr val="0E7C7B"/>
            </a:solidFill>
            <a:prstDash val="solid"/>
          </a:ln>
        </p:spPr>
      </p:sp>
      <p:sp>
        <p:nvSpPr>
          <p:cNvPr id="3" name="Text 1"/>
          <p:cNvSpPr/>
          <p:nvPr/>
        </p:nvSpPr>
        <p:spPr>
          <a:xfrm>
            <a:off x="365760" y="20116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  UNIT 3  WEEK 14</a:t>
            </a:r>
            <a:endParaRPr lang="en-US" sz="1000" dirty="0"/>
          </a:p>
        </p:txBody>
      </p:sp>
      <p:sp>
        <p:nvSpPr>
          <p:cNvPr id="4" name="Text 2"/>
          <p:cNvSpPr/>
          <p:nvPr/>
        </p:nvSpPr>
        <p:spPr>
          <a:xfrm>
            <a:off x="365760" y="566928"/>
            <a:ext cx="5943600" cy="1737360"/>
          </a:xfrm>
          <a:prstGeom prst="rect">
            <a:avLst/>
          </a:prstGeom>
          <a:noFill/>
          <a:ln/>
        </p:spPr>
        <p:txBody>
          <a:bodyPr wrap="square"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Investigation: Evidence of Gravity</a:t>
            </a:r>
            <a:endParaRPr lang="en-US" sz="3000" dirty="0"/>
          </a:p>
        </p:txBody>
      </p:sp>
      <p:sp>
        <p:nvSpPr>
          <p:cNvPr id="5" name="Text 3"/>
          <p:cNvSpPr/>
          <p:nvPr/>
        </p:nvSpPr>
        <p:spPr>
          <a:xfrm>
            <a:off x="365760" y="2377440"/>
            <a:ext cx="5943600" cy="310896"/>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Lesson 14.02  |  5-PS2-1 / SC.5.P.13.1</a:t>
            </a:r>
            <a:endParaRPr lang="en-US" sz="1200" dirty="0"/>
          </a:p>
        </p:txBody>
      </p:sp>
      <p:sp>
        <p:nvSpPr>
          <p:cNvPr id="6" name="Shape 4"/>
          <p:cNvSpPr/>
          <p:nvPr/>
        </p:nvSpPr>
        <p:spPr>
          <a:xfrm>
            <a:off x="365760" y="2788920"/>
            <a:ext cx="5943600" cy="329184"/>
          </a:xfrm>
          <a:prstGeom prst="rect">
            <a:avLst/>
          </a:prstGeom>
          <a:solidFill>
            <a:srgbClr val="2E86AB"/>
          </a:solidFill>
          <a:ln w="12700">
            <a:solidFill>
              <a:srgbClr val="2E86AB"/>
            </a:solidFill>
            <a:prstDash val="solid"/>
          </a:ln>
        </p:spPr>
      </p:sp>
      <p:sp>
        <p:nvSpPr>
          <p:cNvPr id="7" name="Text 5"/>
          <p:cNvSpPr/>
          <p:nvPr/>
        </p:nvSpPr>
        <p:spPr>
          <a:xfrm>
            <a:off x="475488" y="2852928"/>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Conduct three tests that produce evidence of gravity.</a:t>
            </a:r>
            <a:endParaRPr lang="en-US" sz="1100" dirty="0"/>
          </a:p>
        </p:txBody>
      </p:sp>
      <p:sp>
        <p:nvSpPr>
          <p:cNvPr id="8" name="Shape 6"/>
          <p:cNvSpPr/>
          <p:nvPr/>
        </p:nvSpPr>
        <p:spPr>
          <a:xfrm>
            <a:off x="365760" y="3172968"/>
            <a:ext cx="5943600" cy="329184"/>
          </a:xfrm>
          <a:prstGeom prst="rect">
            <a:avLst/>
          </a:prstGeom>
          <a:solidFill>
            <a:srgbClr val="2E86AB"/>
          </a:solidFill>
          <a:ln w="12700">
            <a:solidFill>
              <a:srgbClr val="2E86AB"/>
            </a:solidFill>
            <a:prstDash val="solid"/>
          </a:ln>
        </p:spPr>
      </p:sp>
      <p:sp>
        <p:nvSpPr>
          <p:cNvPr id="9" name="Text 7"/>
          <p:cNvSpPr/>
          <p:nvPr/>
        </p:nvSpPr>
        <p:spPr>
          <a:xfrm>
            <a:off x="475488" y="3236976"/>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Record observations and identify the direction of motion in each test.</a:t>
            </a:r>
            <a:endParaRPr lang="en-US" sz="1100" dirty="0"/>
          </a:p>
        </p:txBody>
      </p:sp>
      <p:sp>
        <p:nvSpPr>
          <p:cNvPr id="10" name="Shape 8"/>
          <p:cNvSpPr/>
          <p:nvPr/>
        </p:nvSpPr>
        <p:spPr>
          <a:xfrm>
            <a:off x="365760" y="3557016"/>
            <a:ext cx="5943600" cy="329184"/>
          </a:xfrm>
          <a:prstGeom prst="rect">
            <a:avLst/>
          </a:prstGeom>
          <a:solidFill>
            <a:srgbClr val="2E86AB"/>
          </a:solidFill>
          <a:ln w="12700">
            <a:solidFill>
              <a:srgbClr val="2E86AB"/>
            </a:solidFill>
            <a:prstDash val="solid"/>
          </a:ln>
        </p:spPr>
      </p:sp>
      <p:sp>
        <p:nvSpPr>
          <p:cNvPr id="11" name="Text 9"/>
          <p:cNvSpPr/>
          <p:nvPr/>
        </p:nvSpPr>
        <p:spPr>
          <a:xfrm>
            <a:off x="475488" y="3621024"/>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Use all three tests as evidence to support a claim about gravity.</a:t>
            </a:r>
            <a:endParaRPr lang="en-US" sz="1100" dirty="0"/>
          </a:p>
        </p:txBody>
      </p:sp>
      <p:sp>
        <p:nvSpPr>
          <p:cNvPr id="12" name="Shape 10"/>
          <p:cNvSpPr/>
          <p:nvPr/>
        </p:nvSpPr>
        <p:spPr>
          <a:xfrm>
            <a:off x="6492240" y="365760"/>
            <a:ext cx="2286000" cy="4389120"/>
          </a:xfrm>
          <a:prstGeom prst="rect">
            <a:avLst/>
          </a:prstGeom>
          <a:solidFill>
            <a:srgbClr val="0E7C7B"/>
          </a:solidFill>
          <a:ln w="12700">
            <a:solidFill>
              <a:srgbClr val="0E7C7B"/>
            </a:solidFill>
            <a:prstDash val="solid"/>
          </a:ln>
        </p:spPr>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Optima Academy Online  |  5th Grade Science  |  Lesson 14.02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0E7C7B"/>
          </a:solidFill>
          <a:ln w="12700">
            <a:solidFill>
              <a:srgbClr val="0E7C7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566928"/>
            <a:ext cx="8412480" cy="45720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Drop. Roll. Hang. Three Tests for Gravity.</a:t>
            </a:r>
            <a:endParaRPr lang="en-US" sz="2000" dirty="0"/>
          </a:p>
        </p:txBody>
      </p:sp>
      <p:sp>
        <p:nvSpPr>
          <p:cNvPr id="5" name="Shape 3"/>
          <p:cNvSpPr/>
          <p:nvPr/>
        </p:nvSpPr>
        <p:spPr>
          <a:xfrm>
            <a:off x="365760" y="1097280"/>
            <a:ext cx="8046720" cy="1005840"/>
          </a:xfrm>
          <a:prstGeom prst="rect">
            <a:avLst/>
          </a:prstGeom>
          <a:solidFill>
            <a:srgbClr val="1E3A5C"/>
          </a:solidFill>
          <a:ln w="12700">
            <a:solidFill>
              <a:srgbClr val="1E3A5C"/>
            </a:solidFill>
            <a:prstDash val="solid"/>
          </a:ln>
        </p:spPr>
      </p:sp>
      <p:sp>
        <p:nvSpPr>
          <p:cNvPr id="6" name="Text 4"/>
          <p:cNvSpPr/>
          <p:nvPr/>
        </p:nvSpPr>
        <p:spPr>
          <a:xfrm>
            <a:off x="475488" y="1161288"/>
            <a:ext cx="7827264"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Today you will run three gravity tests. You will drop two objects, roll a ball down a ramp, and hang a weight on a string. Three different setups -- but they all point to the same conclusion.</a:t>
            </a:r>
            <a:endParaRPr lang="en-US" sz="1300" dirty="0"/>
          </a:p>
        </p:txBody>
      </p:sp>
      <p:sp>
        <p:nvSpPr>
          <p:cNvPr id="7" name="Shape 5"/>
          <p:cNvSpPr/>
          <p:nvPr/>
        </p:nvSpPr>
        <p:spPr>
          <a:xfrm>
            <a:off x="365760" y="2249424"/>
            <a:ext cx="1645920" cy="274320"/>
          </a:xfrm>
          <a:prstGeom prst="rect">
            <a:avLst/>
          </a:prstGeom>
          <a:solidFill>
            <a:srgbClr val="F6C90E"/>
          </a:solidFill>
          <a:ln w="12700">
            <a:solidFill>
              <a:srgbClr val="F6C90E"/>
            </a:solidFill>
            <a:prstDash val="solid"/>
          </a:ln>
        </p:spPr>
      </p:sp>
      <p:sp>
        <p:nvSpPr>
          <p:cNvPr id="8" name="Text 6"/>
          <p:cNvSpPr/>
          <p:nvPr/>
        </p:nvSpPr>
        <p:spPr>
          <a:xfrm>
            <a:off x="36576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a:t>
            </a:r>
            <a:endParaRPr lang="en-US" sz="1000" dirty="0"/>
          </a:p>
        </p:txBody>
      </p:sp>
      <p:sp>
        <p:nvSpPr>
          <p:cNvPr id="9" name="Shape 7"/>
          <p:cNvSpPr/>
          <p:nvPr/>
        </p:nvSpPr>
        <p:spPr>
          <a:xfrm>
            <a:off x="365760" y="2596896"/>
            <a:ext cx="4023360" cy="914400"/>
          </a:xfrm>
          <a:prstGeom prst="rect">
            <a:avLst/>
          </a:prstGeom>
          <a:solidFill>
            <a:srgbClr val="1E3A5C"/>
          </a:solidFill>
          <a:ln w="12700">
            <a:solidFill>
              <a:srgbClr val="1E3A5C"/>
            </a:solidFill>
            <a:prstDash val="solid"/>
          </a:ln>
        </p:spPr>
      </p:sp>
      <p:sp>
        <p:nvSpPr>
          <p:cNvPr id="10" name="Text 8"/>
          <p:cNvSpPr/>
          <p:nvPr/>
        </p:nvSpPr>
        <p:spPr>
          <a:xfrm>
            <a:off x="475488" y="2660904"/>
            <a:ext cx="380390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Before you test: in which direction do you predict all three will move? Why?</a:t>
            </a:r>
            <a:endParaRPr lang="en-US" sz="1200" dirty="0"/>
          </a:p>
        </p:txBody>
      </p:sp>
      <p:sp>
        <p:nvSpPr>
          <p:cNvPr id="11" name="Shape 9"/>
          <p:cNvSpPr/>
          <p:nvPr/>
        </p:nvSpPr>
        <p:spPr>
          <a:xfrm>
            <a:off x="4572000" y="2249424"/>
            <a:ext cx="1645920" cy="274320"/>
          </a:xfrm>
          <a:prstGeom prst="rect">
            <a:avLst/>
          </a:prstGeom>
          <a:solidFill>
            <a:srgbClr val="F6C90E"/>
          </a:solidFill>
          <a:ln w="12700">
            <a:solidFill>
              <a:srgbClr val="F6C90E"/>
            </a:solidFill>
            <a:prstDash val="solid"/>
          </a:ln>
        </p:spPr>
      </p:sp>
      <p:sp>
        <p:nvSpPr>
          <p:cNvPr id="12" name="Text 10"/>
          <p:cNvSpPr/>
          <p:nvPr/>
        </p:nvSpPr>
        <p:spPr>
          <a:xfrm>
            <a:off x="457200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WONDER</a:t>
            </a:r>
            <a:endParaRPr lang="en-US" sz="1000" dirty="0"/>
          </a:p>
        </p:txBody>
      </p:sp>
      <p:sp>
        <p:nvSpPr>
          <p:cNvPr id="13" name="Shape 11"/>
          <p:cNvSpPr/>
          <p:nvPr/>
        </p:nvSpPr>
        <p:spPr>
          <a:xfrm>
            <a:off x="4572000" y="2596896"/>
            <a:ext cx="4206240" cy="914400"/>
          </a:xfrm>
          <a:prstGeom prst="rect">
            <a:avLst/>
          </a:prstGeom>
          <a:solidFill>
            <a:srgbClr val="1E3A5C"/>
          </a:solidFill>
          <a:ln w="12700">
            <a:solidFill>
              <a:srgbClr val="1E3A5C"/>
            </a:solidFill>
            <a:prstDash val="solid"/>
          </a:ln>
        </p:spPr>
      </p:sp>
      <p:sp>
        <p:nvSpPr>
          <p:cNvPr id="14" name="Text 12"/>
          <p:cNvSpPr/>
          <p:nvPr/>
        </p:nvSpPr>
        <p:spPr>
          <a:xfrm>
            <a:off x="4681728" y="2660904"/>
            <a:ext cx="398678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What if you were on the moon -- would your results be different? How?</a:t>
            </a:r>
            <a:endParaRPr lang="en-US" sz="12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Engage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07D35"/>
          </a:solidFill>
          <a:ln w="12700">
            <a:solidFill>
              <a:srgbClr val="F07D35"/>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1A1A2E"/>
                </a:solidFill>
                <a:latin typeface="Cambria" pitchFamily="34" charset="0"/>
                <a:ea typeface="Cambria" pitchFamily="34" charset="-122"/>
                <a:cs typeface="Cambria" pitchFamily="34" charset="-120"/>
              </a:rPr>
              <a:t>Before We Start -- Write Your Prediction</a:t>
            </a:r>
            <a:endParaRPr lang="en-US" sz="2000" dirty="0"/>
          </a:p>
        </p:txBody>
      </p:sp>
      <p:sp>
        <p:nvSpPr>
          <p:cNvPr id="5" name="Shape 3"/>
          <p:cNvSpPr/>
          <p:nvPr/>
        </p:nvSpPr>
        <p:spPr>
          <a:xfrm>
            <a:off x="365760" y="1051560"/>
            <a:ext cx="8046720" cy="804672"/>
          </a:xfrm>
          <a:prstGeom prst="rect">
            <a:avLst/>
          </a:prstGeom>
          <a:solidFill>
            <a:srgbClr val="D6EAF8"/>
          </a:solidFill>
          <a:ln w="12700">
            <a:solidFill>
              <a:srgbClr val="D6EAF8"/>
            </a:solidFill>
            <a:prstDash val="solid"/>
          </a:ln>
        </p:spPr>
      </p:sp>
      <p:sp>
        <p:nvSpPr>
          <p:cNvPr id="6" name="Text 4"/>
          <p:cNvSpPr/>
          <p:nvPr/>
        </p:nvSpPr>
        <p:spPr>
          <a:xfrm>
            <a:off x="475488" y="1115568"/>
            <a:ext cx="7827264" cy="676656"/>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In each of the three gravity tests today (drop, roll, hang), predict which direction the object will move. Write at least two sentences explaining why everything should go the same direction.</a:t>
            </a:r>
            <a:endParaRPr lang="en-US" sz="1300" dirty="0"/>
          </a:p>
        </p:txBody>
      </p:sp>
      <p:sp>
        <p:nvSpPr>
          <p:cNvPr id="7" name="Text 5"/>
          <p:cNvSpPr/>
          <p:nvPr/>
        </p:nvSpPr>
        <p:spPr>
          <a:xfrm>
            <a:off x="365760" y="1920240"/>
            <a:ext cx="8046720" cy="310896"/>
          </a:xfrm>
          <a:prstGeom prst="rect">
            <a:avLst/>
          </a:prstGeom>
          <a:noFill/>
          <a:ln/>
        </p:spPr>
        <p:txBody>
          <a:bodyPr wrap="square" rtlCol="0" anchor="ctr"/>
          <a:lstStyle/>
          <a:p>
            <a:pPr algn="l" indent="0" marL="0">
              <a:buNone/>
            </a:pPr>
            <a:r>
              <a:rPr lang="en-US" sz="1300" b="1" dirty="0">
                <a:solidFill>
                  <a:srgbClr val="2C4A6E"/>
                </a:solidFill>
                <a:latin typeface="Calibri" pitchFamily="34" charset="0"/>
                <a:ea typeface="Calibri" pitchFamily="34" charset="-122"/>
                <a:cs typeface="Calibri" pitchFamily="34" charset="-120"/>
              </a:rPr>
              <a:t>Your Prediction:</a:t>
            </a:r>
            <a:endParaRPr lang="en-US" sz="1300" dirty="0"/>
          </a:p>
        </p:txBody>
      </p:sp>
      <p:sp>
        <p:nvSpPr>
          <p:cNvPr id="8" name="Shape 6"/>
          <p:cNvSpPr/>
          <p:nvPr/>
        </p:nvSpPr>
        <p:spPr>
          <a:xfrm>
            <a:off x="365760" y="2286000"/>
            <a:ext cx="8046720" cy="1737360"/>
          </a:xfrm>
          <a:prstGeom prst="rect">
            <a:avLst/>
          </a:prstGeom>
          <a:solidFill>
            <a:srgbClr val="FFFFFF"/>
          </a:solidFill>
          <a:ln w="12700">
            <a:solidFill>
              <a:srgbClr val="FFFFFF"/>
            </a:solidFill>
            <a:prstDash val="solid"/>
          </a:ln>
        </p:spPr>
      </p:sp>
      <p:sp>
        <p:nvSpPr>
          <p:cNvPr id="9" name="Text 7"/>
          <p:cNvSpPr/>
          <p:nvPr/>
        </p:nvSpPr>
        <p:spPr>
          <a:xfrm>
            <a:off x="475488" y="2350008"/>
            <a:ext cx="7827264" cy="1609344"/>
          </a:xfrm>
          <a:prstGeom prst="rect">
            <a:avLst/>
          </a:prstGeom>
          <a:noFill/>
          <a:ln/>
        </p:spPr>
        <p:txBody>
          <a:bodyPr wrap="square" lIns="0" tIns="0" rIns="0" bIns="0" rtlCol="0" anchor="ctr"/>
          <a:lstStyle/>
          <a:p>
            <a:pPr algn="l" indent="0" marL="0">
              <a:buNone/>
            </a:pPr>
            <a:r>
              <a:rPr lang="en-US" sz="1200" dirty="0">
                <a:solidFill>
                  <a:srgbClr val="5E7B9A"/>
                </a:solidFill>
                <a:latin typeface="Calibri" pitchFamily="34" charset="0"/>
                <a:ea typeface="Calibri" pitchFamily="34" charset="-122"/>
                <a:cs typeface="Calibri" pitchFamily="34" charset="-120"/>
              </a:rPr>
              <a:t>Write in your science notebook. You will return to this at the end.</a:t>
            </a:r>
            <a:endParaRPr lang="en-US" sz="1200" dirty="0"/>
          </a:p>
        </p:txBody>
      </p:sp>
      <p:sp>
        <p:nvSpPr>
          <p:cNvPr id="10" name="Shape 8"/>
          <p:cNvSpPr/>
          <p:nvPr/>
        </p:nvSpPr>
        <p:spPr>
          <a:xfrm>
            <a:off x="0" y="4896612"/>
            <a:ext cx="9144000" cy="246888"/>
          </a:xfrm>
          <a:prstGeom prst="rect">
            <a:avLst/>
          </a:prstGeom>
          <a:solidFill>
            <a:srgbClr val="F6C90E"/>
          </a:solidFill>
          <a:ln w="12700">
            <a:solidFill>
              <a:srgbClr val="F6C90E"/>
            </a:solidFill>
            <a:prstDash val="solid"/>
          </a:ln>
        </p:spPr>
      </p:sp>
      <p:sp>
        <p:nvSpPr>
          <p:cNvPr id="11" name="Text 9"/>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gravity</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The force that pulls all objects toward Earth. It works without anything touching.</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force</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push or a pull. Gravity is a special force -- a pull from Earth.</a:t>
            </a:r>
            <a:endParaRPr lang="en-US" sz="1200" dirty="0"/>
          </a:p>
        </p:txBody>
      </p:sp>
      <p:sp>
        <p:nvSpPr>
          <p:cNvPr id="11" name="Shape 9"/>
          <p:cNvSpPr/>
          <p:nvPr/>
        </p:nvSpPr>
        <p:spPr>
          <a:xfrm>
            <a:off x="365760" y="2834640"/>
            <a:ext cx="4114800" cy="1645920"/>
          </a:xfrm>
          <a:prstGeom prst="rect">
            <a:avLst/>
          </a:prstGeom>
          <a:solidFill>
            <a:srgbClr val="2E86AB"/>
          </a:solidFill>
          <a:ln w="12700">
            <a:solidFill>
              <a:srgbClr val="2E86AB"/>
            </a:solidFill>
            <a:prstDash val="solid"/>
          </a:ln>
        </p:spPr>
      </p:sp>
      <p:sp>
        <p:nvSpPr>
          <p:cNvPr id="12" name="Text 10"/>
          <p:cNvSpPr/>
          <p:nvPr/>
        </p:nvSpPr>
        <p:spPr>
          <a:xfrm>
            <a:off x="47548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downward</a:t>
            </a:r>
            <a:endParaRPr lang="en-US" sz="1400" dirty="0"/>
          </a:p>
        </p:txBody>
      </p:sp>
      <p:sp>
        <p:nvSpPr>
          <p:cNvPr id="13" name="Text 11"/>
          <p:cNvSpPr/>
          <p:nvPr/>
        </p:nvSpPr>
        <p:spPr>
          <a:xfrm>
            <a:off x="47548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Toward the ground. Gravity always pulls things downward -- toward the center of Earth.</a:t>
            </a:r>
            <a:endParaRPr lang="en-US" sz="1200" dirty="0"/>
          </a:p>
        </p:txBody>
      </p:sp>
      <p:sp>
        <p:nvSpPr>
          <p:cNvPr id="14" name="Shape 12"/>
          <p:cNvSpPr/>
          <p:nvPr/>
        </p:nvSpPr>
        <p:spPr>
          <a:xfrm>
            <a:off x="4663440" y="2834640"/>
            <a:ext cx="4114800" cy="1645920"/>
          </a:xfrm>
          <a:prstGeom prst="rect">
            <a:avLst/>
          </a:prstGeom>
          <a:solidFill>
            <a:srgbClr val="2E86AB"/>
          </a:solidFill>
          <a:ln w="12700">
            <a:solidFill>
              <a:srgbClr val="2E86AB"/>
            </a:solidFill>
            <a:prstDash val="solid"/>
          </a:ln>
        </p:spPr>
      </p:sp>
      <p:sp>
        <p:nvSpPr>
          <p:cNvPr id="15" name="Text 13"/>
          <p:cNvSpPr/>
          <p:nvPr/>
        </p:nvSpPr>
        <p:spPr>
          <a:xfrm>
            <a:off x="477316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weight</a:t>
            </a:r>
            <a:endParaRPr lang="en-US" sz="1400" dirty="0"/>
          </a:p>
        </p:txBody>
      </p:sp>
      <p:sp>
        <p:nvSpPr>
          <p:cNvPr id="16" name="Text 14"/>
          <p:cNvSpPr/>
          <p:nvPr/>
        </p:nvSpPr>
        <p:spPr>
          <a:xfrm>
            <a:off x="477316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How hard gravity pulls on an object. Heavier objects feel a stronger pull.</a:t>
            </a:r>
            <a:endParaRPr lang="en-US" sz="1200" dirty="0"/>
          </a:p>
        </p:txBody>
      </p:sp>
      <p:sp>
        <p:nvSpPr>
          <p:cNvPr id="17" name="Shape 15"/>
          <p:cNvSpPr/>
          <p:nvPr/>
        </p:nvSpPr>
        <p:spPr>
          <a:xfrm>
            <a:off x="0" y="4896612"/>
            <a:ext cx="9144000" cy="246888"/>
          </a:xfrm>
          <a:prstGeom prst="rect">
            <a:avLst/>
          </a:prstGeom>
          <a:solidFill>
            <a:srgbClr val="F6C90E"/>
          </a:solidFill>
          <a:ln w="12700">
            <a:solidFill>
              <a:srgbClr val="F6C90E"/>
            </a:solidFill>
            <a:prstDash val="solid"/>
          </a:ln>
        </p:spPr>
      </p:sp>
      <p:sp>
        <p:nvSpPr>
          <p:cNvPr id="18" name="Text 1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Vocabulary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 (cont.)</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air resistance</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force from air pushing back on a falling object. It can slow objects like feathers more than others.</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evidence</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Observations that support a claim. Things falling, rolling down, or hanging are evidence of gravity.</a:t>
            </a:r>
            <a:endParaRPr lang="en-US" sz="1200" dirty="0"/>
          </a:p>
        </p:txBody>
      </p:sp>
      <p:sp>
        <p:nvSpPr>
          <p:cNvPr id="11" name="Shape 9"/>
          <p:cNvSpPr/>
          <p:nvPr/>
        </p:nvSpPr>
        <p:spPr>
          <a:xfrm>
            <a:off x="365760" y="2834640"/>
            <a:ext cx="8412480" cy="1645920"/>
          </a:xfrm>
          <a:prstGeom prst="rect">
            <a:avLst/>
          </a:prstGeom>
          <a:solidFill>
            <a:srgbClr val="0A2240"/>
          </a:solidFill>
          <a:ln w="12700">
            <a:solidFill>
              <a:srgbClr val="0A2240"/>
            </a:solidFill>
            <a:prstDash val="solid"/>
          </a:ln>
        </p:spPr>
      </p:sp>
      <p:sp>
        <p:nvSpPr>
          <p:cNvPr id="12" name="Text 10"/>
          <p:cNvSpPr/>
          <p:nvPr/>
        </p:nvSpPr>
        <p:spPr>
          <a:xfrm>
            <a:off x="475488" y="2898648"/>
            <a:ext cx="8193024" cy="1517904"/>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REVIEW RULE:</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Opposite charges attract. Like charges repel.</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More force = more change in motion.</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Balanced forces = no motion.</a:t>
            </a:r>
            <a:endParaRPr lang="en-US" sz="14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Vocabulary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1A3A5C"/>
          </a:solidFill>
          <a:ln w="12700">
            <a:solidFill>
              <a:srgbClr val="1A3A5C"/>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The Big Idea</a:t>
            </a:r>
            <a:endParaRPr lang="en-US" sz="2100" dirty="0"/>
          </a:p>
        </p:txBody>
      </p:sp>
      <p:sp>
        <p:nvSpPr>
          <p:cNvPr id="5" name="Shape 3"/>
          <p:cNvSpPr/>
          <p:nvPr/>
        </p:nvSpPr>
        <p:spPr>
          <a:xfrm>
            <a:off x="365760" y="1051560"/>
            <a:ext cx="8412480" cy="1005840"/>
          </a:xfrm>
          <a:prstGeom prst="rect">
            <a:avLst/>
          </a:prstGeom>
          <a:solidFill>
            <a:srgbClr val="085E5D"/>
          </a:solidFill>
          <a:ln w="12700">
            <a:solidFill>
              <a:srgbClr val="085E5D"/>
            </a:solidFill>
            <a:prstDash val="solid"/>
          </a:ln>
        </p:spPr>
      </p:sp>
      <p:sp>
        <p:nvSpPr>
          <p:cNvPr id="6" name="Text 4"/>
          <p:cNvSpPr/>
          <p:nvPr/>
        </p:nvSpPr>
        <p:spPr>
          <a:xfrm>
            <a:off x="475488" y="1115568"/>
            <a:ext cx="8193024"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Every object you let go falls DOWN. Balls roll DOWN ramps. Hanging weights point DOWN. The pattern is the evidence: gravity always pulls objects toward Earth.</a:t>
            </a:r>
            <a:endParaRPr lang="en-US" sz="1400" dirty="0"/>
          </a:p>
        </p:txBody>
      </p:sp>
      <p:sp>
        <p:nvSpPr>
          <p:cNvPr id="7" name="Text 5"/>
          <p:cNvSpPr/>
          <p:nvPr/>
        </p:nvSpPr>
        <p:spPr>
          <a:xfrm>
            <a:off x="365760" y="2194560"/>
            <a:ext cx="8412480" cy="292608"/>
          </a:xfrm>
          <a:prstGeom prst="rect">
            <a:avLst/>
          </a:prstGeom>
          <a:noFill/>
          <a:ln/>
        </p:spPr>
        <p:txBody>
          <a:bodyPr wrap="square" rtlCol="0" anchor="ctr"/>
          <a:lstStyle/>
          <a:p>
            <a:pPr algn="l" indent="0" marL="0">
              <a:buNone/>
            </a:pPr>
            <a:r>
              <a:rPr lang="en-US" sz="1100" b="1" dirty="0">
                <a:solidFill>
                  <a:srgbClr val="F6C90E"/>
                </a:solidFill>
                <a:latin typeface="Calibri" pitchFamily="34" charset="0"/>
                <a:ea typeface="Calibri" pitchFamily="34" charset="-122"/>
                <a:cs typeface="Calibri" pitchFamily="34" charset="-120"/>
              </a:rPr>
              <a:t>STOP AND THINK</a:t>
            </a:r>
            <a:endParaRPr lang="en-US" sz="1100" dirty="0"/>
          </a:p>
        </p:txBody>
      </p:sp>
      <p:sp>
        <p:nvSpPr>
          <p:cNvPr id="8" name="Shape 6"/>
          <p:cNvSpPr/>
          <p:nvPr/>
        </p:nvSpPr>
        <p:spPr>
          <a:xfrm>
            <a:off x="365760" y="2542032"/>
            <a:ext cx="4114800" cy="1463040"/>
          </a:xfrm>
          <a:prstGeom prst="rect">
            <a:avLst/>
          </a:prstGeom>
          <a:solidFill>
            <a:srgbClr val="085E5D"/>
          </a:solidFill>
          <a:ln w="12700">
            <a:solidFill>
              <a:srgbClr val="085E5D"/>
            </a:solidFill>
            <a:prstDash val="solid"/>
          </a:ln>
        </p:spPr>
      </p:sp>
      <p:sp>
        <p:nvSpPr>
          <p:cNvPr id="9" name="Text 7"/>
          <p:cNvSpPr/>
          <p:nvPr/>
        </p:nvSpPr>
        <p:spPr>
          <a:xfrm>
            <a:off x="47548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"Why should you choose small, soft objects for the drop test instead of heavy or sharp ones?"</a:t>
            </a:r>
            <a:endParaRPr lang="en-US" sz="1300" dirty="0"/>
          </a:p>
        </p:txBody>
      </p:sp>
      <p:sp>
        <p:nvSpPr>
          <p:cNvPr id="10" name="Shape 8"/>
          <p:cNvSpPr/>
          <p:nvPr/>
        </p:nvSpPr>
        <p:spPr>
          <a:xfrm>
            <a:off x="4663440" y="2542032"/>
            <a:ext cx="4114800" cy="1463040"/>
          </a:xfrm>
          <a:prstGeom prst="rect">
            <a:avLst/>
          </a:prstGeom>
          <a:solidFill>
            <a:srgbClr val="085E5D"/>
          </a:solidFill>
          <a:ln w="12700">
            <a:solidFill>
              <a:srgbClr val="085E5D"/>
            </a:solidFill>
            <a:prstDash val="solid"/>
          </a:ln>
        </p:spPr>
      </p:sp>
      <p:sp>
        <p:nvSpPr>
          <p:cNvPr id="11" name="Text 9"/>
          <p:cNvSpPr/>
          <p:nvPr/>
        </p:nvSpPr>
        <p:spPr>
          <a:xfrm>
            <a:off x="477316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test do you think will be the most clear evidence of gravity? Which might be trickiest to set up?"</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Key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Safety First</a:t>
            </a:r>
            <a:endParaRPr lang="en-US" sz="1700" dirty="0"/>
          </a:p>
        </p:txBody>
      </p:sp>
      <p:sp>
        <p:nvSpPr>
          <p:cNvPr id="3" name="Shape 1"/>
          <p:cNvSpPr/>
          <p:nvPr/>
        </p:nvSpPr>
        <p:spPr>
          <a:xfrm>
            <a:off x="365760" y="548640"/>
            <a:ext cx="8412480" cy="1170432"/>
          </a:xfrm>
          <a:prstGeom prst="rect">
            <a:avLst/>
          </a:prstGeom>
          <a:solidFill>
            <a:srgbClr val="D6EAF8"/>
          </a:solidFill>
          <a:ln w="12700">
            <a:solidFill>
              <a:srgbClr val="D6EAF8"/>
            </a:solidFill>
            <a:prstDash val="solid"/>
          </a:ln>
        </p:spPr>
      </p:sp>
      <p:sp>
        <p:nvSpPr>
          <p:cNvPr id="4" name="Text 2"/>
          <p:cNvSpPr/>
          <p:nvPr/>
        </p:nvSpPr>
        <p:spPr>
          <a:xfrm>
            <a:off x="475488" y="612648"/>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Today's three tests use small toys, a marble or ball, paper, and string. They are safe but keep these rules: do not drop heavy or breakable things, do not climb on furniture, and be careful not to hit anything fragile.</a:t>
            </a:r>
            <a:endParaRPr lang="en-US" sz="1200" dirty="0"/>
          </a:p>
        </p:txBody>
      </p:sp>
      <p:sp>
        <p:nvSpPr>
          <p:cNvPr id="5" name="Text 3"/>
          <p:cNvSpPr/>
          <p:nvPr/>
        </p:nvSpPr>
        <p:spPr>
          <a:xfrm>
            <a:off x="365760" y="1792224"/>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The Three Tests</a:t>
            </a:r>
            <a:endParaRPr lang="en-US" sz="1700" dirty="0"/>
          </a:p>
        </p:txBody>
      </p:sp>
      <p:sp>
        <p:nvSpPr>
          <p:cNvPr id="6" name="Shape 4"/>
          <p:cNvSpPr/>
          <p:nvPr/>
        </p:nvSpPr>
        <p:spPr>
          <a:xfrm>
            <a:off x="365760" y="2176272"/>
            <a:ext cx="8412480" cy="1170432"/>
          </a:xfrm>
          <a:prstGeom prst="rect">
            <a:avLst/>
          </a:prstGeom>
          <a:solidFill>
            <a:srgbClr val="D6EAF8"/>
          </a:solidFill>
          <a:ln w="12700">
            <a:solidFill>
              <a:srgbClr val="D6EAF8"/>
            </a:solidFill>
            <a:prstDash val="solid"/>
          </a:ln>
        </p:spPr>
      </p:sp>
      <p:sp>
        <p:nvSpPr>
          <p:cNvPr id="7" name="Text 5"/>
          <p:cNvSpPr/>
          <p:nvPr/>
        </p:nvSpPr>
        <p:spPr>
          <a:xfrm>
            <a:off x="475488" y="2240280"/>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Test A -- Drop: drop two different objects from the same height. Test B -- Ramp Roll: tilt a ramp and let a small ball roll down. Test C -- Hang: tie a small weight to a string and watch which way it points.</a:t>
            </a:r>
            <a:endParaRPr lang="en-US" sz="1200" dirty="0"/>
          </a:p>
        </p:txBody>
      </p:sp>
      <p:sp>
        <p:nvSpPr>
          <p:cNvPr id="8" name="Text 6"/>
          <p:cNvSpPr/>
          <p:nvPr/>
        </p:nvSpPr>
        <p:spPr>
          <a:xfrm>
            <a:off x="365760" y="3419856"/>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Recording Your Evidence</a:t>
            </a:r>
            <a:endParaRPr lang="en-US" sz="1700" dirty="0"/>
          </a:p>
        </p:txBody>
      </p:sp>
      <p:sp>
        <p:nvSpPr>
          <p:cNvPr id="9" name="Shape 7"/>
          <p:cNvSpPr/>
          <p:nvPr/>
        </p:nvSpPr>
        <p:spPr>
          <a:xfrm>
            <a:off x="365760" y="3803904"/>
            <a:ext cx="8412480" cy="1170432"/>
          </a:xfrm>
          <a:prstGeom prst="rect">
            <a:avLst/>
          </a:prstGeom>
          <a:solidFill>
            <a:srgbClr val="D6EAF8"/>
          </a:solidFill>
          <a:ln w="12700">
            <a:solidFill>
              <a:srgbClr val="D6EAF8"/>
            </a:solidFill>
            <a:prstDash val="solid"/>
          </a:ln>
        </p:spPr>
      </p:sp>
      <p:sp>
        <p:nvSpPr>
          <p:cNvPr id="10" name="Text 8"/>
          <p:cNvSpPr/>
          <p:nvPr/>
        </p:nvSpPr>
        <p:spPr>
          <a:xfrm>
            <a:off x="475488" y="3867912"/>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each test, fill in a row of the table: the test, what you observed, and what it tells you about gravity. Sketch each test with arrows showing the direction of motion.</a:t>
            </a:r>
            <a:endParaRPr lang="en-US" sz="1200" dirty="0"/>
          </a:p>
        </p:txBody>
      </p:sp>
      <p:sp>
        <p:nvSpPr>
          <p:cNvPr id="11" name="Shape 9"/>
          <p:cNvSpPr/>
          <p:nvPr/>
        </p:nvSpPr>
        <p:spPr>
          <a:xfrm>
            <a:off x="0" y="4896612"/>
            <a:ext cx="9144000" cy="246888"/>
          </a:xfrm>
          <a:prstGeom prst="rect">
            <a:avLst/>
          </a:prstGeom>
          <a:solidFill>
            <a:srgbClr val="F6C90E"/>
          </a:solidFill>
          <a:ln w="12700">
            <a:solidFill>
              <a:srgbClr val="F6C90E"/>
            </a:solidFill>
            <a:prstDash val="solid"/>
          </a:ln>
        </p:spPr>
      </p:sp>
      <p:sp>
        <p:nvSpPr>
          <p:cNvPr id="12" name="Text 10"/>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800" b="1" dirty="0">
                <a:solidFill>
                  <a:srgbClr val="1A3A5C"/>
                </a:solidFill>
                <a:latin typeface="Cambria" pitchFamily="34" charset="0"/>
                <a:ea typeface="Cambria" pitchFamily="34" charset="-122"/>
                <a:cs typeface="Cambria" pitchFamily="34" charset="-120"/>
              </a:rPr>
              <a:t>How It Works -- Visual Overview</a:t>
            </a:r>
            <a:endParaRPr lang="en-US" sz="1800" dirty="0"/>
          </a:p>
        </p:txBody>
      </p:sp>
      <p:sp>
        <p:nvSpPr>
          <p:cNvPr id="3" name="Shape 1"/>
          <p:cNvSpPr/>
          <p:nvPr/>
        </p:nvSpPr>
        <p:spPr>
          <a:xfrm>
            <a:off x="365760" y="621792"/>
            <a:ext cx="2807208" cy="4206240"/>
          </a:xfrm>
          <a:prstGeom prst="rect">
            <a:avLst/>
          </a:prstGeom>
          <a:solidFill>
            <a:srgbClr val="D6EAF8"/>
          </a:solidFill>
          <a:ln w="12700">
            <a:solidFill>
              <a:srgbClr val="D6EAF8"/>
            </a:solidFill>
            <a:prstDash val="solid"/>
          </a:ln>
        </p:spPr>
      </p:sp>
      <p:sp>
        <p:nvSpPr>
          <p:cNvPr id="4" name="Text 2"/>
          <p:cNvSpPr/>
          <p:nvPr/>
        </p:nvSpPr>
        <p:spPr>
          <a:xfrm>
            <a:off x="365760"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A</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Drop Two Objects</a:t>
            </a:r>
            <a:endParaRPr lang="en-US" sz="1200" dirty="0"/>
          </a:p>
        </p:txBody>
      </p:sp>
      <p:sp>
        <p:nvSpPr>
          <p:cNvPr id="5" name="Text 3"/>
          <p:cNvSpPr/>
          <p:nvPr/>
        </p:nvSpPr>
        <p:spPr>
          <a:xfrm>
            <a:off x="457200"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Pick a small ball and flat paper.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Hold both at same height.</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Let go at the SAME TIME.</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both fall DOWN. Ball reaches floor first (air slows paper).</a:t>
            </a:r>
            <a:endParaRPr lang="en-US" sz="1100" dirty="0"/>
          </a:p>
        </p:txBody>
      </p:sp>
      <p:sp>
        <p:nvSpPr>
          <p:cNvPr id="6" name="Shape 4"/>
          <p:cNvSpPr/>
          <p:nvPr/>
        </p:nvSpPr>
        <p:spPr>
          <a:xfrm>
            <a:off x="3172968" y="621792"/>
            <a:ext cx="2807208" cy="4206240"/>
          </a:xfrm>
          <a:prstGeom prst="rect">
            <a:avLst/>
          </a:prstGeom>
          <a:solidFill>
            <a:srgbClr val="D6EAF8"/>
          </a:solidFill>
          <a:ln w="12700">
            <a:solidFill>
              <a:srgbClr val="D6EAF8"/>
            </a:solidFill>
            <a:prstDash val="solid"/>
          </a:ln>
        </p:spPr>
      </p:sp>
      <p:sp>
        <p:nvSpPr>
          <p:cNvPr id="7" name="Text 5"/>
          <p:cNvSpPr/>
          <p:nvPr/>
        </p:nvSpPr>
        <p:spPr>
          <a:xfrm>
            <a:off x="3172968"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B</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Roll Down a Ramp</a:t>
            </a:r>
            <a:endParaRPr lang="en-US" sz="1200" dirty="0"/>
          </a:p>
        </p:txBody>
      </p:sp>
      <p:sp>
        <p:nvSpPr>
          <p:cNvPr id="8" name="Text 6"/>
          <p:cNvSpPr/>
          <p:nvPr/>
        </p:nvSpPr>
        <p:spPr>
          <a:xfrm>
            <a:off x="3264408"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Tilt a book against a step.</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Place ball at top.</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Let go.</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ball rolls DOWN on its own, picking up speed.</a:t>
            </a:r>
            <a:endParaRPr lang="en-US" sz="1100" dirty="0"/>
          </a:p>
        </p:txBody>
      </p:sp>
      <p:sp>
        <p:nvSpPr>
          <p:cNvPr id="9" name="Shape 7"/>
          <p:cNvSpPr/>
          <p:nvPr/>
        </p:nvSpPr>
        <p:spPr>
          <a:xfrm>
            <a:off x="5980176" y="621792"/>
            <a:ext cx="2807208" cy="4206240"/>
          </a:xfrm>
          <a:prstGeom prst="rect">
            <a:avLst/>
          </a:prstGeom>
          <a:solidFill>
            <a:srgbClr val="D6EAF8"/>
          </a:solidFill>
          <a:ln w="12700">
            <a:solidFill>
              <a:srgbClr val="D6EAF8"/>
            </a:solidFill>
            <a:prstDash val="solid"/>
          </a:ln>
        </p:spPr>
      </p:sp>
      <p:sp>
        <p:nvSpPr>
          <p:cNvPr id="10" name="Text 8"/>
          <p:cNvSpPr/>
          <p:nvPr/>
        </p:nvSpPr>
        <p:spPr>
          <a:xfrm>
            <a:off x="5980176"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TEST C</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Hang a Weight</a:t>
            </a:r>
            <a:endParaRPr lang="en-US" sz="1200" dirty="0"/>
          </a:p>
        </p:txBody>
      </p:sp>
      <p:sp>
        <p:nvSpPr>
          <p:cNvPr id="11" name="Text 9"/>
          <p:cNvSpPr/>
          <p:nvPr/>
        </p:nvSpPr>
        <p:spPr>
          <a:xfrm>
            <a:off x="6071616"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1. Tie small weight to string.</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2. Hold string up.</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3. Watch which way it points.</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Expected: string ALWAYS points straight down.</a:t>
            </a:r>
            <a:endParaRPr lang="en-US" sz="11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Diagram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A7A4B"/>
          </a:solidFill>
          <a:ln w="12700">
            <a:solidFill>
              <a:srgbClr val="2A7A4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Three Gravity Tests -- Drop, Roll, Hang</a:t>
            </a:r>
            <a:endParaRPr lang="en-US" sz="2000" dirty="0"/>
          </a:p>
        </p:txBody>
      </p:sp>
      <p:sp>
        <p:nvSpPr>
          <p:cNvPr id="5" name="Text 3"/>
          <p:cNvSpPr/>
          <p:nvPr/>
        </p:nvSpPr>
        <p:spPr>
          <a:xfrm>
            <a:off x="365760" y="1051560"/>
            <a:ext cx="8412480" cy="292608"/>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Run each test. Observe the direction of motion. Record what you see in your table.</a:t>
            </a:r>
            <a:endParaRPr lang="en-US" sz="1200" dirty="0"/>
          </a:p>
        </p:txBody>
      </p:sp>
      <p:sp>
        <p:nvSpPr>
          <p:cNvPr id="6" name="Shape 4"/>
          <p:cNvSpPr/>
          <p:nvPr/>
        </p:nvSpPr>
        <p:spPr>
          <a:xfrm>
            <a:off x="365760" y="1408176"/>
            <a:ext cx="8412480" cy="914400"/>
          </a:xfrm>
          <a:prstGeom prst="rect">
            <a:avLst/>
          </a:prstGeom>
          <a:solidFill>
            <a:srgbClr val="1E3A5C"/>
          </a:solidFill>
          <a:ln w="12700">
            <a:solidFill>
              <a:srgbClr val="1E3A5C"/>
            </a:solidFill>
            <a:prstDash val="solid"/>
          </a:ln>
        </p:spPr>
      </p:sp>
      <p:sp>
        <p:nvSpPr>
          <p:cNvPr id="7" name="Text 5"/>
          <p:cNvSpPr/>
          <p:nvPr/>
        </p:nvSpPr>
        <p:spPr>
          <a:xfrm>
            <a:off x="475488" y="1472184"/>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A -- Drop Two Objects: Hold a small marble in one hand and flat paper in the other, both at the same height. Let go of BOTH at the same time. Write down what you see.</a:t>
            </a:r>
            <a:endParaRPr lang="en-US" sz="1300" dirty="0"/>
          </a:p>
        </p:txBody>
      </p:sp>
      <p:sp>
        <p:nvSpPr>
          <p:cNvPr id="8" name="Shape 6"/>
          <p:cNvSpPr/>
          <p:nvPr/>
        </p:nvSpPr>
        <p:spPr>
          <a:xfrm>
            <a:off x="365760" y="2432304"/>
            <a:ext cx="8412480" cy="914400"/>
          </a:xfrm>
          <a:prstGeom prst="rect">
            <a:avLst/>
          </a:prstGeom>
          <a:solidFill>
            <a:srgbClr val="1E3A5C"/>
          </a:solidFill>
          <a:ln w="12700">
            <a:solidFill>
              <a:srgbClr val="1E3A5C"/>
            </a:solidFill>
            <a:prstDash val="solid"/>
          </a:ln>
        </p:spPr>
      </p:sp>
      <p:sp>
        <p:nvSpPr>
          <p:cNvPr id="9" name="Text 7"/>
          <p:cNvSpPr/>
          <p:nvPr/>
        </p:nvSpPr>
        <p:spPr>
          <a:xfrm>
            <a:off x="475488" y="2496312"/>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B -- Roll Down a Ramp: Place a book tilted against a step to make a ramp. Place a small ball at the top. Let go. Watch it roll. Write what happens and how fast.</a:t>
            </a:r>
            <a:endParaRPr lang="en-US" sz="1300" dirty="0"/>
          </a:p>
        </p:txBody>
      </p:sp>
      <p:sp>
        <p:nvSpPr>
          <p:cNvPr id="10" name="Shape 8"/>
          <p:cNvSpPr/>
          <p:nvPr/>
        </p:nvSpPr>
        <p:spPr>
          <a:xfrm>
            <a:off x="365760" y="3456432"/>
            <a:ext cx="8412480" cy="914400"/>
          </a:xfrm>
          <a:prstGeom prst="rect">
            <a:avLst/>
          </a:prstGeom>
          <a:solidFill>
            <a:srgbClr val="1E3A5C"/>
          </a:solidFill>
          <a:ln w="12700">
            <a:solidFill>
              <a:srgbClr val="1E3A5C"/>
            </a:solidFill>
            <a:prstDash val="solid"/>
          </a:ln>
        </p:spPr>
      </p:sp>
      <p:sp>
        <p:nvSpPr>
          <p:cNvPr id="11" name="Text 9"/>
          <p:cNvSpPr/>
          <p:nvPr/>
        </p:nvSpPr>
        <p:spPr>
          <a:xfrm>
            <a:off x="475488" y="3520440"/>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Test C -- Hang a Weight: Tie a small weight (coin, washer) to one end of a string. Hold the other end up. Watch which way the string points. Rotate -- does the string still point the same way?</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Investigate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Data Table -- Copy Into Your Notebook</a:t>
            </a:r>
            <a:endParaRPr lang="en-US" sz="1700" dirty="0"/>
          </a:p>
        </p:txBody>
      </p:sp>
      <p:sp>
        <p:nvSpPr>
          <p:cNvPr id="3" name="Shape 1"/>
          <p:cNvSpPr/>
          <p:nvPr/>
        </p:nvSpPr>
        <p:spPr>
          <a:xfrm>
            <a:off x="365760" y="621792"/>
            <a:ext cx="2011680" cy="347472"/>
          </a:xfrm>
          <a:prstGeom prst="rect">
            <a:avLst/>
          </a:prstGeom>
          <a:solidFill>
            <a:srgbClr val="1A3A5C"/>
          </a:solidFill>
          <a:ln w="12700">
            <a:solidFill>
              <a:srgbClr val="1A3A5C"/>
            </a:solidFill>
            <a:prstDash val="solid"/>
          </a:ln>
        </p:spPr>
      </p:sp>
      <p:sp>
        <p:nvSpPr>
          <p:cNvPr id="4" name="Text 2"/>
          <p:cNvSpPr/>
          <p:nvPr/>
        </p:nvSpPr>
        <p:spPr>
          <a:xfrm>
            <a:off x="411480" y="621792"/>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p>
        </p:txBody>
      </p:sp>
      <p:sp>
        <p:nvSpPr>
          <p:cNvPr id="5" name="Shape 3"/>
          <p:cNvSpPr/>
          <p:nvPr/>
        </p:nvSpPr>
        <p:spPr>
          <a:xfrm>
            <a:off x="2377440" y="621792"/>
            <a:ext cx="1828800" cy="347472"/>
          </a:xfrm>
          <a:prstGeom prst="rect">
            <a:avLst/>
          </a:prstGeom>
          <a:solidFill>
            <a:srgbClr val="1A3A5C"/>
          </a:solidFill>
          <a:ln w="12700">
            <a:solidFill>
              <a:srgbClr val="1A3A5C"/>
            </a:solidFill>
            <a:prstDash val="solid"/>
          </a:ln>
        </p:spPr>
      </p:sp>
      <p:sp>
        <p:nvSpPr>
          <p:cNvPr id="6" name="Text 4"/>
          <p:cNvSpPr/>
          <p:nvPr/>
        </p:nvSpPr>
        <p:spPr>
          <a:xfrm>
            <a:off x="242316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I Observed</a:t>
            </a:r>
            <a:endParaRPr lang="en-US" sz="1000" dirty="0"/>
          </a:p>
        </p:txBody>
      </p:sp>
      <p:sp>
        <p:nvSpPr>
          <p:cNvPr id="7" name="Shape 5"/>
          <p:cNvSpPr/>
          <p:nvPr/>
        </p:nvSpPr>
        <p:spPr>
          <a:xfrm>
            <a:off x="4206240" y="621792"/>
            <a:ext cx="5120640" cy="347472"/>
          </a:xfrm>
          <a:prstGeom prst="rect">
            <a:avLst/>
          </a:prstGeom>
          <a:solidFill>
            <a:srgbClr val="1A3A5C"/>
          </a:solidFill>
          <a:ln w="12700">
            <a:solidFill>
              <a:srgbClr val="1A3A5C"/>
            </a:solidFill>
            <a:prstDash val="solid"/>
          </a:ln>
        </p:spPr>
      </p:sp>
      <p:sp>
        <p:nvSpPr>
          <p:cNvPr id="8" name="Text 6"/>
          <p:cNvSpPr/>
          <p:nvPr/>
        </p:nvSpPr>
        <p:spPr>
          <a:xfrm>
            <a:off x="4251960" y="621792"/>
            <a:ext cx="50292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Direction -- What it shows about gravity</a:t>
            </a:r>
            <a:endParaRPr lang="en-US" sz="1000" dirty="0"/>
          </a:p>
        </p:txBody>
      </p:sp>
      <p:sp>
        <p:nvSpPr>
          <p:cNvPr id="9" name="Shape 7"/>
          <p:cNvSpPr/>
          <p:nvPr/>
        </p:nvSpPr>
        <p:spPr>
          <a:xfrm>
            <a:off x="365760" y="1005840"/>
            <a:ext cx="2011680" cy="914400"/>
          </a:xfrm>
          <a:prstGeom prst="rect">
            <a:avLst/>
          </a:prstGeom>
          <a:solidFill>
            <a:srgbClr val="D6EAF8"/>
          </a:solidFill>
          <a:ln w="12700">
            <a:solidFill>
              <a:srgbClr val="BDD7EE"/>
            </a:solidFill>
            <a:prstDash val="solid"/>
          </a:ln>
        </p:spPr>
      </p:sp>
      <p:sp>
        <p:nvSpPr>
          <p:cNvPr id="10" name="Text 8"/>
          <p:cNvSpPr/>
          <p:nvPr/>
        </p:nvSpPr>
        <p:spPr>
          <a:xfrm>
            <a:off x="420624" y="10058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 Drop -- marble + paper</a:t>
            </a:r>
            <a:endParaRPr lang="en-US" sz="1000" dirty="0"/>
          </a:p>
        </p:txBody>
      </p:sp>
      <p:sp>
        <p:nvSpPr>
          <p:cNvPr id="11" name="Shape 9"/>
          <p:cNvSpPr/>
          <p:nvPr/>
        </p:nvSpPr>
        <p:spPr>
          <a:xfrm>
            <a:off x="2377440" y="1005840"/>
            <a:ext cx="1828800" cy="914400"/>
          </a:xfrm>
          <a:prstGeom prst="rect">
            <a:avLst/>
          </a:prstGeom>
          <a:solidFill>
            <a:srgbClr val="D6EAF8"/>
          </a:solidFill>
          <a:ln w="12700">
            <a:solidFill>
              <a:srgbClr val="BDD7EE"/>
            </a:solidFill>
            <a:prstDash val="solid"/>
          </a:ln>
        </p:spPr>
      </p:sp>
      <p:sp>
        <p:nvSpPr>
          <p:cNvPr id="12" name="Text 10"/>
          <p:cNvSpPr/>
          <p:nvPr/>
        </p:nvSpPr>
        <p:spPr>
          <a:xfrm>
            <a:off x="243230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Both fell down; ball hit floor first</a:t>
            </a:r>
            <a:endParaRPr lang="en-US" sz="1000" dirty="0"/>
          </a:p>
        </p:txBody>
      </p:sp>
      <p:sp>
        <p:nvSpPr>
          <p:cNvPr id="13" name="Shape 11"/>
          <p:cNvSpPr/>
          <p:nvPr/>
        </p:nvSpPr>
        <p:spPr>
          <a:xfrm>
            <a:off x="4206240" y="1005840"/>
            <a:ext cx="5120640" cy="914400"/>
          </a:xfrm>
          <a:prstGeom prst="rect">
            <a:avLst/>
          </a:prstGeom>
          <a:solidFill>
            <a:srgbClr val="D6EAF8"/>
          </a:solidFill>
          <a:ln w="12700">
            <a:solidFill>
              <a:srgbClr val="BDD7EE"/>
            </a:solidFill>
            <a:prstDash val="solid"/>
          </a:ln>
        </p:spPr>
      </p:sp>
      <p:sp>
        <p:nvSpPr>
          <p:cNvPr id="14" name="Text 12"/>
          <p:cNvSpPr/>
          <p:nvPr/>
        </p:nvSpPr>
        <p:spPr>
          <a:xfrm>
            <a:off x="4261104" y="10058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DOWNWARD -- gravity pulled both. Air resistance slowed the paper.</a:t>
            </a:r>
            <a:endParaRPr lang="en-US" sz="1000" dirty="0"/>
          </a:p>
        </p:txBody>
      </p:sp>
      <p:sp>
        <p:nvSpPr>
          <p:cNvPr id="15" name="Shape 13"/>
          <p:cNvSpPr/>
          <p:nvPr/>
        </p:nvSpPr>
        <p:spPr>
          <a:xfrm>
            <a:off x="365760" y="1920240"/>
            <a:ext cx="2011680" cy="914400"/>
          </a:xfrm>
          <a:prstGeom prst="rect">
            <a:avLst/>
          </a:prstGeom>
          <a:solidFill>
            <a:srgbClr val="FFFFFF"/>
          </a:solidFill>
          <a:ln w="12700">
            <a:solidFill>
              <a:srgbClr val="BDD7EE"/>
            </a:solidFill>
            <a:prstDash val="solid"/>
          </a:ln>
        </p:spPr>
      </p:sp>
      <p:sp>
        <p:nvSpPr>
          <p:cNvPr id="16" name="Text 14"/>
          <p:cNvSpPr/>
          <p:nvPr/>
        </p:nvSpPr>
        <p:spPr>
          <a:xfrm>
            <a:off x="420624" y="19202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 Ramp roll</a:t>
            </a:r>
            <a:endParaRPr lang="en-US" sz="1000" dirty="0"/>
          </a:p>
        </p:txBody>
      </p:sp>
      <p:sp>
        <p:nvSpPr>
          <p:cNvPr id="17" name="Shape 15"/>
          <p:cNvSpPr/>
          <p:nvPr/>
        </p:nvSpPr>
        <p:spPr>
          <a:xfrm>
            <a:off x="2377440" y="1920240"/>
            <a:ext cx="1828800" cy="914400"/>
          </a:xfrm>
          <a:prstGeom prst="rect">
            <a:avLst/>
          </a:prstGeom>
          <a:solidFill>
            <a:srgbClr val="FFFFFF"/>
          </a:solidFill>
          <a:ln w="12700">
            <a:solidFill>
              <a:srgbClr val="BDD7EE"/>
            </a:solidFill>
            <a:prstDash val="solid"/>
          </a:ln>
        </p:spPr>
      </p:sp>
      <p:sp>
        <p:nvSpPr>
          <p:cNvPr id="18" name="Text 16"/>
          <p:cNvSpPr/>
          <p:nvPr/>
        </p:nvSpPr>
        <p:spPr>
          <a:xfrm>
            <a:off x="243230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Ball rolled down on its own, picked up speed</a:t>
            </a:r>
            <a:endParaRPr lang="en-US" sz="1000" dirty="0"/>
          </a:p>
        </p:txBody>
      </p:sp>
      <p:sp>
        <p:nvSpPr>
          <p:cNvPr id="19" name="Shape 17"/>
          <p:cNvSpPr/>
          <p:nvPr/>
        </p:nvSpPr>
        <p:spPr>
          <a:xfrm>
            <a:off x="4206240" y="1920240"/>
            <a:ext cx="5120640" cy="914400"/>
          </a:xfrm>
          <a:prstGeom prst="rect">
            <a:avLst/>
          </a:prstGeom>
          <a:solidFill>
            <a:srgbClr val="FFFFFF"/>
          </a:solidFill>
          <a:ln w="12700">
            <a:solidFill>
              <a:srgbClr val="BDD7EE"/>
            </a:solidFill>
            <a:prstDash val="solid"/>
          </a:ln>
        </p:spPr>
      </p:sp>
      <p:sp>
        <p:nvSpPr>
          <p:cNvPr id="20" name="Text 18"/>
          <p:cNvSpPr/>
          <p:nvPr/>
        </p:nvSpPr>
        <p:spPr>
          <a:xfrm>
            <a:off x="4261104" y="19202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DOWNWARD -- gravity pulled ball down the slope.</a:t>
            </a:r>
            <a:endParaRPr lang="en-US" sz="1000" dirty="0"/>
          </a:p>
        </p:txBody>
      </p:sp>
      <p:sp>
        <p:nvSpPr>
          <p:cNvPr id="21" name="Shape 19"/>
          <p:cNvSpPr/>
          <p:nvPr/>
        </p:nvSpPr>
        <p:spPr>
          <a:xfrm>
            <a:off x="365760" y="2834640"/>
            <a:ext cx="2011680" cy="914400"/>
          </a:xfrm>
          <a:prstGeom prst="rect">
            <a:avLst/>
          </a:prstGeom>
          <a:solidFill>
            <a:srgbClr val="D6EAF8"/>
          </a:solidFill>
          <a:ln w="12700">
            <a:solidFill>
              <a:srgbClr val="BDD7EE"/>
            </a:solidFill>
            <a:prstDash val="solid"/>
          </a:ln>
        </p:spPr>
      </p:sp>
      <p:sp>
        <p:nvSpPr>
          <p:cNvPr id="22" name="Text 20"/>
          <p:cNvSpPr/>
          <p:nvPr/>
        </p:nvSpPr>
        <p:spPr>
          <a:xfrm>
            <a:off x="420624" y="28346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C. Hang a weight</a:t>
            </a:r>
            <a:endParaRPr lang="en-US" sz="1000" dirty="0"/>
          </a:p>
        </p:txBody>
      </p:sp>
      <p:sp>
        <p:nvSpPr>
          <p:cNvPr id="23" name="Shape 21"/>
          <p:cNvSpPr/>
          <p:nvPr/>
        </p:nvSpPr>
        <p:spPr>
          <a:xfrm>
            <a:off x="2377440" y="2834640"/>
            <a:ext cx="1828800" cy="914400"/>
          </a:xfrm>
          <a:prstGeom prst="rect">
            <a:avLst/>
          </a:prstGeom>
          <a:solidFill>
            <a:srgbClr val="D6EAF8"/>
          </a:solidFill>
          <a:ln w="12700">
            <a:solidFill>
              <a:srgbClr val="BDD7EE"/>
            </a:solidFill>
            <a:prstDash val="solid"/>
          </a:ln>
        </p:spPr>
      </p:sp>
      <p:sp>
        <p:nvSpPr>
          <p:cNvPr id="24" name="Text 22"/>
          <p:cNvSpPr/>
          <p:nvPr/>
        </p:nvSpPr>
        <p:spPr>
          <a:xfrm>
            <a:off x="243230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String always pointed straight down, no matter which way I faced</a:t>
            </a:r>
            <a:endParaRPr lang="en-US" sz="1000" dirty="0"/>
          </a:p>
        </p:txBody>
      </p:sp>
      <p:sp>
        <p:nvSpPr>
          <p:cNvPr id="25" name="Shape 23"/>
          <p:cNvSpPr/>
          <p:nvPr/>
        </p:nvSpPr>
        <p:spPr>
          <a:xfrm>
            <a:off x="4206240" y="2834640"/>
            <a:ext cx="5120640" cy="914400"/>
          </a:xfrm>
          <a:prstGeom prst="rect">
            <a:avLst/>
          </a:prstGeom>
          <a:solidFill>
            <a:srgbClr val="D6EAF8"/>
          </a:solidFill>
          <a:ln w="12700">
            <a:solidFill>
              <a:srgbClr val="BDD7EE"/>
            </a:solidFill>
            <a:prstDash val="solid"/>
          </a:ln>
        </p:spPr>
      </p:sp>
      <p:sp>
        <p:nvSpPr>
          <p:cNvPr id="26" name="Text 24"/>
          <p:cNvSpPr/>
          <p:nvPr/>
        </p:nvSpPr>
        <p:spPr>
          <a:xfrm>
            <a:off x="4261104" y="28346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DOWNWARD -- gravity always pulls toward Earth's center.</a:t>
            </a:r>
            <a:endParaRPr lang="en-US" sz="1000" dirty="0"/>
          </a:p>
        </p:txBody>
      </p:sp>
      <p:sp>
        <p:nvSpPr>
          <p:cNvPr id="27" name="Shape 25"/>
          <p:cNvSpPr/>
          <p:nvPr/>
        </p:nvSpPr>
        <p:spPr>
          <a:xfrm>
            <a:off x="0" y="4896612"/>
            <a:ext cx="9144000" cy="246888"/>
          </a:xfrm>
          <a:prstGeom prst="rect">
            <a:avLst/>
          </a:prstGeom>
          <a:solidFill>
            <a:srgbClr val="F6C90E"/>
          </a:solidFill>
          <a:ln w="12700">
            <a:solidFill>
              <a:srgbClr val="F6C90E"/>
            </a:solidFill>
            <a:prstDash val="solid"/>
          </a:ln>
        </p:spPr>
      </p:sp>
      <p:sp>
        <p:nvSpPr>
          <p:cNvPr id="28" name="Text 2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Data Table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2000" b="1" dirty="0">
                <a:solidFill>
                  <a:srgbClr val="1A3A5C"/>
                </a:solidFill>
                <a:latin typeface="Cambria" pitchFamily="34" charset="0"/>
                <a:ea typeface="Cambria" pitchFamily="34" charset="-122"/>
                <a:cs typeface="Cambria" pitchFamily="34" charset="-120"/>
              </a:rPr>
              <a:t>Record Your Thinking</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Answer in complete sentences. Use vocabulary words.</a:t>
            </a:r>
            <a:endParaRPr lang="en-US" sz="1200" dirty="0"/>
          </a:p>
        </p:txBody>
      </p:sp>
      <p:sp>
        <p:nvSpPr>
          <p:cNvPr id="4" name="Shape 2"/>
          <p:cNvSpPr/>
          <p:nvPr/>
        </p:nvSpPr>
        <p:spPr>
          <a:xfrm>
            <a:off x="365760" y="914400"/>
            <a:ext cx="292608" cy="292608"/>
          </a:xfrm>
          <a:prstGeom prst="rect">
            <a:avLst/>
          </a:prstGeom>
          <a:solidFill>
            <a:srgbClr val="0E7C7B"/>
          </a:solidFill>
          <a:ln w="12700">
            <a:solidFill>
              <a:srgbClr val="0E7C7B"/>
            </a:solidFill>
            <a:prstDash val="solid"/>
          </a:ln>
        </p:spPr>
      </p:sp>
      <p:sp>
        <p:nvSpPr>
          <p:cNvPr id="5" name="Text 3"/>
          <p:cNvSpPr/>
          <p:nvPr/>
        </p:nvSpPr>
        <p:spPr>
          <a:xfrm>
            <a:off x="365760" y="914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768096" y="914400"/>
            <a:ext cx="8010144" cy="1207008"/>
          </a:xfrm>
          <a:prstGeom prst="rect">
            <a:avLst/>
          </a:prstGeom>
          <a:solidFill>
            <a:srgbClr val="D6EAF8"/>
          </a:solidFill>
          <a:ln w="12700">
            <a:solidFill>
              <a:srgbClr val="D6EAF8"/>
            </a:solidFill>
            <a:prstDash val="solid"/>
          </a:ln>
        </p:spPr>
      </p:sp>
      <p:sp>
        <p:nvSpPr>
          <p:cNvPr id="7" name="Text 5"/>
          <p:cNvSpPr/>
          <p:nvPr/>
        </p:nvSpPr>
        <p:spPr>
          <a:xfrm>
            <a:off x="877824" y="9784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A (drop), which object hit the floor first? Why? Use the words gravity and air resistance.</a:t>
            </a:r>
            <a:endParaRPr lang="en-US" sz="1200" dirty="0"/>
          </a:p>
        </p:txBody>
      </p:sp>
      <p:sp>
        <p:nvSpPr>
          <p:cNvPr id="8" name="Shape 6"/>
          <p:cNvSpPr/>
          <p:nvPr/>
        </p:nvSpPr>
        <p:spPr>
          <a:xfrm>
            <a:off x="365760" y="2286000"/>
            <a:ext cx="292608" cy="292608"/>
          </a:xfrm>
          <a:prstGeom prst="rect">
            <a:avLst/>
          </a:prstGeom>
          <a:solidFill>
            <a:srgbClr val="0E7C7B"/>
          </a:solidFill>
          <a:ln w="12700">
            <a:solidFill>
              <a:srgbClr val="0E7C7B"/>
            </a:solidFill>
            <a:prstDash val="solid"/>
          </a:ln>
        </p:spPr>
      </p:sp>
      <p:sp>
        <p:nvSpPr>
          <p:cNvPr id="9" name="Text 7"/>
          <p:cNvSpPr/>
          <p:nvPr/>
        </p:nvSpPr>
        <p:spPr>
          <a:xfrm>
            <a:off x="365760" y="2286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768096" y="2286000"/>
            <a:ext cx="8010144" cy="1207008"/>
          </a:xfrm>
          <a:prstGeom prst="rect">
            <a:avLst/>
          </a:prstGeom>
          <a:solidFill>
            <a:srgbClr val="D6EAF8"/>
          </a:solidFill>
          <a:ln w="12700">
            <a:solidFill>
              <a:srgbClr val="D6EAF8"/>
            </a:solidFill>
            <a:prstDash val="solid"/>
          </a:ln>
        </p:spPr>
      </p:sp>
      <p:sp>
        <p:nvSpPr>
          <p:cNvPr id="11" name="Text 9"/>
          <p:cNvSpPr/>
          <p:nvPr/>
        </p:nvSpPr>
        <p:spPr>
          <a:xfrm>
            <a:off x="877824" y="23500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B (ramp), the ball rolled down without anyone pushing it. What force caused it? Why did a steeper ramp make it go faster?</a:t>
            </a:r>
            <a:endParaRPr lang="en-US" sz="1200" dirty="0"/>
          </a:p>
        </p:txBody>
      </p:sp>
      <p:sp>
        <p:nvSpPr>
          <p:cNvPr id="12" name="Shape 10"/>
          <p:cNvSpPr/>
          <p:nvPr/>
        </p:nvSpPr>
        <p:spPr>
          <a:xfrm>
            <a:off x="365760" y="3657600"/>
            <a:ext cx="292608" cy="292608"/>
          </a:xfrm>
          <a:prstGeom prst="rect">
            <a:avLst/>
          </a:prstGeom>
          <a:solidFill>
            <a:srgbClr val="0E7C7B"/>
          </a:solidFill>
          <a:ln w="12700">
            <a:solidFill>
              <a:srgbClr val="0E7C7B"/>
            </a:solidFill>
            <a:prstDash val="solid"/>
          </a:ln>
        </p:spPr>
      </p:sp>
      <p:sp>
        <p:nvSpPr>
          <p:cNvPr id="13" name="Text 11"/>
          <p:cNvSpPr/>
          <p:nvPr/>
        </p:nvSpPr>
        <p:spPr>
          <a:xfrm>
            <a:off x="365760"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768096" y="3657600"/>
            <a:ext cx="8010144" cy="1207008"/>
          </a:xfrm>
          <a:prstGeom prst="rect">
            <a:avLst/>
          </a:prstGeom>
          <a:solidFill>
            <a:srgbClr val="D6EAF8"/>
          </a:solidFill>
          <a:ln w="12700">
            <a:solidFill>
              <a:srgbClr val="D6EAF8"/>
            </a:solidFill>
            <a:prstDash val="solid"/>
          </a:ln>
        </p:spPr>
      </p:sp>
      <p:sp>
        <p:nvSpPr>
          <p:cNvPr id="15" name="Text 13"/>
          <p:cNvSpPr/>
          <p:nvPr/>
        </p:nvSpPr>
        <p:spPr>
          <a:xfrm>
            <a:off x="877824" y="37216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Test C (hanging weight), no matter which way you faced, the string pointed the same direction. What direction? What does this tell you about gravity?</a:t>
            </a:r>
            <a:endParaRPr lang="en-US" sz="12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Record Your Thinking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E86AB"/>
          </a:solidFill>
          <a:ln w="12700">
            <a:solidFill>
              <a:srgbClr val="2E86A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Defend Your Thinking with Evidence</a:t>
            </a:r>
            <a:endParaRPr lang="en-US" sz="2000" dirty="0"/>
          </a:p>
        </p:txBody>
      </p:sp>
      <p:sp>
        <p:nvSpPr>
          <p:cNvPr id="5" name="Shape 3"/>
          <p:cNvSpPr/>
          <p:nvPr/>
        </p:nvSpPr>
        <p:spPr>
          <a:xfrm>
            <a:off x="365760" y="1051560"/>
            <a:ext cx="8412480" cy="1051560"/>
          </a:xfrm>
          <a:prstGeom prst="rect">
            <a:avLst/>
          </a:prstGeom>
          <a:solidFill>
            <a:srgbClr val="1E3A5C"/>
          </a:solidFill>
          <a:ln w="12700">
            <a:solidFill>
              <a:srgbClr val="1E3A5C"/>
            </a:solidFill>
            <a:prstDash val="solid"/>
          </a:ln>
        </p:spPr>
      </p:sp>
      <p:sp>
        <p:nvSpPr>
          <p:cNvPr id="6" name="Text 4"/>
          <p:cNvSpPr/>
          <p:nvPr/>
        </p:nvSpPr>
        <p:spPr>
          <a:xfrm>
            <a:off x="475488" y="1115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friend says: the marble fell faster than the paper because it WANTED to fall faster. Use what you learned to disagree."</a:t>
            </a:r>
            <a:endParaRPr lang="en-US" sz="1300" dirty="0"/>
          </a:p>
        </p:txBody>
      </p:sp>
      <p:sp>
        <p:nvSpPr>
          <p:cNvPr id="7" name="Shape 5"/>
          <p:cNvSpPr/>
          <p:nvPr/>
        </p:nvSpPr>
        <p:spPr>
          <a:xfrm>
            <a:off x="365760" y="2194560"/>
            <a:ext cx="8412480" cy="1051560"/>
          </a:xfrm>
          <a:prstGeom prst="rect">
            <a:avLst/>
          </a:prstGeom>
          <a:solidFill>
            <a:srgbClr val="1E3A5C"/>
          </a:solidFill>
          <a:ln w="12700">
            <a:solidFill>
              <a:srgbClr val="1E3A5C"/>
            </a:solidFill>
            <a:prstDash val="solid"/>
          </a:ln>
        </p:spPr>
      </p:sp>
      <p:sp>
        <p:nvSpPr>
          <p:cNvPr id="8" name="Text 6"/>
          <p:cNvSpPr/>
          <p:nvPr/>
        </p:nvSpPr>
        <p:spPr>
          <a:xfrm>
            <a:off x="475488" y="2258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"Which of your three tests was the most convincing evidence that gravity is real? Why?"</a:t>
            </a:r>
            <a:endParaRPr lang="en-US" sz="1300" dirty="0"/>
          </a:p>
        </p:txBody>
      </p:sp>
      <p:sp>
        <p:nvSpPr>
          <p:cNvPr id="9" name="Text 7"/>
          <p:cNvSpPr/>
          <p:nvPr/>
        </p:nvSpPr>
        <p:spPr>
          <a:xfrm>
            <a:off x="365760" y="338328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0" name="Shape 8"/>
          <p:cNvSpPr/>
          <p:nvPr/>
        </p:nvSpPr>
        <p:spPr>
          <a:xfrm>
            <a:off x="365760" y="3712464"/>
            <a:ext cx="4114800" cy="640080"/>
          </a:xfrm>
          <a:prstGeom prst="rect">
            <a:avLst/>
          </a:prstGeom>
          <a:solidFill>
            <a:srgbClr val="1A3A5C"/>
          </a:solidFill>
          <a:ln w="12700">
            <a:solidFill>
              <a:srgbClr val="1A3A5C"/>
            </a:solidFill>
            <a:prstDash val="solid"/>
          </a:ln>
        </p:spPr>
      </p:sp>
      <p:sp>
        <p:nvSpPr>
          <p:cNvPr id="11" name="Text 9"/>
          <p:cNvSpPr/>
          <p:nvPr/>
        </p:nvSpPr>
        <p:spPr>
          <a:xfrm>
            <a:off x="47548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 disagree because objects do not want things -- the difference is caused by air resistance, which means..."</a:t>
            </a:r>
            <a:endParaRPr lang="en-US" sz="1100" dirty="0"/>
          </a:p>
        </p:txBody>
      </p:sp>
      <p:sp>
        <p:nvSpPr>
          <p:cNvPr id="12" name="Shape 10"/>
          <p:cNvSpPr/>
          <p:nvPr/>
        </p:nvSpPr>
        <p:spPr>
          <a:xfrm>
            <a:off x="4663440" y="3712464"/>
            <a:ext cx="4114800" cy="640080"/>
          </a:xfrm>
          <a:prstGeom prst="rect">
            <a:avLst/>
          </a:prstGeom>
          <a:solidFill>
            <a:srgbClr val="1A3A5C"/>
          </a:solidFill>
          <a:ln w="12700">
            <a:solidFill>
              <a:srgbClr val="1A3A5C"/>
            </a:solidFill>
            <a:prstDash val="solid"/>
          </a:ln>
        </p:spPr>
      </p:sp>
      <p:sp>
        <p:nvSpPr>
          <p:cNvPr id="13" name="Text 11"/>
          <p:cNvSpPr/>
          <p:nvPr/>
        </p:nvSpPr>
        <p:spPr>
          <a:xfrm>
            <a:off x="477316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"The most convincing test was ___ because it showed that gravity always pulls..."</a:t>
            </a:r>
            <a:endParaRPr lang="en-US" sz="1100" dirty="0"/>
          </a:p>
        </p:txBody>
      </p:sp>
      <p:sp>
        <p:nvSpPr>
          <p:cNvPr id="14" name="Shape 12"/>
          <p:cNvSpPr/>
          <p:nvPr/>
        </p:nvSpPr>
        <p:spPr>
          <a:xfrm>
            <a:off x="0" y="4896612"/>
            <a:ext cx="9144000" cy="246888"/>
          </a:xfrm>
          <a:prstGeom prst="rect">
            <a:avLst/>
          </a:prstGeom>
          <a:solidFill>
            <a:srgbClr val="F6C90E"/>
          </a:solidFill>
          <a:ln w="12700">
            <a:solidFill>
              <a:srgbClr val="F6C90E"/>
            </a:solidFill>
            <a:prstDash val="solid"/>
          </a:ln>
        </p:spPr>
      </p:sp>
      <p:sp>
        <p:nvSpPr>
          <p:cNvPr id="15" name="Text 13"/>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Discuss &amp; Defend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Claim  |  Evidence  |  Reasoning</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Aim for 4-6 sentences total. Use 2+ lesson vocab words.</a:t>
            </a:r>
            <a:endParaRPr lang="en-US" sz="1200" dirty="0"/>
          </a:p>
        </p:txBody>
      </p:sp>
      <p:sp>
        <p:nvSpPr>
          <p:cNvPr id="6" name="Shape 4"/>
          <p:cNvSpPr/>
          <p:nvPr/>
        </p:nvSpPr>
        <p:spPr>
          <a:xfrm>
            <a:off x="365760" y="1389888"/>
            <a:ext cx="8412480" cy="877824"/>
          </a:xfrm>
          <a:prstGeom prst="rect">
            <a:avLst/>
          </a:prstGeom>
          <a:solidFill>
            <a:srgbClr val="2E86AB"/>
          </a:solidFill>
          <a:ln w="12700">
            <a:solidFill>
              <a:srgbClr val="2E86AB"/>
            </a:solidFill>
            <a:prstDash val="solid"/>
          </a:ln>
        </p:spPr>
      </p:sp>
      <p:sp>
        <p:nvSpPr>
          <p:cNvPr id="7" name="Text 5"/>
          <p:cNvSpPr/>
          <p:nvPr/>
        </p:nvSpPr>
        <p:spPr>
          <a:xfrm>
            <a:off x="475488" y="1453896"/>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 What did your three tests prove about gravity? One clear sentence.</a:t>
            </a:r>
            <a:endParaRPr lang="en-US" sz="1300" dirty="0"/>
          </a:p>
        </p:txBody>
      </p:sp>
      <p:sp>
        <p:nvSpPr>
          <p:cNvPr id="8" name="Shape 6"/>
          <p:cNvSpPr/>
          <p:nvPr/>
        </p:nvSpPr>
        <p:spPr>
          <a:xfrm>
            <a:off x="365760" y="2340864"/>
            <a:ext cx="8412480" cy="877824"/>
          </a:xfrm>
          <a:prstGeom prst="rect">
            <a:avLst/>
          </a:prstGeom>
          <a:solidFill>
            <a:srgbClr val="2A7A4B"/>
          </a:solidFill>
          <a:ln w="12700">
            <a:solidFill>
              <a:srgbClr val="2A7A4B"/>
            </a:solidFill>
            <a:prstDash val="solid"/>
          </a:ln>
        </p:spPr>
      </p:sp>
      <p:sp>
        <p:nvSpPr>
          <p:cNvPr id="9" name="Text 7"/>
          <p:cNvSpPr/>
          <p:nvPr/>
        </p:nvSpPr>
        <p:spPr>
          <a:xfrm>
            <a:off x="475488" y="2404872"/>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EVIDENCE -- What did each test show? Describe the direction of motion in each one.</a:t>
            </a:r>
            <a:endParaRPr lang="en-US" sz="1300" dirty="0"/>
          </a:p>
        </p:txBody>
      </p:sp>
      <p:sp>
        <p:nvSpPr>
          <p:cNvPr id="10" name="Shape 8"/>
          <p:cNvSpPr/>
          <p:nvPr/>
        </p:nvSpPr>
        <p:spPr>
          <a:xfrm>
            <a:off x="365760" y="3291840"/>
            <a:ext cx="8412480" cy="877824"/>
          </a:xfrm>
          <a:prstGeom prst="rect">
            <a:avLst/>
          </a:prstGeom>
          <a:solidFill>
            <a:srgbClr val="0E7C7B"/>
          </a:solidFill>
          <a:ln w="12700">
            <a:solidFill>
              <a:srgbClr val="0E7C7B"/>
            </a:solidFill>
            <a:prstDash val="solid"/>
          </a:ln>
        </p:spPr>
      </p:sp>
      <p:sp>
        <p:nvSpPr>
          <p:cNvPr id="11" name="Text 9"/>
          <p:cNvSpPr/>
          <p:nvPr/>
        </p:nvSpPr>
        <p:spPr>
          <a:xfrm>
            <a:off x="475488" y="3355848"/>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REASONING -- Why does this fit what we know?</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Starter: "This makes sense because gravity always pulls toward the center of Earth, which means..."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CER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Test A, both the marble and the paper fell DOWN. Why?</a:t>
            </a:r>
            <a:endParaRPr lang="en-US" sz="1800" dirty="0"/>
          </a:p>
        </p:txBody>
      </p:sp>
      <p:sp>
        <p:nvSpPr>
          <p:cNvPr id="5" name="Shape 3"/>
          <p:cNvSpPr/>
          <p:nvPr/>
        </p:nvSpPr>
        <p:spPr>
          <a:xfrm>
            <a:off x="365760" y="1298448"/>
            <a:ext cx="8412480" cy="694944"/>
          </a:xfrm>
          <a:prstGeom prst="rect">
            <a:avLst/>
          </a:prstGeom>
          <a:solidFill>
            <a:srgbClr val="2A7A4B"/>
          </a:solidFill>
          <a:ln w="12700">
            <a:solidFill>
              <a:srgbClr val="2A7A4B"/>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They were both pulled down by gravity     CORRECT</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They both wanted to land on the floor</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The floor pulled them</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Gravity pulls every object toward Earth. The marble and paper both fall down because Earth is pulling on them. Objects do not want things -- gravity causes the downward pull.</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Self-Check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In Test C, the hanging weight always pointed DOWN no matter which way you faced. Why?</a:t>
            </a:r>
            <a:endParaRPr lang="en-US" sz="1800" dirty="0"/>
          </a:p>
        </p:txBody>
      </p:sp>
      <p:sp>
        <p:nvSpPr>
          <p:cNvPr id="5" name="Shape 3"/>
          <p:cNvSpPr/>
          <p:nvPr/>
        </p:nvSpPr>
        <p:spPr>
          <a:xfrm>
            <a:off x="365760" y="1298448"/>
            <a:ext cx="8412480" cy="694944"/>
          </a:xfrm>
          <a:prstGeom prst="rect">
            <a:avLst/>
          </a:prstGeom>
          <a:solidFill>
            <a:srgbClr val="2A7A4B"/>
          </a:solidFill>
          <a:ln w="12700">
            <a:solidFill>
              <a:srgbClr val="2A7A4B"/>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  Gravity always pulls toward the center of Earth, which is straight down through the floor     CORRECT</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The weight is magnetic and is pulled by the ground</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The string is shaped to only point down</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Gravity points toward the center of Earth from anywhere on the planet. The string hangs in the direction of that pull -- always straight DOWN, no matter how you rotate.</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Self-Check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Incredible -- Beyond the Lesson</a:t>
            </a:r>
            <a:endParaRPr lang="en-US" sz="2000" dirty="0"/>
          </a:p>
        </p:txBody>
      </p:sp>
      <p:sp>
        <p:nvSpPr>
          <p:cNvPr id="5" name="Shape 3"/>
          <p:cNvSpPr/>
          <p:nvPr/>
        </p:nvSpPr>
        <p:spPr>
          <a:xfrm>
            <a:off x="365760" y="1051560"/>
            <a:ext cx="8412480" cy="1234440"/>
          </a:xfrm>
          <a:prstGeom prst="rect">
            <a:avLst/>
          </a:prstGeom>
          <a:solidFill>
            <a:srgbClr val="1E3A5C"/>
          </a:solidFill>
          <a:ln w="12700">
            <a:solidFill>
              <a:srgbClr val="1E3A5C"/>
            </a:solidFill>
            <a:prstDash val="solid"/>
          </a:ln>
        </p:spPr>
      </p:sp>
      <p:sp>
        <p:nvSpPr>
          <p:cNvPr id="6" name="Text 4"/>
          <p:cNvSpPr/>
          <p:nvPr/>
        </p:nvSpPr>
        <p:spPr>
          <a:xfrm>
            <a:off x="475488" y="1115568"/>
            <a:ext cx="8193024" cy="11064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In 1971, astronaut David Scott dropped a hammer and a feather on the MOON at the same time. They hit the ground together! On the moon there is almost no air to slow the feather. Both fall purely because of gravity. On Earth, air resistance is the only reason a feather falls slower.</a:t>
            </a:r>
            <a:endParaRPr lang="en-US" sz="1300" dirty="0"/>
          </a:p>
        </p:txBody>
      </p:sp>
      <p:sp>
        <p:nvSpPr>
          <p:cNvPr id="7" name="Text 5"/>
          <p:cNvSpPr/>
          <p:nvPr/>
        </p:nvSpPr>
        <p:spPr>
          <a:xfrm>
            <a:off x="365760" y="242316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Go Deeper:</a:t>
            </a:r>
            <a:endParaRPr lang="en-US" sz="1200" dirty="0"/>
          </a:p>
        </p:txBody>
      </p:sp>
      <p:sp>
        <p:nvSpPr>
          <p:cNvPr id="8" name="Shape 6"/>
          <p:cNvSpPr/>
          <p:nvPr/>
        </p:nvSpPr>
        <p:spPr>
          <a:xfrm>
            <a:off x="365760" y="2761488"/>
            <a:ext cx="4114800" cy="1417320"/>
          </a:xfrm>
          <a:prstGeom prst="rect">
            <a:avLst/>
          </a:prstGeom>
          <a:solidFill>
            <a:srgbClr val="1A3A5C"/>
          </a:solidFill>
          <a:ln w="12700">
            <a:solidFill>
              <a:srgbClr val="1A3A5C"/>
            </a:solidFill>
            <a:prstDash val="solid"/>
          </a:ln>
        </p:spPr>
      </p:sp>
      <p:sp>
        <p:nvSpPr>
          <p:cNvPr id="9" name="Text 7"/>
          <p:cNvSpPr/>
          <p:nvPr/>
        </p:nvSpPr>
        <p:spPr>
          <a:xfrm>
            <a:off x="47548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Try this: drop a flat piece of paper and a crumpled one at the same time. Which hits the floor first? Why does crumpling change the result?</a:t>
            </a:r>
            <a:endParaRPr lang="en-US" sz="1300" dirty="0"/>
          </a:p>
        </p:txBody>
      </p:sp>
      <p:sp>
        <p:nvSpPr>
          <p:cNvPr id="10" name="Shape 8"/>
          <p:cNvSpPr/>
          <p:nvPr/>
        </p:nvSpPr>
        <p:spPr>
          <a:xfrm>
            <a:off x="4663440" y="2761488"/>
            <a:ext cx="4114800" cy="1417320"/>
          </a:xfrm>
          <a:prstGeom prst="rect">
            <a:avLst/>
          </a:prstGeom>
          <a:solidFill>
            <a:srgbClr val="1A3A5C"/>
          </a:solidFill>
          <a:ln w="12700">
            <a:solidFill>
              <a:srgbClr val="1A3A5C"/>
            </a:solidFill>
            <a:prstDash val="solid"/>
          </a:ln>
        </p:spPr>
      </p:sp>
      <p:sp>
        <p:nvSpPr>
          <p:cNvPr id="11" name="Text 9"/>
          <p:cNvSpPr/>
          <p:nvPr/>
        </p:nvSpPr>
        <p:spPr>
          <a:xfrm>
            <a:off x="477316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Parachutes work because of air resistance. How does the wide chute shape create more air resistance? Why does that matter for the person falling?</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Elaborate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Parts A and B</a:t>
            </a:r>
            <a:endParaRPr lang="en-US" sz="1900" dirty="0"/>
          </a:p>
        </p:txBody>
      </p:sp>
      <p:sp>
        <p:nvSpPr>
          <p:cNvPr id="5" name="Shape 3"/>
          <p:cNvSpPr/>
          <p:nvPr/>
        </p:nvSpPr>
        <p:spPr>
          <a:xfrm>
            <a:off x="365760" y="987552"/>
            <a:ext cx="8412480" cy="1234440"/>
          </a:xfrm>
          <a:prstGeom prst="rect">
            <a:avLst/>
          </a:prstGeom>
          <a:solidFill>
            <a:srgbClr val="D6EAF8"/>
          </a:solidFill>
          <a:ln w="12700">
            <a:solidFill>
              <a:srgbClr val="D6EAF8"/>
            </a:solidFill>
            <a:prstDash val="solid"/>
          </a:ln>
        </p:spPr>
      </p:sp>
      <p:sp>
        <p:nvSpPr>
          <p:cNvPr id="6" name="Text 4"/>
          <p:cNvSpPr/>
          <p:nvPr/>
        </p:nvSpPr>
        <p:spPr>
          <a:xfrm>
            <a:off x="475488" y="1051560"/>
            <a:ext cx="8193024" cy="110642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A -- Data Table and Sketches: Take a clear photo of your completed data table from your notebook. Also sketch each test with arrows showing the direction of motion.</a:t>
            </a:r>
            <a:endParaRPr lang="en-US" sz="1200" dirty="0"/>
          </a:p>
        </p:txBody>
      </p:sp>
      <p:sp>
        <p:nvSpPr>
          <p:cNvPr id="7" name="Shape 5"/>
          <p:cNvSpPr/>
          <p:nvPr/>
        </p:nvSpPr>
        <p:spPr>
          <a:xfrm>
            <a:off x="365760" y="2286000"/>
            <a:ext cx="8412480" cy="2103120"/>
          </a:xfrm>
          <a:prstGeom prst="rect">
            <a:avLst/>
          </a:prstGeom>
          <a:solidFill>
            <a:srgbClr val="D6EAF8"/>
          </a:solidFill>
          <a:ln w="12700">
            <a:solidFill>
              <a:srgbClr val="D6EAF8"/>
            </a:solidFill>
            <a:prstDash val="solid"/>
          </a:ln>
        </p:spPr>
      </p:sp>
      <p:sp>
        <p:nvSpPr>
          <p:cNvPr id="8" name="Text 6"/>
          <p:cNvSpPr/>
          <p:nvPr/>
        </p:nvSpPr>
        <p:spPr>
          <a:xfrm>
            <a:off x="475488" y="2350008"/>
            <a:ext cx="8193024" cy="197510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B -- Evidence Questions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1. All three tests showed motion in the same direction. What direction? What does that prove about gravity?</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2. In Test A, the paper fell slower than the marble. Does that mean gravity pulled the paper less? Explain using air resistance.</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3. In Test C, the string pointed down even when you rotated. What does that tell you about the direction gravity always pulls?</a:t>
            </a:r>
            <a:endParaRPr lang="en-US" sz="1200" dirty="0"/>
          </a:p>
        </p:txBody>
      </p:sp>
      <p:sp>
        <p:nvSpPr>
          <p:cNvPr id="9" name="Shape 7"/>
          <p:cNvSpPr/>
          <p:nvPr/>
        </p:nvSpPr>
        <p:spPr>
          <a:xfrm>
            <a:off x="0" y="4896612"/>
            <a:ext cx="9144000" cy="246888"/>
          </a:xfrm>
          <a:prstGeom prst="rect">
            <a:avLst/>
          </a:prstGeom>
          <a:solidFill>
            <a:srgbClr val="F6C90E"/>
          </a:solidFill>
          <a:ln w="12700">
            <a:solidFill>
              <a:srgbClr val="F6C90E"/>
            </a:solidFill>
            <a:prstDash val="solid"/>
          </a:ln>
        </p:spPr>
      </p:sp>
      <p:sp>
        <p:nvSpPr>
          <p:cNvPr id="10" name="Text 8"/>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Assignment A &amp;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 C (CER)</a:t>
            </a:r>
            <a:endParaRPr lang="en-US" sz="1900" dirty="0"/>
          </a:p>
        </p:txBody>
      </p:sp>
      <p:sp>
        <p:nvSpPr>
          <p:cNvPr id="5" name="Shape 3"/>
          <p:cNvSpPr/>
          <p:nvPr/>
        </p:nvSpPr>
        <p:spPr>
          <a:xfrm>
            <a:off x="365760" y="987552"/>
            <a:ext cx="8412480" cy="566928"/>
          </a:xfrm>
          <a:prstGeom prst="rect">
            <a:avLst/>
          </a:prstGeom>
          <a:solidFill>
            <a:srgbClr val="D6EAF8"/>
          </a:solidFill>
          <a:ln w="12700">
            <a:solidFill>
              <a:srgbClr val="D6EAF8"/>
            </a:solidFill>
            <a:prstDash val="solid"/>
          </a:ln>
        </p:spPr>
      </p:sp>
      <p:sp>
        <p:nvSpPr>
          <p:cNvPr id="6" name="Text 4"/>
          <p:cNvSpPr/>
          <p:nvPr/>
        </p:nvSpPr>
        <p:spPr>
          <a:xfrm>
            <a:off x="475488" y="1051560"/>
            <a:ext cx="8193024" cy="438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PART C: Across all three tests, what did you prove about gravity? Use your three test results as evidence.</a:t>
            </a:r>
            <a:endParaRPr lang="en-US" sz="1300" dirty="0"/>
          </a:p>
        </p:txBody>
      </p:sp>
      <p:sp>
        <p:nvSpPr>
          <p:cNvPr id="7" name="Shape 5"/>
          <p:cNvSpPr/>
          <p:nvPr/>
        </p:nvSpPr>
        <p:spPr>
          <a:xfrm>
            <a:off x="365760" y="1627632"/>
            <a:ext cx="8412480" cy="640080"/>
          </a:xfrm>
          <a:prstGeom prst="rect">
            <a:avLst/>
          </a:prstGeom>
          <a:solidFill>
            <a:srgbClr val="E8F5E9"/>
          </a:solidFill>
          <a:ln w="12700">
            <a:solidFill>
              <a:srgbClr val="E8F5E9"/>
            </a:solidFill>
            <a:prstDash val="solid"/>
          </a:ln>
        </p:spPr>
      </p:sp>
      <p:sp>
        <p:nvSpPr>
          <p:cNvPr id="8" name="Text 6"/>
          <p:cNvSpPr/>
          <p:nvPr/>
        </p:nvSpPr>
        <p:spPr>
          <a:xfrm>
            <a:off x="475488" y="1691640"/>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CLAIM: CLAIM -- What did your three tests prove about gravity? One clear sentence.</a:t>
            </a:r>
            <a:endParaRPr lang="en-US" sz="1200" dirty="0"/>
          </a:p>
        </p:txBody>
      </p:sp>
      <p:sp>
        <p:nvSpPr>
          <p:cNvPr id="9" name="Shape 7"/>
          <p:cNvSpPr/>
          <p:nvPr/>
        </p:nvSpPr>
        <p:spPr>
          <a:xfrm>
            <a:off x="365760" y="2340864"/>
            <a:ext cx="8412480" cy="640080"/>
          </a:xfrm>
          <a:prstGeom prst="rect">
            <a:avLst/>
          </a:prstGeom>
          <a:solidFill>
            <a:srgbClr val="E8F5E9"/>
          </a:solidFill>
          <a:ln w="12700">
            <a:solidFill>
              <a:srgbClr val="E8F5E9"/>
            </a:solidFill>
            <a:prstDash val="solid"/>
          </a:ln>
        </p:spPr>
      </p:sp>
      <p:sp>
        <p:nvSpPr>
          <p:cNvPr id="10" name="Text 8"/>
          <p:cNvSpPr/>
          <p:nvPr/>
        </p:nvSpPr>
        <p:spPr>
          <a:xfrm>
            <a:off x="475488" y="2404872"/>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EVIDENCE: EVIDENCE -- What did each test show? Describe the direction of motion in each one.</a:t>
            </a:r>
            <a:endParaRPr lang="en-US" sz="1200" dirty="0"/>
          </a:p>
        </p:txBody>
      </p:sp>
      <p:sp>
        <p:nvSpPr>
          <p:cNvPr id="11" name="Shape 9"/>
          <p:cNvSpPr/>
          <p:nvPr/>
        </p:nvSpPr>
        <p:spPr>
          <a:xfrm>
            <a:off x="365760" y="3054096"/>
            <a:ext cx="8412480" cy="640080"/>
          </a:xfrm>
          <a:prstGeom prst="rect">
            <a:avLst/>
          </a:prstGeom>
          <a:solidFill>
            <a:srgbClr val="E8F5E9"/>
          </a:solidFill>
          <a:ln w="12700">
            <a:solidFill>
              <a:srgbClr val="E8F5E9"/>
            </a:solidFill>
            <a:prstDash val="solid"/>
          </a:ln>
        </p:spPr>
      </p:sp>
      <p:sp>
        <p:nvSpPr>
          <p:cNvPr id="12" name="Text 10"/>
          <p:cNvSpPr/>
          <p:nvPr/>
        </p:nvSpPr>
        <p:spPr>
          <a:xfrm>
            <a:off x="475488" y="3118104"/>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REASONING: This makes sense because gravity always pulls toward the center of Earth, which means...</a:t>
            </a:r>
            <a:endParaRPr lang="en-US" sz="1200" dirty="0"/>
          </a:p>
        </p:txBody>
      </p:sp>
      <p:sp>
        <p:nvSpPr>
          <p:cNvPr id="13" name="Shape 11"/>
          <p:cNvSpPr/>
          <p:nvPr/>
        </p:nvSpPr>
        <p:spPr>
          <a:xfrm>
            <a:off x="365760" y="3767328"/>
            <a:ext cx="8412480" cy="530352"/>
          </a:xfrm>
          <a:prstGeom prst="rect">
            <a:avLst/>
          </a:prstGeom>
          <a:solidFill>
            <a:srgbClr val="FFF8E1"/>
          </a:solidFill>
          <a:ln w="12700">
            <a:solidFill>
              <a:srgbClr val="FFF8E1"/>
            </a:solidFill>
            <a:prstDash val="solid"/>
          </a:ln>
        </p:spPr>
      </p:sp>
      <p:sp>
        <p:nvSpPr>
          <p:cNvPr id="14" name="Text 12"/>
          <p:cNvSpPr/>
          <p:nvPr/>
        </p:nvSpPr>
        <p:spPr>
          <a:xfrm>
            <a:off x="475488" y="3831336"/>
            <a:ext cx="8193024" cy="402336"/>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Vocab Check: Use at least TWO of: gravity, force, downward, weight, air resistance, evidence</a:t>
            </a:r>
            <a:endParaRPr lang="en-US" sz="11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Assignment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828800" cy="274320"/>
          </a:xfrm>
          <a:prstGeom prst="rect">
            <a:avLst/>
          </a:prstGeom>
          <a:solidFill>
            <a:srgbClr val="1A3A5C"/>
          </a:solidFill>
          <a:ln w="12700">
            <a:solidFill>
              <a:srgbClr val="1A3A5C"/>
            </a:solidFill>
            <a:prstDash val="solid"/>
          </a:ln>
        </p:spPr>
      </p:sp>
      <p:sp>
        <p:nvSpPr>
          <p:cNvPr id="3" name="Text 1"/>
          <p:cNvSpPr/>
          <p:nvPr/>
        </p:nvSpPr>
        <p:spPr>
          <a:xfrm>
            <a:off x="365760" y="20116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How Did Your Thinking Change?</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Look back at your prediction. Write 3-4 sentences answering these:</a:t>
            </a:r>
            <a:endParaRPr lang="en-US" sz="1200" dirty="0"/>
          </a:p>
        </p:txBody>
      </p:sp>
      <p:sp>
        <p:nvSpPr>
          <p:cNvPr id="6" name="Shape 4"/>
          <p:cNvSpPr/>
          <p:nvPr/>
        </p:nvSpPr>
        <p:spPr>
          <a:xfrm>
            <a:off x="365760" y="1389888"/>
            <a:ext cx="292608" cy="292608"/>
          </a:xfrm>
          <a:prstGeom prst="rect">
            <a:avLst/>
          </a:prstGeom>
          <a:solidFill>
            <a:srgbClr val="1A3A5C"/>
          </a:solidFill>
          <a:ln w="12700">
            <a:solidFill>
              <a:srgbClr val="1A3A5C"/>
            </a:solidFill>
            <a:prstDash val="solid"/>
          </a:ln>
        </p:spPr>
      </p:sp>
      <p:sp>
        <p:nvSpPr>
          <p:cNvPr id="7" name="Text 5"/>
          <p:cNvSpPr/>
          <p:nvPr/>
        </p:nvSpPr>
        <p:spPr>
          <a:xfrm>
            <a:off x="365760" y="1389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768096" y="1389888"/>
            <a:ext cx="8010144" cy="1005840"/>
          </a:xfrm>
          <a:prstGeom prst="rect">
            <a:avLst/>
          </a:prstGeom>
          <a:solidFill>
            <a:srgbClr val="085E5D"/>
          </a:solidFill>
          <a:ln w="12700">
            <a:solidFill>
              <a:srgbClr val="085E5D"/>
            </a:solidFill>
            <a:prstDash val="solid"/>
          </a:ln>
        </p:spPr>
      </p:sp>
      <p:sp>
        <p:nvSpPr>
          <p:cNvPr id="9" name="Text 7"/>
          <p:cNvSpPr/>
          <p:nvPr/>
        </p:nvSpPr>
        <p:spPr>
          <a:xfrm>
            <a:off x="877824" y="1453896"/>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about which direction each test would show motion?</a:t>
            </a:r>
            <a:endParaRPr lang="en-US" sz="1300" dirty="0"/>
          </a:p>
        </p:txBody>
      </p:sp>
      <p:sp>
        <p:nvSpPr>
          <p:cNvPr id="10" name="Shape 8"/>
          <p:cNvSpPr/>
          <p:nvPr/>
        </p:nvSpPr>
        <p:spPr>
          <a:xfrm>
            <a:off x="365760" y="2560320"/>
            <a:ext cx="292608" cy="292608"/>
          </a:xfrm>
          <a:prstGeom prst="rect">
            <a:avLst/>
          </a:prstGeom>
          <a:solidFill>
            <a:srgbClr val="1A3A5C"/>
          </a:solidFill>
          <a:ln w="12700">
            <a:solidFill>
              <a:srgbClr val="1A3A5C"/>
            </a:solidFill>
            <a:prstDash val="solid"/>
          </a:ln>
        </p:spPr>
      </p:sp>
      <p:sp>
        <p:nvSpPr>
          <p:cNvPr id="11" name="Text 9"/>
          <p:cNvSpPr/>
          <p:nvPr/>
        </p:nvSpPr>
        <p:spPr>
          <a:xfrm>
            <a:off x="365760" y="2560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768096" y="2560320"/>
            <a:ext cx="8010144" cy="1005840"/>
          </a:xfrm>
          <a:prstGeom prst="rect">
            <a:avLst/>
          </a:prstGeom>
          <a:solidFill>
            <a:srgbClr val="085E5D"/>
          </a:solidFill>
          <a:ln w="12700">
            <a:solidFill>
              <a:srgbClr val="085E5D"/>
            </a:solidFill>
            <a:prstDash val="solid"/>
          </a:ln>
        </p:spPr>
      </p:sp>
      <p:sp>
        <p:nvSpPr>
          <p:cNvPr id="13" name="Text 11"/>
          <p:cNvSpPr/>
          <p:nvPr/>
        </p:nvSpPr>
        <p:spPr>
          <a:xfrm>
            <a:off x="877824" y="2624328"/>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Did your real data match your predictions? What surprised you?</a:t>
            </a:r>
            <a:endParaRPr lang="en-US" sz="1300" dirty="0"/>
          </a:p>
        </p:txBody>
      </p:sp>
      <p:sp>
        <p:nvSpPr>
          <p:cNvPr id="14" name="Shape 12"/>
          <p:cNvSpPr/>
          <p:nvPr/>
        </p:nvSpPr>
        <p:spPr>
          <a:xfrm>
            <a:off x="365760" y="3730752"/>
            <a:ext cx="292608" cy="292608"/>
          </a:xfrm>
          <a:prstGeom prst="rect">
            <a:avLst/>
          </a:prstGeom>
          <a:solidFill>
            <a:srgbClr val="1A3A5C"/>
          </a:solidFill>
          <a:ln w="12700">
            <a:solidFill>
              <a:srgbClr val="1A3A5C"/>
            </a:solidFill>
            <a:prstDash val="solid"/>
          </a:ln>
        </p:spPr>
      </p:sp>
      <p:sp>
        <p:nvSpPr>
          <p:cNvPr id="15" name="Text 13"/>
          <p:cNvSpPr/>
          <p:nvPr/>
        </p:nvSpPr>
        <p:spPr>
          <a:xfrm>
            <a:off x="365760" y="3730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Shape 14"/>
          <p:cNvSpPr/>
          <p:nvPr/>
        </p:nvSpPr>
        <p:spPr>
          <a:xfrm>
            <a:off x="768096" y="3730752"/>
            <a:ext cx="8010144" cy="1005840"/>
          </a:xfrm>
          <a:prstGeom prst="rect">
            <a:avLst/>
          </a:prstGeom>
          <a:solidFill>
            <a:srgbClr val="085E5D"/>
          </a:solidFill>
          <a:ln w="12700">
            <a:solidFill>
              <a:srgbClr val="085E5D"/>
            </a:solidFill>
            <a:prstDash val="solid"/>
          </a:ln>
        </p:spPr>
      </p:sp>
      <p:sp>
        <p:nvSpPr>
          <p:cNvPr id="17" name="Text 15"/>
          <p:cNvSpPr/>
          <p:nvPr/>
        </p:nvSpPr>
        <p:spPr>
          <a:xfrm>
            <a:off x="877824" y="3794760"/>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most convincing piece of evidence you collected today?</a:t>
            </a:r>
            <a:endParaRPr lang="en-US" sz="1300" dirty="0"/>
          </a:p>
        </p:txBody>
      </p:sp>
      <p:sp>
        <p:nvSpPr>
          <p:cNvPr id="18" name="Shape 16"/>
          <p:cNvSpPr/>
          <p:nvPr/>
        </p:nvSpPr>
        <p:spPr>
          <a:xfrm>
            <a:off x="0" y="4896612"/>
            <a:ext cx="9144000" cy="246888"/>
          </a:xfrm>
          <a:prstGeom prst="rect">
            <a:avLst/>
          </a:prstGeom>
          <a:solidFill>
            <a:srgbClr val="F6C90E"/>
          </a:solidFill>
          <a:ln w="12700">
            <a:solidFill>
              <a:srgbClr val="F6C90E"/>
            </a:solidFill>
            <a:prstDash val="solid"/>
          </a:ln>
        </p:spPr>
      </p:sp>
      <p:sp>
        <p:nvSpPr>
          <p:cNvPr id="19" name="Text 17"/>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Revise Your Thinking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Submission Checklist</a:t>
            </a:r>
            <a:endParaRPr lang="en-US" sz="2100" dirty="0"/>
          </a:p>
        </p:txBody>
      </p:sp>
      <p:sp>
        <p:nvSpPr>
          <p:cNvPr id="5" name="Shape 3"/>
          <p:cNvSpPr/>
          <p:nvPr/>
        </p:nvSpPr>
        <p:spPr>
          <a:xfrm>
            <a:off x="365760" y="1078992"/>
            <a:ext cx="8412480" cy="658368"/>
          </a:xfrm>
          <a:prstGeom prst="rect">
            <a:avLst/>
          </a:prstGeom>
          <a:solidFill>
            <a:srgbClr val="2E86AB"/>
          </a:solidFill>
          <a:ln w="12700">
            <a:solidFill>
              <a:srgbClr val="2E86AB"/>
            </a:solidFill>
            <a:prstDash val="solid"/>
          </a:ln>
        </p:spPr>
      </p:sp>
      <p:sp>
        <p:nvSpPr>
          <p:cNvPr id="6" name="Text 4"/>
          <p:cNvSpPr/>
          <p:nvPr/>
        </p:nvSpPr>
        <p:spPr>
          <a:xfrm>
            <a:off x="475488" y="1143000"/>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A: Data table and sketches with arrows for all three tests</a:t>
            </a:r>
            <a:endParaRPr lang="en-US" sz="1200" dirty="0"/>
          </a:p>
        </p:txBody>
      </p:sp>
      <p:sp>
        <p:nvSpPr>
          <p:cNvPr id="7" name="Shape 5"/>
          <p:cNvSpPr/>
          <p:nvPr/>
        </p:nvSpPr>
        <p:spPr>
          <a:xfrm>
            <a:off x="365760" y="1828800"/>
            <a:ext cx="8412480" cy="658368"/>
          </a:xfrm>
          <a:prstGeom prst="rect">
            <a:avLst/>
          </a:prstGeom>
          <a:solidFill>
            <a:srgbClr val="2E86AB"/>
          </a:solidFill>
          <a:ln w="12700">
            <a:solidFill>
              <a:srgbClr val="2E86AB"/>
            </a:solidFill>
            <a:prstDash val="solid"/>
          </a:ln>
        </p:spPr>
      </p:sp>
      <p:sp>
        <p:nvSpPr>
          <p:cNvPr id="8" name="Text 6"/>
          <p:cNvSpPr/>
          <p:nvPr/>
        </p:nvSpPr>
        <p:spPr>
          <a:xfrm>
            <a:off x="475488" y="1892808"/>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B: All three evidence questions answered using your real data</a:t>
            </a:r>
            <a:endParaRPr lang="en-US" sz="1200" dirty="0"/>
          </a:p>
        </p:txBody>
      </p:sp>
      <p:sp>
        <p:nvSpPr>
          <p:cNvPr id="9" name="Shape 7"/>
          <p:cNvSpPr/>
          <p:nvPr/>
        </p:nvSpPr>
        <p:spPr>
          <a:xfrm>
            <a:off x="365760" y="2578608"/>
            <a:ext cx="8412480" cy="658368"/>
          </a:xfrm>
          <a:prstGeom prst="rect">
            <a:avLst/>
          </a:prstGeom>
          <a:solidFill>
            <a:srgbClr val="2E86AB"/>
          </a:solidFill>
          <a:ln w="12700">
            <a:solidFill>
              <a:srgbClr val="2E86AB"/>
            </a:solidFill>
            <a:prstDash val="solid"/>
          </a:ln>
        </p:spPr>
      </p:sp>
      <p:sp>
        <p:nvSpPr>
          <p:cNvPr id="10" name="Text 8"/>
          <p:cNvSpPr/>
          <p:nvPr/>
        </p:nvSpPr>
        <p:spPr>
          <a:xfrm>
            <a:off x="475488" y="2642616"/>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C: Claim, evidence from all three tests, and reasoning</a:t>
            </a:r>
            <a:endParaRPr lang="en-US" sz="1200" dirty="0"/>
          </a:p>
        </p:txBody>
      </p:sp>
      <p:sp>
        <p:nvSpPr>
          <p:cNvPr id="11" name="Shape 9"/>
          <p:cNvSpPr/>
          <p:nvPr/>
        </p:nvSpPr>
        <p:spPr>
          <a:xfrm>
            <a:off x="365760" y="3328416"/>
            <a:ext cx="8412480" cy="658368"/>
          </a:xfrm>
          <a:prstGeom prst="rect">
            <a:avLst/>
          </a:prstGeom>
          <a:solidFill>
            <a:srgbClr val="2E86AB"/>
          </a:solidFill>
          <a:ln w="12700">
            <a:solidFill>
              <a:srgbClr val="2E86AB"/>
            </a:solidFill>
            <a:prstDash val="solid"/>
          </a:ln>
        </p:spPr>
      </p:sp>
      <p:sp>
        <p:nvSpPr>
          <p:cNvPr id="12" name="Text 10"/>
          <p:cNvSpPr/>
          <p:nvPr/>
        </p:nvSpPr>
        <p:spPr>
          <a:xfrm>
            <a:off x="475488" y="3392424"/>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Revise Your Thinking: 3-4 sentences comparing predictions to results</a:t>
            </a:r>
            <a:endParaRPr lang="en-US" sz="1200" dirty="0"/>
          </a:p>
        </p:txBody>
      </p:sp>
      <p:sp>
        <p:nvSpPr>
          <p:cNvPr id="13" name="Shape 11"/>
          <p:cNvSpPr/>
          <p:nvPr/>
        </p:nvSpPr>
        <p:spPr>
          <a:xfrm>
            <a:off x="365760" y="4078224"/>
            <a:ext cx="8412480" cy="658368"/>
          </a:xfrm>
          <a:prstGeom prst="rect">
            <a:avLst/>
          </a:prstGeom>
          <a:solidFill>
            <a:srgbClr val="2E86AB"/>
          </a:solidFill>
          <a:ln w="12700">
            <a:solidFill>
              <a:srgbClr val="2E86AB"/>
            </a:solidFill>
            <a:prstDash val="solid"/>
          </a:ln>
        </p:spPr>
      </p:sp>
      <p:sp>
        <p:nvSpPr>
          <p:cNvPr id="14" name="Text 12"/>
          <p:cNvSpPr/>
          <p:nvPr/>
        </p:nvSpPr>
        <p:spPr>
          <a:xfrm>
            <a:off x="475488" y="4142232"/>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Vocab Check: At least TWO lesson words used accurately</a:t>
            </a:r>
            <a:endParaRPr lang="en-US" sz="1200" dirty="0"/>
          </a:p>
        </p:txBody>
      </p:sp>
      <p:sp>
        <p:nvSpPr>
          <p:cNvPr id="15" name="Text 13"/>
          <p:cNvSpPr/>
          <p:nvPr/>
        </p:nvSpPr>
        <p:spPr>
          <a:xfrm>
            <a:off x="365760" y="4617720"/>
            <a:ext cx="841248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Turn in via Canvas: copy text, photo your notebook, or record a video.</a:t>
            </a:r>
            <a:endParaRPr lang="en-US" sz="11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14.02  |  Optima Academy Online  |  5-PS2-1 / SC.5.P.13.1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2026-08-28T17:40:10Z</dcterms:created>
  <dcterms:modified xsi:type="dcterms:W3CDTF">2026-08-28T17:40:10Z</dcterms:modified>
</cp:coreProperties>
</file>