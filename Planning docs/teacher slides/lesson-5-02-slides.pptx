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the magnet and the paper clip. Stick. Now hold up the penny. No stick. Ask: "Same category — metal — but different behavior. What does this tell us about using just one property to identify materials?"
Bridge: today we run FOUR tests to build strong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fill in the prediction table individually before touching any materials.
Ask 2–3 students to share a prediction — write them on a class chart. Return to these after the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copper/aluminum point — this is a common misconception.
Ask: "If magnetism alone can't confirm a metal, why do we still run that test?" → It rules out non-metals. Each test narrows the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on Q1: students often think same results = same material. Counterexample: two white powders (salt vs. sugar) both dissolve in water but taste different. What test would tell them apart?
For Q2: guide toward "metal is a broad category — properties vary within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CER aloud for the paper clip. Then ask students to draft CER for the plastic item in pairs.
Check: are they citing specific test results (data) or just describing properties in general? Evidence must be specific numbers or observations.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877824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Mystery Material Tests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   |   Week 5   |   SC.5.P.8.1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140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Run four property tests on four unknown objects.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62072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1693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Record all results in a data table.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64992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198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data to identify each material with evidence.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|  SC.5.P.8.1  |  Properties of Matter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Metals — One Surprise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clip sticks to a magnet. A penny does not. Both are metals. Both are shiny. Both feel cold. Only ONE is magnetic. How is that possible?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93392"/>
            <a:ext cx="8412480" cy="6400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4825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NOTICE: "What do the paper clip and penny have in common? What is different?"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724912"/>
            <a:ext cx="8412480" cy="64008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79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WONDER: "Of your four objects — paper clip, penny, rock, plastic — which will stick to the magnet?"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493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for today: paper clip · penny · small rock · small plastic piece · magnet · bowl of water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Test — Make Your Predictions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For each object, predict the result of all four tests BEFORE you run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16002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1536192"/>
            <a:ext cx="13716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591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1536192"/>
            <a:ext cx="13716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591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1536192"/>
            <a:ext cx="13716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591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1536192"/>
            <a:ext cx="14173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5910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93392"/>
            <a:ext cx="16002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482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clip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57400" y="1993392"/>
            <a:ext cx="13716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20482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20440" y="1993392"/>
            <a:ext cx="13716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0482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1993392"/>
            <a:ext cx="13716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0482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1993392"/>
            <a:ext cx="141732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048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523744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5786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057400" y="252374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2578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520440" y="252374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2578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83480" y="252374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5786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46520" y="2523744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25786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3054096"/>
            <a:ext cx="16002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057400" y="3054096"/>
            <a:ext cx="13716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48840" y="3108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520440" y="3054096"/>
            <a:ext cx="13716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3108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83480" y="3054096"/>
            <a:ext cx="13716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108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46520" y="3054096"/>
            <a:ext cx="141732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1089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65760" y="3584448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6393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057400" y="358444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48840" y="36393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520440" y="358444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11880" y="36393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983480" y="358444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74920" y="36393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446520" y="3584448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37960" y="3639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predictions in the table. You will compare them to your actual results later.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for This Investigation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3716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MATERIAL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stuff something is made of — different materials have different properties.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3716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PROPERTY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you can observe or measure to describe a material.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114800" cy="13716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8658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🧲  MAGNETIC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Attracts iron or steel. NOT all metals are magnetic — copper and aluminum are not.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4114800" cy="13716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8658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HARDNESS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scratching. If a fingernail leaves a mark, the material is soft.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Test Words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3716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FLEXIBILITY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bend. Flexible materials bend without snapping. Rigid ones do not.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3716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BUOYANCY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 object floats or sinks in water. Related to density, not material type alone.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86584"/>
            <a:ext cx="8229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IMPORTANT: Running multiple tests gives you PATTERNS. A single test can be misleading.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objects can pass any ONE test and still be completely different materials.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Table → Identification by Elimination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tests. Four objects. You record every result — then you eliminate materials that don't fit until only one is left.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721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RULE: Not all metals are magnetic. Copper, aluminum, and gold are metals — but a magnet will NOT attract them. Only iron, steel, nickel, and cobalt are magnetic.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114800" cy="1481328"/>
          </a:xfrm>
          <a:prstGeom prst="rect">
            <a:avLst/>
          </a:prstGeom>
          <a:solidFill>
            <a:srgbClr val="0A5C5A"/>
          </a:solidFill>
          <a:ln w="12700">
            <a:solidFill>
              <a:srgbClr val="0A5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9696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 TEST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Iron/steel → YES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Copper/aluminum → NO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→ NO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→ NO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084832"/>
            <a:ext cx="4114800" cy="1481328"/>
          </a:xfrm>
          <a:prstGeom prst="rect">
            <a:avLst/>
          </a:prstGeom>
          <a:solidFill>
            <a:srgbClr val="0A5C5A"/>
          </a:solidFill>
          <a:ln w="12700">
            <a:solidFill>
              <a:srgbClr val="0A5C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39696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TEST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clip → SINK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 → SINK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→ SINK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plastic → FLOAT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TESTS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Tests — What You Are Looking For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🧲 Magnet Test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804672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859536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magnet 1 cm from object. Does it attract?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274320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642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 Test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609344"/>
            <a:ext cx="557784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6420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object into bowl of water. Float or sink?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Scratch Test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2414016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46888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fingernail firmly on surface. Does it leave a mark?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18688"/>
            <a:ext cx="274320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Bend Test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0" y="3218688"/>
            <a:ext cx="557784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273552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gently bend the object. Flex or rigid?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YES / NO / FLOAT / SINK / HARD / SOFT / FLEX / RIGID for each test.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Every Test Result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3716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749808"/>
            <a:ext cx="13258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804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749808"/>
            <a:ext cx="13258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04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FLOAT/SINK?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13258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04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HARD/SOFT?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749808"/>
            <a:ext cx="13258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04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FLEX/RIGID?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749808"/>
            <a:ext cx="128016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8046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225296"/>
            <a:ext cx="137160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28016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clip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1225296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225296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225296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225296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225296"/>
            <a:ext cx="128016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901952"/>
            <a:ext cx="1371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956816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0" y="1901952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901952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901952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1901952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901952"/>
            <a:ext cx="1280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578608"/>
            <a:ext cx="137160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63347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0" y="2578608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2578608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578608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2578608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578608"/>
            <a:ext cx="128016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255264"/>
            <a:ext cx="1371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31012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item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828800" y="3255264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3255264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255264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3255264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8080" y="3255264"/>
            <a:ext cx="1280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(for teacher): Paper clip → YES, SINK, HARD, FLEX (steel)  |  Penny → NO, SINK, HARD, RIGID (zinc/copper)  |  Rock → NO, SINK, HARD, RIGID  |  Plastic → NO, FLOAT, SOFT, FLEX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Your Four Tests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MAGNET TEST: Hold the magnet 1 cm from each object. Does it attract? Record YES or 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078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WATER TEST: Drop each object into the bowl. Float or sink? Remove and dry before next test.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8412480" cy="7315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2374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SCRATCH TEST: Press your fingernail firmly against each object. Leaves a mark → SOFT. No mark → HARD.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7315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4670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BEND TEST: Gently try to flex each object. Bends → FLEXIBLE. Does not bend → RIGID.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1879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four tests: use your data table to identify each material. Write your ID in the last column.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Data Should Show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3258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749808"/>
            <a:ext cx="11430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8046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749808"/>
            <a:ext cx="123444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8046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FLOAT/SINK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749808"/>
            <a:ext cx="11430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8046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749808"/>
            <a:ext cx="118872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8046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749808"/>
            <a:ext cx="192024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804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225296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28016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clip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83080" y="1225296"/>
            <a:ext cx="114300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128016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17520" y="1225296"/>
            <a:ext cx="123444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28016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1225296"/>
            <a:ext cx="114300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28016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1225296"/>
            <a:ext cx="118872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28016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1225296"/>
            <a:ext cx="192024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2801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Iron/steel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1901952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95681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783080" y="1901952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74520" y="1956816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17520" y="1901952"/>
            <a:ext cx="1234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1956816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43400" y="1901952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1956816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1901952"/>
            <a:ext cx="1188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195681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0" y="1901952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195681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+ copper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2578608"/>
            <a:ext cx="13258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633472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783080" y="2578608"/>
            <a:ext cx="114300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74520" y="26334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17520" y="2578608"/>
            <a:ext cx="123444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0" y="2633472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343400" y="2578608"/>
            <a:ext cx="114300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34840" y="263347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577840" y="2578608"/>
            <a:ext cx="118872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26334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58000" y="2578608"/>
            <a:ext cx="192024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263347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Stone/mineral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3255264"/>
            <a:ext cx="1325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331012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783080" y="3255264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74520" y="331012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017520" y="3255264"/>
            <a:ext cx="1234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0" y="3310128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343400" y="3255264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34840" y="331012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577840" y="3255264"/>
            <a:ext cx="1188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331012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858000" y="3255264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0" y="33101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polymer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65760" y="41148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actual results to these. If something doesn't match, check your test method first — then reconsider your material ID.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Complete Sentences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test gave the MOST DIFFERENT results across all four objects? Why do you think that test was so powerful?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 the penny — which tests ruled out plastic? Which ruled out rock? Name the specific test and result for each.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054096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one sentence explaining why collecting data is better than guessing when identifying an unknown material.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It Through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two objects gave you the exact same results on ALL four tests, would that prove they're made of the same material? What fifth test could you add to investigate further?"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10058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7510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paper clip is magnetic and flexible. The penny is neither. Both are called metals. What does this tell you about using the word 'metal' as a material category?"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Starters: "My data shows…" / "That wouldn't prove it because…" / "A fifth test I'd try is ___ because…"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— Evidence — Reasoning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"I claim the paper clip is made of iron or steel because of four test results…"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"In my tests, the paper clip stuck to the magnet, sank in water, could not be scratched by my fingernail, and bent without breaking."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7802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"This matches iron/steel because only iron-based metals are magnetic. The flexibility shows it's not brittle like rock or glass."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Part C: choose ONE object and write your full CER using all four test results as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mystery object sinks, does NOT stick to a magnet, and cannot be scratched. What is it most likely?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Plastic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Aluminum or stone  ✓  CORRECT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Rubber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 + hard rules out rubber and most plastic. Not magnetic narrows it further — aluminum and stone both fit. Hard evidence: both sink AND resist scratching.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object: NOT magnetic, floats, easy to scratch, bends. What material is it?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Steel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Rock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Plastic  ✓  CORRECT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is magnetic, rock sinks and is rigid. Only plastic matches all four results: non-magnetic, float, soft, flexible.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Pennies — Same Coin, Different Metal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Pre-1982 pennies are 95% copper. Post-1982 pennies are 97.5% zinc with a thin copper coating. A magnet won't tell them apart — but density (mass per volume) is different. Chemists can identify materials without any visual test at all.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4114800" cy="126187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3931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Extension Q1: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pennies that look identical. Neither responds to a magnet. Design a test to tell if they are different materials.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331720"/>
            <a:ext cx="4114800" cy="126187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386584"/>
            <a:ext cx="3931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Extension Q2: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scientists want tests that give QUANTITATIVE results (numbers) rather than just YES/NO results?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Turn 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PART A — Completed Data Table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all 20 cells of the 4-object × 5-column table (including the material ID column). Every blank must be filled.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9696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B — Test Evidence Questions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Which test gave the most varied results and why? (2) For the penny, which tests ruled out plastic vs. rock? (3) Why is data better than guessing?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218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and Revise Your Thinking are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PART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 — One Object, Four Tests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object and write a full CER using all four test results as your evidence.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"I claim ___ is made of ___ because my four tests show ..."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List all four test results with specific outcomes (e.g., "stuck to magnet," "sank," "could not scratch").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"These results rule out ___ because ___ and ___ because ..."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sentences. Reference at least 3 vocabulary words.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to Your Predictions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prediction table you filled in before the investigation.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of your predictions were correct? Which surprised you most, and why?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prediction was hardest to make before testing — and why was the test more reliable than your intuition?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16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2 sentences: how did collecting real data change (or confirm) what you thought you already knew?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5.02 — Submission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— Data table: all four objects × four tests × material ID filled 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64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— Three evidence questions answered in complete sentences.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— CER: claim + four specific test results as evidence + reasoning that rules out 2+ materials.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9864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— 2 sentences comparing predictions to actual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7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Vocab check — at least three lesson words (magnetic, property, hardness, etc.) used accurately.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Lesson 6.01 — What Dissolves in Water?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5.02 — Investigation: Mystery Material Tests</dc:title>
  <dc:subject>PptxGenJS Presentation</dc:subject>
  <dc:creator>PptxGenJS</dc:creator>
  <cp:lastModifiedBy>PptxGenJS</cp:lastModifiedBy>
  <cp:revision>1</cp:revision>
  <dcterms:created xsi:type="dcterms:W3CDTF">2026-07-16T18:50:48Z</dcterms:created>
  <dcterms:modified xsi:type="dcterms:W3CDTF">2026-07-16T18:50:48Z</dcterms:modified>
</cp:coreProperties>
</file>