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have you experienced? Ask a student to describe what they noticed. Bridge to: Today we find out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2-3 min to write. Ask 2-3 students to share. Do NOT confirm or correct. Say: Hold that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follow-up: Ask students to put the concept in their own words. Then ask for a real-life example. Do not move on until two students can state the big idea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 min to think. Cold-call one student per question. Follow-up: What evidence supports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check: Use at least TWO of: mass, balanced forces, unbalanced forces, motion, observation, evidence. If student writes only one sentence, ask: What does your evidence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751076" cy="274320"/>
          </a:xfrm>
          <a:prstGeom prst="rect">
            <a:avLst/>
          </a:prstGeom>
          <a:solidFill>
            <a:srgbClr val="0E7C7B"/>
          </a:solidFill>
          <a:ln w="12700">
            <a:solidFill>
              <a:srgbClr val="0E7C7B"/>
            </a:solidFill>
            <a:prstDash val="solid"/>
          </a:ln>
        </p:spPr>
      </p:sp>
      <p:sp>
        <p:nvSpPr>
          <p:cNvPr id="3" name="Text 1"/>
          <p:cNvSpPr/>
          <p:nvPr/>
        </p:nvSpPr>
        <p:spPr>
          <a:xfrm>
            <a:off x="365760" y="201168"/>
            <a:ext cx="175107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Q2  UNIT 3  WEEK 16</a:t>
            </a:r>
            <a:endParaRPr lang="en-US" sz="1000" dirty="0"/>
          </a:p>
        </p:txBody>
      </p:sp>
      <p:sp>
        <p:nvSpPr>
          <p:cNvPr id="4" name="Text 2"/>
          <p:cNvSpPr/>
          <p:nvPr/>
        </p:nvSpPr>
        <p:spPr>
          <a:xfrm>
            <a:off x="365760" y="566928"/>
            <a:ext cx="5943600" cy="1737360"/>
          </a:xfrm>
          <a:prstGeom prst="rect">
            <a:avLst/>
          </a:prstGeom>
          <a:noFill/>
          <a:ln/>
        </p:spPr>
        <p:txBody>
          <a:bodyPr wrap="square"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Investigation: Mass, Motion, and Balanced Forces</a:t>
            </a:r>
            <a:endParaRPr lang="en-US" sz="3000" dirty="0"/>
          </a:p>
        </p:txBody>
      </p:sp>
      <p:sp>
        <p:nvSpPr>
          <p:cNvPr id="5" name="Text 3"/>
          <p:cNvSpPr/>
          <p:nvPr/>
        </p:nvSpPr>
        <p:spPr>
          <a:xfrm>
            <a:off x="365760" y="2377440"/>
            <a:ext cx="5943600" cy="310896"/>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Lesson 16.02  |  SC.5.P.13.3</a:t>
            </a:r>
            <a:endParaRPr lang="en-US" sz="1200" dirty="0"/>
          </a:p>
        </p:txBody>
      </p:sp>
      <p:sp>
        <p:nvSpPr>
          <p:cNvPr id="6" name="Shape 4"/>
          <p:cNvSpPr/>
          <p:nvPr/>
        </p:nvSpPr>
        <p:spPr>
          <a:xfrm>
            <a:off x="365760" y="2788920"/>
            <a:ext cx="5943600" cy="329184"/>
          </a:xfrm>
          <a:prstGeom prst="rect">
            <a:avLst/>
          </a:prstGeom>
          <a:solidFill>
            <a:srgbClr val="2E86AB"/>
          </a:solidFill>
          <a:ln w="12700">
            <a:solidFill>
              <a:srgbClr val="2E86AB"/>
            </a:solidFill>
            <a:prstDash val="solid"/>
          </a:ln>
        </p:spPr>
      </p:sp>
      <p:sp>
        <p:nvSpPr>
          <p:cNvPr id="7" name="Text 5"/>
          <p:cNvSpPr/>
          <p:nvPr/>
        </p:nvSpPr>
        <p:spPr>
          <a:xfrm>
            <a:off x="475488" y="2852928"/>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Push two objects of different mass with the same force and measure results.</a:t>
            </a:r>
            <a:endParaRPr lang="en-US" sz="1100" dirty="0"/>
          </a:p>
        </p:txBody>
      </p:sp>
      <p:sp>
        <p:nvSpPr>
          <p:cNvPr id="8" name="Shape 6"/>
          <p:cNvSpPr/>
          <p:nvPr/>
        </p:nvSpPr>
        <p:spPr>
          <a:xfrm>
            <a:off x="365760" y="3172968"/>
            <a:ext cx="5943600" cy="329184"/>
          </a:xfrm>
          <a:prstGeom prst="rect">
            <a:avLst/>
          </a:prstGeom>
          <a:solidFill>
            <a:srgbClr val="2E86AB"/>
          </a:solidFill>
          <a:ln w="12700">
            <a:solidFill>
              <a:srgbClr val="2E86AB"/>
            </a:solidFill>
            <a:prstDash val="solid"/>
          </a:ln>
        </p:spPr>
      </p:sp>
      <p:sp>
        <p:nvSpPr>
          <p:cNvPr id="9" name="Text 7"/>
          <p:cNvSpPr/>
          <p:nvPr/>
        </p:nvSpPr>
        <p:spPr>
          <a:xfrm>
            <a:off x="475488" y="3236976"/>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Observe what happens when a tug-of-war goes from balanced to unbalanced.</a:t>
            </a:r>
            <a:endParaRPr lang="en-US" sz="1100" dirty="0"/>
          </a:p>
        </p:txBody>
      </p:sp>
      <p:sp>
        <p:nvSpPr>
          <p:cNvPr id="10" name="Shape 8"/>
          <p:cNvSpPr/>
          <p:nvPr/>
        </p:nvSpPr>
        <p:spPr>
          <a:xfrm>
            <a:off x="365760" y="3557016"/>
            <a:ext cx="5943600" cy="329184"/>
          </a:xfrm>
          <a:prstGeom prst="rect">
            <a:avLst/>
          </a:prstGeom>
          <a:solidFill>
            <a:srgbClr val="2E86AB"/>
          </a:solidFill>
          <a:ln w="12700">
            <a:solidFill>
              <a:srgbClr val="2E86AB"/>
            </a:solidFill>
            <a:prstDash val="solid"/>
          </a:ln>
        </p:spPr>
      </p:sp>
      <p:sp>
        <p:nvSpPr>
          <p:cNvPr id="11" name="Text 9"/>
          <p:cNvSpPr/>
          <p:nvPr/>
        </p:nvSpPr>
        <p:spPr>
          <a:xfrm>
            <a:off x="475488" y="3621024"/>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Use data from two experiments to support claims about mass and balance.</a:t>
            </a:r>
            <a:endParaRPr lang="en-US" sz="1100" dirty="0"/>
          </a:p>
        </p:txBody>
      </p:sp>
      <p:sp>
        <p:nvSpPr>
          <p:cNvPr id="12" name="Shape 10"/>
          <p:cNvSpPr/>
          <p:nvPr/>
        </p:nvSpPr>
        <p:spPr>
          <a:xfrm>
            <a:off x="6492240" y="365760"/>
            <a:ext cx="2286000" cy="4389120"/>
          </a:xfrm>
          <a:prstGeom prst="rect">
            <a:avLst/>
          </a:prstGeom>
          <a:solidFill>
            <a:srgbClr val="0E7C7B"/>
          </a:solidFill>
          <a:ln w="12700">
            <a:solidFill>
              <a:srgbClr val="0E7C7B"/>
            </a:solidFill>
            <a:prstDash val="solid"/>
          </a:ln>
        </p:spPr>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Optima Academy Online  |  5th Grade Science  |  Lesson 16.02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0E7C7B"/>
          </a:solidFill>
          <a:ln w="12700">
            <a:solidFill>
              <a:srgbClr val="0E7C7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&amp; WONDER</a:t>
            </a:r>
            <a:endParaRPr lang="en-US" sz="1000" dirty="0"/>
          </a:p>
        </p:txBody>
      </p:sp>
      <p:sp>
        <p:nvSpPr>
          <p:cNvPr id="4" name="Text 2"/>
          <p:cNvSpPr/>
          <p:nvPr/>
        </p:nvSpPr>
        <p:spPr>
          <a:xfrm>
            <a:off x="365760" y="566928"/>
            <a:ext cx="8412480" cy="45720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Two Objects. One Push. Two Very Different Results.</a:t>
            </a:r>
            <a:endParaRPr lang="en-US" sz="2000" dirty="0"/>
          </a:p>
        </p:txBody>
      </p:sp>
      <p:sp>
        <p:nvSpPr>
          <p:cNvPr id="5" name="Shape 3"/>
          <p:cNvSpPr/>
          <p:nvPr/>
        </p:nvSpPr>
        <p:spPr>
          <a:xfrm>
            <a:off x="365760" y="1097280"/>
            <a:ext cx="8046720" cy="1005840"/>
          </a:xfrm>
          <a:prstGeom prst="rect">
            <a:avLst/>
          </a:prstGeom>
          <a:solidFill>
            <a:srgbClr val="1E3A5C"/>
          </a:solidFill>
          <a:ln w="12700">
            <a:solidFill>
              <a:srgbClr val="1E3A5C"/>
            </a:solidFill>
            <a:prstDash val="solid"/>
          </a:ln>
        </p:spPr>
      </p:sp>
      <p:sp>
        <p:nvSpPr>
          <p:cNvPr id="6" name="Text 4"/>
          <p:cNvSpPr/>
          <p:nvPr/>
        </p:nvSpPr>
        <p:spPr>
          <a:xfrm>
            <a:off x="475488" y="1161288"/>
            <a:ext cx="7827264"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Today you will run two experiments. First: push a light object and a heavy object with the SAME force -- see how far each one moves. Second: do a tug-of-war that goes from balanced (equal pulls) to unbalanced (one pulls harder). Watch what changes.</a:t>
            </a:r>
            <a:endParaRPr lang="en-US" sz="1300" dirty="0"/>
          </a:p>
        </p:txBody>
      </p:sp>
      <p:sp>
        <p:nvSpPr>
          <p:cNvPr id="7" name="Shape 5"/>
          <p:cNvSpPr/>
          <p:nvPr/>
        </p:nvSpPr>
        <p:spPr>
          <a:xfrm>
            <a:off x="365760" y="2249424"/>
            <a:ext cx="1645920" cy="274320"/>
          </a:xfrm>
          <a:prstGeom prst="rect">
            <a:avLst/>
          </a:prstGeom>
          <a:solidFill>
            <a:srgbClr val="F6C90E"/>
          </a:solidFill>
          <a:ln w="12700">
            <a:solidFill>
              <a:srgbClr val="F6C90E"/>
            </a:solidFill>
            <a:prstDash val="solid"/>
          </a:ln>
        </p:spPr>
      </p:sp>
      <p:sp>
        <p:nvSpPr>
          <p:cNvPr id="8" name="Text 6"/>
          <p:cNvSpPr/>
          <p:nvPr/>
        </p:nvSpPr>
        <p:spPr>
          <a:xfrm>
            <a:off x="365760" y="2249424"/>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a:t>
            </a:r>
            <a:endParaRPr lang="en-US" sz="1000" dirty="0"/>
          </a:p>
        </p:txBody>
      </p:sp>
      <p:sp>
        <p:nvSpPr>
          <p:cNvPr id="9" name="Shape 7"/>
          <p:cNvSpPr/>
          <p:nvPr/>
        </p:nvSpPr>
        <p:spPr>
          <a:xfrm>
            <a:off x="365760" y="2596896"/>
            <a:ext cx="4023360" cy="914400"/>
          </a:xfrm>
          <a:prstGeom prst="rect">
            <a:avLst/>
          </a:prstGeom>
          <a:solidFill>
            <a:srgbClr val="1E3A5C"/>
          </a:solidFill>
          <a:ln w="12700">
            <a:solidFill>
              <a:srgbClr val="1E3A5C"/>
            </a:solidFill>
            <a:prstDash val="solid"/>
          </a:ln>
        </p:spPr>
      </p:sp>
      <p:sp>
        <p:nvSpPr>
          <p:cNvPr id="10" name="Text 8"/>
          <p:cNvSpPr/>
          <p:nvPr/>
        </p:nvSpPr>
        <p:spPr>
          <a:xfrm>
            <a:off x="475488" y="2660904"/>
            <a:ext cx="3803904" cy="78638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Predict: if you push a tennis ball and a textbook with exactly the same finger flick, what will happen to each one?</a:t>
            </a:r>
            <a:endParaRPr lang="en-US" sz="1200" dirty="0"/>
          </a:p>
        </p:txBody>
      </p:sp>
      <p:sp>
        <p:nvSpPr>
          <p:cNvPr id="11" name="Shape 9"/>
          <p:cNvSpPr/>
          <p:nvPr/>
        </p:nvSpPr>
        <p:spPr>
          <a:xfrm>
            <a:off x="4572000" y="2249424"/>
            <a:ext cx="1645920" cy="274320"/>
          </a:xfrm>
          <a:prstGeom prst="rect">
            <a:avLst/>
          </a:prstGeom>
          <a:solidFill>
            <a:srgbClr val="F6C90E"/>
          </a:solidFill>
          <a:ln w="12700">
            <a:solidFill>
              <a:srgbClr val="F6C90E"/>
            </a:solidFill>
            <a:prstDash val="solid"/>
          </a:ln>
        </p:spPr>
      </p:sp>
      <p:sp>
        <p:nvSpPr>
          <p:cNvPr id="12" name="Text 10"/>
          <p:cNvSpPr/>
          <p:nvPr/>
        </p:nvSpPr>
        <p:spPr>
          <a:xfrm>
            <a:off x="4572000" y="2249424"/>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WONDER</a:t>
            </a:r>
            <a:endParaRPr lang="en-US" sz="1000" dirty="0"/>
          </a:p>
        </p:txBody>
      </p:sp>
      <p:sp>
        <p:nvSpPr>
          <p:cNvPr id="13" name="Shape 11"/>
          <p:cNvSpPr/>
          <p:nvPr/>
        </p:nvSpPr>
        <p:spPr>
          <a:xfrm>
            <a:off x="4572000" y="2596896"/>
            <a:ext cx="4206240" cy="914400"/>
          </a:xfrm>
          <a:prstGeom prst="rect">
            <a:avLst/>
          </a:prstGeom>
          <a:solidFill>
            <a:srgbClr val="1E3A5C"/>
          </a:solidFill>
          <a:ln w="12700">
            <a:solidFill>
              <a:srgbClr val="1E3A5C"/>
            </a:solidFill>
            <a:prstDash val="solid"/>
          </a:ln>
        </p:spPr>
      </p:sp>
      <p:sp>
        <p:nvSpPr>
          <p:cNvPr id="14" name="Text 12"/>
          <p:cNvSpPr/>
          <p:nvPr/>
        </p:nvSpPr>
        <p:spPr>
          <a:xfrm>
            <a:off x="4681728" y="2660904"/>
            <a:ext cx="3986784" cy="78638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In a tug-of-war, if both teams are equal, the rope does not move. What has to happen to make it start moving?</a:t>
            </a:r>
            <a:endParaRPr lang="en-US" sz="1200" dirty="0"/>
          </a:p>
        </p:txBody>
      </p:sp>
      <p:sp>
        <p:nvSpPr>
          <p:cNvPr id="15" name="Shape 13"/>
          <p:cNvSpPr/>
          <p:nvPr/>
        </p:nvSpPr>
        <p:spPr>
          <a:xfrm>
            <a:off x="0" y="4896612"/>
            <a:ext cx="9144000" cy="246888"/>
          </a:xfrm>
          <a:prstGeom prst="rect">
            <a:avLst/>
          </a:prstGeom>
          <a:solidFill>
            <a:srgbClr val="F6C90E"/>
          </a:solidFill>
          <a:ln w="12700">
            <a:solidFill>
              <a:srgbClr val="F6C90E"/>
            </a:solidFill>
            <a:prstDash val="solid"/>
          </a:ln>
        </p:spPr>
      </p:sp>
      <p:sp>
        <p:nvSpPr>
          <p:cNvPr id="16" name="Text 14"/>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Engage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07D35"/>
          </a:solidFill>
          <a:ln w="12700">
            <a:solidFill>
              <a:srgbClr val="F07D35"/>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1A1A2E"/>
                </a:solidFill>
                <a:latin typeface="Cambria" pitchFamily="34" charset="0"/>
                <a:ea typeface="Cambria" pitchFamily="34" charset="-122"/>
                <a:cs typeface="Cambria" pitchFamily="34" charset="-120"/>
              </a:rPr>
              <a:t>Before We Start -- Write Your Prediction</a:t>
            </a:r>
            <a:endParaRPr lang="en-US" sz="2000" dirty="0"/>
          </a:p>
        </p:txBody>
      </p:sp>
      <p:sp>
        <p:nvSpPr>
          <p:cNvPr id="5" name="Shape 3"/>
          <p:cNvSpPr/>
          <p:nvPr/>
        </p:nvSpPr>
        <p:spPr>
          <a:xfrm>
            <a:off x="365760" y="1051560"/>
            <a:ext cx="8046720" cy="804672"/>
          </a:xfrm>
          <a:prstGeom prst="rect">
            <a:avLst/>
          </a:prstGeom>
          <a:solidFill>
            <a:srgbClr val="D6EAF8"/>
          </a:solidFill>
          <a:ln w="12700">
            <a:solidFill>
              <a:srgbClr val="D6EAF8"/>
            </a:solidFill>
            <a:prstDash val="solid"/>
          </a:ln>
        </p:spPr>
      </p:sp>
      <p:sp>
        <p:nvSpPr>
          <p:cNvPr id="6" name="Text 4"/>
          <p:cNvSpPr/>
          <p:nvPr/>
        </p:nvSpPr>
        <p:spPr>
          <a:xfrm>
            <a:off x="475488" y="1115568"/>
            <a:ext cx="7827264" cy="676656"/>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You are going to push a light object and a heavy object with the same force. Predict what will happen to each one. Then predict what will happen in the tug-of-war when forces are equal vs. unequal. Write at least two sentences.</a:t>
            </a:r>
            <a:endParaRPr lang="en-US" sz="1300" dirty="0"/>
          </a:p>
        </p:txBody>
      </p:sp>
      <p:sp>
        <p:nvSpPr>
          <p:cNvPr id="7" name="Text 5"/>
          <p:cNvSpPr/>
          <p:nvPr/>
        </p:nvSpPr>
        <p:spPr>
          <a:xfrm>
            <a:off x="365760" y="1920240"/>
            <a:ext cx="8046720" cy="310896"/>
          </a:xfrm>
          <a:prstGeom prst="rect">
            <a:avLst/>
          </a:prstGeom>
          <a:noFill/>
          <a:ln/>
        </p:spPr>
        <p:txBody>
          <a:bodyPr wrap="square" rtlCol="0" anchor="ctr"/>
          <a:lstStyle/>
          <a:p>
            <a:pPr algn="l" indent="0" marL="0">
              <a:buNone/>
            </a:pPr>
            <a:r>
              <a:rPr lang="en-US" sz="1300" b="1" dirty="0">
                <a:solidFill>
                  <a:srgbClr val="2C4A6E"/>
                </a:solidFill>
                <a:latin typeface="Calibri" pitchFamily="34" charset="0"/>
                <a:ea typeface="Calibri" pitchFamily="34" charset="-122"/>
                <a:cs typeface="Calibri" pitchFamily="34" charset="-120"/>
              </a:rPr>
              <a:t>Your Prediction:</a:t>
            </a:r>
            <a:endParaRPr lang="en-US" sz="1300" dirty="0"/>
          </a:p>
        </p:txBody>
      </p:sp>
      <p:sp>
        <p:nvSpPr>
          <p:cNvPr id="8" name="Shape 6"/>
          <p:cNvSpPr/>
          <p:nvPr/>
        </p:nvSpPr>
        <p:spPr>
          <a:xfrm>
            <a:off x="365760" y="2286000"/>
            <a:ext cx="8046720" cy="1737360"/>
          </a:xfrm>
          <a:prstGeom prst="rect">
            <a:avLst/>
          </a:prstGeom>
          <a:solidFill>
            <a:srgbClr val="FFFFFF"/>
          </a:solidFill>
          <a:ln w="12700">
            <a:solidFill>
              <a:srgbClr val="FFFFFF"/>
            </a:solidFill>
            <a:prstDash val="solid"/>
          </a:ln>
        </p:spPr>
      </p:sp>
      <p:sp>
        <p:nvSpPr>
          <p:cNvPr id="9" name="Text 7"/>
          <p:cNvSpPr/>
          <p:nvPr/>
        </p:nvSpPr>
        <p:spPr>
          <a:xfrm>
            <a:off x="475488" y="2350008"/>
            <a:ext cx="7827264" cy="1609344"/>
          </a:xfrm>
          <a:prstGeom prst="rect">
            <a:avLst/>
          </a:prstGeom>
          <a:noFill/>
          <a:ln/>
        </p:spPr>
        <p:txBody>
          <a:bodyPr wrap="square" lIns="0" tIns="0" rIns="0" bIns="0" rtlCol="0" anchor="ctr"/>
          <a:lstStyle/>
          <a:p>
            <a:pPr algn="l" indent="0" marL="0">
              <a:buNone/>
            </a:pPr>
            <a:r>
              <a:rPr lang="en-US" sz="1200" dirty="0">
                <a:solidFill>
                  <a:srgbClr val="5E7B9A"/>
                </a:solidFill>
                <a:latin typeface="Calibri" pitchFamily="34" charset="0"/>
                <a:ea typeface="Calibri" pitchFamily="34" charset="-122"/>
                <a:cs typeface="Calibri" pitchFamily="34" charset="-120"/>
              </a:rPr>
              <a:t>Write in your science notebook. You will return to this at the end.</a:t>
            </a:r>
            <a:endParaRPr lang="en-US" sz="1200" dirty="0"/>
          </a:p>
        </p:txBody>
      </p:sp>
      <p:sp>
        <p:nvSpPr>
          <p:cNvPr id="10" name="Shape 8"/>
          <p:cNvSpPr/>
          <p:nvPr/>
        </p:nvSpPr>
        <p:spPr>
          <a:xfrm>
            <a:off x="0" y="4896612"/>
            <a:ext cx="9144000" cy="246888"/>
          </a:xfrm>
          <a:prstGeom prst="rect">
            <a:avLst/>
          </a:prstGeom>
          <a:solidFill>
            <a:srgbClr val="F6C90E"/>
          </a:solidFill>
          <a:ln w="12700">
            <a:solidFill>
              <a:srgbClr val="F6C90E"/>
            </a:solidFill>
            <a:prstDash val="solid"/>
          </a:ln>
        </p:spPr>
      </p:sp>
      <p:sp>
        <p:nvSpPr>
          <p:cNvPr id="11" name="Text 9"/>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Prediction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Key Words</a:t>
            </a:r>
            <a:endParaRPr lang="en-US" sz="1900" dirty="0"/>
          </a:p>
        </p:txBody>
      </p:sp>
      <p:sp>
        <p:nvSpPr>
          <p:cNvPr id="5" name="Shape 3"/>
          <p:cNvSpPr/>
          <p:nvPr/>
        </p:nvSpPr>
        <p:spPr>
          <a:xfrm>
            <a:off x="365760" y="987552"/>
            <a:ext cx="4114800" cy="1645920"/>
          </a:xfrm>
          <a:prstGeom prst="rect">
            <a:avLst/>
          </a:prstGeom>
          <a:solidFill>
            <a:srgbClr val="2E86AB"/>
          </a:solidFill>
          <a:ln w="12700">
            <a:solidFill>
              <a:srgbClr val="2E86AB"/>
            </a:solidFill>
            <a:prstDash val="solid"/>
          </a:ln>
        </p:spPr>
      </p:sp>
      <p:sp>
        <p:nvSpPr>
          <p:cNvPr id="6" name="Text 4"/>
          <p:cNvSpPr/>
          <p:nvPr/>
        </p:nvSpPr>
        <p:spPr>
          <a:xfrm>
            <a:off x="47548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mass</a:t>
            </a:r>
            <a:endParaRPr lang="en-US" sz="1400" dirty="0"/>
          </a:p>
        </p:txBody>
      </p:sp>
      <p:sp>
        <p:nvSpPr>
          <p:cNvPr id="7" name="Text 5"/>
          <p:cNvSpPr/>
          <p:nvPr/>
        </p:nvSpPr>
        <p:spPr>
          <a:xfrm>
            <a:off x="47548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How much stuff is in an object. More mass = harder to move with the same force.</a:t>
            </a:r>
            <a:endParaRPr lang="en-US" sz="1200" dirty="0"/>
          </a:p>
        </p:txBody>
      </p:sp>
      <p:sp>
        <p:nvSpPr>
          <p:cNvPr id="8" name="Shape 6"/>
          <p:cNvSpPr/>
          <p:nvPr/>
        </p:nvSpPr>
        <p:spPr>
          <a:xfrm>
            <a:off x="4663440" y="987552"/>
            <a:ext cx="4114800" cy="1645920"/>
          </a:xfrm>
          <a:prstGeom prst="rect">
            <a:avLst/>
          </a:prstGeom>
          <a:solidFill>
            <a:srgbClr val="2E86AB"/>
          </a:solidFill>
          <a:ln w="12700">
            <a:solidFill>
              <a:srgbClr val="2E86AB"/>
            </a:solidFill>
            <a:prstDash val="solid"/>
          </a:ln>
        </p:spPr>
      </p:sp>
      <p:sp>
        <p:nvSpPr>
          <p:cNvPr id="9" name="Text 7"/>
          <p:cNvSpPr/>
          <p:nvPr/>
        </p:nvSpPr>
        <p:spPr>
          <a:xfrm>
            <a:off x="477316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balanced forces</a:t>
            </a:r>
            <a:endParaRPr lang="en-US" sz="1400" dirty="0"/>
          </a:p>
        </p:txBody>
      </p:sp>
      <p:sp>
        <p:nvSpPr>
          <p:cNvPr id="10" name="Text 8"/>
          <p:cNvSpPr/>
          <p:nvPr/>
        </p:nvSpPr>
        <p:spPr>
          <a:xfrm>
            <a:off x="477316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Two equal forces pushing or pulling in opposite directions. They cancel out -- no motion.</a:t>
            </a:r>
            <a:endParaRPr lang="en-US" sz="1200" dirty="0"/>
          </a:p>
        </p:txBody>
      </p:sp>
      <p:sp>
        <p:nvSpPr>
          <p:cNvPr id="11" name="Shape 9"/>
          <p:cNvSpPr/>
          <p:nvPr/>
        </p:nvSpPr>
        <p:spPr>
          <a:xfrm>
            <a:off x="365760" y="2834640"/>
            <a:ext cx="4114800" cy="1645920"/>
          </a:xfrm>
          <a:prstGeom prst="rect">
            <a:avLst/>
          </a:prstGeom>
          <a:solidFill>
            <a:srgbClr val="2E86AB"/>
          </a:solidFill>
          <a:ln w="12700">
            <a:solidFill>
              <a:srgbClr val="2E86AB"/>
            </a:solidFill>
            <a:prstDash val="solid"/>
          </a:ln>
        </p:spPr>
      </p:sp>
      <p:sp>
        <p:nvSpPr>
          <p:cNvPr id="12" name="Text 10"/>
          <p:cNvSpPr/>
          <p:nvPr/>
        </p:nvSpPr>
        <p:spPr>
          <a:xfrm>
            <a:off x="475488" y="2880360"/>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unbalanced forces</a:t>
            </a:r>
            <a:endParaRPr lang="en-US" sz="1400" dirty="0"/>
          </a:p>
        </p:txBody>
      </p:sp>
      <p:sp>
        <p:nvSpPr>
          <p:cNvPr id="13" name="Text 11"/>
          <p:cNvSpPr/>
          <p:nvPr/>
        </p:nvSpPr>
        <p:spPr>
          <a:xfrm>
            <a:off x="475488" y="3291840"/>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Forces that do not cancel out. The object moves toward the stronger force.</a:t>
            </a:r>
            <a:endParaRPr lang="en-US" sz="1200" dirty="0"/>
          </a:p>
        </p:txBody>
      </p:sp>
      <p:sp>
        <p:nvSpPr>
          <p:cNvPr id="14" name="Shape 12"/>
          <p:cNvSpPr/>
          <p:nvPr/>
        </p:nvSpPr>
        <p:spPr>
          <a:xfrm>
            <a:off x="4663440" y="2834640"/>
            <a:ext cx="4114800" cy="1645920"/>
          </a:xfrm>
          <a:prstGeom prst="rect">
            <a:avLst/>
          </a:prstGeom>
          <a:solidFill>
            <a:srgbClr val="2E86AB"/>
          </a:solidFill>
          <a:ln w="12700">
            <a:solidFill>
              <a:srgbClr val="2E86AB"/>
            </a:solidFill>
            <a:prstDash val="solid"/>
          </a:ln>
        </p:spPr>
      </p:sp>
      <p:sp>
        <p:nvSpPr>
          <p:cNvPr id="15" name="Text 13"/>
          <p:cNvSpPr/>
          <p:nvPr/>
        </p:nvSpPr>
        <p:spPr>
          <a:xfrm>
            <a:off x="4773168" y="2880360"/>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motion</a:t>
            </a:r>
            <a:endParaRPr lang="en-US" sz="1400" dirty="0"/>
          </a:p>
        </p:txBody>
      </p:sp>
      <p:sp>
        <p:nvSpPr>
          <p:cNvPr id="16" name="Text 14"/>
          <p:cNvSpPr/>
          <p:nvPr/>
        </p:nvSpPr>
        <p:spPr>
          <a:xfrm>
            <a:off x="4773168" y="3291840"/>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When an object moves. Motion only happens when forces are unbalanced.</a:t>
            </a:r>
            <a:endParaRPr lang="en-US" sz="1200" dirty="0"/>
          </a:p>
        </p:txBody>
      </p:sp>
      <p:sp>
        <p:nvSpPr>
          <p:cNvPr id="17" name="Shape 15"/>
          <p:cNvSpPr/>
          <p:nvPr/>
        </p:nvSpPr>
        <p:spPr>
          <a:xfrm>
            <a:off x="0" y="4896612"/>
            <a:ext cx="9144000" cy="246888"/>
          </a:xfrm>
          <a:prstGeom prst="rect">
            <a:avLst/>
          </a:prstGeom>
          <a:solidFill>
            <a:srgbClr val="F6C90E"/>
          </a:solidFill>
          <a:ln w="12700">
            <a:solidFill>
              <a:srgbClr val="F6C90E"/>
            </a:solidFill>
            <a:prstDash val="solid"/>
          </a:ln>
        </p:spPr>
      </p:sp>
      <p:sp>
        <p:nvSpPr>
          <p:cNvPr id="18" name="Text 16"/>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Vocabulary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Key Words (cont.)</a:t>
            </a:r>
            <a:endParaRPr lang="en-US" sz="1900" dirty="0"/>
          </a:p>
        </p:txBody>
      </p:sp>
      <p:sp>
        <p:nvSpPr>
          <p:cNvPr id="5" name="Shape 3"/>
          <p:cNvSpPr/>
          <p:nvPr/>
        </p:nvSpPr>
        <p:spPr>
          <a:xfrm>
            <a:off x="365760" y="987552"/>
            <a:ext cx="4114800" cy="1645920"/>
          </a:xfrm>
          <a:prstGeom prst="rect">
            <a:avLst/>
          </a:prstGeom>
          <a:solidFill>
            <a:srgbClr val="2E86AB"/>
          </a:solidFill>
          <a:ln w="12700">
            <a:solidFill>
              <a:srgbClr val="2E86AB"/>
            </a:solidFill>
            <a:prstDash val="solid"/>
          </a:ln>
        </p:spPr>
      </p:sp>
      <p:sp>
        <p:nvSpPr>
          <p:cNvPr id="6" name="Text 4"/>
          <p:cNvSpPr/>
          <p:nvPr/>
        </p:nvSpPr>
        <p:spPr>
          <a:xfrm>
            <a:off x="47548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observation</a:t>
            </a:r>
            <a:endParaRPr lang="en-US" sz="1400" dirty="0"/>
          </a:p>
        </p:txBody>
      </p:sp>
      <p:sp>
        <p:nvSpPr>
          <p:cNvPr id="7" name="Text 5"/>
          <p:cNvSpPr/>
          <p:nvPr/>
        </p:nvSpPr>
        <p:spPr>
          <a:xfrm>
            <a:off x="47548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Something you see, hear, or feel and record. The base of scientific evidence.</a:t>
            </a:r>
            <a:endParaRPr lang="en-US" sz="1200" dirty="0"/>
          </a:p>
        </p:txBody>
      </p:sp>
      <p:sp>
        <p:nvSpPr>
          <p:cNvPr id="8" name="Shape 6"/>
          <p:cNvSpPr/>
          <p:nvPr/>
        </p:nvSpPr>
        <p:spPr>
          <a:xfrm>
            <a:off x="4663440" y="987552"/>
            <a:ext cx="4114800" cy="1645920"/>
          </a:xfrm>
          <a:prstGeom prst="rect">
            <a:avLst/>
          </a:prstGeom>
          <a:solidFill>
            <a:srgbClr val="2E86AB"/>
          </a:solidFill>
          <a:ln w="12700">
            <a:solidFill>
              <a:srgbClr val="2E86AB"/>
            </a:solidFill>
            <a:prstDash val="solid"/>
          </a:ln>
        </p:spPr>
      </p:sp>
      <p:sp>
        <p:nvSpPr>
          <p:cNvPr id="9" name="Text 7"/>
          <p:cNvSpPr/>
          <p:nvPr/>
        </p:nvSpPr>
        <p:spPr>
          <a:xfrm>
            <a:off x="477316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evidence</a:t>
            </a:r>
            <a:endParaRPr lang="en-US" sz="1400" dirty="0"/>
          </a:p>
        </p:txBody>
      </p:sp>
      <p:sp>
        <p:nvSpPr>
          <p:cNvPr id="10" name="Text 8"/>
          <p:cNvSpPr/>
          <p:nvPr/>
        </p:nvSpPr>
        <p:spPr>
          <a:xfrm>
            <a:off x="477316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Observations that support a claim. Distance and motion data are strong evidence.</a:t>
            </a:r>
            <a:endParaRPr lang="en-US" sz="1200" dirty="0"/>
          </a:p>
        </p:txBody>
      </p:sp>
      <p:sp>
        <p:nvSpPr>
          <p:cNvPr id="11" name="Shape 9"/>
          <p:cNvSpPr/>
          <p:nvPr/>
        </p:nvSpPr>
        <p:spPr>
          <a:xfrm>
            <a:off x="365760" y="2834640"/>
            <a:ext cx="8412480" cy="1645920"/>
          </a:xfrm>
          <a:prstGeom prst="rect">
            <a:avLst/>
          </a:prstGeom>
          <a:solidFill>
            <a:srgbClr val="0A2240"/>
          </a:solidFill>
          <a:ln w="12700">
            <a:solidFill>
              <a:srgbClr val="0A2240"/>
            </a:solidFill>
            <a:prstDash val="solid"/>
          </a:ln>
        </p:spPr>
      </p:sp>
      <p:sp>
        <p:nvSpPr>
          <p:cNvPr id="12" name="Text 10"/>
          <p:cNvSpPr/>
          <p:nvPr/>
        </p:nvSpPr>
        <p:spPr>
          <a:xfrm>
            <a:off x="475488" y="2898648"/>
            <a:ext cx="8193024" cy="1517904"/>
          </a:xfrm>
          <a:prstGeom prst="rect">
            <a:avLst/>
          </a:prstGeom>
          <a:noFill/>
          <a:ln/>
        </p:spPr>
        <p:txBody>
          <a:bodyPr wrap="square" lIns="0" tIns="0" rIns="0" bIns="0"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REVIEW RULE:</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Opposite charges attract. Like charges repel.</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More force = more change in motion.</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Balanced forces = no motion.</a:t>
            </a:r>
            <a:endParaRPr lang="en-US" sz="14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Vocabulary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1A3A5C"/>
          </a:solidFill>
          <a:ln w="12700">
            <a:solidFill>
              <a:srgbClr val="1A3A5C"/>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The Big Idea</a:t>
            </a:r>
            <a:endParaRPr lang="en-US" sz="2100" dirty="0"/>
          </a:p>
        </p:txBody>
      </p:sp>
      <p:sp>
        <p:nvSpPr>
          <p:cNvPr id="5" name="Shape 3"/>
          <p:cNvSpPr/>
          <p:nvPr/>
        </p:nvSpPr>
        <p:spPr>
          <a:xfrm>
            <a:off x="365760" y="1051560"/>
            <a:ext cx="8412480" cy="1005840"/>
          </a:xfrm>
          <a:prstGeom prst="rect">
            <a:avLst/>
          </a:prstGeom>
          <a:solidFill>
            <a:srgbClr val="085E5D"/>
          </a:solidFill>
          <a:ln w="12700">
            <a:solidFill>
              <a:srgbClr val="085E5D"/>
            </a:solidFill>
            <a:prstDash val="solid"/>
          </a:ln>
        </p:spPr>
      </p:sp>
      <p:sp>
        <p:nvSpPr>
          <p:cNvPr id="6" name="Text 4"/>
          <p:cNvSpPr/>
          <p:nvPr/>
        </p:nvSpPr>
        <p:spPr>
          <a:xfrm>
            <a:off x="475488" y="1115568"/>
            <a:ext cx="8193024"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The lighter object moves more with the same force because it has less mass to resist. Balanced forces cancel out and produce no motion. When forces become unbalanced, motion happens toward the stronger side.</a:t>
            </a:r>
            <a:endParaRPr lang="en-US" sz="1400" dirty="0"/>
          </a:p>
        </p:txBody>
      </p:sp>
      <p:sp>
        <p:nvSpPr>
          <p:cNvPr id="7" name="Text 5"/>
          <p:cNvSpPr/>
          <p:nvPr/>
        </p:nvSpPr>
        <p:spPr>
          <a:xfrm>
            <a:off x="365760" y="2194560"/>
            <a:ext cx="8412480" cy="292608"/>
          </a:xfrm>
          <a:prstGeom prst="rect">
            <a:avLst/>
          </a:prstGeom>
          <a:noFill/>
          <a:ln/>
        </p:spPr>
        <p:txBody>
          <a:bodyPr wrap="square" rtlCol="0" anchor="ctr"/>
          <a:lstStyle/>
          <a:p>
            <a:pPr algn="l" indent="0" marL="0">
              <a:buNone/>
            </a:pPr>
            <a:r>
              <a:rPr lang="en-US" sz="1100" b="1" dirty="0">
                <a:solidFill>
                  <a:srgbClr val="F6C90E"/>
                </a:solidFill>
                <a:latin typeface="Calibri" pitchFamily="34" charset="0"/>
                <a:ea typeface="Calibri" pitchFamily="34" charset="-122"/>
                <a:cs typeface="Calibri" pitchFamily="34" charset="-120"/>
              </a:rPr>
              <a:t>STOP AND THINK</a:t>
            </a:r>
            <a:endParaRPr lang="en-US" sz="1100" dirty="0"/>
          </a:p>
        </p:txBody>
      </p:sp>
      <p:sp>
        <p:nvSpPr>
          <p:cNvPr id="8" name="Shape 6"/>
          <p:cNvSpPr/>
          <p:nvPr/>
        </p:nvSpPr>
        <p:spPr>
          <a:xfrm>
            <a:off x="365760" y="2542032"/>
            <a:ext cx="4114800" cy="1463040"/>
          </a:xfrm>
          <a:prstGeom prst="rect">
            <a:avLst/>
          </a:prstGeom>
          <a:solidFill>
            <a:srgbClr val="085E5D"/>
          </a:solidFill>
          <a:ln w="12700">
            <a:solidFill>
              <a:srgbClr val="085E5D"/>
            </a:solidFill>
            <a:prstDash val="solid"/>
          </a:ln>
        </p:spPr>
      </p:sp>
      <p:sp>
        <p:nvSpPr>
          <p:cNvPr id="9" name="Text 7"/>
          <p:cNvSpPr/>
          <p:nvPr/>
        </p:nvSpPr>
        <p:spPr>
          <a:xfrm>
            <a:off x="475488" y="2606040"/>
            <a:ext cx="3895344" cy="13350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"Why is it important that you push BOTH objects in the mass test with the SAME force?"</a:t>
            </a:r>
            <a:endParaRPr lang="en-US" sz="1300" dirty="0"/>
          </a:p>
        </p:txBody>
      </p:sp>
      <p:sp>
        <p:nvSpPr>
          <p:cNvPr id="10" name="Shape 8"/>
          <p:cNvSpPr/>
          <p:nvPr/>
        </p:nvSpPr>
        <p:spPr>
          <a:xfrm>
            <a:off x="4663440" y="2542032"/>
            <a:ext cx="4114800" cy="1463040"/>
          </a:xfrm>
          <a:prstGeom prst="rect">
            <a:avLst/>
          </a:prstGeom>
          <a:solidFill>
            <a:srgbClr val="085E5D"/>
          </a:solidFill>
          <a:ln w="12700">
            <a:solidFill>
              <a:srgbClr val="085E5D"/>
            </a:solidFill>
            <a:prstDash val="solid"/>
          </a:ln>
        </p:spPr>
      </p:sp>
      <p:sp>
        <p:nvSpPr>
          <p:cNvPr id="11" name="Text 9"/>
          <p:cNvSpPr/>
          <p:nvPr/>
        </p:nvSpPr>
        <p:spPr>
          <a:xfrm>
            <a:off x="4773168" y="2606040"/>
            <a:ext cx="3895344" cy="13350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"Which of the two experiments do you think will give you the most obvious evidence? Why?"</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Key Concept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Safety First</a:t>
            </a:r>
            <a:endParaRPr lang="en-US" sz="1700" dirty="0"/>
          </a:p>
        </p:txBody>
      </p:sp>
      <p:sp>
        <p:nvSpPr>
          <p:cNvPr id="3" name="Shape 1"/>
          <p:cNvSpPr/>
          <p:nvPr/>
        </p:nvSpPr>
        <p:spPr>
          <a:xfrm>
            <a:off x="365760" y="548640"/>
            <a:ext cx="8412480" cy="1170432"/>
          </a:xfrm>
          <a:prstGeom prst="rect">
            <a:avLst/>
          </a:prstGeom>
          <a:solidFill>
            <a:srgbClr val="D6EAF8"/>
          </a:solidFill>
          <a:ln w="12700">
            <a:solidFill>
              <a:srgbClr val="D6EAF8"/>
            </a:solidFill>
            <a:prstDash val="solid"/>
          </a:ln>
        </p:spPr>
      </p:sp>
      <p:sp>
        <p:nvSpPr>
          <p:cNvPr id="4" name="Text 2"/>
          <p:cNvSpPr/>
          <p:nvPr/>
        </p:nvSpPr>
        <p:spPr>
          <a:xfrm>
            <a:off x="475488" y="612648"/>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Today's two experiments use a light object (tennis ball, paper cup), a heavy object (textbook, water bottle), a smooth floor or table, a 24-inch string, and a partner. Safe but keep clear of pets, breakables, and people's faces.</a:t>
            </a:r>
            <a:endParaRPr lang="en-US" sz="1200" dirty="0"/>
          </a:p>
        </p:txBody>
      </p:sp>
      <p:sp>
        <p:nvSpPr>
          <p:cNvPr id="5" name="Text 3"/>
          <p:cNvSpPr/>
          <p:nvPr/>
        </p:nvSpPr>
        <p:spPr>
          <a:xfrm>
            <a:off x="365760" y="1792224"/>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Experiment 1 -- Mass Test</a:t>
            </a:r>
            <a:endParaRPr lang="en-US" sz="1700" dirty="0"/>
          </a:p>
        </p:txBody>
      </p:sp>
      <p:sp>
        <p:nvSpPr>
          <p:cNvPr id="6" name="Shape 4"/>
          <p:cNvSpPr/>
          <p:nvPr/>
        </p:nvSpPr>
        <p:spPr>
          <a:xfrm>
            <a:off x="365760" y="2176272"/>
            <a:ext cx="8412480" cy="1170432"/>
          </a:xfrm>
          <a:prstGeom prst="rect">
            <a:avLst/>
          </a:prstGeom>
          <a:solidFill>
            <a:srgbClr val="D6EAF8"/>
          </a:solidFill>
          <a:ln w="12700">
            <a:solidFill>
              <a:srgbClr val="D6EAF8"/>
            </a:solidFill>
            <a:prstDash val="solid"/>
          </a:ln>
        </p:spPr>
      </p:sp>
      <p:sp>
        <p:nvSpPr>
          <p:cNvPr id="7" name="Text 5"/>
          <p:cNvSpPr/>
          <p:nvPr/>
        </p:nvSpPr>
        <p:spPr>
          <a:xfrm>
            <a:off x="475488" y="2240280"/>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Push a light object and a heavy object with the SAME finger flick. Measure how far each one moves. Record both distances. The lighter object should move more -- same force, less mass.</a:t>
            </a:r>
            <a:endParaRPr lang="en-US" sz="1200" dirty="0"/>
          </a:p>
        </p:txBody>
      </p:sp>
      <p:sp>
        <p:nvSpPr>
          <p:cNvPr id="8" name="Text 6"/>
          <p:cNvSpPr/>
          <p:nvPr/>
        </p:nvSpPr>
        <p:spPr>
          <a:xfrm>
            <a:off x="365760" y="3419856"/>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Experiment 2 -- Tug of War</a:t>
            </a:r>
            <a:endParaRPr lang="en-US" sz="1700" dirty="0"/>
          </a:p>
        </p:txBody>
      </p:sp>
      <p:sp>
        <p:nvSpPr>
          <p:cNvPr id="9" name="Shape 7"/>
          <p:cNvSpPr/>
          <p:nvPr/>
        </p:nvSpPr>
        <p:spPr>
          <a:xfrm>
            <a:off x="365760" y="3803904"/>
            <a:ext cx="8412480" cy="1170432"/>
          </a:xfrm>
          <a:prstGeom prst="rect">
            <a:avLst/>
          </a:prstGeom>
          <a:solidFill>
            <a:srgbClr val="D6EAF8"/>
          </a:solidFill>
          <a:ln w="12700">
            <a:solidFill>
              <a:srgbClr val="D6EAF8"/>
            </a:solidFill>
            <a:prstDash val="solid"/>
          </a:ln>
        </p:spPr>
      </p:sp>
      <p:sp>
        <p:nvSpPr>
          <p:cNvPr id="10" name="Text 8"/>
          <p:cNvSpPr/>
          <p:nvPr/>
        </p:nvSpPr>
        <p:spPr>
          <a:xfrm>
            <a:off x="475488" y="3867912"/>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With a partner, pull equally on a string. Mark where the center stays. Then one of you pulls harder. Watch and record what happens. Balanced = no motion. Unbalanced = motion toward stronger side.</a:t>
            </a:r>
            <a:endParaRPr lang="en-US" sz="1200" dirty="0"/>
          </a:p>
        </p:txBody>
      </p:sp>
      <p:sp>
        <p:nvSpPr>
          <p:cNvPr id="11" name="Shape 9"/>
          <p:cNvSpPr/>
          <p:nvPr/>
        </p:nvSpPr>
        <p:spPr>
          <a:xfrm>
            <a:off x="0" y="4896612"/>
            <a:ext cx="9144000" cy="246888"/>
          </a:xfrm>
          <a:prstGeom prst="rect">
            <a:avLst/>
          </a:prstGeom>
          <a:solidFill>
            <a:srgbClr val="F6C90E"/>
          </a:solidFill>
          <a:ln w="12700">
            <a:solidFill>
              <a:srgbClr val="F6C90E"/>
            </a:solidFill>
            <a:prstDash val="solid"/>
          </a:ln>
        </p:spPr>
      </p:sp>
      <p:sp>
        <p:nvSpPr>
          <p:cNvPr id="12" name="Text 10"/>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Content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800" b="1" dirty="0">
                <a:solidFill>
                  <a:srgbClr val="1A3A5C"/>
                </a:solidFill>
                <a:latin typeface="Cambria" pitchFamily="34" charset="0"/>
                <a:ea typeface="Cambria" pitchFamily="34" charset="-122"/>
                <a:cs typeface="Cambria" pitchFamily="34" charset="-120"/>
              </a:rPr>
              <a:t>How It Works -- Visual Overview</a:t>
            </a:r>
            <a:endParaRPr lang="en-US" sz="1800" dirty="0"/>
          </a:p>
        </p:txBody>
      </p:sp>
      <p:sp>
        <p:nvSpPr>
          <p:cNvPr id="3" name="Shape 1"/>
          <p:cNvSpPr/>
          <p:nvPr/>
        </p:nvSpPr>
        <p:spPr>
          <a:xfrm>
            <a:off x="365760" y="621792"/>
            <a:ext cx="2807208" cy="4206240"/>
          </a:xfrm>
          <a:prstGeom prst="rect">
            <a:avLst/>
          </a:prstGeom>
          <a:solidFill>
            <a:srgbClr val="D6EAF8"/>
          </a:solidFill>
          <a:ln w="12700">
            <a:solidFill>
              <a:srgbClr val="D6EAF8"/>
            </a:solidFill>
            <a:prstDash val="solid"/>
          </a:ln>
        </p:spPr>
      </p:sp>
      <p:sp>
        <p:nvSpPr>
          <p:cNvPr id="4" name="Text 2"/>
          <p:cNvSpPr/>
          <p:nvPr/>
        </p:nvSpPr>
        <p:spPr>
          <a:xfrm>
            <a:off x="365760"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Mass Test</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Setup</a:t>
            </a:r>
            <a:endParaRPr lang="en-US" sz="1200" dirty="0"/>
          </a:p>
        </p:txBody>
      </p:sp>
      <p:sp>
        <p:nvSpPr>
          <p:cNvPr id="5" name="Text 3"/>
          <p:cNvSpPr/>
          <p:nvPr/>
        </p:nvSpPr>
        <p:spPr>
          <a:xfrm>
            <a:off x="457200"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Place light and heavy objects on smooth surface.</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Push each with the SAME finger flick.</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Measure and record how far each one moves.</a:t>
            </a:r>
            <a:endParaRPr lang="en-US" sz="1100" dirty="0"/>
          </a:p>
        </p:txBody>
      </p:sp>
      <p:sp>
        <p:nvSpPr>
          <p:cNvPr id="6" name="Shape 4"/>
          <p:cNvSpPr/>
          <p:nvPr/>
        </p:nvSpPr>
        <p:spPr>
          <a:xfrm>
            <a:off x="3172968" y="621792"/>
            <a:ext cx="2807208" cy="4206240"/>
          </a:xfrm>
          <a:prstGeom prst="rect">
            <a:avLst/>
          </a:prstGeom>
          <a:solidFill>
            <a:srgbClr val="D6EAF8"/>
          </a:solidFill>
          <a:ln w="12700">
            <a:solidFill>
              <a:srgbClr val="D6EAF8"/>
            </a:solidFill>
            <a:prstDash val="solid"/>
          </a:ln>
        </p:spPr>
      </p:sp>
      <p:sp>
        <p:nvSpPr>
          <p:cNvPr id="7" name="Text 5"/>
          <p:cNvSpPr/>
          <p:nvPr/>
        </p:nvSpPr>
        <p:spPr>
          <a:xfrm>
            <a:off x="3172968"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Mass Test</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Expected Result</a:t>
            </a:r>
            <a:endParaRPr lang="en-US" sz="1200" dirty="0"/>
          </a:p>
        </p:txBody>
      </p:sp>
      <p:sp>
        <p:nvSpPr>
          <p:cNvPr id="8" name="Text 6"/>
          <p:cNvSpPr/>
          <p:nvPr/>
        </p:nvSpPr>
        <p:spPr>
          <a:xfrm>
            <a:off x="3264408"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Light object: moves farther.</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Heavy object: barely moves.</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Same force, different mass = different change in motion.</a:t>
            </a:r>
            <a:endParaRPr lang="en-US" sz="1100" dirty="0"/>
          </a:p>
        </p:txBody>
      </p:sp>
      <p:sp>
        <p:nvSpPr>
          <p:cNvPr id="9" name="Shape 7"/>
          <p:cNvSpPr/>
          <p:nvPr/>
        </p:nvSpPr>
        <p:spPr>
          <a:xfrm>
            <a:off x="5980176" y="621792"/>
            <a:ext cx="2807208" cy="4206240"/>
          </a:xfrm>
          <a:prstGeom prst="rect">
            <a:avLst/>
          </a:prstGeom>
          <a:solidFill>
            <a:srgbClr val="D6EAF8"/>
          </a:solidFill>
          <a:ln w="12700">
            <a:solidFill>
              <a:srgbClr val="D6EAF8"/>
            </a:solidFill>
            <a:prstDash val="solid"/>
          </a:ln>
        </p:spPr>
      </p:sp>
      <p:sp>
        <p:nvSpPr>
          <p:cNvPr id="10" name="Text 8"/>
          <p:cNvSpPr/>
          <p:nvPr/>
        </p:nvSpPr>
        <p:spPr>
          <a:xfrm>
            <a:off x="5980176"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Tug of War</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Expected Result</a:t>
            </a:r>
            <a:endParaRPr lang="en-US" sz="1200" dirty="0"/>
          </a:p>
        </p:txBody>
      </p:sp>
      <p:sp>
        <p:nvSpPr>
          <p:cNvPr id="11" name="Text 9"/>
          <p:cNvSpPr/>
          <p:nvPr/>
        </p:nvSpPr>
        <p:spPr>
          <a:xfrm>
            <a:off x="6071616"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Equal pulls: rope does not move (balanced).</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One pulls harder: rope moves toward the stronger side (unbalanced).</a:t>
            </a:r>
            <a:endParaRPr lang="en-US" sz="11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Diagram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2A7A4B"/>
          </a:solidFill>
          <a:ln w="12700">
            <a:solidFill>
              <a:srgbClr val="2A7A4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Two Experiments -- Mass and Balance</a:t>
            </a:r>
            <a:endParaRPr lang="en-US" sz="2000" dirty="0"/>
          </a:p>
        </p:txBody>
      </p:sp>
      <p:sp>
        <p:nvSpPr>
          <p:cNvPr id="5" name="Text 3"/>
          <p:cNvSpPr/>
          <p:nvPr/>
        </p:nvSpPr>
        <p:spPr>
          <a:xfrm>
            <a:off x="365760" y="1051560"/>
            <a:ext cx="8412480" cy="292608"/>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Experiment 1: push light and heavy objects with the same force. Experiment 2: tug-of-war from balanced to unbalanced.</a:t>
            </a:r>
            <a:endParaRPr lang="en-US" sz="1200" dirty="0"/>
          </a:p>
        </p:txBody>
      </p:sp>
      <p:sp>
        <p:nvSpPr>
          <p:cNvPr id="6" name="Shape 4"/>
          <p:cNvSpPr/>
          <p:nvPr/>
        </p:nvSpPr>
        <p:spPr>
          <a:xfrm>
            <a:off x="365760" y="1408176"/>
            <a:ext cx="8412480" cy="914400"/>
          </a:xfrm>
          <a:prstGeom prst="rect">
            <a:avLst/>
          </a:prstGeom>
          <a:solidFill>
            <a:srgbClr val="1E3A5C"/>
          </a:solidFill>
          <a:ln w="12700">
            <a:solidFill>
              <a:srgbClr val="1E3A5C"/>
            </a:solidFill>
            <a:prstDash val="solid"/>
          </a:ln>
        </p:spPr>
      </p:sp>
      <p:sp>
        <p:nvSpPr>
          <p:cNvPr id="7" name="Text 5"/>
          <p:cNvSpPr/>
          <p:nvPr/>
        </p:nvSpPr>
        <p:spPr>
          <a:xfrm>
            <a:off x="475488" y="1472184"/>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1 -- Mass Test Setup: Place a light object (tennis ball, paper cup) and a heavy object (textbook, water bottle) on a smooth floor or table.</a:t>
            </a:r>
            <a:endParaRPr lang="en-US" sz="1300" dirty="0"/>
          </a:p>
        </p:txBody>
      </p:sp>
      <p:sp>
        <p:nvSpPr>
          <p:cNvPr id="8" name="Shape 6"/>
          <p:cNvSpPr/>
          <p:nvPr/>
        </p:nvSpPr>
        <p:spPr>
          <a:xfrm>
            <a:off x="365760" y="2432304"/>
            <a:ext cx="8412480" cy="914400"/>
          </a:xfrm>
          <a:prstGeom prst="rect">
            <a:avLst/>
          </a:prstGeom>
          <a:solidFill>
            <a:srgbClr val="1E3A5C"/>
          </a:solidFill>
          <a:ln w="12700">
            <a:solidFill>
              <a:srgbClr val="1E3A5C"/>
            </a:solidFill>
            <a:prstDash val="solid"/>
          </a:ln>
        </p:spPr>
      </p:sp>
      <p:sp>
        <p:nvSpPr>
          <p:cNvPr id="9" name="Text 7"/>
          <p:cNvSpPr/>
          <p:nvPr/>
        </p:nvSpPr>
        <p:spPr>
          <a:xfrm>
            <a:off x="475488" y="2496312"/>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2 -- Mass Test Push: Push each object with the SAME force (same finger flick). Measure how far each one moves from the starting point. Record both distances.</a:t>
            </a:r>
            <a:endParaRPr lang="en-US" sz="1300" dirty="0"/>
          </a:p>
        </p:txBody>
      </p:sp>
      <p:sp>
        <p:nvSpPr>
          <p:cNvPr id="10" name="Shape 8"/>
          <p:cNvSpPr/>
          <p:nvPr/>
        </p:nvSpPr>
        <p:spPr>
          <a:xfrm>
            <a:off x="365760" y="3456432"/>
            <a:ext cx="8412480" cy="914400"/>
          </a:xfrm>
          <a:prstGeom prst="rect">
            <a:avLst/>
          </a:prstGeom>
          <a:solidFill>
            <a:srgbClr val="1E3A5C"/>
          </a:solidFill>
          <a:ln w="12700">
            <a:solidFill>
              <a:srgbClr val="1E3A5C"/>
            </a:solidFill>
            <a:prstDash val="solid"/>
          </a:ln>
        </p:spPr>
      </p:sp>
      <p:sp>
        <p:nvSpPr>
          <p:cNvPr id="11" name="Text 9"/>
          <p:cNvSpPr/>
          <p:nvPr/>
        </p:nvSpPr>
        <p:spPr>
          <a:xfrm>
            <a:off x="475488" y="3520440"/>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3 -- Tug of War: With a partner, each hold one end of a 24-inch string. Tie a marker at the center. Pull with equal force for 10 seconds. Then one of you pulls harder. Record what happens each time.</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Investigate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Data Table -- Copy Into Your Notebook</a:t>
            </a:r>
            <a:endParaRPr lang="en-US" sz="1700" dirty="0"/>
          </a:p>
        </p:txBody>
      </p:sp>
      <p:sp>
        <p:nvSpPr>
          <p:cNvPr id="3" name="Shape 1"/>
          <p:cNvSpPr/>
          <p:nvPr/>
        </p:nvSpPr>
        <p:spPr>
          <a:xfrm>
            <a:off x="365760" y="621792"/>
            <a:ext cx="2011680" cy="347472"/>
          </a:xfrm>
          <a:prstGeom prst="rect">
            <a:avLst/>
          </a:prstGeom>
          <a:solidFill>
            <a:srgbClr val="1A3A5C"/>
          </a:solidFill>
          <a:ln w="12700">
            <a:solidFill>
              <a:srgbClr val="1A3A5C"/>
            </a:solidFill>
            <a:prstDash val="solid"/>
          </a:ln>
        </p:spPr>
      </p:sp>
      <p:sp>
        <p:nvSpPr>
          <p:cNvPr id="4" name="Text 2"/>
          <p:cNvSpPr/>
          <p:nvPr/>
        </p:nvSpPr>
        <p:spPr>
          <a:xfrm>
            <a:off x="411480" y="621792"/>
            <a:ext cx="192024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Test</a:t>
            </a:r>
            <a:endParaRPr lang="en-US" sz="1000" dirty="0"/>
          </a:p>
        </p:txBody>
      </p:sp>
      <p:sp>
        <p:nvSpPr>
          <p:cNvPr id="5" name="Shape 3"/>
          <p:cNvSpPr/>
          <p:nvPr/>
        </p:nvSpPr>
        <p:spPr>
          <a:xfrm>
            <a:off x="2377440" y="621792"/>
            <a:ext cx="1828800" cy="347472"/>
          </a:xfrm>
          <a:prstGeom prst="rect">
            <a:avLst/>
          </a:prstGeom>
          <a:solidFill>
            <a:srgbClr val="1A3A5C"/>
          </a:solidFill>
          <a:ln w="12700">
            <a:solidFill>
              <a:srgbClr val="1A3A5C"/>
            </a:solidFill>
            <a:prstDash val="solid"/>
          </a:ln>
        </p:spPr>
      </p:sp>
      <p:sp>
        <p:nvSpPr>
          <p:cNvPr id="6" name="Text 4"/>
          <p:cNvSpPr/>
          <p:nvPr/>
        </p:nvSpPr>
        <p:spPr>
          <a:xfrm>
            <a:off x="2423160" y="621792"/>
            <a:ext cx="17373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Light object result</a:t>
            </a:r>
            <a:endParaRPr lang="en-US" sz="1000" dirty="0"/>
          </a:p>
        </p:txBody>
      </p:sp>
      <p:sp>
        <p:nvSpPr>
          <p:cNvPr id="7" name="Shape 5"/>
          <p:cNvSpPr/>
          <p:nvPr/>
        </p:nvSpPr>
        <p:spPr>
          <a:xfrm>
            <a:off x="4206240" y="621792"/>
            <a:ext cx="5120640" cy="347472"/>
          </a:xfrm>
          <a:prstGeom prst="rect">
            <a:avLst/>
          </a:prstGeom>
          <a:solidFill>
            <a:srgbClr val="1A3A5C"/>
          </a:solidFill>
          <a:ln w="12700">
            <a:solidFill>
              <a:srgbClr val="1A3A5C"/>
            </a:solidFill>
            <a:prstDash val="solid"/>
          </a:ln>
        </p:spPr>
      </p:sp>
      <p:sp>
        <p:nvSpPr>
          <p:cNvPr id="8" name="Text 6"/>
          <p:cNvSpPr/>
          <p:nvPr/>
        </p:nvSpPr>
        <p:spPr>
          <a:xfrm>
            <a:off x="4251960" y="621792"/>
            <a:ext cx="50292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Heavy object result</a:t>
            </a:r>
            <a:endParaRPr lang="en-US" sz="1000" dirty="0"/>
          </a:p>
        </p:txBody>
      </p:sp>
      <p:sp>
        <p:nvSpPr>
          <p:cNvPr id="9" name="Shape 7"/>
          <p:cNvSpPr/>
          <p:nvPr/>
        </p:nvSpPr>
        <p:spPr>
          <a:xfrm>
            <a:off x="365760" y="1005840"/>
            <a:ext cx="2011680" cy="914400"/>
          </a:xfrm>
          <a:prstGeom prst="rect">
            <a:avLst/>
          </a:prstGeom>
          <a:solidFill>
            <a:srgbClr val="D6EAF8"/>
          </a:solidFill>
          <a:ln w="12700">
            <a:solidFill>
              <a:srgbClr val="BDD7EE"/>
            </a:solidFill>
            <a:prstDash val="solid"/>
          </a:ln>
        </p:spPr>
      </p:sp>
      <p:sp>
        <p:nvSpPr>
          <p:cNvPr id="10" name="Text 8"/>
          <p:cNvSpPr/>
          <p:nvPr/>
        </p:nvSpPr>
        <p:spPr>
          <a:xfrm>
            <a:off x="420624" y="1005840"/>
            <a:ext cx="190195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Mass Test -- same finger push</a:t>
            </a:r>
            <a:endParaRPr lang="en-US" sz="1000" dirty="0"/>
          </a:p>
        </p:txBody>
      </p:sp>
      <p:sp>
        <p:nvSpPr>
          <p:cNvPr id="11" name="Shape 9"/>
          <p:cNvSpPr/>
          <p:nvPr/>
        </p:nvSpPr>
        <p:spPr>
          <a:xfrm>
            <a:off x="2377440" y="1005840"/>
            <a:ext cx="1828800" cy="914400"/>
          </a:xfrm>
          <a:prstGeom prst="rect">
            <a:avLst/>
          </a:prstGeom>
          <a:solidFill>
            <a:srgbClr val="D6EAF8"/>
          </a:solidFill>
          <a:ln w="12700">
            <a:solidFill>
              <a:srgbClr val="BDD7EE"/>
            </a:solidFill>
            <a:prstDash val="solid"/>
          </a:ln>
        </p:spPr>
      </p:sp>
      <p:sp>
        <p:nvSpPr>
          <p:cNvPr id="12" name="Text 10"/>
          <p:cNvSpPr/>
          <p:nvPr/>
        </p:nvSpPr>
        <p:spPr>
          <a:xfrm>
            <a:off x="2432304" y="10058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___ inches (moves more)</a:t>
            </a:r>
            <a:endParaRPr lang="en-US" sz="1000" dirty="0"/>
          </a:p>
        </p:txBody>
      </p:sp>
      <p:sp>
        <p:nvSpPr>
          <p:cNvPr id="13" name="Shape 11"/>
          <p:cNvSpPr/>
          <p:nvPr/>
        </p:nvSpPr>
        <p:spPr>
          <a:xfrm>
            <a:off x="4206240" y="1005840"/>
            <a:ext cx="5120640" cy="914400"/>
          </a:xfrm>
          <a:prstGeom prst="rect">
            <a:avLst/>
          </a:prstGeom>
          <a:solidFill>
            <a:srgbClr val="D6EAF8"/>
          </a:solidFill>
          <a:ln w="12700">
            <a:solidFill>
              <a:srgbClr val="BDD7EE"/>
            </a:solidFill>
            <a:prstDash val="solid"/>
          </a:ln>
        </p:spPr>
      </p:sp>
      <p:sp>
        <p:nvSpPr>
          <p:cNvPr id="14" name="Text 12"/>
          <p:cNvSpPr/>
          <p:nvPr/>
        </p:nvSpPr>
        <p:spPr>
          <a:xfrm>
            <a:off x="4261104" y="1005840"/>
            <a:ext cx="50109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___ inches (barely moves)</a:t>
            </a:r>
            <a:endParaRPr lang="en-US" sz="1000" dirty="0"/>
          </a:p>
        </p:txBody>
      </p:sp>
      <p:sp>
        <p:nvSpPr>
          <p:cNvPr id="15" name="Shape 13"/>
          <p:cNvSpPr/>
          <p:nvPr/>
        </p:nvSpPr>
        <p:spPr>
          <a:xfrm>
            <a:off x="365760" y="1920240"/>
            <a:ext cx="2011680" cy="914400"/>
          </a:xfrm>
          <a:prstGeom prst="rect">
            <a:avLst/>
          </a:prstGeom>
          <a:solidFill>
            <a:srgbClr val="FFFFFF"/>
          </a:solidFill>
          <a:ln w="12700">
            <a:solidFill>
              <a:srgbClr val="BDD7EE"/>
            </a:solidFill>
            <a:prstDash val="solid"/>
          </a:ln>
        </p:spPr>
      </p:sp>
      <p:sp>
        <p:nvSpPr>
          <p:cNvPr id="16" name="Text 14"/>
          <p:cNvSpPr/>
          <p:nvPr/>
        </p:nvSpPr>
        <p:spPr>
          <a:xfrm>
            <a:off x="420624" y="1920240"/>
            <a:ext cx="190195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Tug of War -- equal pulls</a:t>
            </a:r>
            <a:endParaRPr lang="en-US" sz="1000" dirty="0"/>
          </a:p>
        </p:txBody>
      </p:sp>
      <p:sp>
        <p:nvSpPr>
          <p:cNvPr id="17" name="Shape 15"/>
          <p:cNvSpPr/>
          <p:nvPr/>
        </p:nvSpPr>
        <p:spPr>
          <a:xfrm>
            <a:off x="2377440" y="1920240"/>
            <a:ext cx="1828800" cy="914400"/>
          </a:xfrm>
          <a:prstGeom prst="rect">
            <a:avLst/>
          </a:prstGeom>
          <a:solidFill>
            <a:srgbClr val="FFFFFF"/>
          </a:solidFill>
          <a:ln w="12700">
            <a:solidFill>
              <a:srgbClr val="BDD7EE"/>
            </a:solidFill>
            <a:prstDash val="solid"/>
          </a:ln>
        </p:spPr>
      </p:sp>
      <p:sp>
        <p:nvSpPr>
          <p:cNvPr id="18" name="Text 16"/>
          <p:cNvSpPr/>
          <p:nvPr/>
        </p:nvSpPr>
        <p:spPr>
          <a:xfrm>
            <a:off x="2432304" y="19202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Rope stays still (balanced)</a:t>
            </a:r>
            <a:endParaRPr lang="en-US" sz="1000" dirty="0"/>
          </a:p>
        </p:txBody>
      </p:sp>
      <p:sp>
        <p:nvSpPr>
          <p:cNvPr id="19" name="Shape 17"/>
          <p:cNvSpPr/>
          <p:nvPr/>
        </p:nvSpPr>
        <p:spPr>
          <a:xfrm>
            <a:off x="4206240" y="1920240"/>
            <a:ext cx="5120640" cy="914400"/>
          </a:xfrm>
          <a:prstGeom prst="rect">
            <a:avLst/>
          </a:prstGeom>
          <a:solidFill>
            <a:srgbClr val="FFFFFF"/>
          </a:solidFill>
          <a:ln w="12700">
            <a:solidFill>
              <a:srgbClr val="BDD7EE"/>
            </a:solidFill>
            <a:prstDash val="solid"/>
          </a:ln>
        </p:spPr>
      </p:sp>
      <p:sp>
        <p:nvSpPr>
          <p:cNvPr id="20" name="Text 18"/>
          <p:cNvSpPr/>
          <p:nvPr/>
        </p:nvSpPr>
        <p:spPr>
          <a:xfrm>
            <a:off x="4261104" y="1920240"/>
            <a:ext cx="50109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Rope stays still (balanced)</a:t>
            </a:r>
            <a:endParaRPr lang="en-US" sz="1000" dirty="0"/>
          </a:p>
        </p:txBody>
      </p:sp>
      <p:sp>
        <p:nvSpPr>
          <p:cNvPr id="21" name="Shape 19"/>
          <p:cNvSpPr/>
          <p:nvPr/>
        </p:nvSpPr>
        <p:spPr>
          <a:xfrm>
            <a:off x="365760" y="2834640"/>
            <a:ext cx="2011680" cy="914400"/>
          </a:xfrm>
          <a:prstGeom prst="rect">
            <a:avLst/>
          </a:prstGeom>
          <a:solidFill>
            <a:srgbClr val="D6EAF8"/>
          </a:solidFill>
          <a:ln w="12700">
            <a:solidFill>
              <a:srgbClr val="BDD7EE"/>
            </a:solidFill>
            <a:prstDash val="solid"/>
          </a:ln>
        </p:spPr>
      </p:sp>
      <p:sp>
        <p:nvSpPr>
          <p:cNvPr id="22" name="Text 20"/>
          <p:cNvSpPr/>
          <p:nvPr/>
        </p:nvSpPr>
        <p:spPr>
          <a:xfrm>
            <a:off x="420624" y="2834640"/>
            <a:ext cx="190195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Tug of War -- unequal pulls</a:t>
            </a:r>
            <a:endParaRPr lang="en-US" sz="1000" dirty="0"/>
          </a:p>
        </p:txBody>
      </p:sp>
      <p:sp>
        <p:nvSpPr>
          <p:cNvPr id="23" name="Shape 21"/>
          <p:cNvSpPr/>
          <p:nvPr/>
        </p:nvSpPr>
        <p:spPr>
          <a:xfrm>
            <a:off x="2377440" y="2834640"/>
            <a:ext cx="1828800" cy="914400"/>
          </a:xfrm>
          <a:prstGeom prst="rect">
            <a:avLst/>
          </a:prstGeom>
          <a:solidFill>
            <a:srgbClr val="D6EAF8"/>
          </a:solidFill>
          <a:ln w="12700">
            <a:solidFill>
              <a:srgbClr val="BDD7EE"/>
            </a:solidFill>
            <a:prstDash val="solid"/>
          </a:ln>
        </p:spPr>
      </p:sp>
      <p:sp>
        <p:nvSpPr>
          <p:cNvPr id="24" name="Text 22"/>
          <p:cNvSpPr/>
          <p:nvPr/>
        </p:nvSpPr>
        <p:spPr>
          <a:xfrm>
            <a:off x="2432304" y="28346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Rope moves toward stronger side</a:t>
            </a:r>
            <a:endParaRPr lang="en-US" sz="1000" dirty="0"/>
          </a:p>
        </p:txBody>
      </p:sp>
      <p:sp>
        <p:nvSpPr>
          <p:cNvPr id="25" name="Shape 23"/>
          <p:cNvSpPr/>
          <p:nvPr/>
        </p:nvSpPr>
        <p:spPr>
          <a:xfrm>
            <a:off x="4206240" y="2834640"/>
            <a:ext cx="5120640" cy="914400"/>
          </a:xfrm>
          <a:prstGeom prst="rect">
            <a:avLst/>
          </a:prstGeom>
          <a:solidFill>
            <a:srgbClr val="D6EAF8"/>
          </a:solidFill>
          <a:ln w="12700">
            <a:solidFill>
              <a:srgbClr val="BDD7EE"/>
            </a:solidFill>
            <a:prstDash val="solid"/>
          </a:ln>
        </p:spPr>
      </p:sp>
      <p:sp>
        <p:nvSpPr>
          <p:cNvPr id="26" name="Text 24"/>
          <p:cNvSpPr/>
          <p:nvPr/>
        </p:nvSpPr>
        <p:spPr>
          <a:xfrm>
            <a:off x="4261104" y="2834640"/>
            <a:ext cx="50109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Rope moves toward stronger side</a:t>
            </a:r>
            <a:endParaRPr lang="en-US" sz="1000" dirty="0"/>
          </a:p>
        </p:txBody>
      </p:sp>
      <p:sp>
        <p:nvSpPr>
          <p:cNvPr id="27" name="Shape 25"/>
          <p:cNvSpPr/>
          <p:nvPr/>
        </p:nvSpPr>
        <p:spPr>
          <a:xfrm>
            <a:off x="0" y="4896612"/>
            <a:ext cx="9144000" cy="246888"/>
          </a:xfrm>
          <a:prstGeom prst="rect">
            <a:avLst/>
          </a:prstGeom>
          <a:solidFill>
            <a:srgbClr val="F6C90E"/>
          </a:solidFill>
          <a:ln w="12700">
            <a:solidFill>
              <a:srgbClr val="F6C90E"/>
            </a:solidFill>
            <a:prstDash val="solid"/>
          </a:ln>
        </p:spPr>
      </p:sp>
      <p:sp>
        <p:nvSpPr>
          <p:cNvPr id="28" name="Text 26"/>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Data Table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2000" b="1" dirty="0">
                <a:solidFill>
                  <a:srgbClr val="1A3A5C"/>
                </a:solidFill>
                <a:latin typeface="Cambria" pitchFamily="34" charset="0"/>
                <a:ea typeface="Cambria" pitchFamily="34" charset="-122"/>
                <a:cs typeface="Cambria" pitchFamily="34" charset="-120"/>
              </a:rPr>
              <a:t>Record Your Thinking</a:t>
            </a:r>
            <a:endParaRPr lang="en-US" sz="2000" dirty="0"/>
          </a:p>
        </p:txBody>
      </p:sp>
      <p:sp>
        <p:nvSpPr>
          <p:cNvPr id="3" name="Text 1"/>
          <p:cNvSpPr/>
          <p:nvPr/>
        </p:nvSpPr>
        <p:spPr>
          <a:xfrm>
            <a:off x="365760" y="566928"/>
            <a:ext cx="8412480" cy="274320"/>
          </a:xfrm>
          <a:prstGeom prst="rect">
            <a:avLst/>
          </a:prstGeom>
          <a:noFill/>
          <a:ln/>
        </p:spPr>
        <p:txBody>
          <a:bodyPr wrap="square" rtlCol="0" anchor="ctr"/>
          <a:lstStyle/>
          <a:p>
            <a:pPr algn="l" indent="0" marL="0">
              <a:buNone/>
            </a:pPr>
            <a:r>
              <a:rPr lang="en-US" sz="1200" dirty="0">
                <a:solidFill>
                  <a:srgbClr val="2C4A6E"/>
                </a:solidFill>
                <a:latin typeface="Calibri" pitchFamily="34" charset="0"/>
                <a:ea typeface="Calibri" pitchFamily="34" charset="-122"/>
                <a:cs typeface="Calibri" pitchFamily="34" charset="-120"/>
              </a:rPr>
              <a:t>Answer in complete sentences. Use vocabulary words.</a:t>
            </a:r>
            <a:endParaRPr lang="en-US" sz="1200" dirty="0"/>
          </a:p>
        </p:txBody>
      </p:sp>
      <p:sp>
        <p:nvSpPr>
          <p:cNvPr id="4" name="Shape 2"/>
          <p:cNvSpPr/>
          <p:nvPr/>
        </p:nvSpPr>
        <p:spPr>
          <a:xfrm>
            <a:off x="365760" y="914400"/>
            <a:ext cx="292608" cy="292608"/>
          </a:xfrm>
          <a:prstGeom prst="rect">
            <a:avLst/>
          </a:prstGeom>
          <a:solidFill>
            <a:srgbClr val="0E7C7B"/>
          </a:solidFill>
          <a:ln w="12700">
            <a:solidFill>
              <a:srgbClr val="0E7C7B"/>
            </a:solidFill>
            <a:prstDash val="solid"/>
          </a:ln>
        </p:spPr>
      </p:sp>
      <p:sp>
        <p:nvSpPr>
          <p:cNvPr id="5" name="Text 3"/>
          <p:cNvSpPr/>
          <p:nvPr/>
        </p:nvSpPr>
        <p:spPr>
          <a:xfrm>
            <a:off x="365760" y="9144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Shape 4"/>
          <p:cNvSpPr/>
          <p:nvPr/>
        </p:nvSpPr>
        <p:spPr>
          <a:xfrm>
            <a:off x="768096" y="914400"/>
            <a:ext cx="8010144" cy="1207008"/>
          </a:xfrm>
          <a:prstGeom prst="rect">
            <a:avLst/>
          </a:prstGeom>
          <a:solidFill>
            <a:srgbClr val="D6EAF8"/>
          </a:solidFill>
          <a:ln w="12700">
            <a:solidFill>
              <a:srgbClr val="D6EAF8"/>
            </a:solidFill>
            <a:prstDash val="solid"/>
          </a:ln>
        </p:spPr>
      </p:sp>
      <p:sp>
        <p:nvSpPr>
          <p:cNvPr id="7" name="Text 5"/>
          <p:cNvSpPr/>
          <p:nvPr/>
        </p:nvSpPr>
        <p:spPr>
          <a:xfrm>
            <a:off x="877824" y="9784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the Mass Test, which object moved farther with the same force? Use the word mass to explain why.</a:t>
            </a:r>
            <a:endParaRPr lang="en-US" sz="1200" dirty="0"/>
          </a:p>
        </p:txBody>
      </p:sp>
      <p:sp>
        <p:nvSpPr>
          <p:cNvPr id="8" name="Shape 6"/>
          <p:cNvSpPr/>
          <p:nvPr/>
        </p:nvSpPr>
        <p:spPr>
          <a:xfrm>
            <a:off x="365760" y="2286000"/>
            <a:ext cx="292608" cy="292608"/>
          </a:xfrm>
          <a:prstGeom prst="rect">
            <a:avLst/>
          </a:prstGeom>
          <a:solidFill>
            <a:srgbClr val="0E7C7B"/>
          </a:solidFill>
          <a:ln w="12700">
            <a:solidFill>
              <a:srgbClr val="0E7C7B"/>
            </a:solidFill>
            <a:prstDash val="solid"/>
          </a:ln>
        </p:spPr>
      </p:sp>
      <p:sp>
        <p:nvSpPr>
          <p:cNvPr id="9" name="Text 7"/>
          <p:cNvSpPr/>
          <p:nvPr/>
        </p:nvSpPr>
        <p:spPr>
          <a:xfrm>
            <a:off x="365760" y="22860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Shape 8"/>
          <p:cNvSpPr/>
          <p:nvPr/>
        </p:nvSpPr>
        <p:spPr>
          <a:xfrm>
            <a:off x="768096" y="2286000"/>
            <a:ext cx="8010144" cy="1207008"/>
          </a:xfrm>
          <a:prstGeom prst="rect">
            <a:avLst/>
          </a:prstGeom>
          <a:solidFill>
            <a:srgbClr val="D6EAF8"/>
          </a:solidFill>
          <a:ln w="12700">
            <a:solidFill>
              <a:srgbClr val="D6EAF8"/>
            </a:solidFill>
            <a:prstDash val="solid"/>
          </a:ln>
        </p:spPr>
      </p:sp>
      <p:sp>
        <p:nvSpPr>
          <p:cNvPr id="11" name="Text 9"/>
          <p:cNvSpPr/>
          <p:nvPr/>
        </p:nvSpPr>
        <p:spPr>
          <a:xfrm>
            <a:off x="877824" y="23500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In the Tug of War with equal pulls, did the rope move? Use the words balanced and cancel to explain.</a:t>
            </a:r>
            <a:endParaRPr lang="en-US" sz="1200" dirty="0"/>
          </a:p>
        </p:txBody>
      </p:sp>
      <p:sp>
        <p:nvSpPr>
          <p:cNvPr id="12" name="Shape 10"/>
          <p:cNvSpPr/>
          <p:nvPr/>
        </p:nvSpPr>
        <p:spPr>
          <a:xfrm>
            <a:off x="365760" y="3657600"/>
            <a:ext cx="292608" cy="292608"/>
          </a:xfrm>
          <a:prstGeom prst="rect">
            <a:avLst/>
          </a:prstGeom>
          <a:solidFill>
            <a:srgbClr val="0E7C7B"/>
          </a:solidFill>
          <a:ln w="12700">
            <a:solidFill>
              <a:srgbClr val="0E7C7B"/>
            </a:solidFill>
            <a:prstDash val="solid"/>
          </a:ln>
        </p:spPr>
      </p:sp>
      <p:sp>
        <p:nvSpPr>
          <p:cNvPr id="13" name="Text 11"/>
          <p:cNvSpPr/>
          <p:nvPr/>
        </p:nvSpPr>
        <p:spPr>
          <a:xfrm>
            <a:off x="365760"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Shape 12"/>
          <p:cNvSpPr/>
          <p:nvPr/>
        </p:nvSpPr>
        <p:spPr>
          <a:xfrm>
            <a:off x="768096" y="3657600"/>
            <a:ext cx="8010144" cy="1207008"/>
          </a:xfrm>
          <a:prstGeom prst="rect">
            <a:avLst/>
          </a:prstGeom>
          <a:solidFill>
            <a:srgbClr val="D6EAF8"/>
          </a:solidFill>
          <a:ln w="12700">
            <a:solidFill>
              <a:srgbClr val="D6EAF8"/>
            </a:solidFill>
            <a:prstDash val="solid"/>
          </a:ln>
        </p:spPr>
      </p:sp>
      <p:sp>
        <p:nvSpPr>
          <p:cNvPr id="15" name="Text 13"/>
          <p:cNvSpPr/>
          <p:nvPr/>
        </p:nvSpPr>
        <p:spPr>
          <a:xfrm>
            <a:off x="877824" y="37216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When one person pulled harder in the Tug of War, what happened? Use the words unbalanced and motion to explain.</a:t>
            </a:r>
            <a:endParaRPr lang="en-US" sz="1200" dirty="0"/>
          </a:p>
        </p:txBody>
      </p:sp>
      <p:sp>
        <p:nvSpPr>
          <p:cNvPr id="16" name="Shape 14"/>
          <p:cNvSpPr/>
          <p:nvPr/>
        </p:nvSpPr>
        <p:spPr>
          <a:xfrm>
            <a:off x="0" y="4896612"/>
            <a:ext cx="9144000" cy="246888"/>
          </a:xfrm>
          <a:prstGeom prst="rect">
            <a:avLst/>
          </a:prstGeom>
          <a:solidFill>
            <a:srgbClr val="F6C90E"/>
          </a:solidFill>
          <a:ln w="12700">
            <a:solidFill>
              <a:srgbClr val="F6C90E"/>
            </a:solidFill>
            <a:prstDash val="solid"/>
          </a:ln>
        </p:spPr>
      </p:sp>
      <p:sp>
        <p:nvSpPr>
          <p:cNvPr id="17" name="Text 15"/>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Record Your Thinking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2E86AB"/>
          </a:solidFill>
          <a:ln w="12700">
            <a:solidFill>
              <a:srgbClr val="2E86A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&amp; DEFEND</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Defend Your Thinking with Evidence</a:t>
            </a:r>
            <a:endParaRPr lang="en-US" sz="2000" dirty="0"/>
          </a:p>
        </p:txBody>
      </p:sp>
      <p:sp>
        <p:nvSpPr>
          <p:cNvPr id="5" name="Shape 3"/>
          <p:cNvSpPr/>
          <p:nvPr/>
        </p:nvSpPr>
        <p:spPr>
          <a:xfrm>
            <a:off x="365760" y="1051560"/>
            <a:ext cx="8412480" cy="1051560"/>
          </a:xfrm>
          <a:prstGeom prst="rect">
            <a:avLst/>
          </a:prstGeom>
          <a:solidFill>
            <a:srgbClr val="1E3A5C"/>
          </a:solidFill>
          <a:ln w="12700">
            <a:solidFill>
              <a:srgbClr val="1E3A5C"/>
            </a:solidFill>
            <a:prstDash val="solid"/>
          </a:ln>
        </p:spPr>
      </p:sp>
      <p:sp>
        <p:nvSpPr>
          <p:cNvPr id="6" name="Text 4"/>
          <p:cNvSpPr/>
          <p:nvPr/>
        </p:nvSpPr>
        <p:spPr>
          <a:xfrm>
            <a:off x="475488" y="1115568"/>
            <a:ext cx="8193024" cy="9235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friend says: the heavy object should have moved MORE because it is harder to stop. Use what you know about mass to explain why that is backwards."</a:t>
            </a:r>
            <a:endParaRPr lang="en-US" sz="1300" dirty="0"/>
          </a:p>
        </p:txBody>
      </p:sp>
      <p:sp>
        <p:nvSpPr>
          <p:cNvPr id="7" name="Shape 5"/>
          <p:cNvSpPr/>
          <p:nvPr/>
        </p:nvSpPr>
        <p:spPr>
          <a:xfrm>
            <a:off x="365760" y="2194560"/>
            <a:ext cx="8412480" cy="1051560"/>
          </a:xfrm>
          <a:prstGeom prst="rect">
            <a:avLst/>
          </a:prstGeom>
          <a:solidFill>
            <a:srgbClr val="1E3A5C"/>
          </a:solidFill>
          <a:ln w="12700">
            <a:solidFill>
              <a:srgbClr val="1E3A5C"/>
            </a:solidFill>
            <a:prstDash val="solid"/>
          </a:ln>
        </p:spPr>
      </p:sp>
      <p:sp>
        <p:nvSpPr>
          <p:cNvPr id="8" name="Text 6"/>
          <p:cNvSpPr/>
          <p:nvPr/>
        </p:nvSpPr>
        <p:spPr>
          <a:xfrm>
            <a:off x="475488" y="2258568"/>
            <a:ext cx="8193024" cy="9235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"Which of your two experiments felt like the strongest evidence that mass and balance affect motion? Why?"</a:t>
            </a:r>
            <a:endParaRPr lang="en-US" sz="1300" dirty="0"/>
          </a:p>
        </p:txBody>
      </p:sp>
      <p:sp>
        <p:nvSpPr>
          <p:cNvPr id="9" name="Text 7"/>
          <p:cNvSpPr/>
          <p:nvPr/>
        </p:nvSpPr>
        <p:spPr>
          <a:xfrm>
            <a:off x="365760" y="3383280"/>
            <a:ext cx="8412480" cy="274320"/>
          </a:xfrm>
          <a:prstGeom prst="rect">
            <a:avLst/>
          </a:prstGeom>
          <a:noFill/>
          <a:ln/>
        </p:spPr>
        <p:txBody>
          <a:bodyPr wrap="square" rtlCol="0" anchor="ctr"/>
          <a:lstStyle/>
          <a:p>
            <a:pPr algn="l" indent="0" marL="0">
              <a:buNone/>
            </a:pPr>
            <a:r>
              <a:rPr lang="en-US" sz="1200" b="1" dirty="0">
                <a:solidFill>
                  <a:srgbClr val="F6C90E"/>
                </a:solidFill>
                <a:latin typeface="Calibri" pitchFamily="34" charset="0"/>
                <a:ea typeface="Calibri" pitchFamily="34" charset="-122"/>
                <a:cs typeface="Calibri" pitchFamily="34" charset="-120"/>
              </a:rPr>
              <a:t>Sentence Starters:</a:t>
            </a:r>
            <a:endParaRPr lang="en-US" sz="1200" dirty="0"/>
          </a:p>
        </p:txBody>
      </p:sp>
      <p:sp>
        <p:nvSpPr>
          <p:cNvPr id="10" name="Shape 8"/>
          <p:cNvSpPr/>
          <p:nvPr/>
        </p:nvSpPr>
        <p:spPr>
          <a:xfrm>
            <a:off x="365760" y="3712464"/>
            <a:ext cx="4114800" cy="640080"/>
          </a:xfrm>
          <a:prstGeom prst="rect">
            <a:avLst/>
          </a:prstGeom>
          <a:solidFill>
            <a:srgbClr val="1A3A5C"/>
          </a:solidFill>
          <a:ln w="12700">
            <a:solidFill>
              <a:srgbClr val="1A3A5C"/>
            </a:solidFill>
            <a:prstDash val="solid"/>
          </a:ln>
        </p:spPr>
      </p:sp>
      <p:sp>
        <p:nvSpPr>
          <p:cNvPr id="11" name="Text 9"/>
          <p:cNvSpPr/>
          <p:nvPr/>
        </p:nvSpPr>
        <p:spPr>
          <a:xfrm>
            <a:off x="475488" y="3776472"/>
            <a:ext cx="3895344"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"The most convincing evidence came from the ___ test because it showed that..."</a:t>
            </a:r>
            <a:endParaRPr lang="en-US" sz="1100" dirty="0"/>
          </a:p>
        </p:txBody>
      </p:sp>
      <p:sp>
        <p:nvSpPr>
          <p:cNvPr id="12" name="Shape 10"/>
          <p:cNvSpPr/>
          <p:nvPr/>
        </p:nvSpPr>
        <p:spPr>
          <a:xfrm>
            <a:off x="4663440" y="3712464"/>
            <a:ext cx="4114800" cy="640080"/>
          </a:xfrm>
          <a:prstGeom prst="rect">
            <a:avLst/>
          </a:prstGeom>
          <a:solidFill>
            <a:srgbClr val="1A3A5C"/>
          </a:solidFill>
          <a:ln w="12700">
            <a:solidFill>
              <a:srgbClr val="1A3A5C"/>
            </a:solidFill>
            <a:prstDash val="solid"/>
          </a:ln>
        </p:spPr>
      </p:sp>
      <p:sp>
        <p:nvSpPr>
          <p:cNvPr id="13" name="Text 11"/>
          <p:cNvSpPr/>
          <p:nvPr/>
        </p:nvSpPr>
        <p:spPr>
          <a:xfrm>
            <a:off x="4773168" y="3776472"/>
            <a:ext cx="3895344"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"I know mass was the cause and not something else because we kept the ___ the same and only changed..."</a:t>
            </a:r>
            <a:endParaRPr lang="en-US" sz="1100" dirty="0"/>
          </a:p>
        </p:txBody>
      </p:sp>
      <p:sp>
        <p:nvSpPr>
          <p:cNvPr id="14" name="Shape 12"/>
          <p:cNvSpPr/>
          <p:nvPr/>
        </p:nvSpPr>
        <p:spPr>
          <a:xfrm>
            <a:off x="0" y="4896612"/>
            <a:ext cx="9144000" cy="246888"/>
          </a:xfrm>
          <a:prstGeom prst="rect">
            <a:avLst/>
          </a:prstGeom>
          <a:solidFill>
            <a:srgbClr val="F6C90E"/>
          </a:solidFill>
          <a:ln w="12700">
            <a:solidFill>
              <a:srgbClr val="F6C90E"/>
            </a:solidFill>
            <a:prstDash val="solid"/>
          </a:ln>
        </p:spPr>
      </p:sp>
      <p:sp>
        <p:nvSpPr>
          <p:cNvPr id="15" name="Text 13"/>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Discuss &amp; Defend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Claim  |  Evidence  |  Reasoning</a:t>
            </a:r>
            <a:endParaRPr lang="en-US" sz="2000" dirty="0"/>
          </a:p>
        </p:txBody>
      </p:sp>
      <p:sp>
        <p:nvSpPr>
          <p:cNvPr id="5" name="Text 3"/>
          <p:cNvSpPr/>
          <p:nvPr/>
        </p:nvSpPr>
        <p:spPr>
          <a:xfrm>
            <a:off x="365760" y="1042416"/>
            <a:ext cx="8412480" cy="274320"/>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Aim for 4-6 sentences total. Use 2+ lesson vocab words.</a:t>
            </a:r>
            <a:endParaRPr lang="en-US" sz="1200" dirty="0"/>
          </a:p>
        </p:txBody>
      </p:sp>
      <p:sp>
        <p:nvSpPr>
          <p:cNvPr id="6" name="Shape 4"/>
          <p:cNvSpPr/>
          <p:nvPr/>
        </p:nvSpPr>
        <p:spPr>
          <a:xfrm>
            <a:off x="365760" y="1389888"/>
            <a:ext cx="8412480" cy="877824"/>
          </a:xfrm>
          <a:prstGeom prst="rect">
            <a:avLst/>
          </a:prstGeom>
          <a:solidFill>
            <a:srgbClr val="2E86AB"/>
          </a:solidFill>
          <a:ln w="12700">
            <a:solidFill>
              <a:srgbClr val="2E86AB"/>
            </a:solidFill>
            <a:prstDash val="solid"/>
          </a:ln>
        </p:spPr>
      </p:sp>
      <p:sp>
        <p:nvSpPr>
          <p:cNvPr id="7" name="Text 5"/>
          <p:cNvSpPr/>
          <p:nvPr/>
        </p:nvSpPr>
        <p:spPr>
          <a:xfrm>
            <a:off x="475488" y="1453896"/>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CLAIM -- What do your two experiments prove about mass and balanced forces? One clear sentence.</a:t>
            </a:r>
            <a:endParaRPr lang="en-US" sz="1300" dirty="0"/>
          </a:p>
        </p:txBody>
      </p:sp>
      <p:sp>
        <p:nvSpPr>
          <p:cNvPr id="8" name="Shape 6"/>
          <p:cNvSpPr/>
          <p:nvPr/>
        </p:nvSpPr>
        <p:spPr>
          <a:xfrm>
            <a:off x="365760" y="2340864"/>
            <a:ext cx="8412480" cy="877824"/>
          </a:xfrm>
          <a:prstGeom prst="rect">
            <a:avLst/>
          </a:prstGeom>
          <a:solidFill>
            <a:srgbClr val="2A7A4B"/>
          </a:solidFill>
          <a:ln w="12700">
            <a:solidFill>
              <a:srgbClr val="2A7A4B"/>
            </a:solidFill>
            <a:prstDash val="solid"/>
          </a:ln>
        </p:spPr>
      </p:sp>
      <p:sp>
        <p:nvSpPr>
          <p:cNvPr id="9" name="Text 7"/>
          <p:cNvSpPr/>
          <p:nvPr/>
        </p:nvSpPr>
        <p:spPr>
          <a:xfrm>
            <a:off x="475488" y="2404872"/>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EVIDENCE -- What data did you collect? Include distances from the mass test and observations from the tug-of-war.</a:t>
            </a:r>
            <a:endParaRPr lang="en-US" sz="1300" dirty="0"/>
          </a:p>
        </p:txBody>
      </p:sp>
      <p:sp>
        <p:nvSpPr>
          <p:cNvPr id="10" name="Shape 8"/>
          <p:cNvSpPr/>
          <p:nvPr/>
        </p:nvSpPr>
        <p:spPr>
          <a:xfrm>
            <a:off x="365760" y="3291840"/>
            <a:ext cx="8412480" cy="877824"/>
          </a:xfrm>
          <a:prstGeom prst="rect">
            <a:avLst/>
          </a:prstGeom>
          <a:solidFill>
            <a:srgbClr val="0E7C7B"/>
          </a:solidFill>
          <a:ln w="12700">
            <a:solidFill>
              <a:srgbClr val="0E7C7B"/>
            </a:solidFill>
            <a:prstDash val="solid"/>
          </a:ln>
        </p:spPr>
      </p:sp>
      <p:sp>
        <p:nvSpPr>
          <p:cNvPr id="11" name="Text 9"/>
          <p:cNvSpPr/>
          <p:nvPr/>
        </p:nvSpPr>
        <p:spPr>
          <a:xfrm>
            <a:off x="475488" y="3355848"/>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REASONING -- Why does this fit what we know?</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Starter: "This makes sense because objects with more mass resist motion more, and balanced forces cancel out, which means..."</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CER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  Q1</a:t>
            </a:r>
            <a:endParaRPr lang="en-US" sz="1000" dirty="0"/>
          </a:p>
        </p:txBody>
      </p:sp>
      <p:sp>
        <p:nvSpPr>
          <p:cNvPr id="4" name="Text 2"/>
          <p:cNvSpPr/>
          <p:nvPr/>
        </p:nvSpPr>
        <p:spPr>
          <a:xfrm>
            <a:off x="365760" y="566928"/>
            <a:ext cx="8412480" cy="621792"/>
          </a:xfrm>
          <a:prstGeom prst="rect">
            <a:avLst/>
          </a:prstGeom>
          <a:noFill/>
          <a:ln/>
        </p:spPr>
        <p:txBody>
          <a:bodyPr wrap="square"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In your mass test, which object moved farther with the same force?</a:t>
            </a:r>
            <a:endParaRPr lang="en-US" sz="1800" dirty="0"/>
          </a:p>
        </p:txBody>
      </p:sp>
      <p:sp>
        <p:nvSpPr>
          <p:cNvPr id="5" name="Shape 3"/>
          <p:cNvSpPr/>
          <p:nvPr/>
        </p:nvSpPr>
        <p:spPr>
          <a:xfrm>
            <a:off x="365760" y="1298448"/>
            <a:ext cx="8412480" cy="694944"/>
          </a:xfrm>
          <a:prstGeom prst="rect">
            <a:avLst/>
          </a:prstGeom>
          <a:solidFill>
            <a:srgbClr val="1E3A5C"/>
          </a:solidFill>
          <a:ln w="12700">
            <a:solidFill>
              <a:srgbClr val="1E3A5C"/>
            </a:solidFill>
            <a:prstDash val="solid"/>
          </a:ln>
        </p:spPr>
      </p:sp>
      <p:sp>
        <p:nvSpPr>
          <p:cNvPr id="6" name="Text 4"/>
          <p:cNvSpPr/>
          <p:nvPr/>
        </p:nvSpPr>
        <p:spPr>
          <a:xfrm>
            <a:off x="475488" y="1362456"/>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The heavy object -- it always moves more</a:t>
            </a:r>
            <a:endParaRPr lang="en-US" sz="1300" dirty="0"/>
          </a:p>
        </p:txBody>
      </p:sp>
      <p:sp>
        <p:nvSpPr>
          <p:cNvPr id="7" name="Shape 5"/>
          <p:cNvSpPr/>
          <p:nvPr/>
        </p:nvSpPr>
        <p:spPr>
          <a:xfrm>
            <a:off x="365760" y="2066544"/>
            <a:ext cx="8412480" cy="694944"/>
          </a:xfrm>
          <a:prstGeom prst="rect">
            <a:avLst/>
          </a:prstGeom>
          <a:solidFill>
            <a:srgbClr val="2A7A4B"/>
          </a:solidFill>
          <a:ln w="12700">
            <a:solidFill>
              <a:srgbClr val="2A7A4B"/>
            </a:solidFill>
            <a:prstDash val="solid"/>
          </a:ln>
        </p:spPr>
      </p:sp>
      <p:sp>
        <p:nvSpPr>
          <p:cNvPr id="8" name="Text 6"/>
          <p:cNvSpPr/>
          <p:nvPr/>
        </p:nvSpPr>
        <p:spPr>
          <a:xfrm>
            <a:off x="475488" y="2130552"/>
            <a:ext cx="8193024"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B.  The light object -- same force has a bigger effect on less mass     CORRECT</a:t>
            </a:r>
            <a:endParaRPr lang="en-US" sz="1300" dirty="0"/>
          </a:p>
        </p:txBody>
      </p:sp>
      <p:sp>
        <p:nvSpPr>
          <p:cNvPr id="9" name="Shape 7"/>
          <p:cNvSpPr/>
          <p:nvPr/>
        </p:nvSpPr>
        <p:spPr>
          <a:xfrm>
            <a:off x="365760" y="2834640"/>
            <a:ext cx="8412480" cy="694944"/>
          </a:xfrm>
          <a:prstGeom prst="rect">
            <a:avLst/>
          </a:prstGeom>
          <a:solidFill>
            <a:srgbClr val="1E3A5C"/>
          </a:solidFill>
          <a:ln w="12700">
            <a:solidFill>
              <a:srgbClr val="1E3A5C"/>
            </a:solidFill>
            <a:prstDash val="solid"/>
          </a:ln>
        </p:spPr>
      </p:sp>
      <p:sp>
        <p:nvSpPr>
          <p:cNvPr id="10" name="Text 8"/>
          <p:cNvSpPr/>
          <p:nvPr/>
        </p:nvSpPr>
        <p:spPr>
          <a:xfrm>
            <a:off x="475488" y="2898648"/>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  Both moved exactly the same distance</a:t>
            </a:r>
            <a:endParaRPr lang="en-US" sz="1300" dirty="0"/>
          </a:p>
        </p:txBody>
      </p:sp>
      <p:sp>
        <p:nvSpPr>
          <p:cNvPr id="11" name="Shape 9"/>
          <p:cNvSpPr/>
          <p:nvPr/>
        </p:nvSpPr>
        <p:spPr>
          <a:xfrm>
            <a:off x="365760" y="3822192"/>
            <a:ext cx="8412480" cy="713232"/>
          </a:xfrm>
          <a:prstGeom prst="rect">
            <a:avLst/>
          </a:prstGeom>
          <a:solidFill>
            <a:srgbClr val="1A3A5C"/>
          </a:solidFill>
          <a:ln w="12700">
            <a:solidFill>
              <a:srgbClr val="1A3A5C"/>
            </a:solidFill>
            <a:prstDash val="solid"/>
          </a:ln>
        </p:spPr>
      </p:sp>
      <p:sp>
        <p:nvSpPr>
          <p:cNvPr id="12" name="Text 10"/>
          <p:cNvSpPr/>
          <p:nvPr/>
        </p:nvSpPr>
        <p:spPr>
          <a:xfrm>
            <a:off x="475488" y="3886200"/>
            <a:ext cx="8193024" cy="585216"/>
          </a:xfrm>
          <a:prstGeom prst="rect">
            <a:avLst/>
          </a:prstGeom>
          <a:noFill/>
          <a:ln/>
        </p:spPr>
        <p:txBody>
          <a:bodyPr wrap="square" lIns="0" tIns="0" rIns="0" bIns="0" rtlCol="0" anchor="ctr"/>
          <a:lstStyle/>
          <a:p>
            <a:pPr algn="l" indent="0" marL="0">
              <a:buNone/>
            </a:pPr>
            <a:r>
              <a:rPr lang="en-US" sz="1100" dirty="0">
                <a:solidFill>
                  <a:srgbClr val="F6C90E"/>
                </a:solidFill>
                <a:latin typeface="Calibri" pitchFamily="34" charset="0"/>
                <a:ea typeface="Calibri" pitchFamily="34" charset="-122"/>
                <a:cs typeface="Calibri" pitchFamily="34" charset="-120"/>
              </a:rPr>
              <a:t>The lighter object moves more because the same force has a bigger effect on it. Less mass = more reaction to the same force.</a:t>
            </a:r>
            <a:endParaRPr lang="en-US" sz="11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Self-Check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  Q2</a:t>
            </a:r>
            <a:endParaRPr lang="en-US" sz="1000" dirty="0"/>
          </a:p>
        </p:txBody>
      </p:sp>
      <p:sp>
        <p:nvSpPr>
          <p:cNvPr id="4" name="Text 2"/>
          <p:cNvSpPr/>
          <p:nvPr/>
        </p:nvSpPr>
        <p:spPr>
          <a:xfrm>
            <a:off x="365760" y="566928"/>
            <a:ext cx="8412480" cy="621792"/>
          </a:xfrm>
          <a:prstGeom prst="rect">
            <a:avLst/>
          </a:prstGeom>
          <a:noFill/>
          <a:ln/>
        </p:spPr>
        <p:txBody>
          <a:bodyPr wrap="square"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In a tug-of-war, both teams pull with EQUAL force. What happens to the rope?</a:t>
            </a:r>
            <a:endParaRPr lang="en-US" sz="1800" dirty="0"/>
          </a:p>
        </p:txBody>
      </p:sp>
      <p:sp>
        <p:nvSpPr>
          <p:cNvPr id="5" name="Shape 3"/>
          <p:cNvSpPr/>
          <p:nvPr/>
        </p:nvSpPr>
        <p:spPr>
          <a:xfrm>
            <a:off x="365760" y="1298448"/>
            <a:ext cx="8412480" cy="694944"/>
          </a:xfrm>
          <a:prstGeom prst="rect">
            <a:avLst/>
          </a:prstGeom>
          <a:solidFill>
            <a:srgbClr val="2A7A4B"/>
          </a:solidFill>
          <a:ln w="12700">
            <a:solidFill>
              <a:srgbClr val="2A7A4B"/>
            </a:solidFill>
            <a:prstDash val="solid"/>
          </a:ln>
        </p:spPr>
      </p:sp>
      <p:sp>
        <p:nvSpPr>
          <p:cNvPr id="6" name="Text 4"/>
          <p:cNvSpPr/>
          <p:nvPr/>
        </p:nvSpPr>
        <p:spPr>
          <a:xfrm>
            <a:off x="475488" y="1362456"/>
            <a:ext cx="8193024"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  It stays still -- balanced forces cancel out     CORRECT</a:t>
            </a:r>
            <a:endParaRPr lang="en-US" sz="1300" dirty="0"/>
          </a:p>
        </p:txBody>
      </p:sp>
      <p:sp>
        <p:nvSpPr>
          <p:cNvPr id="7" name="Shape 5"/>
          <p:cNvSpPr/>
          <p:nvPr/>
        </p:nvSpPr>
        <p:spPr>
          <a:xfrm>
            <a:off x="365760" y="2066544"/>
            <a:ext cx="8412480" cy="694944"/>
          </a:xfrm>
          <a:prstGeom prst="rect">
            <a:avLst/>
          </a:prstGeom>
          <a:solidFill>
            <a:srgbClr val="1E3A5C"/>
          </a:solidFill>
          <a:ln w="12700">
            <a:solidFill>
              <a:srgbClr val="1E3A5C"/>
            </a:solidFill>
            <a:prstDash val="solid"/>
          </a:ln>
        </p:spPr>
      </p:sp>
      <p:sp>
        <p:nvSpPr>
          <p:cNvPr id="8" name="Text 6"/>
          <p:cNvSpPr/>
          <p:nvPr/>
        </p:nvSpPr>
        <p:spPr>
          <a:xfrm>
            <a:off x="475488" y="2130552"/>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B.  It moves toward the team with stronger hands</a:t>
            </a:r>
            <a:endParaRPr lang="en-US" sz="1300" dirty="0"/>
          </a:p>
        </p:txBody>
      </p:sp>
      <p:sp>
        <p:nvSpPr>
          <p:cNvPr id="9" name="Shape 7"/>
          <p:cNvSpPr/>
          <p:nvPr/>
        </p:nvSpPr>
        <p:spPr>
          <a:xfrm>
            <a:off x="365760" y="2834640"/>
            <a:ext cx="8412480" cy="694944"/>
          </a:xfrm>
          <a:prstGeom prst="rect">
            <a:avLst/>
          </a:prstGeom>
          <a:solidFill>
            <a:srgbClr val="1E3A5C"/>
          </a:solidFill>
          <a:ln w="12700">
            <a:solidFill>
              <a:srgbClr val="1E3A5C"/>
            </a:solidFill>
            <a:prstDash val="solid"/>
          </a:ln>
        </p:spPr>
      </p:sp>
      <p:sp>
        <p:nvSpPr>
          <p:cNvPr id="10" name="Text 8"/>
          <p:cNvSpPr/>
          <p:nvPr/>
        </p:nvSpPr>
        <p:spPr>
          <a:xfrm>
            <a:off x="475488" y="2898648"/>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  It breaks</a:t>
            </a:r>
            <a:endParaRPr lang="en-US" sz="1300" dirty="0"/>
          </a:p>
        </p:txBody>
      </p:sp>
      <p:sp>
        <p:nvSpPr>
          <p:cNvPr id="11" name="Shape 9"/>
          <p:cNvSpPr/>
          <p:nvPr/>
        </p:nvSpPr>
        <p:spPr>
          <a:xfrm>
            <a:off x="365760" y="3822192"/>
            <a:ext cx="8412480" cy="713232"/>
          </a:xfrm>
          <a:prstGeom prst="rect">
            <a:avLst/>
          </a:prstGeom>
          <a:solidFill>
            <a:srgbClr val="1A3A5C"/>
          </a:solidFill>
          <a:ln w="12700">
            <a:solidFill>
              <a:srgbClr val="1A3A5C"/>
            </a:solidFill>
            <a:prstDash val="solid"/>
          </a:ln>
        </p:spPr>
      </p:sp>
      <p:sp>
        <p:nvSpPr>
          <p:cNvPr id="12" name="Text 10"/>
          <p:cNvSpPr/>
          <p:nvPr/>
        </p:nvSpPr>
        <p:spPr>
          <a:xfrm>
            <a:off x="475488" y="3886200"/>
            <a:ext cx="8193024" cy="585216"/>
          </a:xfrm>
          <a:prstGeom prst="rect">
            <a:avLst/>
          </a:prstGeom>
          <a:noFill/>
          <a:ln/>
        </p:spPr>
        <p:txBody>
          <a:bodyPr wrap="square" lIns="0" tIns="0" rIns="0" bIns="0" rtlCol="0" anchor="ctr"/>
          <a:lstStyle/>
          <a:p>
            <a:pPr algn="l" indent="0" marL="0">
              <a:buNone/>
            </a:pPr>
            <a:r>
              <a:rPr lang="en-US" sz="1100" dirty="0">
                <a:solidFill>
                  <a:srgbClr val="F6C90E"/>
                </a:solidFill>
                <a:latin typeface="Calibri" pitchFamily="34" charset="0"/>
                <a:ea typeface="Calibri" pitchFamily="34" charset="-122"/>
                <a:cs typeface="Calibri" pitchFamily="34" charset="-120"/>
              </a:rPr>
              <a:t>Equal pulls in opposite directions = balanced forces. The rope stays still because the two forces cancel each other out.</a:t>
            </a:r>
            <a:endParaRPr lang="en-US" sz="11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Self-Check</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Incredible -- Beyond the Lesson</a:t>
            </a:r>
            <a:endParaRPr lang="en-US" sz="2000" dirty="0"/>
          </a:p>
        </p:txBody>
      </p:sp>
      <p:sp>
        <p:nvSpPr>
          <p:cNvPr id="5" name="Shape 3"/>
          <p:cNvSpPr/>
          <p:nvPr/>
        </p:nvSpPr>
        <p:spPr>
          <a:xfrm>
            <a:off x="365760" y="1051560"/>
            <a:ext cx="8412480" cy="1234440"/>
          </a:xfrm>
          <a:prstGeom prst="rect">
            <a:avLst/>
          </a:prstGeom>
          <a:solidFill>
            <a:srgbClr val="1E3A5C"/>
          </a:solidFill>
          <a:ln w="12700">
            <a:solidFill>
              <a:srgbClr val="1E3A5C"/>
            </a:solidFill>
            <a:prstDash val="solid"/>
          </a:ln>
        </p:spPr>
      </p:sp>
      <p:sp>
        <p:nvSpPr>
          <p:cNvPr id="6" name="Text 4"/>
          <p:cNvSpPr/>
          <p:nvPr/>
        </p:nvSpPr>
        <p:spPr>
          <a:xfrm>
            <a:off x="475488" y="1115568"/>
            <a:ext cx="8193024" cy="11064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The sound from your tapped glass is actually THOUSANDS of vibrations per second. Your ear catches each one and your brain turns it into the ring you hear -- all in a fraction of a second. The glass is shaking faster than you can blink.</a:t>
            </a:r>
            <a:endParaRPr lang="en-US" sz="1300" dirty="0"/>
          </a:p>
        </p:txBody>
      </p:sp>
      <p:sp>
        <p:nvSpPr>
          <p:cNvPr id="7" name="Text 5"/>
          <p:cNvSpPr/>
          <p:nvPr/>
        </p:nvSpPr>
        <p:spPr>
          <a:xfrm>
            <a:off x="365760" y="2423160"/>
            <a:ext cx="8412480" cy="274320"/>
          </a:xfrm>
          <a:prstGeom prst="rect">
            <a:avLst/>
          </a:prstGeom>
          <a:noFill/>
          <a:ln/>
        </p:spPr>
        <p:txBody>
          <a:bodyPr wrap="square" rtlCol="0" anchor="ctr"/>
          <a:lstStyle/>
          <a:p>
            <a:pPr algn="l" indent="0" marL="0">
              <a:buNone/>
            </a:pPr>
            <a:r>
              <a:rPr lang="en-US" sz="1200" b="1" dirty="0">
                <a:solidFill>
                  <a:srgbClr val="F6C90E"/>
                </a:solidFill>
                <a:latin typeface="Calibri" pitchFamily="34" charset="0"/>
                <a:ea typeface="Calibri" pitchFamily="34" charset="-122"/>
                <a:cs typeface="Calibri" pitchFamily="34" charset="-120"/>
              </a:rPr>
              <a:t>Go Deeper:</a:t>
            </a:r>
            <a:endParaRPr lang="en-US" sz="1200" dirty="0"/>
          </a:p>
        </p:txBody>
      </p:sp>
      <p:sp>
        <p:nvSpPr>
          <p:cNvPr id="8" name="Shape 6"/>
          <p:cNvSpPr/>
          <p:nvPr/>
        </p:nvSpPr>
        <p:spPr>
          <a:xfrm>
            <a:off x="365760" y="2761488"/>
            <a:ext cx="4114800" cy="1417320"/>
          </a:xfrm>
          <a:prstGeom prst="rect">
            <a:avLst/>
          </a:prstGeom>
          <a:solidFill>
            <a:srgbClr val="1A3A5C"/>
          </a:solidFill>
          <a:ln w="12700">
            <a:solidFill>
              <a:srgbClr val="1A3A5C"/>
            </a:solidFill>
            <a:prstDash val="solid"/>
          </a:ln>
        </p:spPr>
      </p:sp>
      <p:sp>
        <p:nvSpPr>
          <p:cNvPr id="9" name="Text 7"/>
          <p:cNvSpPr/>
          <p:nvPr/>
        </p:nvSpPr>
        <p:spPr>
          <a:xfrm>
            <a:off x="475488" y="2825496"/>
            <a:ext cx="3895344" cy="12893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Your friend pushes a small toy car and it rolls 10 feet. They push a real car with the same finger. What happens? Why does mass make such a big difference?</a:t>
            </a:r>
            <a:endParaRPr lang="en-US" sz="1300" dirty="0"/>
          </a:p>
        </p:txBody>
      </p:sp>
      <p:sp>
        <p:nvSpPr>
          <p:cNvPr id="10" name="Shape 8"/>
          <p:cNvSpPr/>
          <p:nvPr/>
        </p:nvSpPr>
        <p:spPr>
          <a:xfrm>
            <a:off x="4663440" y="2761488"/>
            <a:ext cx="4114800" cy="1417320"/>
          </a:xfrm>
          <a:prstGeom prst="rect">
            <a:avLst/>
          </a:prstGeom>
          <a:solidFill>
            <a:srgbClr val="1A3A5C"/>
          </a:solidFill>
          <a:ln w="12700">
            <a:solidFill>
              <a:srgbClr val="1A3A5C"/>
            </a:solidFill>
            <a:prstDash val="solid"/>
          </a:ln>
        </p:spPr>
      </p:sp>
      <p:sp>
        <p:nvSpPr>
          <p:cNvPr id="11" name="Text 9"/>
          <p:cNvSpPr/>
          <p:nvPr/>
        </p:nvSpPr>
        <p:spPr>
          <a:xfrm>
            <a:off x="4773168" y="2825496"/>
            <a:ext cx="3895344" cy="12893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Engineers design car brakes to stop the car safely. Why does stopping a heavier car require more braking force than stopping a lighter car? How does mass connect to this?</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Elaborate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73352" cy="274320"/>
          </a:xfrm>
          <a:prstGeom prst="rect">
            <a:avLst/>
          </a:prstGeom>
          <a:solidFill>
            <a:srgbClr val="1A3A5C"/>
          </a:solidFill>
          <a:ln w="12700">
            <a:solidFill>
              <a:srgbClr val="1A3A5C"/>
            </a:solidFill>
            <a:prstDash val="solid"/>
          </a:ln>
        </p:spPr>
      </p:sp>
      <p:sp>
        <p:nvSpPr>
          <p:cNvPr id="3" name="Text 1"/>
          <p:cNvSpPr/>
          <p:nvPr/>
        </p:nvSpPr>
        <p:spPr>
          <a:xfrm>
            <a:off x="365760" y="20116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1A1A2E"/>
                </a:solidFill>
                <a:latin typeface="Cambria" pitchFamily="34" charset="0"/>
                <a:ea typeface="Cambria" pitchFamily="34" charset="-122"/>
                <a:cs typeface="Cambria" pitchFamily="34" charset="-120"/>
              </a:rPr>
              <a:t>Assignment -- Parts A and B</a:t>
            </a:r>
            <a:endParaRPr lang="en-US" sz="1900" dirty="0"/>
          </a:p>
        </p:txBody>
      </p:sp>
      <p:sp>
        <p:nvSpPr>
          <p:cNvPr id="5" name="Shape 3"/>
          <p:cNvSpPr/>
          <p:nvPr/>
        </p:nvSpPr>
        <p:spPr>
          <a:xfrm>
            <a:off x="365760" y="987552"/>
            <a:ext cx="8412480" cy="1234440"/>
          </a:xfrm>
          <a:prstGeom prst="rect">
            <a:avLst/>
          </a:prstGeom>
          <a:solidFill>
            <a:srgbClr val="D6EAF8"/>
          </a:solidFill>
          <a:ln w="12700">
            <a:solidFill>
              <a:srgbClr val="D6EAF8"/>
            </a:solidFill>
            <a:prstDash val="solid"/>
          </a:ln>
        </p:spPr>
      </p:sp>
      <p:sp>
        <p:nvSpPr>
          <p:cNvPr id="6" name="Text 4"/>
          <p:cNvSpPr/>
          <p:nvPr/>
        </p:nvSpPr>
        <p:spPr>
          <a:xfrm>
            <a:off x="475488" y="1051560"/>
            <a:ext cx="8193024" cy="110642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PART A -- Data Table and Bar Graph: Take a clear photo of your completed data table AND your bar graph from your notebook. Type your distances for both objects and both tug-of-war results below.</a:t>
            </a:r>
            <a:endParaRPr lang="en-US" sz="1200" dirty="0"/>
          </a:p>
        </p:txBody>
      </p:sp>
      <p:sp>
        <p:nvSpPr>
          <p:cNvPr id="7" name="Shape 5"/>
          <p:cNvSpPr/>
          <p:nvPr/>
        </p:nvSpPr>
        <p:spPr>
          <a:xfrm>
            <a:off x="365760" y="2286000"/>
            <a:ext cx="8412480" cy="2103120"/>
          </a:xfrm>
          <a:prstGeom prst="rect">
            <a:avLst/>
          </a:prstGeom>
          <a:solidFill>
            <a:srgbClr val="D6EAF8"/>
          </a:solidFill>
          <a:ln w="12700">
            <a:solidFill>
              <a:srgbClr val="D6EAF8"/>
            </a:solidFill>
            <a:prstDash val="solid"/>
          </a:ln>
        </p:spPr>
      </p:sp>
      <p:sp>
        <p:nvSpPr>
          <p:cNvPr id="8" name="Text 6"/>
          <p:cNvSpPr/>
          <p:nvPr/>
        </p:nvSpPr>
        <p:spPr>
          <a:xfrm>
            <a:off x="475488" y="2350008"/>
            <a:ext cx="8193024" cy="197510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PART B -- Evidence Questions</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1. In the mass test, you used the same force on both objects. Why did they move different distances? Use the word mass.</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2. In the tug-of-war, the rope did not move when pulls were equal. What made it start moving? What changed?</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3. Imagine you ran the mass test on ice instead of the floor. Would the results be the same or different? Why?</a:t>
            </a:r>
            <a:endParaRPr lang="en-US" sz="1200" dirty="0"/>
          </a:p>
        </p:txBody>
      </p:sp>
      <p:sp>
        <p:nvSpPr>
          <p:cNvPr id="9" name="Shape 7"/>
          <p:cNvSpPr/>
          <p:nvPr/>
        </p:nvSpPr>
        <p:spPr>
          <a:xfrm>
            <a:off x="0" y="4896612"/>
            <a:ext cx="9144000" cy="246888"/>
          </a:xfrm>
          <a:prstGeom prst="rect">
            <a:avLst/>
          </a:prstGeom>
          <a:solidFill>
            <a:srgbClr val="F6C90E"/>
          </a:solidFill>
          <a:ln w="12700">
            <a:solidFill>
              <a:srgbClr val="F6C90E"/>
            </a:solidFill>
            <a:prstDash val="solid"/>
          </a:ln>
        </p:spPr>
      </p:sp>
      <p:sp>
        <p:nvSpPr>
          <p:cNvPr id="10" name="Text 8"/>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Assignment A &amp; B</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73352" cy="274320"/>
          </a:xfrm>
          <a:prstGeom prst="rect">
            <a:avLst/>
          </a:prstGeom>
          <a:solidFill>
            <a:srgbClr val="1A3A5C"/>
          </a:solidFill>
          <a:ln w="12700">
            <a:solidFill>
              <a:srgbClr val="1A3A5C"/>
            </a:solidFill>
            <a:prstDash val="solid"/>
          </a:ln>
        </p:spPr>
      </p:sp>
      <p:sp>
        <p:nvSpPr>
          <p:cNvPr id="3" name="Text 1"/>
          <p:cNvSpPr/>
          <p:nvPr/>
        </p:nvSpPr>
        <p:spPr>
          <a:xfrm>
            <a:off x="365760" y="20116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1A1A2E"/>
                </a:solidFill>
                <a:latin typeface="Cambria" pitchFamily="34" charset="0"/>
                <a:ea typeface="Cambria" pitchFamily="34" charset="-122"/>
                <a:cs typeface="Cambria" pitchFamily="34" charset="-120"/>
              </a:rPr>
              <a:t>Assignment -- Part C (CER)</a:t>
            </a:r>
            <a:endParaRPr lang="en-US" sz="1900" dirty="0"/>
          </a:p>
        </p:txBody>
      </p:sp>
      <p:sp>
        <p:nvSpPr>
          <p:cNvPr id="5" name="Shape 3"/>
          <p:cNvSpPr/>
          <p:nvPr/>
        </p:nvSpPr>
        <p:spPr>
          <a:xfrm>
            <a:off x="365760" y="987552"/>
            <a:ext cx="8412480" cy="566928"/>
          </a:xfrm>
          <a:prstGeom prst="rect">
            <a:avLst/>
          </a:prstGeom>
          <a:solidFill>
            <a:srgbClr val="D6EAF8"/>
          </a:solidFill>
          <a:ln w="12700">
            <a:solidFill>
              <a:srgbClr val="D6EAF8"/>
            </a:solidFill>
            <a:prstDash val="solid"/>
          </a:ln>
        </p:spPr>
      </p:sp>
      <p:sp>
        <p:nvSpPr>
          <p:cNvPr id="6" name="Text 4"/>
          <p:cNvSpPr/>
          <p:nvPr/>
        </p:nvSpPr>
        <p:spPr>
          <a:xfrm>
            <a:off x="475488" y="1051560"/>
            <a:ext cx="8193024" cy="43891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PART C: Do your two experiments prove the rules about mass and balanced forces? Use your data as evidence to defend your claim.</a:t>
            </a:r>
            <a:endParaRPr lang="en-US" sz="1300" dirty="0"/>
          </a:p>
        </p:txBody>
      </p:sp>
      <p:sp>
        <p:nvSpPr>
          <p:cNvPr id="7" name="Shape 5"/>
          <p:cNvSpPr/>
          <p:nvPr/>
        </p:nvSpPr>
        <p:spPr>
          <a:xfrm>
            <a:off x="365760" y="1627632"/>
            <a:ext cx="8412480" cy="640080"/>
          </a:xfrm>
          <a:prstGeom prst="rect">
            <a:avLst/>
          </a:prstGeom>
          <a:solidFill>
            <a:srgbClr val="E8F5E9"/>
          </a:solidFill>
          <a:ln w="12700">
            <a:solidFill>
              <a:srgbClr val="E8F5E9"/>
            </a:solidFill>
            <a:prstDash val="solid"/>
          </a:ln>
        </p:spPr>
      </p:sp>
      <p:sp>
        <p:nvSpPr>
          <p:cNvPr id="8" name="Text 6"/>
          <p:cNvSpPr/>
          <p:nvPr/>
        </p:nvSpPr>
        <p:spPr>
          <a:xfrm>
            <a:off x="475488" y="1691640"/>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CLAIM: CLAIM -- What do your two experiments prove about mass and balanced forces? One clear sentence.</a:t>
            </a:r>
            <a:endParaRPr lang="en-US" sz="1200" dirty="0"/>
          </a:p>
        </p:txBody>
      </p:sp>
      <p:sp>
        <p:nvSpPr>
          <p:cNvPr id="9" name="Shape 7"/>
          <p:cNvSpPr/>
          <p:nvPr/>
        </p:nvSpPr>
        <p:spPr>
          <a:xfrm>
            <a:off x="365760" y="2340864"/>
            <a:ext cx="8412480" cy="640080"/>
          </a:xfrm>
          <a:prstGeom prst="rect">
            <a:avLst/>
          </a:prstGeom>
          <a:solidFill>
            <a:srgbClr val="E8F5E9"/>
          </a:solidFill>
          <a:ln w="12700">
            <a:solidFill>
              <a:srgbClr val="E8F5E9"/>
            </a:solidFill>
            <a:prstDash val="solid"/>
          </a:ln>
        </p:spPr>
      </p:sp>
      <p:sp>
        <p:nvSpPr>
          <p:cNvPr id="10" name="Text 8"/>
          <p:cNvSpPr/>
          <p:nvPr/>
        </p:nvSpPr>
        <p:spPr>
          <a:xfrm>
            <a:off x="475488" y="2404872"/>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EVIDENCE: EVIDENCE -- What data did you collect? Include distances from the mass test and observations from the tug-of-war.</a:t>
            </a:r>
            <a:endParaRPr lang="en-US" sz="1200" dirty="0"/>
          </a:p>
        </p:txBody>
      </p:sp>
      <p:sp>
        <p:nvSpPr>
          <p:cNvPr id="11" name="Shape 9"/>
          <p:cNvSpPr/>
          <p:nvPr/>
        </p:nvSpPr>
        <p:spPr>
          <a:xfrm>
            <a:off x="365760" y="3054096"/>
            <a:ext cx="8412480" cy="640080"/>
          </a:xfrm>
          <a:prstGeom prst="rect">
            <a:avLst/>
          </a:prstGeom>
          <a:solidFill>
            <a:srgbClr val="E8F5E9"/>
          </a:solidFill>
          <a:ln w="12700">
            <a:solidFill>
              <a:srgbClr val="E8F5E9"/>
            </a:solidFill>
            <a:prstDash val="solid"/>
          </a:ln>
        </p:spPr>
      </p:sp>
      <p:sp>
        <p:nvSpPr>
          <p:cNvPr id="12" name="Text 10"/>
          <p:cNvSpPr/>
          <p:nvPr/>
        </p:nvSpPr>
        <p:spPr>
          <a:xfrm>
            <a:off x="475488" y="3118104"/>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REASONING: This makes sense because objects with more mass resist motion more, and balanced forces cancel out, which means...</a:t>
            </a:r>
            <a:endParaRPr lang="en-US" sz="1200" dirty="0"/>
          </a:p>
        </p:txBody>
      </p:sp>
      <p:sp>
        <p:nvSpPr>
          <p:cNvPr id="13" name="Shape 11"/>
          <p:cNvSpPr/>
          <p:nvPr/>
        </p:nvSpPr>
        <p:spPr>
          <a:xfrm>
            <a:off x="365760" y="3767328"/>
            <a:ext cx="8412480" cy="530352"/>
          </a:xfrm>
          <a:prstGeom prst="rect">
            <a:avLst/>
          </a:prstGeom>
          <a:solidFill>
            <a:srgbClr val="FFF8E1"/>
          </a:solidFill>
          <a:ln w="12700">
            <a:solidFill>
              <a:srgbClr val="FFF8E1"/>
            </a:solidFill>
            <a:prstDash val="solid"/>
          </a:ln>
        </p:spPr>
      </p:sp>
      <p:sp>
        <p:nvSpPr>
          <p:cNvPr id="14" name="Text 12"/>
          <p:cNvSpPr/>
          <p:nvPr/>
        </p:nvSpPr>
        <p:spPr>
          <a:xfrm>
            <a:off x="475488" y="3831336"/>
            <a:ext cx="8193024" cy="402336"/>
          </a:xfrm>
          <a:prstGeom prst="rect">
            <a:avLst/>
          </a:prstGeom>
          <a:noFill/>
          <a:ln/>
        </p:spPr>
        <p:txBody>
          <a:bodyPr wrap="square" lIns="0" tIns="0" rIns="0" bIns="0"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Vocab Check: Use at least TWO of: mass, balanced forces, unbalanced forces, motion, observation, evidence</a:t>
            </a:r>
            <a:endParaRPr lang="en-US" sz="1100" dirty="0"/>
          </a:p>
        </p:txBody>
      </p:sp>
      <p:sp>
        <p:nvSpPr>
          <p:cNvPr id="15" name="Shape 13"/>
          <p:cNvSpPr/>
          <p:nvPr/>
        </p:nvSpPr>
        <p:spPr>
          <a:xfrm>
            <a:off x="0" y="4896612"/>
            <a:ext cx="9144000" cy="246888"/>
          </a:xfrm>
          <a:prstGeom prst="rect">
            <a:avLst/>
          </a:prstGeom>
          <a:solidFill>
            <a:srgbClr val="F6C90E"/>
          </a:solidFill>
          <a:ln w="12700">
            <a:solidFill>
              <a:srgbClr val="F6C90E"/>
            </a:solidFill>
            <a:prstDash val="solid"/>
          </a:ln>
        </p:spPr>
      </p:sp>
      <p:sp>
        <p:nvSpPr>
          <p:cNvPr id="16" name="Text 14"/>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Assignment C</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201168"/>
            <a:ext cx="1828800" cy="274320"/>
          </a:xfrm>
          <a:prstGeom prst="rect">
            <a:avLst/>
          </a:prstGeom>
          <a:solidFill>
            <a:srgbClr val="1A3A5C"/>
          </a:solidFill>
          <a:ln w="12700">
            <a:solidFill>
              <a:srgbClr val="1A3A5C"/>
            </a:solidFill>
            <a:prstDash val="solid"/>
          </a:ln>
        </p:spPr>
      </p:sp>
      <p:sp>
        <p:nvSpPr>
          <p:cNvPr id="3" name="Text 1"/>
          <p:cNvSpPr/>
          <p:nvPr/>
        </p:nvSpPr>
        <p:spPr>
          <a:xfrm>
            <a:off x="365760" y="201168"/>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REVISE YOUR THINKING</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How Did Your Thinking Change?</a:t>
            </a:r>
            <a:endParaRPr lang="en-US" sz="2000" dirty="0"/>
          </a:p>
        </p:txBody>
      </p:sp>
      <p:sp>
        <p:nvSpPr>
          <p:cNvPr id="5" name="Text 3"/>
          <p:cNvSpPr/>
          <p:nvPr/>
        </p:nvSpPr>
        <p:spPr>
          <a:xfrm>
            <a:off x="365760" y="1042416"/>
            <a:ext cx="8412480" cy="274320"/>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Look back at your prediction. Write 3-4 sentences answering these:</a:t>
            </a:r>
            <a:endParaRPr lang="en-US" sz="1200" dirty="0"/>
          </a:p>
        </p:txBody>
      </p:sp>
      <p:sp>
        <p:nvSpPr>
          <p:cNvPr id="6" name="Shape 4"/>
          <p:cNvSpPr/>
          <p:nvPr/>
        </p:nvSpPr>
        <p:spPr>
          <a:xfrm>
            <a:off x="365760" y="1389888"/>
            <a:ext cx="292608" cy="292608"/>
          </a:xfrm>
          <a:prstGeom prst="rect">
            <a:avLst/>
          </a:prstGeom>
          <a:solidFill>
            <a:srgbClr val="1A3A5C"/>
          </a:solidFill>
          <a:ln w="12700">
            <a:solidFill>
              <a:srgbClr val="1A3A5C"/>
            </a:solidFill>
            <a:prstDash val="solid"/>
          </a:ln>
        </p:spPr>
      </p:sp>
      <p:sp>
        <p:nvSpPr>
          <p:cNvPr id="7" name="Text 5"/>
          <p:cNvSpPr/>
          <p:nvPr/>
        </p:nvSpPr>
        <p:spPr>
          <a:xfrm>
            <a:off x="365760" y="13898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Shape 6"/>
          <p:cNvSpPr/>
          <p:nvPr/>
        </p:nvSpPr>
        <p:spPr>
          <a:xfrm>
            <a:off x="768096" y="1389888"/>
            <a:ext cx="8010144" cy="1005840"/>
          </a:xfrm>
          <a:prstGeom prst="rect">
            <a:avLst/>
          </a:prstGeom>
          <a:solidFill>
            <a:srgbClr val="085E5D"/>
          </a:solidFill>
          <a:ln w="12700">
            <a:solidFill>
              <a:srgbClr val="085E5D"/>
            </a:solidFill>
            <a:prstDash val="solid"/>
          </a:ln>
        </p:spPr>
      </p:sp>
      <p:sp>
        <p:nvSpPr>
          <p:cNvPr id="9" name="Text 7"/>
          <p:cNvSpPr/>
          <p:nvPr/>
        </p:nvSpPr>
        <p:spPr>
          <a:xfrm>
            <a:off x="877824" y="1453896"/>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did you predict would happen in each experiment before you started?</a:t>
            </a:r>
            <a:endParaRPr lang="en-US" sz="1300" dirty="0"/>
          </a:p>
        </p:txBody>
      </p:sp>
      <p:sp>
        <p:nvSpPr>
          <p:cNvPr id="10" name="Shape 8"/>
          <p:cNvSpPr/>
          <p:nvPr/>
        </p:nvSpPr>
        <p:spPr>
          <a:xfrm>
            <a:off x="365760" y="2560320"/>
            <a:ext cx="292608" cy="292608"/>
          </a:xfrm>
          <a:prstGeom prst="rect">
            <a:avLst/>
          </a:prstGeom>
          <a:solidFill>
            <a:srgbClr val="1A3A5C"/>
          </a:solidFill>
          <a:ln w="12700">
            <a:solidFill>
              <a:srgbClr val="1A3A5C"/>
            </a:solidFill>
            <a:prstDash val="solid"/>
          </a:ln>
        </p:spPr>
      </p:sp>
      <p:sp>
        <p:nvSpPr>
          <p:cNvPr id="11" name="Text 9"/>
          <p:cNvSpPr/>
          <p:nvPr/>
        </p:nvSpPr>
        <p:spPr>
          <a:xfrm>
            <a:off x="365760" y="25603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768096" y="2560320"/>
            <a:ext cx="8010144" cy="1005840"/>
          </a:xfrm>
          <a:prstGeom prst="rect">
            <a:avLst/>
          </a:prstGeom>
          <a:solidFill>
            <a:srgbClr val="085E5D"/>
          </a:solidFill>
          <a:ln w="12700">
            <a:solidFill>
              <a:srgbClr val="085E5D"/>
            </a:solidFill>
            <a:prstDash val="solid"/>
          </a:ln>
        </p:spPr>
      </p:sp>
      <p:sp>
        <p:nvSpPr>
          <p:cNvPr id="13" name="Text 11"/>
          <p:cNvSpPr/>
          <p:nvPr/>
        </p:nvSpPr>
        <p:spPr>
          <a:xfrm>
            <a:off x="877824" y="2624328"/>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Did your real data match your predictions? What surprised you?</a:t>
            </a:r>
            <a:endParaRPr lang="en-US" sz="1300" dirty="0"/>
          </a:p>
        </p:txBody>
      </p:sp>
      <p:sp>
        <p:nvSpPr>
          <p:cNvPr id="14" name="Shape 12"/>
          <p:cNvSpPr/>
          <p:nvPr/>
        </p:nvSpPr>
        <p:spPr>
          <a:xfrm>
            <a:off x="365760" y="3730752"/>
            <a:ext cx="292608" cy="292608"/>
          </a:xfrm>
          <a:prstGeom prst="rect">
            <a:avLst/>
          </a:prstGeom>
          <a:solidFill>
            <a:srgbClr val="1A3A5C"/>
          </a:solidFill>
          <a:ln w="12700">
            <a:solidFill>
              <a:srgbClr val="1A3A5C"/>
            </a:solidFill>
            <a:prstDash val="solid"/>
          </a:ln>
        </p:spPr>
      </p:sp>
      <p:sp>
        <p:nvSpPr>
          <p:cNvPr id="15" name="Text 13"/>
          <p:cNvSpPr/>
          <p:nvPr/>
        </p:nvSpPr>
        <p:spPr>
          <a:xfrm>
            <a:off x="365760" y="37307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Shape 14"/>
          <p:cNvSpPr/>
          <p:nvPr/>
        </p:nvSpPr>
        <p:spPr>
          <a:xfrm>
            <a:off x="768096" y="3730752"/>
            <a:ext cx="8010144" cy="1005840"/>
          </a:xfrm>
          <a:prstGeom prst="rect">
            <a:avLst/>
          </a:prstGeom>
          <a:solidFill>
            <a:srgbClr val="085E5D"/>
          </a:solidFill>
          <a:ln w="12700">
            <a:solidFill>
              <a:srgbClr val="085E5D"/>
            </a:solidFill>
            <a:prstDash val="solid"/>
          </a:ln>
        </p:spPr>
      </p:sp>
      <p:sp>
        <p:nvSpPr>
          <p:cNvPr id="17" name="Text 15"/>
          <p:cNvSpPr/>
          <p:nvPr/>
        </p:nvSpPr>
        <p:spPr>
          <a:xfrm>
            <a:off x="877824" y="3794760"/>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is the most convincing piece of evidence you collected today?</a:t>
            </a:r>
            <a:endParaRPr lang="en-US" sz="1300" dirty="0"/>
          </a:p>
        </p:txBody>
      </p:sp>
      <p:sp>
        <p:nvSpPr>
          <p:cNvPr id="18" name="Shape 16"/>
          <p:cNvSpPr/>
          <p:nvPr/>
        </p:nvSpPr>
        <p:spPr>
          <a:xfrm>
            <a:off x="0" y="4896612"/>
            <a:ext cx="9144000" cy="246888"/>
          </a:xfrm>
          <a:prstGeom prst="rect">
            <a:avLst/>
          </a:prstGeom>
          <a:solidFill>
            <a:srgbClr val="F6C90E"/>
          </a:solidFill>
          <a:ln w="12700">
            <a:solidFill>
              <a:srgbClr val="F6C90E"/>
            </a:solidFill>
            <a:prstDash val="solid"/>
          </a:ln>
        </p:spPr>
      </p:sp>
      <p:sp>
        <p:nvSpPr>
          <p:cNvPr id="19" name="Text 17"/>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Revise Your Thinking</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Submission Checklist</a:t>
            </a:r>
            <a:endParaRPr lang="en-US" sz="2100" dirty="0"/>
          </a:p>
        </p:txBody>
      </p:sp>
      <p:sp>
        <p:nvSpPr>
          <p:cNvPr id="5" name="Shape 3"/>
          <p:cNvSpPr/>
          <p:nvPr/>
        </p:nvSpPr>
        <p:spPr>
          <a:xfrm>
            <a:off x="365760" y="1078992"/>
            <a:ext cx="8412480" cy="658368"/>
          </a:xfrm>
          <a:prstGeom prst="rect">
            <a:avLst/>
          </a:prstGeom>
          <a:solidFill>
            <a:srgbClr val="2E86AB"/>
          </a:solidFill>
          <a:ln w="12700">
            <a:solidFill>
              <a:srgbClr val="2E86AB"/>
            </a:solidFill>
            <a:prstDash val="solid"/>
          </a:ln>
        </p:spPr>
      </p:sp>
      <p:sp>
        <p:nvSpPr>
          <p:cNvPr id="6" name="Text 4"/>
          <p:cNvSpPr/>
          <p:nvPr/>
        </p:nvSpPr>
        <p:spPr>
          <a:xfrm>
            <a:off x="475488" y="1143000"/>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A: Data table with distances and tug-of-war results, plus bar graph</a:t>
            </a:r>
            <a:endParaRPr lang="en-US" sz="1200" dirty="0"/>
          </a:p>
        </p:txBody>
      </p:sp>
      <p:sp>
        <p:nvSpPr>
          <p:cNvPr id="7" name="Shape 5"/>
          <p:cNvSpPr/>
          <p:nvPr/>
        </p:nvSpPr>
        <p:spPr>
          <a:xfrm>
            <a:off x="365760" y="1828800"/>
            <a:ext cx="8412480" cy="658368"/>
          </a:xfrm>
          <a:prstGeom prst="rect">
            <a:avLst/>
          </a:prstGeom>
          <a:solidFill>
            <a:srgbClr val="2E86AB"/>
          </a:solidFill>
          <a:ln w="12700">
            <a:solidFill>
              <a:srgbClr val="2E86AB"/>
            </a:solidFill>
            <a:prstDash val="solid"/>
          </a:ln>
        </p:spPr>
      </p:sp>
      <p:sp>
        <p:nvSpPr>
          <p:cNvPr id="8" name="Text 6"/>
          <p:cNvSpPr/>
          <p:nvPr/>
        </p:nvSpPr>
        <p:spPr>
          <a:xfrm>
            <a:off x="475488" y="1892808"/>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B: All three evidence questions answered using your real data</a:t>
            </a:r>
            <a:endParaRPr lang="en-US" sz="1200" dirty="0"/>
          </a:p>
        </p:txBody>
      </p:sp>
      <p:sp>
        <p:nvSpPr>
          <p:cNvPr id="9" name="Shape 7"/>
          <p:cNvSpPr/>
          <p:nvPr/>
        </p:nvSpPr>
        <p:spPr>
          <a:xfrm>
            <a:off x="365760" y="2578608"/>
            <a:ext cx="8412480" cy="658368"/>
          </a:xfrm>
          <a:prstGeom prst="rect">
            <a:avLst/>
          </a:prstGeom>
          <a:solidFill>
            <a:srgbClr val="2E86AB"/>
          </a:solidFill>
          <a:ln w="12700">
            <a:solidFill>
              <a:srgbClr val="2E86AB"/>
            </a:solidFill>
            <a:prstDash val="solid"/>
          </a:ln>
        </p:spPr>
      </p:sp>
      <p:sp>
        <p:nvSpPr>
          <p:cNvPr id="10" name="Text 8"/>
          <p:cNvSpPr/>
          <p:nvPr/>
        </p:nvSpPr>
        <p:spPr>
          <a:xfrm>
            <a:off x="475488" y="2642616"/>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C: Claim, evidence with your measurements, and reasoning</a:t>
            </a:r>
            <a:endParaRPr lang="en-US" sz="1200" dirty="0"/>
          </a:p>
        </p:txBody>
      </p:sp>
      <p:sp>
        <p:nvSpPr>
          <p:cNvPr id="11" name="Shape 9"/>
          <p:cNvSpPr/>
          <p:nvPr/>
        </p:nvSpPr>
        <p:spPr>
          <a:xfrm>
            <a:off x="365760" y="3328416"/>
            <a:ext cx="8412480" cy="658368"/>
          </a:xfrm>
          <a:prstGeom prst="rect">
            <a:avLst/>
          </a:prstGeom>
          <a:solidFill>
            <a:srgbClr val="2E86AB"/>
          </a:solidFill>
          <a:ln w="12700">
            <a:solidFill>
              <a:srgbClr val="2E86AB"/>
            </a:solidFill>
            <a:prstDash val="solid"/>
          </a:ln>
        </p:spPr>
      </p:sp>
      <p:sp>
        <p:nvSpPr>
          <p:cNvPr id="12" name="Text 10"/>
          <p:cNvSpPr/>
          <p:nvPr/>
        </p:nvSpPr>
        <p:spPr>
          <a:xfrm>
            <a:off x="475488" y="3392424"/>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Revise Your Thinking: 3-4 sentences comparing predictions to real data</a:t>
            </a:r>
            <a:endParaRPr lang="en-US" sz="1200" dirty="0"/>
          </a:p>
        </p:txBody>
      </p:sp>
      <p:sp>
        <p:nvSpPr>
          <p:cNvPr id="13" name="Shape 11"/>
          <p:cNvSpPr/>
          <p:nvPr/>
        </p:nvSpPr>
        <p:spPr>
          <a:xfrm>
            <a:off x="365760" y="4078224"/>
            <a:ext cx="8412480" cy="658368"/>
          </a:xfrm>
          <a:prstGeom prst="rect">
            <a:avLst/>
          </a:prstGeom>
          <a:solidFill>
            <a:srgbClr val="2E86AB"/>
          </a:solidFill>
          <a:ln w="12700">
            <a:solidFill>
              <a:srgbClr val="2E86AB"/>
            </a:solidFill>
            <a:prstDash val="solid"/>
          </a:ln>
        </p:spPr>
      </p:sp>
      <p:sp>
        <p:nvSpPr>
          <p:cNvPr id="14" name="Text 12"/>
          <p:cNvSpPr/>
          <p:nvPr/>
        </p:nvSpPr>
        <p:spPr>
          <a:xfrm>
            <a:off x="475488" y="4142232"/>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Vocab Check: At least TWO lesson words used accurately</a:t>
            </a:r>
            <a:endParaRPr lang="en-US" sz="1200" dirty="0"/>
          </a:p>
        </p:txBody>
      </p:sp>
      <p:sp>
        <p:nvSpPr>
          <p:cNvPr id="15" name="Text 13"/>
          <p:cNvSpPr/>
          <p:nvPr/>
        </p:nvSpPr>
        <p:spPr>
          <a:xfrm>
            <a:off x="365760" y="4617720"/>
            <a:ext cx="8412480" cy="274320"/>
          </a:xfrm>
          <a:prstGeom prst="rect">
            <a:avLst/>
          </a:prstGeom>
          <a:noFill/>
          <a:ln/>
        </p:spPr>
        <p:txBody>
          <a:bodyPr wrap="square" rtlCol="0" anchor="ctr"/>
          <a:lstStyle/>
          <a:p>
            <a:pPr algn="ctr" indent="0" marL="0">
              <a:buNone/>
            </a:pPr>
            <a:r>
              <a:rPr lang="en-US" sz="1100" dirty="0">
                <a:solidFill>
                  <a:srgbClr val="F6C90E"/>
                </a:solidFill>
                <a:latin typeface="Calibri" pitchFamily="34" charset="0"/>
                <a:ea typeface="Calibri" pitchFamily="34" charset="-122"/>
                <a:cs typeface="Calibri" pitchFamily="34" charset="-120"/>
              </a:rPr>
              <a:t>Turn in via Canvas: copy text, photo your notebook, or record a video.</a:t>
            </a:r>
            <a:endParaRPr lang="en-US" sz="1100" dirty="0"/>
          </a:p>
        </p:txBody>
      </p:sp>
      <p:sp>
        <p:nvSpPr>
          <p:cNvPr id="16" name="Shape 14"/>
          <p:cNvSpPr/>
          <p:nvPr/>
        </p:nvSpPr>
        <p:spPr>
          <a:xfrm>
            <a:off x="0" y="4896612"/>
            <a:ext cx="9144000" cy="246888"/>
          </a:xfrm>
          <a:prstGeom prst="rect">
            <a:avLst/>
          </a:prstGeom>
          <a:solidFill>
            <a:srgbClr val="F6C90E"/>
          </a:solidFill>
          <a:ln w="12700">
            <a:solidFill>
              <a:srgbClr val="F6C90E"/>
            </a:solidFill>
            <a:prstDash val="solid"/>
          </a:ln>
        </p:spPr>
      </p:sp>
      <p:sp>
        <p:nvSpPr>
          <p:cNvPr id="17" name="Text 15"/>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16.02  |  Optima Academy Online  |  SC.5.P.13.3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2026-08-28T17:40:29Z</dcterms:created>
  <dcterms:modified xsi:type="dcterms:W3CDTF">2026-08-28T17:40:29Z</dcterms:modified>
</cp:coreProperties>
</file>