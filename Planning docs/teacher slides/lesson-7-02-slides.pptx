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Mix the three materials in a bowl BEFORE students see it — the moment of mixing is the phenomenon.
Ask: "Does anyone know for certain all three materials are in here? How?"
Bridge: today we use properties to un-mix what was mixed.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write independently.
Listen for the property language — not just the tool. Magnet because paper clips are MAGNETIC. Strainer because rice is LARGER than salt. Water because salt is SOLUBLE.
Those are the three reasons order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step carefully. After Step 2: "What is in the strainer? What is in the bowl below?"
After Step 3: "How do you know the salt dissolved? Could you weigh the water before and after to confirm?"
This is conservation of matter in action — the salt is still there, just dissolved.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Q1: push through each wrong order: water first → salt dissolves before sieve, wet rice harder to handle, magnet still works but messy.
For Q2: evaporation — heat the water until it evaporates, salt crystals remain. That's how sea salt is made. This is conservation: the salt never disappeared.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that reasoning explains WHY the sequence matters — not just what the steps are.
Ask: "Could you have done Step 2 before Step 1? What would have happened to the paper clips inside the strainer?"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480560"/>
            <a:ext cx="9144000" cy="658368"/>
          </a:xfrm>
          <a:prstGeom prst="rect">
            <a:avLst/>
          </a:prstGeom>
          <a:solidFill>
            <a:srgbClr val="0E7C7B"/>
          </a:solidFill>
          <a:ln w="12700">
            <a:solidFill>
              <a:srgbClr val="0E7C7B"/>
            </a:solidFill>
            <a:prstDash val="solid"/>
          </a:ln>
        </p:spPr>
      </p:sp>
      <p:sp>
        <p:nvSpPr>
          <p:cNvPr id="3" name="Shape 1"/>
          <p:cNvSpPr/>
          <p:nvPr/>
        </p:nvSpPr>
        <p:spPr>
          <a:xfrm>
            <a:off x="365760" y="164592"/>
            <a:ext cx="1828800" cy="274320"/>
          </a:xfrm>
          <a:prstGeom prst="rect">
            <a:avLst/>
          </a:prstGeom>
          <a:solidFill>
            <a:srgbClr val="0E7C7B"/>
          </a:solidFill>
          <a:ln w="12700">
            <a:solidFill>
              <a:srgbClr val="0E7C7B"/>
            </a:solidFill>
            <a:prstDash val="solid"/>
          </a:ln>
        </p:spPr>
      </p:sp>
      <p:sp>
        <p:nvSpPr>
          <p:cNvPr id="4" name="Text 2"/>
          <p:cNvSpPr/>
          <p:nvPr/>
        </p:nvSpPr>
        <p:spPr>
          <a:xfrm>
            <a:off x="365760" y="164592"/>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Q1 · UNIT 2 — MATTER</a:t>
            </a:r>
            <a:endParaRPr lang="en-US" sz="1000" dirty="0"/>
          </a:p>
        </p:txBody>
      </p:sp>
      <p:sp>
        <p:nvSpPr>
          <p:cNvPr id="5" name="Text 3"/>
          <p:cNvSpPr/>
          <p:nvPr/>
        </p:nvSpPr>
        <p:spPr>
          <a:xfrm>
            <a:off x="365760" y="512064"/>
            <a:ext cx="8229600" cy="365760"/>
          </a:xfrm>
          <a:prstGeom prst="rect">
            <a:avLst/>
          </a:prstGeom>
          <a:noFill/>
          <a:ln/>
        </p:spPr>
        <p:txBody>
          <a:bodyPr wrap="square" lIns="0" tIns="0" rIns="0" bIns="0" rtlCol="0" anchor="ctr"/>
          <a:lstStyle/>
          <a:p>
            <a:pPr algn="l" indent="0" marL="0">
              <a:buNone/>
            </a:pPr>
            <a:r>
              <a:rPr lang="en-US" sz="1400" b="1" dirty="0">
                <a:solidFill>
                  <a:srgbClr val="F6C90E"/>
                </a:solidFill>
                <a:latin typeface="Calibri" pitchFamily="34" charset="0"/>
                <a:ea typeface="Calibri" pitchFamily="34" charset="-122"/>
                <a:cs typeface="Calibri" pitchFamily="34" charset="-120"/>
              </a:rPr>
              <a:t>Lesson 7.02</a:t>
            </a:r>
            <a:endParaRPr lang="en-US" sz="1400" dirty="0"/>
          </a:p>
        </p:txBody>
      </p:sp>
      <p:sp>
        <p:nvSpPr>
          <p:cNvPr id="6" name="Text 4"/>
          <p:cNvSpPr/>
          <p:nvPr/>
        </p:nvSpPr>
        <p:spPr>
          <a:xfrm>
            <a:off x="365760" y="877824"/>
            <a:ext cx="8412480" cy="91440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Investigation: Separate a Solid Mixture</a:t>
            </a:r>
            <a:endParaRPr lang="en-US" sz="3400" dirty="0"/>
          </a:p>
        </p:txBody>
      </p:sp>
      <p:sp>
        <p:nvSpPr>
          <p:cNvPr id="7" name="Text 5"/>
          <p:cNvSpPr/>
          <p:nvPr/>
        </p:nvSpPr>
        <p:spPr>
          <a:xfrm>
            <a:off x="365760" y="1828800"/>
            <a:ext cx="8229600" cy="320040"/>
          </a:xfrm>
          <a:prstGeom prst="rect">
            <a:avLst/>
          </a:prstGeom>
          <a:noFill/>
          <a:ln/>
        </p:spPr>
        <p:txBody>
          <a:bodyPr wrap="square" lIns="0" tIns="0" rIns="0" bIns="0" rtlCol="0" anchor="ctr"/>
          <a:lstStyle/>
          <a:p>
            <a:pPr algn="l" indent="0" marL="0">
              <a:buNone/>
            </a:pPr>
            <a:r>
              <a:rPr lang="en-US" sz="1300" dirty="0">
                <a:solidFill>
                  <a:srgbClr val="5E7B9A"/>
                </a:solidFill>
                <a:latin typeface="Calibri" pitchFamily="34" charset="0"/>
                <a:ea typeface="Calibri" pitchFamily="34" charset="-122"/>
                <a:cs typeface="Calibri" pitchFamily="34" charset="-120"/>
              </a:rPr>
              <a:t>Q1 · Unit 2 — Matter   |   Week 7   |   SC.5.P.8.3</a:t>
            </a:r>
            <a:endParaRPr lang="en-US" sz="1300" dirty="0"/>
          </a:p>
        </p:txBody>
      </p:sp>
      <p:sp>
        <p:nvSpPr>
          <p:cNvPr id="8" name="Shape 6"/>
          <p:cNvSpPr/>
          <p:nvPr/>
        </p:nvSpPr>
        <p:spPr>
          <a:xfrm>
            <a:off x="365760" y="2304288"/>
            <a:ext cx="8412480" cy="438912"/>
          </a:xfrm>
          <a:prstGeom prst="rect">
            <a:avLst/>
          </a:prstGeom>
          <a:solidFill>
            <a:srgbClr val="2C4A6E"/>
          </a:solidFill>
          <a:ln w="12700">
            <a:solidFill>
              <a:srgbClr val="2C4A6E"/>
            </a:solidFill>
            <a:prstDash val="solid"/>
          </a:ln>
        </p:spPr>
      </p:sp>
      <p:sp>
        <p:nvSpPr>
          <p:cNvPr id="9" name="Text 7"/>
          <p:cNvSpPr/>
          <p:nvPr/>
        </p:nvSpPr>
        <p:spPr>
          <a:xfrm>
            <a:off x="457200" y="2359152"/>
            <a:ext cx="822960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Follow a three-step plan to separate a real mixture.</a:t>
            </a:r>
            <a:endParaRPr lang="en-US" sz="1300" dirty="0"/>
          </a:p>
        </p:txBody>
      </p:sp>
      <p:sp>
        <p:nvSpPr>
          <p:cNvPr id="10" name="Shape 8"/>
          <p:cNvSpPr/>
          <p:nvPr/>
        </p:nvSpPr>
        <p:spPr>
          <a:xfrm>
            <a:off x="365760" y="2807208"/>
            <a:ext cx="8412480" cy="438912"/>
          </a:xfrm>
          <a:prstGeom prst="rect">
            <a:avLst/>
          </a:prstGeom>
          <a:solidFill>
            <a:srgbClr val="2C4A6E"/>
          </a:solidFill>
          <a:ln w="12700">
            <a:solidFill>
              <a:srgbClr val="2C4A6E"/>
            </a:solidFill>
            <a:prstDash val="solid"/>
          </a:ln>
        </p:spPr>
      </p:sp>
      <p:sp>
        <p:nvSpPr>
          <p:cNvPr id="11" name="Text 9"/>
          <p:cNvSpPr/>
          <p:nvPr/>
        </p:nvSpPr>
        <p:spPr>
          <a:xfrm>
            <a:off x="457200" y="2862072"/>
            <a:ext cx="822960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Identify which property does the work at each step.</a:t>
            </a:r>
            <a:endParaRPr lang="en-US" sz="1300" dirty="0"/>
          </a:p>
        </p:txBody>
      </p:sp>
      <p:sp>
        <p:nvSpPr>
          <p:cNvPr id="12" name="Shape 10"/>
          <p:cNvSpPr/>
          <p:nvPr/>
        </p:nvSpPr>
        <p:spPr>
          <a:xfrm>
            <a:off x="365760" y="3310128"/>
            <a:ext cx="8412480" cy="438912"/>
          </a:xfrm>
          <a:prstGeom prst="rect">
            <a:avLst/>
          </a:prstGeom>
          <a:solidFill>
            <a:srgbClr val="2C4A6E"/>
          </a:solidFill>
          <a:ln w="12700">
            <a:solidFill>
              <a:srgbClr val="2C4A6E"/>
            </a:solidFill>
            <a:prstDash val="solid"/>
          </a:ln>
        </p:spPr>
      </p:sp>
      <p:sp>
        <p:nvSpPr>
          <p:cNvPr id="13" name="Text 11"/>
          <p:cNvSpPr/>
          <p:nvPr/>
        </p:nvSpPr>
        <p:spPr>
          <a:xfrm>
            <a:off x="457200" y="3364992"/>
            <a:ext cx="8229600" cy="329184"/>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Defend the method using evidence.</a:t>
            </a:r>
            <a:endParaRPr lang="en-US" sz="1300" dirty="0"/>
          </a:p>
        </p:txBody>
      </p:sp>
      <p:sp>
        <p:nvSpPr>
          <p:cNvPr id="14" name="Text 12"/>
          <p:cNvSpPr/>
          <p:nvPr/>
        </p:nvSpPr>
        <p:spPr>
          <a:xfrm>
            <a:off x="365760" y="4590288"/>
            <a:ext cx="8412480" cy="384048"/>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Week 7  |  SC.5.P.8.3  |  Separating Mixtures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440180" cy="274320"/>
          </a:xfrm>
          <a:prstGeom prst="rect">
            <a:avLst/>
          </a:prstGeom>
          <a:solidFill>
            <a:srgbClr val="0E7C7B"/>
          </a:solidFill>
          <a:ln w="12700">
            <a:solidFill>
              <a:srgbClr val="0E7C7B"/>
            </a:solidFill>
            <a:prstDash val="solid"/>
          </a:ln>
        </p:spPr>
      </p:sp>
      <p:sp>
        <p:nvSpPr>
          <p:cNvPr id="3" name="Text 1"/>
          <p:cNvSpPr/>
          <p:nvPr/>
        </p:nvSpPr>
        <p:spPr>
          <a:xfrm>
            <a:off x="365760" y="109728"/>
            <a:ext cx="14401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NOTICE &amp; WONDER</a:t>
            </a:r>
            <a:endParaRPr lang="en-US" sz="1000" dirty="0"/>
          </a:p>
        </p:txBody>
      </p:sp>
      <p:sp>
        <p:nvSpPr>
          <p:cNvPr id="4" name="Text 2"/>
          <p:cNvSpPr/>
          <p:nvPr/>
        </p:nvSpPr>
        <p:spPr>
          <a:xfrm>
            <a:off x="365760" y="457200"/>
            <a:ext cx="8412480" cy="566928"/>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You Are Mixing On Purpose — Then Getting It Back</a:t>
            </a:r>
            <a:endParaRPr lang="en-US" sz="2700" dirty="0"/>
          </a:p>
        </p:txBody>
      </p:sp>
      <p:sp>
        <p:nvSpPr>
          <p:cNvPr id="5" name="Text 3"/>
          <p:cNvSpPr/>
          <p:nvPr/>
        </p:nvSpPr>
        <p:spPr>
          <a:xfrm>
            <a:off x="365760" y="1097280"/>
            <a:ext cx="8412480" cy="804672"/>
          </a:xfrm>
          <a:prstGeom prst="rect">
            <a:avLst/>
          </a:prstGeom>
          <a:noFill/>
          <a:ln/>
        </p:spPr>
        <p:txBody>
          <a:bodyPr wrap="square" lIns="0" tIns="0" rIns="0" bIns="0" rtlCol="0" anchor="ctr"/>
          <a:lstStyle/>
          <a:p>
            <a:pPr indent="0" marL="0">
              <a:buNone/>
            </a:pPr>
            <a:r>
              <a:rPr lang="en-US" sz="1600" dirty="0">
                <a:solidFill>
                  <a:srgbClr val="EBF4FA"/>
                </a:solidFill>
                <a:latin typeface="Calibri" pitchFamily="34" charset="0"/>
                <a:ea typeface="Calibri" pitchFamily="34" charset="-122"/>
                <a:cs typeface="Calibri" pitchFamily="34" charset="-120"/>
              </a:rPr>
              <a:t>Today you will mix three materials — rice, paper clips, and salt — into one bowl. Then you will get all three back into separate piles without using your fingers. You have three tools: a magnet, a strainer, and water.</a:t>
            </a:r>
            <a:endParaRPr lang="en-US" sz="1600" dirty="0"/>
          </a:p>
        </p:txBody>
      </p:sp>
      <p:sp>
        <p:nvSpPr>
          <p:cNvPr id="6" name="Shape 4"/>
          <p:cNvSpPr/>
          <p:nvPr/>
        </p:nvSpPr>
        <p:spPr>
          <a:xfrm>
            <a:off x="365760" y="1993392"/>
            <a:ext cx="8412480" cy="621792"/>
          </a:xfrm>
          <a:prstGeom prst="rect">
            <a:avLst/>
          </a:prstGeom>
          <a:solidFill>
            <a:srgbClr val="0E7C7B"/>
          </a:solidFill>
          <a:ln w="12700">
            <a:solidFill>
              <a:srgbClr val="0E7C7B"/>
            </a:solidFill>
            <a:prstDash val="solid"/>
          </a:ln>
        </p:spPr>
      </p:sp>
      <p:sp>
        <p:nvSpPr>
          <p:cNvPr id="7" name="Text 5"/>
          <p:cNvSpPr/>
          <p:nvPr/>
        </p:nvSpPr>
        <p:spPr>
          <a:xfrm>
            <a:off x="457200" y="2048256"/>
            <a:ext cx="8229600" cy="512064"/>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  NOTICE: "Which property would you pull out FIRST — and why would you do it first?"</a:t>
            </a:r>
            <a:endParaRPr lang="en-US" sz="1600" dirty="0"/>
          </a:p>
        </p:txBody>
      </p:sp>
      <p:sp>
        <p:nvSpPr>
          <p:cNvPr id="8" name="Shape 6"/>
          <p:cNvSpPr/>
          <p:nvPr/>
        </p:nvSpPr>
        <p:spPr>
          <a:xfrm>
            <a:off x="365760" y="2706624"/>
            <a:ext cx="8412480" cy="621792"/>
          </a:xfrm>
          <a:prstGeom prst="rect">
            <a:avLst/>
          </a:prstGeom>
          <a:solidFill>
            <a:srgbClr val="F6C90E"/>
          </a:solidFill>
          <a:ln w="12700">
            <a:solidFill>
              <a:srgbClr val="F6C90E"/>
            </a:solidFill>
            <a:prstDash val="solid"/>
          </a:ln>
        </p:spPr>
      </p:sp>
      <p:sp>
        <p:nvSpPr>
          <p:cNvPr id="9" name="Text 7"/>
          <p:cNvSpPr/>
          <p:nvPr/>
        </p:nvSpPr>
        <p:spPr>
          <a:xfrm>
            <a:off x="457200" y="2761488"/>
            <a:ext cx="8229600" cy="512064"/>
          </a:xfrm>
          <a:prstGeom prst="rect">
            <a:avLst/>
          </a:prstGeom>
          <a:noFill/>
          <a:ln/>
        </p:spPr>
        <p:txBody>
          <a:bodyPr wrap="square" lIns="0" tIns="0" rIns="0" bIns="0" rtlCol="0" anchor="ctr"/>
          <a:lstStyle/>
          <a:p>
            <a:pPr algn="l" indent="0" marL="0">
              <a:buNone/>
            </a:pPr>
            <a:r>
              <a:rPr lang="en-US" sz="1600" dirty="0">
                <a:solidFill>
                  <a:srgbClr val="1A1A2E"/>
                </a:solidFill>
                <a:latin typeface="Calibri" pitchFamily="34" charset="0"/>
                <a:ea typeface="Calibri" pitchFamily="34" charset="-122"/>
                <a:cs typeface="Calibri" pitchFamily="34" charset="-120"/>
              </a:rPr>
              <a:t>❓  WONDER: "What would go wrong if you added water BEFORE you used the magnet?"</a:t>
            </a:r>
            <a:endParaRPr lang="en-US" sz="1600" dirty="0"/>
          </a:p>
        </p:txBody>
      </p:sp>
      <p:sp>
        <p:nvSpPr>
          <p:cNvPr id="10" name="Text 8"/>
          <p:cNvSpPr/>
          <p:nvPr/>
        </p:nvSpPr>
        <p:spPr>
          <a:xfrm>
            <a:off x="365760" y="3474720"/>
            <a:ext cx="8412480" cy="384048"/>
          </a:xfrm>
          <a:prstGeom prst="rect">
            <a:avLst/>
          </a:prstGeom>
          <a:noFill/>
          <a:ln/>
        </p:spPr>
        <p:txBody>
          <a:bodyPr wrap="square" lIns="0" tIns="0" rIns="0" bIns="0" rtlCol="0" anchor="ctr"/>
          <a:lstStyle/>
          <a:p>
            <a:pPr algn="ctr" indent="0" marL="0">
              <a:buNone/>
            </a:pPr>
            <a:r>
              <a:rPr lang="en-US" sz="1300" dirty="0">
                <a:solidFill>
                  <a:srgbClr val="5E7B9A"/>
                </a:solidFill>
                <a:latin typeface="Calibri" pitchFamily="34" charset="0"/>
                <a:ea typeface="Calibri" pitchFamily="34" charset="-122"/>
                <a:cs typeface="Calibri" pitchFamily="34" charset="-120"/>
              </a:rPr>
              <a:t>Materials: 1 tbsp rice · 5–6 paper clips · 1 tsp salt · magnet · strainer · clear cup + water · 3 bowls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F07D35"/>
          </a:solidFill>
          <a:ln w="12700">
            <a:solidFill>
              <a:srgbClr val="F07D35"/>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PREDICT</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1A1A2E"/>
                </a:solidFill>
                <a:latin typeface="Cambria" pitchFamily="34" charset="0"/>
                <a:ea typeface="Cambria" pitchFamily="34" charset="-122"/>
                <a:cs typeface="Cambria" pitchFamily="34" charset="-120"/>
              </a:rPr>
              <a:t>What Order — Which Tool?</a:t>
            </a:r>
            <a:endParaRPr lang="en-US" sz="2800" dirty="0"/>
          </a:p>
        </p:txBody>
      </p:sp>
      <p:sp>
        <p:nvSpPr>
          <p:cNvPr id="5" name="Shape 3"/>
          <p:cNvSpPr/>
          <p:nvPr/>
        </p:nvSpPr>
        <p:spPr>
          <a:xfrm>
            <a:off x="365760" y="804672"/>
            <a:ext cx="8412480" cy="658368"/>
          </a:xfrm>
          <a:prstGeom prst="rect">
            <a:avLst/>
          </a:prstGeom>
          <a:solidFill>
            <a:srgbClr val="FFFFFF"/>
          </a:solidFill>
          <a:ln w="12700">
            <a:solidFill>
              <a:srgbClr val="FFFFFF"/>
            </a:solidFill>
            <a:prstDash val="solid"/>
          </a:ln>
        </p:spPr>
      </p:sp>
      <p:sp>
        <p:nvSpPr>
          <p:cNvPr id="6" name="Text 4"/>
          <p:cNvSpPr/>
          <p:nvPr/>
        </p:nvSpPr>
        <p:spPr>
          <a:xfrm>
            <a:off x="457200" y="859536"/>
            <a:ext cx="8229600" cy="548640"/>
          </a:xfrm>
          <a:prstGeom prst="rect">
            <a:avLst/>
          </a:prstGeom>
          <a:noFill/>
          <a:ln/>
        </p:spPr>
        <p:txBody>
          <a:bodyPr wrap="square" lIns="0" tIns="0" rIns="0" bIns="0" rtlCol="0" anchor="ctr"/>
          <a:lstStyle/>
          <a:p>
            <a:pPr algn="l" indent="0" marL="0">
              <a:buNone/>
            </a:pPr>
            <a:r>
              <a:rPr lang="en-US" sz="1500" dirty="0">
                <a:solidFill>
                  <a:srgbClr val="1A1A2E"/>
                </a:solidFill>
                <a:latin typeface="Calibri" pitchFamily="34" charset="0"/>
                <a:ea typeface="Calibri" pitchFamily="34" charset="-122"/>
                <a:cs typeface="Calibri" pitchFamily="34" charset="-120"/>
              </a:rPr>
              <a:t>📝 Prediction Prompt:</a:t>
            </a:r>
            <a:endParaRPr lang="en-US" sz="1500" dirty="0"/>
          </a:p>
          <a:p>
            <a:pPr algn="l" indent="0" marL="0">
              <a:buNone/>
            </a:pPr>
            <a:r>
              <a:rPr lang="en-US" sz="1500" dirty="0">
                <a:solidFill>
                  <a:srgbClr val="1A1A2E"/>
                </a:solidFill>
                <a:latin typeface="Calibri" pitchFamily="34" charset="0"/>
                <a:ea typeface="Calibri" pitchFamily="34" charset="-122"/>
                <a:cs typeface="Calibri" pitchFamily="34" charset="-120"/>
              </a:rPr>
              <a:t>"In what order would you separate: paper clips, rice, and salt? Name one tool at each step and explain which property that tool uses."</a:t>
            </a:r>
            <a:endParaRPr lang="en-US" sz="1500" dirty="0"/>
          </a:p>
        </p:txBody>
      </p:sp>
      <p:sp>
        <p:nvSpPr>
          <p:cNvPr id="7" name="Text 5"/>
          <p:cNvSpPr/>
          <p:nvPr/>
        </p:nvSpPr>
        <p:spPr>
          <a:xfrm>
            <a:off x="365760" y="1572768"/>
            <a:ext cx="8412480" cy="411480"/>
          </a:xfrm>
          <a:prstGeom prst="rect">
            <a:avLst/>
          </a:prstGeom>
          <a:noFill/>
          <a:ln/>
        </p:spPr>
        <p:txBody>
          <a:bodyPr wrap="square" lIns="0" tIns="0" rIns="0" bIns="0" rtlCol="0" anchor="ctr"/>
          <a:lstStyle/>
          <a:p>
            <a:pPr indent="0" marL="0">
              <a:buNone/>
            </a:pPr>
            <a:r>
              <a:rPr lang="en-US" sz="1400" dirty="0">
                <a:solidFill>
                  <a:srgbClr val="2C4A6E"/>
                </a:solidFill>
                <a:latin typeface="Calibri" pitchFamily="34" charset="0"/>
                <a:ea typeface="Calibri" pitchFamily="34" charset="-122"/>
                <a:cs typeface="Calibri" pitchFamily="34" charset="-120"/>
              </a:rPr>
              <a:t>Write 2–3 sentences. You will compare this to your actual investigation.</a:t>
            </a:r>
            <a:endParaRPr lang="en-US" sz="1400" dirty="0"/>
          </a:p>
        </p:txBody>
      </p:sp>
      <p:sp>
        <p:nvSpPr>
          <p:cNvPr id="8" name="Shape 6"/>
          <p:cNvSpPr/>
          <p:nvPr/>
        </p:nvSpPr>
        <p:spPr>
          <a:xfrm>
            <a:off x="365760" y="2084832"/>
            <a:ext cx="8412480" cy="1024128"/>
          </a:xfrm>
          <a:prstGeom prst="rect">
            <a:avLst/>
          </a:prstGeom>
          <a:solidFill>
            <a:srgbClr val="EBF4FA"/>
          </a:solidFill>
          <a:ln w="12700">
            <a:solidFill>
              <a:srgbClr val="EBF4FA"/>
            </a:solidFill>
            <a:prstDash val="solid"/>
          </a:ln>
        </p:spPr>
      </p:sp>
      <p:sp>
        <p:nvSpPr>
          <p:cNvPr id="9" name="Text 7"/>
          <p:cNvSpPr/>
          <p:nvPr/>
        </p:nvSpPr>
        <p:spPr>
          <a:xfrm>
            <a:off x="457200" y="2139696"/>
            <a:ext cx="8229600" cy="914400"/>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My prediction:</a:t>
            </a:r>
            <a:endParaRPr lang="en-US" sz="1400" dirty="0"/>
          </a:p>
          <a:p>
            <a:pPr algn="l" indent="0" marL="0">
              <a:buNone/>
            </a:pPr>
            <a:endParaRPr lang="en-US" sz="1400" dirty="0"/>
          </a:p>
          <a:p>
            <a:pPr algn="l" indent="0" marL="0">
              <a:buNone/>
            </a:pPr>
            <a:r>
              <a:rPr lang="en-US" sz="1400" dirty="0">
                <a:solidFill>
                  <a:srgbClr val="1A1A2E"/>
                </a:solidFill>
                <a:latin typeface="Calibri" pitchFamily="34" charset="0"/>
                <a:ea typeface="Calibri" pitchFamily="34" charset="-122"/>
                <a:cs typeface="Calibri" pitchFamily="34" charset="-120"/>
              </a:rPr>
              <a:t>_____________________________________________</a:t>
            </a:r>
            <a:endParaRPr lang="en-US" sz="1400" dirty="0"/>
          </a:p>
          <a:p>
            <a:pPr algn="l" indent="0" marL="0">
              <a:buNone/>
            </a:pPr>
            <a:endParaRPr lang="en-US" sz="1400" dirty="0"/>
          </a:p>
          <a:p>
            <a:pPr algn="l" indent="0" marL="0">
              <a:buNone/>
            </a:pPr>
            <a:r>
              <a:rPr lang="en-US" sz="1400" dirty="0">
                <a:solidFill>
                  <a:srgbClr val="1A1A2E"/>
                </a:solidFill>
                <a:latin typeface="Calibri" pitchFamily="34" charset="0"/>
                <a:ea typeface="Calibri" pitchFamily="34" charset="-122"/>
                <a:cs typeface="Calibri" pitchFamily="34" charset="-120"/>
              </a:rPr>
              <a:t>_____________________________________________</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595628" cy="274320"/>
          </a:xfrm>
          <a:prstGeom prst="rect">
            <a:avLst/>
          </a:prstGeom>
          <a:solidFill>
            <a:srgbClr val="F6C90E"/>
          </a:solidFill>
          <a:ln w="12700">
            <a:solidFill>
              <a:srgbClr val="F6C90E"/>
            </a:solidFill>
            <a:prstDash val="solid"/>
          </a:ln>
        </p:spPr>
      </p:sp>
      <p:sp>
        <p:nvSpPr>
          <p:cNvPr id="3" name="Text 1"/>
          <p:cNvSpPr/>
          <p:nvPr/>
        </p:nvSpPr>
        <p:spPr>
          <a:xfrm>
            <a:off x="365760" y="109728"/>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 REVIEW</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All the Words You Need</a:t>
            </a:r>
            <a:endParaRPr lang="en-US" sz="2800" dirty="0"/>
          </a:p>
        </p:txBody>
      </p:sp>
      <p:sp>
        <p:nvSpPr>
          <p:cNvPr id="5" name="Shape 3"/>
          <p:cNvSpPr/>
          <p:nvPr/>
        </p:nvSpPr>
        <p:spPr>
          <a:xfrm>
            <a:off x="365760" y="822960"/>
            <a:ext cx="4114800" cy="1371600"/>
          </a:xfrm>
          <a:prstGeom prst="rect">
            <a:avLst/>
          </a:prstGeom>
          <a:solidFill>
            <a:srgbClr val="2C4A6E"/>
          </a:solidFill>
          <a:ln w="12700">
            <a:solidFill>
              <a:srgbClr val="2C4A6E"/>
            </a:solidFill>
            <a:prstDash val="solid"/>
          </a:ln>
        </p:spPr>
      </p:sp>
      <p:sp>
        <p:nvSpPr>
          <p:cNvPr id="6" name="Text 4"/>
          <p:cNvSpPr/>
          <p:nvPr/>
        </p:nvSpPr>
        <p:spPr>
          <a:xfrm>
            <a:off x="457200" y="877824"/>
            <a:ext cx="3931920" cy="126187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MIXTURE</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Two or more materials combined. They keep their own properties and can be separated.</a:t>
            </a:r>
            <a:endParaRPr lang="en-US" sz="1500" dirty="0"/>
          </a:p>
        </p:txBody>
      </p:sp>
      <p:sp>
        <p:nvSpPr>
          <p:cNvPr id="7" name="Shape 5"/>
          <p:cNvSpPr/>
          <p:nvPr/>
        </p:nvSpPr>
        <p:spPr>
          <a:xfrm>
            <a:off x="4663440" y="822960"/>
            <a:ext cx="4114800" cy="1371600"/>
          </a:xfrm>
          <a:prstGeom prst="rect">
            <a:avLst/>
          </a:prstGeom>
          <a:solidFill>
            <a:srgbClr val="2C4A6E"/>
          </a:solidFill>
          <a:ln w="12700">
            <a:solidFill>
              <a:srgbClr val="2C4A6E"/>
            </a:solidFill>
            <a:prstDash val="solid"/>
          </a:ln>
        </p:spPr>
      </p:sp>
      <p:sp>
        <p:nvSpPr>
          <p:cNvPr id="8" name="Text 6"/>
          <p:cNvSpPr/>
          <p:nvPr/>
        </p:nvSpPr>
        <p:spPr>
          <a:xfrm>
            <a:off x="4754880" y="877824"/>
            <a:ext cx="3931920" cy="126187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MAGNETISM</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Property of iron/steel. A magnet will pull paper clips — not rice or salt.</a:t>
            </a:r>
            <a:endParaRPr lang="en-US" sz="1500" dirty="0"/>
          </a:p>
        </p:txBody>
      </p:sp>
      <p:sp>
        <p:nvSpPr>
          <p:cNvPr id="9" name="Shape 7"/>
          <p:cNvSpPr/>
          <p:nvPr/>
        </p:nvSpPr>
        <p:spPr>
          <a:xfrm>
            <a:off x="365760" y="2331720"/>
            <a:ext cx="4114800" cy="1371600"/>
          </a:xfrm>
          <a:prstGeom prst="rect">
            <a:avLst/>
          </a:prstGeom>
          <a:solidFill>
            <a:srgbClr val="2C4A6E"/>
          </a:solidFill>
          <a:ln w="12700">
            <a:solidFill>
              <a:srgbClr val="2C4A6E"/>
            </a:solidFill>
            <a:prstDash val="solid"/>
          </a:ln>
        </p:spPr>
      </p:sp>
      <p:sp>
        <p:nvSpPr>
          <p:cNvPr id="10" name="Text 8"/>
          <p:cNvSpPr/>
          <p:nvPr/>
        </p:nvSpPr>
        <p:spPr>
          <a:xfrm>
            <a:off x="457200" y="2386584"/>
            <a:ext cx="3931920" cy="126187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PARTICLE SIZE</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Rice grains are bigger than salt grains. A strainer with the right hole size will keep rice while letting salt fall through.</a:t>
            </a:r>
            <a:endParaRPr lang="en-US" sz="1500" dirty="0"/>
          </a:p>
        </p:txBody>
      </p:sp>
      <p:sp>
        <p:nvSpPr>
          <p:cNvPr id="11" name="Shape 9"/>
          <p:cNvSpPr/>
          <p:nvPr/>
        </p:nvSpPr>
        <p:spPr>
          <a:xfrm>
            <a:off x="4663440" y="2331720"/>
            <a:ext cx="4114800" cy="1371600"/>
          </a:xfrm>
          <a:prstGeom prst="rect">
            <a:avLst/>
          </a:prstGeom>
          <a:solidFill>
            <a:srgbClr val="2C4A6E"/>
          </a:solidFill>
          <a:ln w="12700">
            <a:solidFill>
              <a:srgbClr val="2C4A6E"/>
            </a:solidFill>
            <a:prstDash val="solid"/>
          </a:ln>
        </p:spPr>
      </p:sp>
      <p:sp>
        <p:nvSpPr>
          <p:cNvPr id="12" name="Text 10"/>
          <p:cNvSpPr/>
          <p:nvPr/>
        </p:nvSpPr>
        <p:spPr>
          <a:xfrm>
            <a:off x="4754880" y="2386584"/>
            <a:ext cx="3931920" cy="126187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SOLUBILITY</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Salt dissolves in water. Rice does not. This is the property used in Step 3.</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595628" cy="274320"/>
          </a:xfrm>
          <a:prstGeom prst="rect">
            <a:avLst/>
          </a:prstGeom>
          <a:solidFill>
            <a:srgbClr val="F6C90E"/>
          </a:solidFill>
          <a:ln w="12700">
            <a:solidFill>
              <a:srgbClr val="F6C90E"/>
            </a:solidFill>
            <a:prstDash val="solid"/>
          </a:ln>
        </p:spPr>
      </p:sp>
      <p:sp>
        <p:nvSpPr>
          <p:cNvPr id="3" name="Text 1"/>
          <p:cNvSpPr/>
          <p:nvPr/>
        </p:nvSpPr>
        <p:spPr>
          <a:xfrm>
            <a:off x="365760" y="109728"/>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VOCABULARY REVIEW</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Investigation Words</a:t>
            </a:r>
            <a:endParaRPr lang="en-US" sz="2800" dirty="0"/>
          </a:p>
        </p:txBody>
      </p:sp>
      <p:sp>
        <p:nvSpPr>
          <p:cNvPr id="5" name="Shape 3"/>
          <p:cNvSpPr/>
          <p:nvPr/>
        </p:nvSpPr>
        <p:spPr>
          <a:xfrm>
            <a:off x="365760" y="822960"/>
            <a:ext cx="4114800" cy="1371600"/>
          </a:xfrm>
          <a:prstGeom prst="rect">
            <a:avLst/>
          </a:prstGeom>
          <a:solidFill>
            <a:srgbClr val="2C4A6E"/>
          </a:solidFill>
          <a:ln w="12700">
            <a:solidFill>
              <a:srgbClr val="2C4A6E"/>
            </a:solidFill>
            <a:prstDash val="solid"/>
          </a:ln>
        </p:spPr>
      </p:sp>
      <p:sp>
        <p:nvSpPr>
          <p:cNvPr id="6" name="Text 4"/>
          <p:cNvSpPr/>
          <p:nvPr/>
        </p:nvSpPr>
        <p:spPr>
          <a:xfrm>
            <a:off x="457200" y="877824"/>
            <a:ext cx="3931920" cy="126187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SEPARATE</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To take a mixture apart using a property difference. The property does the work — not your hands.</a:t>
            </a:r>
            <a:endParaRPr lang="en-US" sz="1500" dirty="0"/>
          </a:p>
        </p:txBody>
      </p:sp>
      <p:sp>
        <p:nvSpPr>
          <p:cNvPr id="7" name="Shape 5"/>
          <p:cNvSpPr/>
          <p:nvPr/>
        </p:nvSpPr>
        <p:spPr>
          <a:xfrm>
            <a:off x="4663440" y="822960"/>
            <a:ext cx="4114800" cy="1371600"/>
          </a:xfrm>
          <a:prstGeom prst="rect">
            <a:avLst/>
          </a:prstGeom>
          <a:solidFill>
            <a:srgbClr val="2C4A6E"/>
          </a:solidFill>
          <a:ln w="12700">
            <a:solidFill>
              <a:srgbClr val="2C4A6E"/>
            </a:solidFill>
            <a:prstDash val="solid"/>
          </a:ln>
        </p:spPr>
      </p:sp>
      <p:sp>
        <p:nvSpPr>
          <p:cNvPr id="8" name="Text 6"/>
          <p:cNvSpPr/>
          <p:nvPr/>
        </p:nvSpPr>
        <p:spPr>
          <a:xfrm>
            <a:off x="4754880" y="877824"/>
            <a:ext cx="3931920" cy="126187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PROPERTY</a:t>
            </a:r>
            <a:endParaRPr lang="en-US" sz="1500" dirty="0"/>
          </a:p>
          <a:p>
            <a:pPr algn="l" indent="0" marL="0">
              <a:buNone/>
            </a:pP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The feature that lets you separate one material from others. Every step uses exactly one property.</a:t>
            </a:r>
            <a:endParaRPr lang="en-US" sz="1500" dirty="0"/>
          </a:p>
        </p:txBody>
      </p:sp>
      <p:sp>
        <p:nvSpPr>
          <p:cNvPr id="9" name="Shape 7"/>
          <p:cNvSpPr/>
          <p:nvPr/>
        </p:nvSpPr>
        <p:spPr>
          <a:xfrm>
            <a:off x="365760" y="2331720"/>
            <a:ext cx="8412480" cy="1371600"/>
          </a:xfrm>
          <a:prstGeom prst="rect">
            <a:avLst/>
          </a:prstGeom>
          <a:solidFill>
            <a:srgbClr val="1A3A5C"/>
          </a:solidFill>
          <a:ln w="12700">
            <a:solidFill>
              <a:srgbClr val="1A3A5C"/>
            </a:solidFill>
            <a:prstDash val="solid"/>
          </a:ln>
        </p:spPr>
      </p:sp>
      <p:sp>
        <p:nvSpPr>
          <p:cNvPr id="10" name="Text 8"/>
          <p:cNvSpPr/>
          <p:nvPr/>
        </p:nvSpPr>
        <p:spPr>
          <a:xfrm>
            <a:off x="457200" y="2386584"/>
            <a:ext cx="8229600" cy="1261872"/>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  KEY REMINDER: ORDER MATTERS.</a:t>
            </a: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If you add water before the magnet step — the salt dissolves and paper clips get wet. The magnet still works on wet paper clips, but now your "water" step is muddier and harder to use for salt.</a:t>
            </a:r>
            <a:endParaRPr lang="en-US" sz="1500" dirty="0"/>
          </a:p>
          <a:p>
            <a:pPr algn="l" indent="0" marL="0">
              <a:buNone/>
            </a:pPr>
            <a:r>
              <a:rPr lang="en-US" sz="1500" dirty="0">
                <a:solidFill>
                  <a:srgbClr val="FFFFFF"/>
                </a:solidFill>
                <a:latin typeface="Calibri" pitchFamily="34" charset="0"/>
                <a:ea typeface="Calibri" pitchFamily="34" charset="-122"/>
                <a:cs typeface="Calibri" pitchFamily="34" charset="-120"/>
              </a:rPr>
              <a:t>Always plan your sequence before starting.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1A3A5C"/>
          </a:solidFill>
          <a:ln w="12700">
            <a:solidFill>
              <a:srgbClr val="1A3A5C"/>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The Three-Step Plan</a:t>
            </a:r>
            <a:endParaRPr lang="en-US" sz="2800" dirty="0"/>
          </a:p>
        </p:txBody>
      </p:sp>
      <p:sp>
        <p:nvSpPr>
          <p:cNvPr id="5" name="Shape 3"/>
          <p:cNvSpPr/>
          <p:nvPr/>
        </p:nvSpPr>
        <p:spPr>
          <a:xfrm>
            <a:off x="365760" y="804672"/>
            <a:ext cx="777240" cy="822960"/>
          </a:xfrm>
          <a:prstGeom prst="rect">
            <a:avLst/>
          </a:prstGeom>
          <a:solidFill>
            <a:srgbClr val="1A3A5C"/>
          </a:solidFill>
          <a:ln w="12700">
            <a:solidFill>
              <a:srgbClr val="1A3A5C"/>
            </a:solidFill>
            <a:prstDash val="solid"/>
          </a:ln>
        </p:spPr>
      </p:sp>
      <p:sp>
        <p:nvSpPr>
          <p:cNvPr id="6" name="Text 4"/>
          <p:cNvSpPr/>
          <p:nvPr/>
        </p:nvSpPr>
        <p:spPr>
          <a:xfrm>
            <a:off x="457200" y="859536"/>
            <a:ext cx="594360" cy="71323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STEP 1</a:t>
            </a:r>
            <a:endParaRPr lang="en-US" sz="1200" dirty="0"/>
          </a:p>
        </p:txBody>
      </p:sp>
      <p:sp>
        <p:nvSpPr>
          <p:cNvPr id="7" name="Shape 5"/>
          <p:cNvSpPr/>
          <p:nvPr/>
        </p:nvSpPr>
        <p:spPr>
          <a:xfrm>
            <a:off x="1234440" y="804672"/>
            <a:ext cx="1234440" cy="822960"/>
          </a:xfrm>
          <a:prstGeom prst="rect">
            <a:avLst/>
          </a:prstGeom>
          <a:solidFill>
            <a:srgbClr val="1A3A5C"/>
          </a:solidFill>
          <a:ln w="12700">
            <a:solidFill>
              <a:srgbClr val="1A3A5C"/>
            </a:solidFill>
            <a:prstDash val="solid"/>
          </a:ln>
        </p:spPr>
      </p:sp>
      <p:sp>
        <p:nvSpPr>
          <p:cNvPr id="8" name="Text 6"/>
          <p:cNvSpPr/>
          <p:nvPr/>
        </p:nvSpPr>
        <p:spPr>
          <a:xfrm>
            <a:off x="1325880" y="859536"/>
            <a:ext cx="1051560" cy="71323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MAGNET</a:t>
            </a:r>
            <a:endParaRPr lang="en-US" sz="1300" dirty="0"/>
          </a:p>
        </p:txBody>
      </p:sp>
      <p:sp>
        <p:nvSpPr>
          <p:cNvPr id="9" name="Shape 7"/>
          <p:cNvSpPr/>
          <p:nvPr/>
        </p:nvSpPr>
        <p:spPr>
          <a:xfrm>
            <a:off x="2560320" y="804672"/>
            <a:ext cx="2194560" cy="822960"/>
          </a:xfrm>
          <a:prstGeom prst="rect">
            <a:avLst/>
          </a:prstGeom>
          <a:solidFill>
            <a:srgbClr val="2C4A6E"/>
          </a:solidFill>
          <a:ln w="12700">
            <a:solidFill>
              <a:srgbClr val="2C4A6E"/>
            </a:solidFill>
            <a:prstDash val="solid"/>
          </a:ln>
        </p:spPr>
      </p:sp>
      <p:sp>
        <p:nvSpPr>
          <p:cNvPr id="10" name="Text 8"/>
          <p:cNvSpPr/>
          <p:nvPr/>
        </p:nvSpPr>
        <p:spPr>
          <a:xfrm>
            <a:off x="2651760" y="859536"/>
            <a:ext cx="2011680" cy="71323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Sweep magnet over mix</a:t>
            </a:r>
            <a:endParaRPr lang="en-US" sz="1300" dirty="0"/>
          </a:p>
        </p:txBody>
      </p:sp>
      <p:sp>
        <p:nvSpPr>
          <p:cNvPr id="11" name="Shape 9"/>
          <p:cNvSpPr/>
          <p:nvPr/>
        </p:nvSpPr>
        <p:spPr>
          <a:xfrm>
            <a:off x="4846320" y="804672"/>
            <a:ext cx="1645920" cy="822960"/>
          </a:xfrm>
          <a:prstGeom prst="rect">
            <a:avLst/>
          </a:prstGeom>
          <a:solidFill>
            <a:srgbClr val="F6C90E"/>
          </a:solidFill>
          <a:ln w="12700">
            <a:solidFill>
              <a:srgbClr val="F6C90E"/>
            </a:solidFill>
            <a:prstDash val="solid"/>
          </a:ln>
        </p:spPr>
      </p:sp>
      <p:sp>
        <p:nvSpPr>
          <p:cNvPr id="12" name="Text 10"/>
          <p:cNvSpPr/>
          <p:nvPr/>
        </p:nvSpPr>
        <p:spPr>
          <a:xfrm>
            <a:off x="4937760" y="859536"/>
            <a:ext cx="1463040" cy="713232"/>
          </a:xfrm>
          <a:prstGeom prst="rect">
            <a:avLst/>
          </a:prstGeom>
          <a:noFill/>
          <a:ln/>
        </p:spPr>
        <p:txBody>
          <a:bodyPr wrap="square" lIns="0" tIns="0" rIns="0" bIns="0"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Magnetism</a:t>
            </a:r>
            <a:endParaRPr lang="en-US" sz="1200" dirty="0"/>
          </a:p>
        </p:txBody>
      </p:sp>
      <p:sp>
        <p:nvSpPr>
          <p:cNvPr id="13" name="Shape 11"/>
          <p:cNvSpPr/>
          <p:nvPr/>
        </p:nvSpPr>
        <p:spPr>
          <a:xfrm>
            <a:off x="6583680" y="804672"/>
            <a:ext cx="2240280" cy="822960"/>
          </a:xfrm>
          <a:prstGeom prst="rect">
            <a:avLst/>
          </a:prstGeom>
          <a:solidFill>
            <a:srgbClr val="0A5C5A"/>
          </a:solidFill>
          <a:ln w="12700">
            <a:solidFill>
              <a:srgbClr val="0A5C5A"/>
            </a:solidFill>
            <a:prstDash val="solid"/>
          </a:ln>
        </p:spPr>
      </p:sp>
      <p:sp>
        <p:nvSpPr>
          <p:cNvPr id="14" name="Text 12"/>
          <p:cNvSpPr/>
          <p:nvPr/>
        </p:nvSpPr>
        <p:spPr>
          <a:xfrm>
            <a:off x="6675120" y="859536"/>
            <a:ext cx="2057400" cy="71323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Paper clips → removed</a:t>
            </a:r>
            <a:endParaRPr lang="en-US" sz="1200" dirty="0"/>
          </a:p>
        </p:txBody>
      </p:sp>
      <p:sp>
        <p:nvSpPr>
          <p:cNvPr id="15" name="Shape 13"/>
          <p:cNvSpPr/>
          <p:nvPr/>
        </p:nvSpPr>
        <p:spPr>
          <a:xfrm>
            <a:off x="365760" y="1792224"/>
            <a:ext cx="777240" cy="822960"/>
          </a:xfrm>
          <a:prstGeom prst="rect">
            <a:avLst/>
          </a:prstGeom>
          <a:solidFill>
            <a:srgbClr val="1A3A5C"/>
          </a:solidFill>
          <a:ln w="12700">
            <a:solidFill>
              <a:srgbClr val="1A3A5C"/>
            </a:solidFill>
            <a:prstDash val="solid"/>
          </a:ln>
        </p:spPr>
      </p:sp>
      <p:sp>
        <p:nvSpPr>
          <p:cNvPr id="16" name="Text 14"/>
          <p:cNvSpPr/>
          <p:nvPr/>
        </p:nvSpPr>
        <p:spPr>
          <a:xfrm>
            <a:off x="457200" y="1847088"/>
            <a:ext cx="594360" cy="71323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STEP 2</a:t>
            </a:r>
            <a:endParaRPr lang="en-US" sz="1200" dirty="0"/>
          </a:p>
        </p:txBody>
      </p:sp>
      <p:sp>
        <p:nvSpPr>
          <p:cNvPr id="17" name="Shape 15"/>
          <p:cNvSpPr/>
          <p:nvPr/>
        </p:nvSpPr>
        <p:spPr>
          <a:xfrm>
            <a:off x="1234440" y="1792224"/>
            <a:ext cx="1234440" cy="822960"/>
          </a:xfrm>
          <a:prstGeom prst="rect">
            <a:avLst/>
          </a:prstGeom>
          <a:solidFill>
            <a:srgbClr val="1A3A5C"/>
          </a:solidFill>
          <a:ln w="12700">
            <a:solidFill>
              <a:srgbClr val="1A3A5C"/>
            </a:solidFill>
            <a:prstDash val="solid"/>
          </a:ln>
        </p:spPr>
      </p:sp>
      <p:sp>
        <p:nvSpPr>
          <p:cNvPr id="18" name="Text 16"/>
          <p:cNvSpPr/>
          <p:nvPr/>
        </p:nvSpPr>
        <p:spPr>
          <a:xfrm>
            <a:off x="1325880" y="1847088"/>
            <a:ext cx="1051560" cy="71323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SIEVE</a:t>
            </a:r>
            <a:endParaRPr lang="en-US" sz="1300" dirty="0"/>
          </a:p>
        </p:txBody>
      </p:sp>
      <p:sp>
        <p:nvSpPr>
          <p:cNvPr id="19" name="Shape 17"/>
          <p:cNvSpPr/>
          <p:nvPr/>
        </p:nvSpPr>
        <p:spPr>
          <a:xfrm>
            <a:off x="2560320" y="1792224"/>
            <a:ext cx="2194560" cy="822960"/>
          </a:xfrm>
          <a:prstGeom prst="rect">
            <a:avLst/>
          </a:prstGeom>
          <a:solidFill>
            <a:srgbClr val="2C4A6E"/>
          </a:solidFill>
          <a:ln w="12700">
            <a:solidFill>
              <a:srgbClr val="2C4A6E"/>
            </a:solidFill>
            <a:prstDash val="solid"/>
          </a:ln>
        </p:spPr>
      </p:sp>
      <p:sp>
        <p:nvSpPr>
          <p:cNvPr id="20" name="Text 18"/>
          <p:cNvSpPr/>
          <p:nvPr/>
        </p:nvSpPr>
        <p:spPr>
          <a:xfrm>
            <a:off x="2651760" y="1847088"/>
            <a:ext cx="2011680" cy="71323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Pour rest through strainer</a:t>
            </a:r>
            <a:endParaRPr lang="en-US" sz="1300" dirty="0"/>
          </a:p>
        </p:txBody>
      </p:sp>
      <p:sp>
        <p:nvSpPr>
          <p:cNvPr id="21" name="Shape 19"/>
          <p:cNvSpPr/>
          <p:nvPr/>
        </p:nvSpPr>
        <p:spPr>
          <a:xfrm>
            <a:off x="4846320" y="1792224"/>
            <a:ext cx="1645920" cy="822960"/>
          </a:xfrm>
          <a:prstGeom prst="rect">
            <a:avLst/>
          </a:prstGeom>
          <a:solidFill>
            <a:srgbClr val="F6C90E"/>
          </a:solidFill>
          <a:ln w="12700">
            <a:solidFill>
              <a:srgbClr val="F6C90E"/>
            </a:solidFill>
            <a:prstDash val="solid"/>
          </a:ln>
        </p:spPr>
      </p:sp>
      <p:sp>
        <p:nvSpPr>
          <p:cNvPr id="22" name="Text 20"/>
          <p:cNvSpPr/>
          <p:nvPr/>
        </p:nvSpPr>
        <p:spPr>
          <a:xfrm>
            <a:off x="4937760" y="1847088"/>
            <a:ext cx="1463040" cy="713232"/>
          </a:xfrm>
          <a:prstGeom prst="rect">
            <a:avLst/>
          </a:prstGeom>
          <a:noFill/>
          <a:ln/>
        </p:spPr>
        <p:txBody>
          <a:bodyPr wrap="square" lIns="0" tIns="0" rIns="0" bIns="0"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Particle size</a:t>
            </a:r>
            <a:endParaRPr lang="en-US" sz="1200" dirty="0"/>
          </a:p>
        </p:txBody>
      </p:sp>
      <p:sp>
        <p:nvSpPr>
          <p:cNvPr id="23" name="Shape 21"/>
          <p:cNvSpPr/>
          <p:nvPr/>
        </p:nvSpPr>
        <p:spPr>
          <a:xfrm>
            <a:off x="6583680" y="1792224"/>
            <a:ext cx="2240280" cy="822960"/>
          </a:xfrm>
          <a:prstGeom prst="rect">
            <a:avLst/>
          </a:prstGeom>
          <a:solidFill>
            <a:srgbClr val="0A5C5A"/>
          </a:solidFill>
          <a:ln w="12700">
            <a:solidFill>
              <a:srgbClr val="0A5C5A"/>
            </a:solidFill>
            <a:prstDash val="solid"/>
          </a:ln>
        </p:spPr>
      </p:sp>
      <p:sp>
        <p:nvSpPr>
          <p:cNvPr id="24" name="Text 22"/>
          <p:cNvSpPr/>
          <p:nvPr/>
        </p:nvSpPr>
        <p:spPr>
          <a:xfrm>
            <a:off x="6675120" y="1847088"/>
            <a:ext cx="2057400" cy="71323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Rice stays in strainer; salt + fine material falls through</a:t>
            </a:r>
            <a:endParaRPr lang="en-US" sz="1200" dirty="0"/>
          </a:p>
        </p:txBody>
      </p:sp>
      <p:sp>
        <p:nvSpPr>
          <p:cNvPr id="25" name="Shape 23"/>
          <p:cNvSpPr/>
          <p:nvPr/>
        </p:nvSpPr>
        <p:spPr>
          <a:xfrm>
            <a:off x="365760" y="2779776"/>
            <a:ext cx="777240" cy="822960"/>
          </a:xfrm>
          <a:prstGeom prst="rect">
            <a:avLst/>
          </a:prstGeom>
          <a:solidFill>
            <a:srgbClr val="1A3A5C"/>
          </a:solidFill>
          <a:ln w="12700">
            <a:solidFill>
              <a:srgbClr val="1A3A5C"/>
            </a:solidFill>
            <a:prstDash val="solid"/>
          </a:ln>
        </p:spPr>
      </p:sp>
      <p:sp>
        <p:nvSpPr>
          <p:cNvPr id="26" name="Text 24"/>
          <p:cNvSpPr/>
          <p:nvPr/>
        </p:nvSpPr>
        <p:spPr>
          <a:xfrm>
            <a:off x="457200" y="2834640"/>
            <a:ext cx="594360" cy="71323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STEP 3</a:t>
            </a:r>
            <a:endParaRPr lang="en-US" sz="1200" dirty="0"/>
          </a:p>
        </p:txBody>
      </p:sp>
      <p:sp>
        <p:nvSpPr>
          <p:cNvPr id="27" name="Shape 25"/>
          <p:cNvSpPr/>
          <p:nvPr/>
        </p:nvSpPr>
        <p:spPr>
          <a:xfrm>
            <a:off x="1234440" y="2779776"/>
            <a:ext cx="1234440" cy="822960"/>
          </a:xfrm>
          <a:prstGeom prst="rect">
            <a:avLst/>
          </a:prstGeom>
          <a:solidFill>
            <a:srgbClr val="1A3A5C"/>
          </a:solidFill>
          <a:ln w="12700">
            <a:solidFill>
              <a:srgbClr val="1A3A5C"/>
            </a:solidFill>
            <a:prstDash val="solid"/>
          </a:ln>
        </p:spPr>
      </p:sp>
      <p:sp>
        <p:nvSpPr>
          <p:cNvPr id="28" name="Text 26"/>
          <p:cNvSpPr/>
          <p:nvPr/>
        </p:nvSpPr>
        <p:spPr>
          <a:xfrm>
            <a:off x="1325880" y="2834640"/>
            <a:ext cx="1051560" cy="713232"/>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WATER</a:t>
            </a:r>
            <a:endParaRPr lang="en-US" sz="1300" dirty="0"/>
          </a:p>
        </p:txBody>
      </p:sp>
      <p:sp>
        <p:nvSpPr>
          <p:cNvPr id="29" name="Shape 27"/>
          <p:cNvSpPr/>
          <p:nvPr/>
        </p:nvSpPr>
        <p:spPr>
          <a:xfrm>
            <a:off x="2560320" y="2779776"/>
            <a:ext cx="2194560" cy="822960"/>
          </a:xfrm>
          <a:prstGeom prst="rect">
            <a:avLst/>
          </a:prstGeom>
          <a:solidFill>
            <a:srgbClr val="2C4A6E"/>
          </a:solidFill>
          <a:ln w="12700">
            <a:solidFill>
              <a:srgbClr val="2C4A6E"/>
            </a:solidFill>
            <a:prstDash val="solid"/>
          </a:ln>
        </p:spPr>
      </p:sp>
      <p:sp>
        <p:nvSpPr>
          <p:cNvPr id="30" name="Text 28"/>
          <p:cNvSpPr/>
          <p:nvPr/>
        </p:nvSpPr>
        <p:spPr>
          <a:xfrm>
            <a:off x="2651760" y="2834640"/>
            <a:ext cx="2011680" cy="71323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Add water to what fell through; stir</a:t>
            </a:r>
            <a:endParaRPr lang="en-US" sz="1300" dirty="0"/>
          </a:p>
        </p:txBody>
      </p:sp>
      <p:sp>
        <p:nvSpPr>
          <p:cNvPr id="31" name="Shape 29"/>
          <p:cNvSpPr/>
          <p:nvPr/>
        </p:nvSpPr>
        <p:spPr>
          <a:xfrm>
            <a:off x="4846320" y="2779776"/>
            <a:ext cx="1645920" cy="822960"/>
          </a:xfrm>
          <a:prstGeom prst="rect">
            <a:avLst/>
          </a:prstGeom>
          <a:solidFill>
            <a:srgbClr val="F6C90E"/>
          </a:solidFill>
          <a:ln w="12700">
            <a:solidFill>
              <a:srgbClr val="F6C90E"/>
            </a:solidFill>
            <a:prstDash val="solid"/>
          </a:ln>
        </p:spPr>
      </p:sp>
      <p:sp>
        <p:nvSpPr>
          <p:cNvPr id="32" name="Text 30"/>
          <p:cNvSpPr/>
          <p:nvPr/>
        </p:nvSpPr>
        <p:spPr>
          <a:xfrm>
            <a:off x="4937760" y="2834640"/>
            <a:ext cx="1463040" cy="713232"/>
          </a:xfrm>
          <a:prstGeom prst="rect">
            <a:avLst/>
          </a:prstGeom>
          <a:noFill/>
          <a:ln/>
        </p:spPr>
        <p:txBody>
          <a:bodyPr wrap="square" lIns="0" tIns="0" rIns="0" bIns="0" rtlCol="0" anchor="ctr"/>
          <a:lstStyle/>
          <a:p>
            <a:pPr algn="l" indent="0" marL="0">
              <a:buNone/>
            </a:pPr>
            <a:r>
              <a:rPr lang="en-US" sz="1200" b="1" dirty="0">
                <a:solidFill>
                  <a:srgbClr val="1A1A2E"/>
                </a:solidFill>
                <a:latin typeface="Calibri" pitchFamily="34" charset="0"/>
                <a:ea typeface="Calibri" pitchFamily="34" charset="-122"/>
                <a:cs typeface="Calibri" pitchFamily="34" charset="-120"/>
              </a:rPr>
              <a:t>Solubility</a:t>
            </a:r>
            <a:endParaRPr lang="en-US" sz="1200" dirty="0"/>
          </a:p>
        </p:txBody>
      </p:sp>
      <p:sp>
        <p:nvSpPr>
          <p:cNvPr id="33" name="Shape 31"/>
          <p:cNvSpPr/>
          <p:nvPr/>
        </p:nvSpPr>
        <p:spPr>
          <a:xfrm>
            <a:off x="6583680" y="2779776"/>
            <a:ext cx="2240280" cy="822960"/>
          </a:xfrm>
          <a:prstGeom prst="rect">
            <a:avLst/>
          </a:prstGeom>
          <a:solidFill>
            <a:srgbClr val="0A5C5A"/>
          </a:solidFill>
          <a:ln w="12700">
            <a:solidFill>
              <a:srgbClr val="0A5C5A"/>
            </a:solidFill>
            <a:prstDash val="solid"/>
          </a:ln>
        </p:spPr>
      </p:sp>
      <p:sp>
        <p:nvSpPr>
          <p:cNvPr id="34" name="Text 32"/>
          <p:cNvSpPr/>
          <p:nvPr/>
        </p:nvSpPr>
        <p:spPr>
          <a:xfrm>
            <a:off x="6675120" y="2834640"/>
            <a:ext cx="2057400" cy="713232"/>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Salt dissolves; fine material can be filtered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2217420" cy="274320"/>
          </a:xfrm>
          <a:prstGeom prst="rect">
            <a:avLst/>
          </a:prstGeom>
          <a:solidFill>
            <a:srgbClr val="2E86AB"/>
          </a:solidFill>
          <a:ln w="12700">
            <a:solidFill>
              <a:srgbClr val="2E86AB"/>
            </a:solidFill>
            <a:prstDash val="solid"/>
          </a:ln>
        </p:spPr>
      </p:sp>
      <p:sp>
        <p:nvSpPr>
          <p:cNvPr id="3" name="Text 1"/>
          <p:cNvSpPr/>
          <p:nvPr/>
        </p:nvSpPr>
        <p:spPr>
          <a:xfrm>
            <a:off x="365760" y="109728"/>
            <a:ext cx="22174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WHAT EACH STEP LOOKS LIKE</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Step-by-Step Expectations</a:t>
            </a:r>
            <a:endParaRPr lang="en-US" sz="2600" dirty="0"/>
          </a:p>
        </p:txBody>
      </p:sp>
      <p:sp>
        <p:nvSpPr>
          <p:cNvPr id="5" name="Shape 3"/>
          <p:cNvSpPr/>
          <p:nvPr/>
        </p:nvSpPr>
        <p:spPr>
          <a:xfrm>
            <a:off x="365760" y="749808"/>
            <a:ext cx="2743200" cy="2880360"/>
          </a:xfrm>
          <a:prstGeom prst="rect">
            <a:avLst/>
          </a:prstGeom>
          <a:solidFill>
            <a:srgbClr val="FFFFFF"/>
          </a:solidFill>
          <a:ln w="12700">
            <a:solidFill>
              <a:srgbClr val="FFFFFF"/>
            </a:solidFill>
            <a:prstDash val="solid"/>
          </a:ln>
        </p:spPr>
      </p:sp>
      <p:sp>
        <p:nvSpPr>
          <p:cNvPr id="6" name="Text 4"/>
          <p:cNvSpPr/>
          <p:nvPr/>
        </p:nvSpPr>
        <p:spPr>
          <a:xfrm>
            <a:off x="457200" y="804672"/>
            <a:ext cx="2560320" cy="277063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 STEP 1 — MAGNET</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Hold magnet above or sweep through mix.</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Paper clips → move toward magnet, lift out.</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Rice and salt → no movement.</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After this step: paper clips in Bowl 1, rice+salt mix remains.</a:t>
            </a:r>
            <a:endParaRPr lang="en-US" sz="1300" dirty="0"/>
          </a:p>
        </p:txBody>
      </p:sp>
      <p:sp>
        <p:nvSpPr>
          <p:cNvPr id="7" name="Shape 5"/>
          <p:cNvSpPr/>
          <p:nvPr/>
        </p:nvSpPr>
        <p:spPr>
          <a:xfrm>
            <a:off x="3246120" y="749808"/>
            <a:ext cx="2743200" cy="2880360"/>
          </a:xfrm>
          <a:prstGeom prst="rect">
            <a:avLst/>
          </a:prstGeom>
          <a:solidFill>
            <a:srgbClr val="FFFFFF"/>
          </a:solidFill>
          <a:ln w="12700">
            <a:solidFill>
              <a:srgbClr val="FFFFFF"/>
            </a:solidFill>
            <a:prstDash val="solid"/>
          </a:ln>
        </p:spPr>
      </p:sp>
      <p:sp>
        <p:nvSpPr>
          <p:cNvPr id="8" name="Text 6"/>
          <p:cNvSpPr/>
          <p:nvPr/>
        </p:nvSpPr>
        <p:spPr>
          <a:xfrm>
            <a:off x="3337560" y="804672"/>
            <a:ext cx="2560320" cy="277063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 STEP 2 — SIEVE</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Pour remainder into strainer.</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Rice → stays in strainer (too big).</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Salt → falls through holes into Bowl 2.</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After this step: rice in Bowl 2, salt + fine material in bowl below.</a:t>
            </a:r>
            <a:endParaRPr lang="en-US" sz="1300" dirty="0"/>
          </a:p>
        </p:txBody>
      </p:sp>
      <p:sp>
        <p:nvSpPr>
          <p:cNvPr id="9" name="Shape 7"/>
          <p:cNvSpPr/>
          <p:nvPr/>
        </p:nvSpPr>
        <p:spPr>
          <a:xfrm>
            <a:off x="6080760" y="749808"/>
            <a:ext cx="2743200" cy="2880360"/>
          </a:xfrm>
          <a:prstGeom prst="rect">
            <a:avLst/>
          </a:prstGeom>
          <a:solidFill>
            <a:srgbClr val="FFFFFF"/>
          </a:solidFill>
          <a:ln w="12700">
            <a:solidFill>
              <a:srgbClr val="FFFFFF"/>
            </a:solidFill>
            <a:prstDash val="solid"/>
          </a:ln>
        </p:spPr>
      </p:sp>
      <p:sp>
        <p:nvSpPr>
          <p:cNvPr id="10" name="Text 8"/>
          <p:cNvSpPr/>
          <p:nvPr/>
        </p:nvSpPr>
        <p:spPr>
          <a:xfrm>
            <a:off x="6172200" y="804672"/>
            <a:ext cx="2560320" cy="2770632"/>
          </a:xfrm>
          <a:prstGeom prst="rect">
            <a:avLst/>
          </a:prstGeom>
          <a:noFill/>
          <a:ln/>
        </p:spPr>
        <p:txBody>
          <a:bodyPr wrap="square" lIns="0" tIns="0" rIns="0" bIns="0" rtlCol="0" anchor="ctr"/>
          <a:lstStyle/>
          <a:p>
            <a:pPr algn="l" indent="0" marL="0">
              <a:buNone/>
            </a:pPr>
            <a:r>
              <a:rPr lang="en-US" sz="1300" dirty="0">
                <a:solidFill>
                  <a:srgbClr val="1A1A2E"/>
                </a:solidFill>
                <a:latin typeface="Calibri" pitchFamily="34" charset="0"/>
                <a:ea typeface="Calibri" pitchFamily="34" charset="-122"/>
                <a:cs typeface="Calibri" pitchFamily="34" charset="-120"/>
              </a:rPr>
              <a:t>💧 STEP 3 — WATER</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Add water to what fell through.</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Salt → dissolves completely.</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Any remaining fine material → can be filtered.</a:t>
            </a:r>
            <a:endParaRPr lang="en-US" sz="1300" dirty="0"/>
          </a:p>
          <a:p>
            <a:pPr algn="l" indent="0" marL="0">
              <a:buNone/>
            </a:pPr>
            <a:endParaRPr lang="en-US" sz="1300" dirty="0"/>
          </a:p>
          <a:p>
            <a:pPr algn="l" indent="0" marL="0">
              <a:buNone/>
            </a:pPr>
            <a:r>
              <a:rPr lang="en-US" sz="1300" dirty="0">
                <a:solidFill>
                  <a:srgbClr val="1A1A2E"/>
                </a:solidFill>
                <a:latin typeface="Calibri" pitchFamily="34" charset="0"/>
                <a:ea typeface="Calibri" pitchFamily="34" charset="-122"/>
                <a:cs typeface="Calibri" pitchFamily="34" charset="-120"/>
              </a:rPr>
              <a:t>After this step: salt solution in bowl. Evaporate to get dry salt.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673352" cy="274320"/>
          </a:xfrm>
          <a:prstGeom prst="rect">
            <a:avLst/>
          </a:prstGeom>
          <a:solidFill>
            <a:srgbClr val="2E86AB"/>
          </a:solidFill>
          <a:ln w="12700">
            <a:solidFill>
              <a:srgbClr val="2E86AB"/>
            </a:solidFill>
            <a:prstDash val="solid"/>
          </a:ln>
        </p:spPr>
      </p:sp>
      <p:sp>
        <p:nvSpPr>
          <p:cNvPr id="3" name="Text 1"/>
          <p:cNvSpPr/>
          <p:nvPr/>
        </p:nvSpPr>
        <p:spPr>
          <a:xfrm>
            <a:off x="365760" y="109728"/>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SEPARATION DIAGRAM</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400" b="1" dirty="0">
                <a:solidFill>
                  <a:srgbClr val="1A1A2E"/>
                </a:solidFill>
                <a:latin typeface="Cambria" pitchFamily="34" charset="0"/>
                <a:ea typeface="Cambria" pitchFamily="34" charset="-122"/>
                <a:cs typeface="Cambria" pitchFamily="34" charset="-120"/>
              </a:rPr>
              <a:t>Rice + Paper Clips + Salt — Three Outcomes</a:t>
            </a:r>
            <a:endParaRPr lang="en-US" sz="2400" dirty="0"/>
          </a:p>
        </p:txBody>
      </p:sp>
      <p:sp>
        <p:nvSpPr>
          <p:cNvPr id="5" name="Shape 3"/>
          <p:cNvSpPr/>
          <p:nvPr/>
        </p:nvSpPr>
        <p:spPr>
          <a:xfrm>
            <a:off x="3200400" y="749808"/>
            <a:ext cx="2743200" cy="566928"/>
          </a:xfrm>
          <a:prstGeom prst="rect">
            <a:avLst/>
          </a:prstGeom>
          <a:solidFill>
            <a:srgbClr val="1A3A5C"/>
          </a:solidFill>
          <a:ln w="12700">
            <a:solidFill>
              <a:srgbClr val="1A3A5C"/>
            </a:solidFill>
            <a:prstDash val="solid"/>
          </a:ln>
        </p:spPr>
      </p:sp>
      <p:sp>
        <p:nvSpPr>
          <p:cNvPr id="6" name="Text 4"/>
          <p:cNvSpPr/>
          <p:nvPr/>
        </p:nvSpPr>
        <p:spPr>
          <a:xfrm>
            <a:off x="3291840" y="804672"/>
            <a:ext cx="2560320" cy="457200"/>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MIXED BOWL</a:t>
            </a:r>
            <a:endParaRPr lang="en-US" sz="1200" dirty="0"/>
          </a:p>
          <a:p>
            <a:pPr algn="l" indent="0" marL="0">
              <a:buNone/>
            </a:pPr>
            <a:r>
              <a:rPr lang="en-US" sz="1200" b="1" dirty="0">
                <a:solidFill>
                  <a:srgbClr val="FFFFFF"/>
                </a:solidFill>
                <a:latin typeface="Calibri" pitchFamily="34" charset="0"/>
                <a:ea typeface="Calibri" pitchFamily="34" charset="-122"/>
                <a:cs typeface="Calibri" pitchFamily="34" charset="-120"/>
              </a:rPr>
              <a:t>Rice + paper clips + salt</a:t>
            </a:r>
            <a:endParaRPr lang="en-US" sz="1200" dirty="0"/>
          </a:p>
        </p:txBody>
      </p:sp>
      <p:sp>
        <p:nvSpPr>
          <p:cNvPr id="7" name="Shape 5"/>
          <p:cNvSpPr/>
          <p:nvPr/>
        </p:nvSpPr>
        <p:spPr>
          <a:xfrm>
            <a:off x="4480560" y="1389888"/>
            <a:ext cx="182880" cy="292608"/>
          </a:xfrm>
          <a:prstGeom prst="rect">
            <a:avLst/>
          </a:prstGeom>
          <a:solidFill>
            <a:srgbClr val="2C4A6E"/>
          </a:solidFill>
          <a:ln w="12700">
            <a:solidFill>
              <a:srgbClr val="2C4A6E"/>
            </a:solidFill>
            <a:prstDash val="solid"/>
          </a:ln>
        </p:spPr>
      </p:sp>
      <p:sp>
        <p:nvSpPr>
          <p:cNvPr id="8" name="Shape 6"/>
          <p:cNvSpPr/>
          <p:nvPr/>
        </p:nvSpPr>
        <p:spPr>
          <a:xfrm>
            <a:off x="2286000" y="1737360"/>
            <a:ext cx="4572000" cy="658368"/>
          </a:xfrm>
          <a:prstGeom prst="rect">
            <a:avLst/>
          </a:prstGeom>
          <a:solidFill>
            <a:srgbClr val="2A7A4B"/>
          </a:solidFill>
          <a:ln w="12700">
            <a:solidFill>
              <a:srgbClr val="2A7A4B"/>
            </a:solidFill>
            <a:prstDash val="solid"/>
          </a:ln>
        </p:spPr>
      </p:sp>
      <p:sp>
        <p:nvSpPr>
          <p:cNvPr id="9" name="Text 7"/>
          <p:cNvSpPr/>
          <p:nvPr/>
        </p:nvSpPr>
        <p:spPr>
          <a:xfrm>
            <a:off x="2377440" y="1792224"/>
            <a:ext cx="438912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STEP 1 — MAGNET → Paper clips removed</a:t>
            </a:r>
            <a:endParaRPr lang="en-US" sz="1300" dirty="0"/>
          </a:p>
        </p:txBody>
      </p:sp>
      <p:sp>
        <p:nvSpPr>
          <p:cNvPr id="10" name="Shape 8"/>
          <p:cNvSpPr/>
          <p:nvPr/>
        </p:nvSpPr>
        <p:spPr>
          <a:xfrm>
            <a:off x="365760" y="1737360"/>
            <a:ext cx="1828800" cy="658368"/>
          </a:xfrm>
          <a:prstGeom prst="rect">
            <a:avLst/>
          </a:prstGeom>
          <a:solidFill>
            <a:srgbClr val="EBF4FA"/>
          </a:solidFill>
          <a:ln w="12700">
            <a:solidFill>
              <a:srgbClr val="EBF4FA"/>
            </a:solidFill>
            <a:prstDash val="solid"/>
          </a:ln>
        </p:spPr>
      </p:sp>
      <p:sp>
        <p:nvSpPr>
          <p:cNvPr id="11" name="Text 9"/>
          <p:cNvSpPr/>
          <p:nvPr/>
        </p:nvSpPr>
        <p:spPr>
          <a:xfrm>
            <a:off x="457200" y="1792224"/>
            <a:ext cx="1645920" cy="548640"/>
          </a:xfrm>
          <a:prstGeom prst="rect">
            <a:avLst/>
          </a:prstGeom>
          <a:noFill/>
          <a:ln/>
        </p:spPr>
        <p:txBody>
          <a:bodyPr wrap="square" lIns="0" tIns="0" rIns="0" bIns="0" rtlCol="0" anchor="ctr"/>
          <a:lstStyle/>
          <a:p>
            <a:pPr algn="l" indent="0" marL="0">
              <a:buNone/>
            </a:pPr>
            <a:r>
              <a:rPr lang="en-US" sz="1200" b="1" dirty="0">
                <a:solidFill>
                  <a:srgbClr val="2A7A4B"/>
                </a:solidFill>
                <a:latin typeface="Calibri" pitchFamily="34" charset="0"/>
                <a:ea typeface="Calibri" pitchFamily="34" charset="-122"/>
                <a:cs typeface="Calibri" pitchFamily="34" charset="-120"/>
              </a:rPr>
              <a:t>🧲 Bowl 1:</a:t>
            </a:r>
            <a:endParaRPr lang="en-US" sz="1200" dirty="0"/>
          </a:p>
          <a:p>
            <a:pPr algn="l" indent="0" marL="0">
              <a:buNone/>
            </a:pPr>
            <a:r>
              <a:rPr lang="en-US" sz="1200" b="1" dirty="0">
                <a:solidFill>
                  <a:srgbClr val="2A7A4B"/>
                </a:solidFill>
                <a:latin typeface="Calibri" pitchFamily="34" charset="0"/>
                <a:ea typeface="Calibri" pitchFamily="34" charset="-122"/>
                <a:cs typeface="Calibri" pitchFamily="34" charset="-120"/>
              </a:rPr>
              <a:t>Paper clips</a:t>
            </a:r>
            <a:endParaRPr lang="en-US" sz="1200" dirty="0"/>
          </a:p>
        </p:txBody>
      </p:sp>
      <p:sp>
        <p:nvSpPr>
          <p:cNvPr id="12" name="Shape 10"/>
          <p:cNvSpPr/>
          <p:nvPr/>
        </p:nvSpPr>
        <p:spPr>
          <a:xfrm>
            <a:off x="4480560" y="2468880"/>
            <a:ext cx="182880" cy="292608"/>
          </a:xfrm>
          <a:prstGeom prst="rect">
            <a:avLst/>
          </a:prstGeom>
          <a:solidFill>
            <a:srgbClr val="2C4A6E"/>
          </a:solidFill>
          <a:ln w="12700">
            <a:solidFill>
              <a:srgbClr val="2C4A6E"/>
            </a:solidFill>
            <a:prstDash val="solid"/>
          </a:ln>
        </p:spPr>
      </p:sp>
      <p:sp>
        <p:nvSpPr>
          <p:cNvPr id="13" name="Shape 11"/>
          <p:cNvSpPr/>
          <p:nvPr/>
        </p:nvSpPr>
        <p:spPr>
          <a:xfrm>
            <a:off x="2286000" y="2816352"/>
            <a:ext cx="4572000" cy="658368"/>
          </a:xfrm>
          <a:prstGeom prst="rect">
            <a:avLst/>
          </a:prstGeom>
          <a:solidFill>
            <a:srgbClr val="2E86AB"/>
          </a:solidFill>
          <a:ln w="12700">
            <a:solidFill>
              <a:srgbClr val="2E86AB"/>
            </a:solidFill>
            <a:prstDash val="solid"/>
          </a:ln>
        </p:spPr>
      </p:sp>
      <p:sp>
        <p:nvSpPr>
          <p:cNvPr id="14" name="Text 12"/>
          <p:cNvSpPr/>
          <p:nvPr/>
        </p:nvSpPr>
        <p:spPr>
          <a:xfrm>
            <a:off x="2377440" y="2871216"/>
            <a:ext cx="438912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STEP 2 — SIEVE → Rice stays; salt falls</a:t>
            </a:r>
            <a:endParaRPr lang="en-US" sz="1300" dirty="0"/>
          </a:p>
        </p:txBody>
      </p:sp>
      <p:sp>
        <p:nvSpPr>
          <p:cNvPr id="15" name="Shape 13"/>
          <p:cNvSpPr/>
          <p:nvPr/>
        </p:nvSpPr>
        <p:spPr>
          <a:xfrm>
            <a:off x="365760" y="2816352"/>
            <a:ext cx="1828800" cy="658368"/>
          </a:xfrm>
          <a:prstGeom prst="rect">
            <a:avLst/>
          </a:prstGeom>
          <a:solidFill>
            <a:srgbClr val="EBF4FA"/>
          </a:solidFill>
          <a:ln w="12700">
            <a:solidFill>
              <a:srgbClr val="EBF4FA"/>
            </a:solidFill>
            <a:prstDash val="solid"/>
          </a:ln>
        </p:spPr>
      </p:sp>
      <p:sp>
        <p:nvSpPr>
          <p:cNvPr id="16" name="Text 14"/>
          <p:cNvSpPr/>
          <p:nvPr/>
        </p:nvSpPr>
        <p:spPr>
          <a:xfrm>
            <a:off x="457200" y="2871216"/>
            <a:ext cx="1645920" cy="548640"/>
          </a:xfrm>
          <a:prstGeom prst="rect">
            <a:avLst/>
          </a:prstGeom>
          <a:noFill/>
          <a:ln/>
        </p:spPr>
        <p:txBody>
          <a:bodyPr wrap="square" lIns="0" tIns="0" rIns="0" bIns="0" rtlCol="0" anchor="ctr"/>
          <a:lstStyle/>
          <a:p>
            <a:pPr algn="l" indent="0" marL="0">
              <a:buNone/>
            </a:pPr>
            <a:r>
              <a:rPr lang="en-US" sz="1200" b="1" dirty="0">
                <a:solidFill>
                  <a:srgbClr val="2E86AB"/>
                </a:solidFill>
                <a:latin typeface="Calibri" pitchFamily="34" charset="0"/>
                <a:ea typeface="Calibri" pitchFamily="34" charset="-122"/>
                <a:cs typeface="Calibri" pitchFamily="34" charset="-120"/>
              </a:rPr>
              <a:t>🔳 Bowl 2:</a:t>
            </a:r>
            <a:endParaRPr lang="en-US" sz="1200" dirty="0"/>
          </a:p>
          <a:p>
            <a:pPr algn="l" indent="0" marL="0">
              <a:buNone/>
            </a:pPr>
            <a:r>
              <a:rPr lang="en-US" sz="1200" b="1" dirty="0">
                <a:solidFill>
                  <a:srgbClr val="2E86AB"/>
                </a:solidFill>
                <a:latin typeface="Calibri" pitchFamily="34" charset="0"/>
                <a:ea typeface="Calibri" pitchFamily="34" charset="-122"/>
                <a:cs typeface="Calibri" pitchFamily="34" charset="-120"/>
              </a:rPr>
              <a:t>Rice</a:t>
            </a:r>
            <a:endParaRPr lang="en-US" sz="1200" dirty="0"/>
          </a:p>
        </p:txBody>
      </p:sp>
      <p:sp>
        <p:nvSpPr>
          <p:cNvPr id="17" name="Shape 15"/>
          <p:cNvSpPr/>
          <p:nvPr/>
        </p:nvSpPr>
        <p:spPr>
          <a:xfrm>
            <a:off x="4480560" y="3547872"/>
            <a:ext cx="182880" cy="292608"/>
          </a:xfrm>
          <a:prstGeom prst="rect">
            <a:avLst/>
          </a:prstGeom>
          <a:solidFill>
            <a:srgbClr val="2C4A6E"/>
          </a:solidFill>
          <a:ln w="12700">
            <a:solidFill>
              <a:srgbClr val="2C4A6E"/>
            </a:solidFill>
            <a:prstDash val="solid"/>
          </a:ln>
        </p:spPr>
      </p:sp>
      <p:sp>
        <p:nvSpPr>
          <p:cNvPr id="18" name="Shape 16"/>
          <p:cNvSpPr/>
          <p:nvPr/>
        </p:nvSpPr>
        <p:spPr>
          <a:xfrm>
            <a:off x="2286000" y="3895344"/>
            <a:ext cx="4572000" cy="658368"/>
          </a:xfrm>
          <a:prstGeom prst="rect">
            <a:avLst/>
          </a:prstGeom>
          <a:solidFill>
            <a:srgbClr val="0E7C7B"/>
          </a:solidFill>
          <a:ln w="12700">
            <a:solidFill>
              <a:srgbClr val="0E7C7B"/>
            </a:solidFill>
            <a:prstDash val="solid"/>
          </a:ln>
        </p:spPr>
      </p:sp>
      <p:sp>
        <p:nvSpPr>
          <p:cNvPr id="19" name="Text 17"/>
          <p:cNvSpPr/>
          <p:nvPr/>
        </p:nvSpPr>
        <p:spPr>
          <a:xfrm>
            <a:off x="2377440" y="3950208"/>
            <a:ext cx="438912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STEP 3 — WATER → Salt dissolves</a:t>
            </a:r>
            <a:endParaRPr lang="en-US" sz="1300" dirty="0"/>
          </a:p>
        </p:txBody>
      </p:sp>
      <p:sp>
        <p:nvSpPr>
          <p:cNvPr id="20" name="Shape 18"/>
          <p:cNvSpPr/>
          <p:nvPr/>
        </p:nvSpPr>
        <p:spPr>
          <a:xfrm>
            <a:off x="365760" y="3895344"/>
            <a:ext cx="1828800" cy="658368"/>
          </a:xfrm>
          <a:prstGeom prst="rect">
            <a:avLst/>
          </a:prstGeom>
          <a:solidFill>
            <a:srgbClr val="EBF4FA"/>
          </a:solidFill>
          <a:ln w="12700">
            <a:solidFill>
              <a:srgbClr val="EBF4FA"/>
            </a:solidFill>
            <a:prstDash val="solid"/>
          </a:ln>
        </p:spPr>
      </p:sp>
      <p:sp>
        <p:nvSpPr>
          <p:cNvPr id="21" name="Text 19"/>
          <p:cNvSpPr/>
          <p:nvPr/>
        </p:nvSpPr>
        <p:spPr>
          <a:xfrm>
            <a:off x="457200" y="3950208"/>
            <a:ext cx="1645920" cy="548640"/>
          </a:xfrm>
          <a:prstGeom prst="rect">
            <a:avLst/>
          </a:prstGeom>
          <a:noFill/>
          <a:ln/>
        </p:spPr>
        <p:txBody>
          <a:bodyPr wrap="square" lIns="0" tIns="0" rIns="0" bIns="0" rtlCol="0" anchor="ctr"/>
          <a:lstStyle/>
          <a:p>
            <a:pPr algn="l" indent="0" marL="0">
              <a:buNone/>
            </a:pPr>
            <a:r>
              <a:rPr lang="en-US" sz="1200" b="1" dirty="0">
                <a:solidFill>
                  <a:srgbClr val="0E7C7B"/>
                </a:solidFill>
                <a:latin typeface="Calibri" pitchFamily="34" charset="0"/>
                <a:ea typeface="Calibri" pitchFamily="34" charset="-122"/>
                <a:cs typeface="Calibri" pitchFamily="34" charset="-120"/>
              </a:rPr>
              <a:t>💧 Bowl 3:</a:t>
            </a:r>
            <a:endParaRPr lang="en-US" sz="1200" dirty="0"/>
          </a:p>
          <a:p>
            <a:pPr algn="l" indent="0" marL="0">
              <a:buNone/>
            </a:pPr>
            <a:r>
              <a:rPr lang="en-US" sz="1200" b="1" dirty="0">
                <a:solidFill>
                  <a:srgbClr val="0E7C7B"/>
                </a:solidFill>
                <a:latin typeface="Calibri" pitchFamily="34" charset="0"/>
                <a:ea typeface="Calibri" pitchFamily="34" charset="-122"/>
                <a:cs typeface="Calibri" pitchFamily="34" charset="-120"/>
              </a:rPr>
              <a:t>Salt dissolved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2A7A4B"/>
          </a:solidFill>
          <a:ln w="12700">
            <a:solidFill>
              <a:srgbClr val="2A7A4B"/>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INVESTIGATE</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Run All Three Steps</a:t>
            </a:r>
            <a:endParaRPr lang="en-US" sz="2800" dirty="0"/>
          </a:p>
        </p:txBody>
      </p:sp>
      <p:sp>
        <p:nvSpPr>
          <p:cNvPr id="5" name="Shape 3"/>
          <p:cNvSpPr/>
          <p:nvPr/>
        </p:nvSpPr>
        <p:spPr>
          <a:xfrm>
            <a:off x="365760" y="804672"/>
            <a:ext cx="8412480" cy="676656"/>
          </a:xfrm>
          <a:prstGeom prst="rect">
            <a:avLst/>
          </a:prstGeom>
          <a:solidFill>
            <a:srgbClr val="2C4A6E"/>
          </a:solidFill>
          <a:ln w="12700">
            <a:solidFill>
              <a:srgbClr val="2C4A6E"/>
            </a:solidFill>
            <a:prstDash val="solid"/>
          </a:ln>
        </p:spPr>
      </p:sp>
      <p:sp>
        <p:nvSpPr>
          <p:cNvPr id="6" name="Text 4"/>
          <p:cNvSpPr/>
          <p:nvPr/>
        </p:nvSpPr>
        <p:spPr>
          <a:xfrm>
            <a:off x="457200" y="859536"/>
            <a:ext cx="8229600"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1 — MAGNET: Hold your magnet above the mixed bowl. Sweep slowly. Paper clips will jump up. Move them to Bowl 1. Repeat until no more paper clips respond.</a:t>
            </a:r>
            <a:endParaRPr lang="en-US" sz="1300" dirty="0"/>
          </a:p>
        </p:txBody>
      </p:sp>
      <p:sp>
        <p:nvSpPr>
          <p:cNvPr id="7" name="Shape 5"/>
          <p:cNvSpPr/>
          <p:nvPr/>
        </p:nvSpPr>
        <p:spPr>
          <a:xfrm>
            <a:off x="365760" y="1554480"/>
            <a:ext cx="8412480" cy="676656"/>
          </a:xfrm>
          <a:prstGeom prst="rect">
            <a:avLst/>
          </a:prstGeom>
          <a:solidFill>
            <a:srgbClr val="2C4A6E"/>
          </a:solidFill>
          <a:ln w="12700">
            <a:solidFill>
              <a:srgbClr val="2C4A6E"/>
            </a:solidFill>
            <a:prstDash val="solid"/>
          </a:ln>
        </p:spPr>
      </p:sp>
      <p:sp>
        <p:nvSpPr>
          <p:cNvPr id="8" name="Text 6"/>
          <p:cNvSpPr/>
          <p:nvPr/>
        </p:nvSpPr>
        <p:spPr>
          <a:xfrm>
            <a:off x="457200" y="1609344"/>
            <a:ext cx="8229600"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2 — SIEVE: Hold your strainer over Bowl 2. Pour the remaining rice + salt mixture into the strainer. Rice stays in strainer. Salt falls through. Gently shake.</a:t>
            </a:r>
            <a:endParaRPr lang="en-US" sz="1300" dirty="0"/>
          </a:p>
        </p:txBody>
      </p:sp>
      <p:sp>
        <p:nvSpPr>
          <p:cNvPr id="9" name="Shape 7"/>
          <p:cNvSpPr/>
          <p:nvPr/>
        </p:nvSpPr>
        <p:spPr>
          <a:xfrm>
            <a:off x="365760" y="2304288"/>
            <a:ext cx="8412480" cy="676656"/>
          </a:xfrm>
          <a:prstGeom prst="rect">
            <a:avLst/>
          </a:prstGeom>
          <a:solidFill>
            <a:srgbClr val="2C4A6E"/>
          </a:solidFill>
          <a:ln w="12700">
            <a:solidFill>
              <a:srgbClr val="2C4A6E"/>
            </a:solidFill>
            <a:prstDash val="solid"/>
          </a:ln>
        </p:spPr>
      </p:sp>
      <p:sp>
        <p:nvSpPr>
          <p:cNvPr id="10" name="Text 8"/>
          <p:cNvSpPr/>
          <p:nvPr/>
        </p:nvSpPr>
        <p:spPr>
          <a:xfrm>
            <a:off x="457200" y="2359152"/>
            <a:ext cx="8229600"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STEP 3 — WATER: Pour the salt (from below strainer) into Bowl 3. Add ½ cup water and stir. The salt dissolves. Note: how do you know it dissolved?</a:t>
            </a:r>
            <a:endParaRPr lang="en-US" sz="1300" dirty="0"/>
          </a:p>
        </p:txBody>
      </p:sp>
      <p:sp>
        <p:nvSpPr>
          <p:cNvPr id="11" name="Shape 9"/>
          <p:cNvSpPr/>
          <p:nvPr/>
        </p:nvSpPr>
        <p:spPr>
          <a:xfrm>
            <a:off x="365760" y="3054096"/>
            <a:ext cx="8412480" cy="676656"/>
          </a:xfrm>
          <a:prstGeom prst="rect">
            <a:avLst/>
          </a:prstGeom>
          <a:solidFill>
            <a:srgbClr val="2C4A6E"/>
          </a:solidFill>
          <a:ln w="12700">
            <a:solidFill>
              <a:srgbClr val="2C4A6E"/>
            </a:solidFill>
            <a:prstDash val="solid"/>
          </a:ln>
        </p:spPr>
      </p:sp>
      <p:sp>
        <p:nvSpPr>
          <p:cNvPr id="12" name="Text 10"/>
          <p:cNvSpPr/>
          <p:nvPr/>
        </p:nvSpPr>
        <p:spPr>
          <a:xfrm>
            <a:off x="457200" y="3108960"/>
            <a:ext cx="8229600" cy="566928"/>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RECORD: Fill in your data table — what came out at each step, which property was used, how you know it worked.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2E86AB"/>
          </a:solidFill>
          <a:ln w="12700">
            <a:solidFill>
              <a:srgbClr val="2E86AB"/>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 TABLE</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Record Your Results</a:t>
            </a:r>
            <a:endParaRPr lang="en-US" sz="2600" dirty="0"/>
          </a:p>
        </p:txBody>
      </p:sp>
      <p:sp>
        <p:nvSpPr>
          <p:cNvPr id="5" name="Shape 3"/>
          <p:cNvSpPr/>
          <p:nvPr/>
        </p:nvSpPr>
        <p:spPr>
          <a:xfrm>
            <a:off x="365760" y="749808"/>
            <a:ext cx="868680" cy="420624"/>
          </a:xfrm>
          <a:prstGeom prst="rect">
            <a:avLst/>
          </a:prstGeom>
          <a:solidFill>
            <a:srgbClr val="1A3A5C"/>
          </a:solidFill>
          <a:ln w="12700">
            <a:solidFill>
              <a:srgbClr val="1A3A5C"/>
            </a:solidFill>
            <a:prstDash val="solid"/>
          </a:ln>
        </p:spPr>
      </p:sp>
      <p:sp>
        <p:nvSpPr>
          <p:cNvPr id="6" name="Text 4"/>
          <p:cNvSpPr/>
          <p:nvPr/>
        </p:nvSpPr>
        <p:spPr>
          <a:xfrm>
            <a:off x="457200" y="804672"/>
            <a:ext cx="685800" cy="31089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STEP</a:t>
            </a:r>
            <a:endParaRPr lang="en-US" sz="1000" dirty="0"/>
          </a:p>
        </p:txBody>
      </p:sp>
      <p:sp>
        <p:nvSpPr>
          <p:cNvPr id="7" name="Shape 5"/>
          <p:cNvSpPr/>
          <p:nvPr/>
        </p:nvSpPr>
        <p:spPr>
          <a:xfrm>
            <a:off x="1325880" y="749808"/>
            <a:ext cx="1097280" cy="420624"/>
          </a:xfrm>
          <a:prstGeom prst="rect">
            <a:avLst/>
          </a:prstGeom>
          <a:solidFill>
            <a:srgbClr val="1A3A5C"/>
          </a:solidFill>
          <a:ln w="12700">
            <a:solidFill>
              <a:srgbClr val="1A3A5C"/>
            </a:solidFill>
            <a:prstDash val="solid"/>
          </a:ln>
        </p:spPr>
      </p:sp>
      <p:sp>
        <p:nvSpPr>
          <p:cNvPr id="8" name="Text 6"/>
          <p:cNvSpPr/>
          <p:nvPr/>
        </p:nvSpPr>
        <p:spPr>
          <a:xfrm>
            <a:off x="1417320" y="804672"/>
            <a:ext cx="914400" cy="31089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TOOL USED</a:t>
            </a:r>
            <a:endParaRPr lang="en-US" sz="1000" dirty="0"/>
          </a:p>
        </p:txBody>
      </p:sp>
      <p:sp>
        <p:nvSpPr>
          <p:cNvPr id="9" name="Shape 7"/>
          <p:cNvSpPr/>
          <p:nvPr/>
        </p:nvSpPr>
        <p:spPr>
          <a:xfrm>
            <a:off x="2514600" y="749808"/>
            <a:ext cx="1280160" cy="420624"/>
          </a:xfrm>
          <a:prstGeom prst="rect">
            <a:avLst/>
          </a:prstGeom>
          <a:solidFill>
            <a:srgbClr val="1A3A5C"/>
          </a:solidFill>
          <a:ln w="12700">
            <a:solidFill>
              <a:srgbClr val="1A3A5C"/>
            </a:solidFill>
            <a:prstDash val="solid"/>
          </a:ln>
        </p:spPr>
      </p:sp>
      <p:sp>
        <p:nvSpPr>
          <p:cNvPr id="10" name="Text 8"/>
          <p:cNvSpPr/>
          <p:nvPr/>
        </p:nvSpPr>
        <p:spPr>
          <a:xfrm>
            <a:off x="2606040" y="804672"/>
            <a:ext cx="1097280" cy="31089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PROPERTY USED</a:t>
            </a:r>
            <a:endParaRPr lang="en-US" sz="1000" dirty="0"/>
          </a:p>
        </p:txBody>
      </p:sp>
      <p:sp>
        <p:nvSpPr>
          <p:cNvPr id="11" name="Shape 9"/>
          <p:cNvSpPr/>
          <p:nvPr/>
        </p:nvSpPr>
        <p:spPr>
          <a:xfrm>
            <a:off x="3886200" y="749808"/>
            <a:ext cx="1463040" cy="420624"/>
          </a:xfrm>
          <a:prstGeom prst="rect">
            <a:avLst/>
          </a:prstGeom>
          <a:solidFill>
            <a:srgbClr val="1A3A5C"/>
          </a:solidFill>
          <a:ln w="12700">
            <a:solidFill>
              <a:srgbClr val="1A3A5C"/>
            </a:solidFill>
            <a:prstDash val="solid"/>
          </a:ln>
        </p:spPr>
      </p:sp>
      <p:sp>
        <p:nvSpPr>
          <p:cNvPr id="12" name="Text 10"/>
          <p:cNvSpPr/>
          <p:nvPr/>
        </p:nvSpPr>
        <p:spPr>
          <a:xfrm>
            <a:off x="3977640" y="804672"/>
            <a:ext cx="1280160" cy="31089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WHAT CAME OUT</a:t>
            </a:r>
            <a:endParaRPr lang="en-US" sz="1000" dirty="0"/>
          </a:p>
        </p:txBody>
      </p:sp>
      <p:sp>
        <p:nvSpPr>
          <p:cNvPr id="13" name="Shape 11"/>
          <p:cNvSpPr/>
          <p:nvPr/>
        </p:nvSpPr>
        <p:spPr>
          <a:xfrm>
            <a:off x="5440680" y="749808"/>
            <a:ext cx="3337560" cy="420624"/>
          </a:xfrm>
          <a:prstGeom prst="rect">
            <a:avLst/>
          </a:prstGeom>
          <a:solidFill>
            <a:srgbClr val="1A3A5C"/>
          </a:solidFill>
          <a:ln w="12700">
            <a:solidFill>
              <a:srgbClr val="1A3A5C"/>
            </a:solidFill>
            <a:prstDash val="solid"/>
          </a:ln>
        </p:spPr>
      </p:sp>
      <p:sp>
        <p:nvSpPr>
          <p:cNvPr id="14" name="Text 12"/>
          <p:cNvSpPr/>
          <p:nvPr/>
        </p:nvSpPr>
        <p:spPr>
          <a:xfrm>
            <a:off x="5532120" y="804672"/>
            <a:ext cx="3154680" cy="310896"/>
          </a:xfrm>
          <a:prstGeom prst="rect">
            <a:avLst/>
          </a:prstGeom>
          <a:noFill/>
          <a:ln/>
        </p:spPr>
        <p:txBody>
          <a:bodyPr wrap="square" lIns="0" tIns="0" rIns="0" bIns="0" rtlCol="0" anchor="ctr"/>
          <a:lstStyle/>
          <a:p>
            <a:pPr algn="l" indent="0" marL="0">
              <a:buNone/>
            </a:pPr>
            <a:r>
              <a:rPr lang="en-US" sz="1000" b="1" dirty="0">
                <a:solidFill>
                  <a:srgbClr val="FFFFFF"/>
                </a:solidFill>
                <a:latin typeface="Calibri" pitchFamily="34" charset="0"/>
                <a:ea typeface="Calibri" pitchFamily="34" charset="-122"/>
                <a:cs typeface="Calibri" pitchFamily="34" charset="-120"/>
              </a:rPr>
              <a:t>HOW YOU KNOW IT WORKED</a:t>
            </a:r>
            <a:endParaRPr lang="en-US" sz="1000" dirty="0"/>
          </a:p>
        </p:txBody>
      </p:sp>
      <p:sp>
        <p:nvSpPr>
          <p:cNvPr id="15" name="Shape 13"/>
          <p:cNvSpPr/>
          <p:nvPr/>
        </p:nvSpPr>
        <p:spPr>
          <a:xfrm>
            <a:off x="365760" y="1243584"/>
            <a:ext cx="868680" cy="768096"/>
          </a:xfrm>
          <a:prstGeom prst="rect">
            <a:avLst/>
          </a:prstGeom>
          <a:solidFill>
            <a:srgbClr val="EBF4FA"/>
          </a:solidFill>
          <a:ln w="12700">
            <a:solidFill>
              <a:srgbClr val="EBF4FA"/>
            </a:solidFill>
            <a:prstDash val="solid"/>
          </a:ln>
        </p:spPr>
      </p:sp>
      <p:sp>
        <p:nvSpPr>
          <p:cNvPr id="16" name="Text 14"/>
          <p:cNvSpPr/>
          <p:nvPr/>
        </p:nvSpPr>
        <p:spPr>
          <a:xfrm>
            <a:off x="457200" y="1298448"/>
            <a:ext cx="685800" cy="658368"/>
          </a:xfrm>
          <a:prstGeom prst="rect">
            <a:avLst/>
          </a:prstGeom>
          <a:noFill/>
          <a:ln/>
        </p:spPr>
        <p:txBody>
          <a:bodyPr wrap="square" lIns="0" tIns="0" rIns="0" bIns="0" rtlCol="0" anchor="ctr"/>
          <a:lstStyle/>
          <a:p>
            <a:pPr algn="l" indent="0" marL="0">
              <a:buNone/>
            </a:pPr>
            <a:r>
              <a:rPr lang="en-US" sz="1300" b="1" dirty="0">
                <a:solidFill>
                  <a:srgbClr val="1A1A2E"/>
                </a:solidFill>
                <a:latin typeface="Calibri" pitchFamily="34" charset="0"/>
                <a:ea typeface="Calibri" pitchFamily="34" charset="-122"/>
                <a:cs typeface="Calibri" pitchFamily="34" charset="-120"/>
              </a:rPr>
              <a:t>Step 1</a:t>
            </a:r>
            <a:endParaRPr lang="en-US" sz="1300" dirty="0"/>
          </a:p>
        </p:txBody>
      </p:sp>
      <p:sp>
        <p:nvSpPr>
          <p:cNvPr id="17" name="Shape 15"/>
          <p:cNvSpPr/>
          <p:nvPr/>
        </p:nvSpPr>
        <p:spPr>
          <a:xfrm>
            <a:off x="1325880" y="1243584"/>
            <a:ext cx="1097280" cy="768096"/>
          </a:xfrm>
          <a:prstGeom prst="rect">
            <a:avLst/>
          </a:prstGeom>
          <a:solidFill>
            <a:srgbClr val="EBF4FA"/>
          </a:solidFill>
          <a:ln w="12700">
            <a:solidFill>
              <a:srgbClr val="EBF4FA"/>
            </a:solidFill>
            <a:prstDash val="solid"/>
          </a:ln>
        </p:spPr>
      </p:sp>
      <p:sp>
        <p:nvSpPr>
          <p:cNvPr id="18" name="Shape 16"/>
          <p:cNvSpPr/>
          <p:nvPr/>
        </p:nvSpPr>
        <p:spPr>
          <a:xfrm>
            <a:off x="2514600" y="1243584"/>
            <a:ext cx="1280160" cy="768096"/>
          </a:xfrm>
          <a:prstGeom prst="rect">
            <a:avLst/>
          </a:prstGeom>
          <a:solidFill>
            <a:srgbClr val="EBF4FA"/>
          </a:solidFill>
          <a:ln w="12700">
            <a:solidFill>
              <a:srgbClr val="EBF4FA"/>
            </a:solidFill>
            <a:prstDash val="solid"/>
          </a:ln>
        </p:spPr>
      </p:sp>
      <p:sp>
        <p:nvSpPr>
          <p:cNvPr id="19" name="Shape 17"/>
          <p:cNvSpPr/>
          <p:nvPr/>
        </p:nvSpPr>
        <p:spPr>
          <a:xfrm>
            <a:off x="3886200" y="1243584"/>
            <a:ext cx="1463040" cy="768096"/>
          </a:xfrm>
          <a:prstGeom prst="rect">
            <a:avLst/>
          </a:prstGeom>
          <a:solidFill>
            <a:srgbClr val="EBF4FA"/>
          </a:solidFill>
          <a:ln w="12700">
            <a:solidFill>
              <a:srgbClr val="EBF4FA"/>
            </a:solidFill>
            <a:prstDash val="solid"/>
          </a:ln>
        </p:spPr>
      </p:sp>
      <p:sp>
        <p:nvSpPr>
          <p:cNvPr id="20" name="Shape 18"/>
          <p:cNvSpPr/>
          <p:nvPr/>
        </p:nvSpPr>
        <p:spPr>
          <a:xfrm>
            <a:off x="5440680" y="1243584"/>
            <a:ext cx="3337560" cy="768096"/>
          </a:xfrm>
          <a:prstGeom prst="rect">
            <a:avLst/>
          </a:prstGeom>
          <a:solidFill>
            <a:srgbClr val="EBF4FA"/>
          </a:solidFill>
          <a:ln w="12700">
            <a:solidFill>
              <a:srgbClr val="EBF4FA"/>
            </a:solidFill>
            <a:prstDash val="solid"/>
          </a:ln>
        </p:spPr>
      </p:sp>
      <p:sp>
        <p:nvSpPr>
          <p:cNvPr id="21" name="Shape 19"/>
          <p:cNvSpPr/>
          <p:nvPr/>
        </p:nvSpPr>
        <p:spPr>
          <a:xfrm>
            <a:off x="365760" y="2103120"/>
            <a:ext cx="868680" cy="768096"/>
          </a:xfrm>
          <a:prstGeom prst="rect">
            <a:avLst/>
          </a:prstGeom>
          <a:solidFill>
            <a:srgbClr val="FFFFFF"/>
          </a:solidFill>
          <a:ln w="12700">
            <a:solidFill>
              <a:srgbClr val="FFFFFF"/>
            </a:solidFill>
            <a:prstDash val="solid"/>
          </a:ln>
        </p:spPr>
      </p:sp>
      <p:sp>
        <p:nvSpPr>
          <p:cNvPr id="22" name="Text 20"/>
          <p:cNvSpPr/>
          <p:nvPr/>
        </p:nvSpPr>
        <p:spPr>
          <a:xfrm>
            <a:off x="457200" y="2157984"/>
            <a:ext cx="685800" cy="658368"/>
          </a:xfrm>
          <a:prstGeom prst="rect">
            <a:avLst/>
          </a:prstGeom>
          <a:noFill/>
          <a:ln/>
        </p:spPr>
        <p:txBody>
          <a:bodyPr wrap="square" lIns="0" tIns="0" rIns="0" bIns="0" rtlCol="0" anchor="ctr"/>
          <a:lstStyle/>
          <a:p>
            <a:pPr algn="l" indent="0" marL="0">
              <a:buNone/>
            </a:pPr>
            <a:r>
              <a:rPr lang="en-US" sz="1300" b="1" dirty="0">
                <a:solidFill>
                  <a:srgbClr val="1A1A2E"/>
                </a:solidFill>
                <a:latin typeface="Calibri" pitchFamily="34" charset="0"/>
                <a:ea typeface="Calibri" pitchFamily="34" charset="-122"/>
                <a:cs typeface="Calibri" pitchFamily="34" charset="-120"/>
              </a:rPr>
              <a:t>Step 2</a:t>
            </a:r>
            <a:endParaRPr lang="en-US" sz="1300" dirty="0"/>
          </a:p>
        </p:txBody>
      </p:sp>
      <p:sp>
        <p:nvSpPr>
          <p:cNvPr id="23" name="Shape 21"/>
          <p:cNvSpPr/>
          <p:nvPr/>
        </p:nvSpPr>
        <p:spPr>
          <a:xfrm>
            <a:off x="1325880" y="2103120"/>
            <a:ext cx="1097280" cy="768096"/>
          </a:xfrm>
          <a:prstGeom prst="rect">
            <a:avLst/>
          </a:prstGeom>
          <a:solidFill>
            <a:srgbClr val="FFFFFF"/>
          </a:solidFill>
          <a:ln w="12700">
            <a:solidFill>
              <a:srgbClr val="FFFFFF"/>
            </a:solidFill>
            <a:prstDash val="solid"/>
          </a:ln>
        </p:spPr>
      </p:sp>
      <p:sp>
        <p:nvSpPr>
          <p:cNvPr id="24" name="Shape 22"/>
          <p:cNvSpPr/>
          <p:nvPr/>
        </p:nvSpPr>
        <p:spPr>
          <a:xfrm>
            <a:off x="2514600" y="2103120"/>
            <a:ext cx="1280160" cy="768096"/>
          </a:xfrm>
          <a:prstGeom prst="rect">
            <a:avLst/>
          </a:prstGeom>
          <a:solidFill>
            <a:srgbClr val="FFFFFF"/>
          </a:solidFill>
          <a:ln w="12700">
            <a:solidFill>
              <a:srgbClr val="FFFFFF"/>
            </a:solidFill>
            <a:prstDash val="solid"/>
          </a:ln>
        </p:spPr>
      </p:sp>
      <p:sp>
        <p:nvSpPr>
          <p:cNvPr id="25" name="Shape 23"/>
          <p:cNvSpPr/>
          <p:nvPr/>
        </p:nvSpPr>
        <p:spPr>
          <a:xfrm>
            <a:off x="3886200" y="2103120"/>
            <a:ext cx="1463040" cy="768096"/>
          </a:xfrm>
          <a:prstGeom prst="rect">
            <a:avLst/>
          </a:prstGeom>
          <a:solidFill>
            <a:srgbClr val="FFFFFF"/>
          </a:solidFill>
          <a:ln w="12700">
            <a:solidFill>
              <a:srgbClr val="FFFFFF"/>
            </a:solidFill>
            <a:prstDash val="solid"/>
          </a:ln>
        </p:spPr>
      </p:sp>
      <p:sp>
        <p:nvSpPr>
          <p:cNvPr id="26" name="Shape 24"/>
          <p:cNvSpPr/>
          <p:nvPr/>
        </p:nvSpPr>
        <p:spPr>
          <a:xfrm>
            <a:off x="5440680" y="2103120"/>
            <a:ext cx="3337560" cy="768096"/>
          </a:xfrm>
          <a:prstGeom prst="rect">
            <a:avLst/>
          </a:prstGeom>
          <a:solidFill>
            <a:srgbClr val="FFFFFF"/>
          </a:solidFill>
          <a:ln w="12700">
            <a:solidFill>
              <a:srgbClr val="FFFFFF"/>
            </a:solidFill>
            <a:prstDash val="solid"/>
          </a:ln>
        </p:spPr>
      </p:sp>
      <p:sp>
        <p:nvSpPr>
          <p:cNvPr id="27" name="Shape 25"/>
          <p:cNvSpPr/>
          <p:nvPr/>
        </p:nvSpPr>
        <p:spPr>
          <a:xfrm>
            <a:off x="365760" y="2962656"/>
            <a:ext cx="868680" cy="768096"/>
          </a:xfrm>
          <a:prstGeom prst="rect">
            <a:avLst/>
          </a:prstGeom>
          <a:solidFill>
            <a:srgbClr val="EBF4FA"/>
          </a:solidFill>
          <a:ln w="12700">
            <a:solidFill>
              <a:srgbClr val="EBF4FA"/>
            </a:solidFill>
            <a:prstDash val="solid"/>
          </a:ln>
        </p:spPr>
      </p:sp>
      <p:sp>
        <p:nvSpPr>
          <p:cNvPr id="28" name="Text 26"/>
          <p:cNvSpPr/>
          <p:nvPr/>
        </p:nvSpPr>
        <p:spPr>
          <a:xfrm>
            <a:off x="457200" y="3017520"/>
            <a:ext cx="685800" cy="658368"/>
          </a:xfrm>
          <a:prstGeom prst="rect">
            <a:avLst/>
          </a:prstGeom>
          <a:noFill/>
          <a:ln/>
        </p:spPr>
        <p:txBody>
          <a:bodyPr wrap="square" lIns="0" tIns="0" rIns="0" bIns="0" rtlCol="0" anchor="ctr"/>
          <a:lstStyle/>
          <a:p>
            <a:pPr algn="l" indent="0" marL="0">
              <a:buNone/>
            </a:pPr>
            <a:r>
              <a:rPr lang="en-US" sz="1300" b="1" dirty="0">
                <a:solidFill>
                  <a:srgbClr val="1A1A2E"/>
                </a:solidFill>
                <a:latin typeface="Calibri" pitchFamily="34" charset="0"/>
                <a:ea typeface="Calibri" pitchFamily="34" charset="-122"/>
                <a:cs typeface="Calibri" pitchFamily="34" charset="-120"/>
              </a:rPr>
              <a:t>Step 3</a:t>
            </a:r>
            <a:endParaRPr lang="en-US" sz="1300" dirty="0"/>
          </a:p>
        </p:txBody>
      </p:sp>
      <p:sp>
        <p:nvSpPr>
          <p:cNvPr id="29" name="Shape 27"/>
          <p:cNvSpPr/>
          <p:nvPr/>
        </p:nvSpPr>
        <p:spPr>
          <a:xfrm>
            <a:off x="1325880" y="2962656"/>
            <a:ext cx="1097280" cy="768096"/>
          </a:xfrm>
          <a:prstGeom prst="rect">
            <a:avLst/>
          </a:prstGeom>
          <a:solidFill>
            <a:srgbClr val="EBF4FA"/>
          </a:solidFill>
          <a:ln w="12700">
            <a:solidFill>
              <a:srgbClr val="EBF4FA"/>
            </a:solidFill>
            <a:prstDash val="solid"/>
          </a:ln>
        </p:spPr>
      </p:sp>
      <p:sp>
        <p:nvSpPr>
          <p:cNvPr id="30" name="Shape 28"/>
          <p:cNvSpPr/>
          <p:nvPr/>
        </p:nvSpPr>
        <p:spPr>
          <a:xfrm>
            <a:off x="2514600" y="2962656"/>
            <a:ext cx="1280160" cy="768096"/>
          </a:xfrm>
          <a:prstGeom prst="rect">
            <a:avLst/>
          </a:prstGeom>
          <a:solidFill>
            <a:srgbClr val="EBF4FA"/>
          </a:solidFill>
          <a:ln w="12700">
            <a:solidFill>
              <a:srgbClr val="EBF4FA"/>
            </a:solidFill>
            <a:prstDash val="solid"/>
          </a:ln>
        </p:spPr>
      </p:sp>
      <p:sp>
        <p:nvSpPr>
          <p:cNvPr id="31" name="Shape 29"/>
          <p:cNvSpPr/>
          <p:nvPr/>
        </p:nvSpPr>
        <p:spPr>
          <a:xfrm>
            <a:off x="3886200" y="2962656"/>
            <a:ext cx="1463040" cy="768096"/>
          </a:xfrm>
          <a:prstGeom prst="rect">
            <a:avLst/>
          </a:prstGeom>
          <a:solidFill>
            <a:srgbClr val="EBF4FA"/>
          </a:solidFill>
          <a:ln w="12700">
            <a:solidFill>
              <a:srgbClr val="EBF4FA"/>
            </a:solidFill>
            <a:prstDash val="solid"/>
          </a:ln>
        </p:spPr>
      </p:sp>
      <p:sp>
        <p:nvSpPr>
          <p:cNvPr id="32" name="Shape 30"/>
          <p:cNvSpPr/>
          <p:nvPr/>
        </p:nvSpPr>
        <p:spPr>
          <a:xfrm>
            <a:off x="5440680" y="2962656"/>
            <a:ext cx="3337560" cy="768096"/>
          </a:xfrm>
          <a:prstGeom prst="rect">
            <a:avLst/>
          </a:prstGeom>
          <a:solidFill>
            <a:srgbClr val="EBF4FA"/>
          </a:solidFill>
          <a:ln w="12700">
            <a:solidFill>
              <a:srgbClr val="EBF4FA"/>
            </a:solidFill>
            <a:prstDash val="solid"/>
          </a:ln>
        </p:spPr>
      </p:sp>
      <p:sp>
        <p:nvSpPr>
          <p:cNvPr id="33" name="Text 31"/>
          <p:cNvSpPr/>
          <p:nvPr/>
        </p:nvSpPr>
        <p:spPr>
          <a:xfrm>
            <a:off x="365760" y="3858768"/>
            <a:ext cx="8412480" cy="566928"/>
          </a:xfrm>
          <a:prstGeom prst="rect">
            <a:avLst/>
          </a:prstGeom>
          <a:noFill/>
          <a:ln/>
        </p:spPr>
        <p:txBody>
          <a:bodyPr wrap="square" lIns="0" tIns="0" rIns="0" bIns="0" rtlCol="0" anchor="ctr"/>
          <a:lstStyle/>
          <a:p>
            <a:pPr indent="0" marL="0">
              <a:buNone/>
            </a:pPr>
            <a:r>
              <a:rPr lang="en-US" sz="1100" dirty="0">
                <a:solidFill>
                  <a:srgbClr val="5E7B9A"/>
                </a:solidFill>
                <a:latin typeface="Calibri" pitchFamily="34" charset="0"/>
                <a:ea typeface="Calibri" pitchFamily="34" charset="-122"/>
                <a:cs typeface="Calibri" pitchFamily="34" charset="-120"/>
              </a:rPr>
              <a:t>ANSWER KEY: Step 1 = Magnet / Magnetism / Paper clips / Paper clips moved to magnet  |  Step 2 = Sieve / Particle size / Rice / Rice stayed in strainer  |  Step 3 = Water / Solubility / Salt / Water looks clear; no grains visible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828800" cy="274320"/>
          </a:xfrm>
          <a:prstGeom prst="rect">
            <a:avLst/>
          </a:prstGeom>
          <a:solidFill>
            <a:srgbClr val="2E86AB"/>
          </a:solidFill>
          <a:ln w="12700">
            <a:solidFill>
              <a:srgbClr val="2E86AB"/>
            </a:solidFill>
            <a:prstDash val="solid"/>
          </a:ln>
        </p:spPr>
      </p:sp>
      <p:sp>
        <p:nvSpPr>
          <p:cNvPr id="3" name="Text 1"/>
          <p:cNvSpPr/>
          <p:nvPr/>
        </p:nvSpPr>
        <p:spPr>
          <a:xfrm>
            <a:off x="365760" y="109728"/>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RECORD YOUR THINKING</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Answer in Complete Sentences</a:t>
            </a:r>
            <a:endParaRPr lang="en-US" sz="2600" dirty="0"/>
          </a:p>
        </p:txBody>
      </p:sp>
      <p:sp>
        <p:nvSpPr>
          <p:cNvPr id="5" name="Shape 3"/>
          <p:cNvSpPr/>
          <p:nvPr/>
        </p:nvSpPr>
        <p:spPr>
          <a:xfrm>
            <a:off x="365760" y="822960"/>
            <a:ext cx="8412480" cy="1005840"/>
          </a:xfrm>
          <a:prstGeom prst="rect">
            <a:avLst/>
          </a:prstGeom>
          <a:solidFill>
            <a:srgbClr val="FFFFFF"/>
          </a:solidFill>
          <a:ln w="12700">
            <a:solidFill>
              <a:srgbClr val="FFFFFF"/>
            </a:solidFill>
            <a:prstDash val="solid"/>
          </a:ln>
        </p:spPr>
      </p:sp>
      <p:sp>
        <p:nvSpPr>
          <p:cNvPr id="6" name="Text 4"/>
          <p:cNvSpPr/>
          <p:nvPr/>
        </p:nvSpPr>
        <p:spPr>
          <a:xfrm>
            <a:off x="457200" y="877824"/>
            <a:ext cx="8229600" cy="8961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1.  What came out at Step 1? What is your evidence it was paper clips — not rice or salt — that responded to the magnet?</a:t>
            </a:r>
            <a:endParaRPr lang="en-US" sz="1400" dirty="0"/>
          </a:p>
        </p:txBody>
      </p:sp>
      <p:sp>
        <p:nvSpPr>
          <p:cNvPr id="7" name="Shape 5"/>
          <p:cNvSpPr/>
          <p:nvPr/>
        </p:nvSpPr>
        <p:spPr>
          <a:xfrm>
            <a:off x="365760" y="1938528"/>
            <a:ext cx="8412480" cy="1005840"/>
          </a:xfrm>
          <a:prstGeom prst="rect">
            <a:avLst/>
          </a:prstGeom>
          <a:solidFill>
            <a:srgbClr val="FFFFFF"/>
          </a:solidFill>
          <a:ln w="12700">
            <a:solidFill>
              <a:srgbClr val="FFFFFF"/>
            </a:solidFill>
            <a:prstDash val="solid"/>
          </a:ln>
        </p:spPr>
      </p:sp>
      <p:sp>
        <p:nvSpPr>
          <p:cNvPr id="8" name="Text 6"/>
          <p:cNvSpPr/>
          <p:nvPr/>
        </p:nvSpPr>
        <p:spPr>
          <a:xfrm>
            <a:off x="457200" y="1993392"/>
            <a:ext cx="8229600" cy="8961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2.  After Step 2, what was in the strainer? What was in the bowl below? How do you know the sieve worked correctly?</a:t>
            </a:r>
            <a:endParaRPr lang="en-US" sz="1400" dirty="0"/>
          </a:p>
        </p:txBody>
      </p:sp>
      <p:sp>
        <p:nvSpPr>
          <p:cNvPr id="9" name="Shape 7"/>
          <p:cNvSpPr/>
          <p:nvPr/>
        </p:nvSpPr>
        <p:spPr>
          <a:xfrm>
            <a:off x="365760" y="3054096"/>
            <a:ext cx="8412480" cy="1005840"/>
          </a:xfrm>
          <a:prstGeom prst="rect">
            <a:avLst/>
          </a:prstGeom>
          <a:solidFill>
            <a:srgbClr val="FFFFFF"/>
          </a:solidFill>
          <a:ln w="12700">
            <a:solidFill>
              <a:srgbClr val="FFFFFF"/>
            </a:solidFill>
            <a:prstDash val="solid"/>
          </a:ln>
        </p:spPr>
      </p:sp>
      <p:sp>
        <p:nvSpPr>
          <p:cNvPr id="10" name="Text 8"/>
          <p:cNvSpPr/>
          <p:nvPr/>
        </p:nvSpPr>
        <p:spPr>
          <a:xfrm>
            <a:off x="457200" y="3108960"/>
            <a:ext cx="8229600" cy="896112"/>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3.  After Step 3, how would you know the salt dissolved? How could you use a scale to CONFIRM the salt is still there?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517904" cy="274320"/>
          </a:xfrm>
          <a:prstGeom prst="rect">
            <a:avLst/>
          </a:prstGeom>
          <a:solidFill>
            <a:srgbClr val="F07D35"/>
          </a:solidFill>
          <a:ln w="12700">
            <a:solidFill>
              <a:srgbClr val="F07D35"/>
            </a:solidFill>
            <a:prstDash val="solid"/>
          </a:ln>
        </p:spPr>
      </p:sp>
      <p:sp>
        <p:nvSpPr>
          <p:cNvPr id="3" name="Text 1"/>
          <p:cNvSpPr/>
          <p:nvPr/>
        </p:nvSpPr>
        <p:spPr>
          <a:xfrm>
            <a:off x="365760" y="109728"/>
            <a:ext cx="151790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DISCUSS &amp; DEFEND</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Defend Your Sequence</a:t>
            </a:r>
            <a:endParaRPr lang="en-US" sz="2800" dirty="0"/>
          </a:p>
        </p:txBody>
      </p:sp>
      <p:sp>
        <p:nvSpPr>
          <p:cNvPr id="5" name="Shape 3"/>
          <p:cNvSpPr/>
          <p:nvPr/>
        </p:nvSpPr>
        <p:spPr>
          <a:xfrm>
            <a:off x="365760" y="822960"/>
            <a:ext cx="8412480" cy="1024128"/>
          </a:xfrm>
          <a:prstGeom prst="rect">
            <a:avLst/>
          </a:prstGeom>
          <a:solidFill>
            <a:srgbClr val="2C4A6E"/>
          </a:solidFill>
          <a:ln w="12700">
            <a:solidFill>
              <a:srgbClr val="2C4A6E"/>
            </a:solidFill>
            <a:prstDash val="solid"/>
          </a:ln>
        </p:spPr>
      </p:sp>
      <p:sp>
        <p:nvSpPr>
          <p:cNvPr id="6" name="Text 4"/>
          <p:cNvSpPr/>
          <p:nvPr/>
        </p:nvSpPr>
        <p:spPr>
          <a:xfrm>
            <a:off x="457200" y="877824"/>
            <a:ext cx="8229600" cy="9144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"Could the three materials be separated in a DIFFERENT order — for example, water first, then sieve, then magnet? What would go wrong at each step if you did it that way?"</a:t>
            </a:r>
            <a:endParaRPr lang="en-US" sz="1500" dirty="0"/>
          </a:p>
        </p:txBody>
      </p:sp>
      <p:sp>
        <p:nvSpPr>
          <p:cNvPr id="7" name="Shape 5"/>
          <p:cNvSpPr/>
          <p:nvPr/>
        </p:nvSpPr>
        <p:spPr>
          <a:xfrm>
            <a:off x="365760" y="1938528"/>
            <a:ext cx="8412480" cy="1024128"/>
          </a:xfrm>
          <a:prstGeom prst="rect">
            <a:avLst/>
          </a:prstGeom>
          <a:solidFill>
            <a:srgbClr val="2C4A6E"/>
          </a:solidFill>
          <a:ln w="12700">
            <a:solidFill>
              <a:srgbClr val="2C4A6E"/>
            </a:solidFill>
            <a:prstDash val="solid"/>
          </a:ln>
        </p:spPr>
      </p:sp>
      <p:sp>
        <p:nvSpPr>
          <p:cNvPr id="8" name="Text 6"/>
          <p:cNvSpPr/>
          <p:nvPr/>
        </p:nvSpPr>
        <p:spPr>
          <a:xfrm>
            <a:off x="457200" y="1993392"/>
            <a:ext cx="8229600" cy="9144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"In Step 3, the salt dissolved in the water. How would you get the salt BACK as dry salt? What process would you use — and what does that tell you about conservation of matter?"</a:t>
            </a:r>
            <a:endParaRPr lang="en-US" sz="1500" dirty="0"/>
          </a:p>
        </p:txBody>
      </p:sp>
      <p:sp>
        <p:nvSpPr>
          <p:cNvPr id="9" name="Text 7"/>
          <p:cNvSpPr/>
          <p:nvPr/>
        </p:nvSpPr>
        <p:spPr>
          <a:xfrm>
            <a:off x="365760" y="3090672"/>
            <a:ext cx="8412480" cy="502920"/>
          </a:xfrm>
          <a:prstGeom prst="rect">
            <a:avLst/>
          </a:prstGeom>
          <a:noFill/>
          <a:ln/>
        </p:spPr>
        <p:txBody>
          <a:bodyPr wrap="square" lIns="0" tIns="0" rIns="0" bIns="0" rtlCol="0" anchor="ctr"/>
          <a:lstStyle/>
          <a:p>
            <a:pPr indent="0" marL="0">
              <a:buNone/>
            </a:pPr>
            <a:r>
              <a:rPr lang="en-US" sz="1300" i="1" dirty="0">
                <a:solidFill>
                  <a:srgbClr val="F6C90E"/>
                </a:solidFill>
                <a:latin typeface="Calibri" pitchFamily="34" charset="0"/>
                <a:ea typeface="Calibri" pitchFamily="34" charset="-122"/>
                <a:cs typeface="Calibri" pitchFamily="34" charset="-120"/>
              </a:rPr>
              <a:t>Starters: "If you added water first, the problem would be… because…" / "To get dry salt back, you would… because the salt particles are still…"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F6C90E"/>
          </a:solidFill>
          <a:ln w="12700">
            <a:solidFill>
              <a:srgbClr val="F6C90E"/>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SCIENTIST TALK</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Claim — Evidence — Reasoning</a:t>
            </a:r>
            <a:endParaRPr lang="en-US" sz="3000" dirty="0"/>
          </a:p>
        </p:txBody>
      </p:sp>
      <p:sp>
        <p:nvSpPr>
          <p:cNvPr id="5" name="Shape 3"/>
          <p:cNvSpPr/>
          <p:nvPr/>
        </p:nvSpPr>
        <p:spPr>
          <a:xfrm>
            <a:off x="365760" y="822960"/>
            <a:ext cx="8412480" cy="658368"/>
          </a:xfrm>
          <a:prstGeom prst="rect">
            <a:avLst/>
          </a:prstGeom>
          <a:solidFill>
            <a:srgbClr val="1A3A5C"/>
          </a:solidFill>
          <a:ln w="12700">
            <a:solidFill>
              <a:srgbClr val="1A3A5C"/>
            </a:solidFill>
            <a:prstDash val="solid"/>
          </a:ln>
        </p:spPr>
      </p:sp>
      <p:sp>
        <p:nvSpPr>
          <p:cNvPr id="6" name="Text 4"/>
          <p:cNvSpPr/>
          <p:nvPr/>
        </p:nvSpPr>
        <p:spPr>
          <a:xfrm>
            <a:off x="457200" y="877824"/>
            <a:ext cx="8229600" cy="54864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  CLAIM:  "Step 1 — the magnet step — worked because paper clips have magnetic properties."</a:t>
            </a:r>
            <a:endParaRPr lang="en-US" sz="1500" dirty="0"/>
          </a:p>
        </p:txBody>
      </p:sp>
      <p:sp>
        <p:nvSpPr>
          <p:cNvPr id="7" name="Shape 5"/>
          <p:cNvSpPr/>
          <p:nvPr/>
        </p:nvSpPr>
        <p:spPr>
          <a:xfrm>
            <a:off x="365760" y="1554480"/>
            <a:ext cx="8412480" cy="777240"/>
          </a:xfrm>
          <a:prstGeom prst="rect">
            <a:avLst/>
          </a:prstGeom>
          <a:solidFill>
            <a:srgbClr val="2C4A6E"/>
          </a:solidFill>
          <a:ln w="12700">
            <a:solidFill>
              <a:srgbClr val="2C4A6E"/>
            </a:solidFill>
            <a:prstDash val="solid"/>
          </a:ln>
        </p:spPr>
      </p:sp>
      <p:sp>
        <p:nvSpPr>
          <p:cNvPr id="8" name="Text 6"/>
          <p:cNvSpPr/>
          <p:nvPr/>
        </p:nvSpPr>
        <p:spPr>
          <a:xfrm>
            <a:off x="457200" y="1609344"/>
            <a:ext cx="8229600" cy="66751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  EVIDENCE:  "I observed that the paper clips moved toward the magnet and could be lifted out, while the rice and salt did not move at all."</a:t>
            </a:r>
            <a:endParaRPr lang="en-US" sz="1400" dirty="0"/>
          </a:p>
        </p:txBody>
      </p:sp>
      <p:sp>
        <p:nvSpPr>
          <p:cNvPr id="9" name="Shape 7"/>
          <p:cNvSpPr/>
          <p:nvPr/>
        </p:nvSpPr>
        <p:spPr>
          <a:xfrm>
            <a:off x="365760" y="2423160"/>
            <a:ext cx="8412480" cy="777240"/>
          </a:xfrm>
          <a:prstGeom prst="rect">
            <a:avLst/>
          </a:prstGeom>
          <a:solidFill>
            <a:srgbClr val="2C4A6E"/>
          </a:solidFill>
          <a:ln w="12700">
            <a:solidFill>
              <a:srgbClr val="2C4A6E"/>
            </a:solidFill>
            <a:prstDash val="solid"/>
          </a:ln>
        </p:spPr>
      </p:sp>
      <p:sp>
        <p:nvSpPr>
          <p:cNvPr id="10" name="Text 8"/>
          <p:cNvSpPr/>
          <p:nvPr/>
        </p:nvSpPr>
        <p:spPr>
          <a:xfrm>
            <a:off x="457200" y="2478024"/>
            <a:ext cx="8229600" cy="667512"/>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  REASONING:  "This shows magnetism was the right property to use first because paper clips are the ONLY iron/steel material in the mix — so the magnet removed only paper clips and nothing else."</a:t>
            </a:r>
            <a:endParaRPr lang="en-US" sz="1400" dirty="0"/>
          </a:p>
        </p:txBody>
      </p:sp>
      <p:sp>
        <p:nvSpPr>
          <p:cNvPr id="11" name="Text 9"/>
          <p:cNvSpPr/>
          <p:nvPr/>
        </p:nvSpPr>
        <p:spPr>
          <a:xfrm>
            <a:off x="365760" y="3310128"/>
            <a:ext cx="8412480" cy="384048"/>
          </a:xfrm>
          <a:prstGeom prst="rect">
            <a:avLst/>
          </a:prstGeom>
          <a:noFill/>
          <a:ln/>
        </p:spPr>
        <p:txBody>
          <a:bodyPr wrap="square" lIns="0" tIns="0" rIns="0" bIns="0" rtlCol="0" anchor="ctr"/>
          <a:lstStyle/>
          <a:p>
            <a:pPr indent="0" marL="0">
              <a:buNone/>
            </a:pPr>
            <a:r>
              <a:rPr lang="en-US" sz="1300" i="1" dirty="0">
                <a:solidFill>
                  <a:srgbClr val="F6C90E"/>
                </a:solidFill>
                <a:latin typeface="Calibri" pitchFamily="34" charset="0"/>
                <a:ea typeface="Calibri" pitchFamily="34" charset="-122"/>
                <a:cs typeface="Calibri" pitchFamily="34" charset="-120"/>
              </a:rPr>
              <a:t>For Part C: write a CER defending the three-step order — explain why each step HAD to come before the next.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2E86AB"/>
          </a:solidFill>
          <a:ln w="12700">
            <a:solidFill>
              <a:srgbClr val="2E86AB"/>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Question 1 of 2</a:t>
            </a:r>
            <a:endParaRPr lang="en-US" sz="2600" dirty="0"/>
          </a:p>
        </p:txBody>
      </p:sp>
      <p:sp>
        <p:nvSpPr>
          <p:cNvPr id="5" name="Shape 3"/>
          <p:cNvSpPr/>
          <p:nvPr/>
        </p:nvSpPr>
        <p:spPr>
          <a:xfrm>
            <a:off x="365760" y="777240"/>
            <a:ext cx="8412480" cy="658368"/>
          </a:xfrm>
          <a:prstGeom prst="rect">
            <a:avLst/>
          </a:prstGeom>
          <a:solidFill>
            <a:srgbClr val="2C4A6E"/>
          </a:solidFill>
          <a:ln w="12700">
            <a:solidFill>
              <a:srgbClr val="2C4A6E"/>
            </a:solidFill>
            <a:prstDash val="solid"/>
          </a:ln>
        </p:spPr>
      </p:sp>
      <p:sp>
        <p:nvSpPr>
          <p:cNvPr id="6" name="Text 4"/>
          <p:cNvSpPr/>
          <p:nvPr/>
        </p:nvSpPr>
        <p:spPr>
          <a:xfrm>
            <a:off x="457200" y="832104"/>
            <a:ext cx="8229600" cy="54864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After Step 2 (the sieve step), what should be in the strainer?</a:t>
            </a:r>
            <a:endParaRPr lang="en-US" sz="1600" dirty="0"/>
          </a:p>
        </p:txBody>
      </p:sp>
      <p:sp>
        <p:nvSpPr>
          <p:cNvPr id="7" name="Shape 5"/>
          <p:cNvSpPr/>
          <p:nvPr/>
        </p:nvSpPr>
        <p:spPr>
          <a:xfrm>
            <a:off x="365760" y="1536192"/>
            <a:ext cx="8412480" cy="566928"/>
          </a:xfrm>
          <a:prstGeom prst="rect">
            <a:avLst/>
          </a:prstGeom>
          <a:solidFill>
            <a:srgbClr val="2C4A6E"/>
          </a:solidFill>
          <a:ln w="12700">
            <a:solidFill>
              <a:srgbClr val="2C4A6E"/>
            </a:solidFill>
            <a:prstDash val="solid"/>
          </a:ln>
        </p:spPr>
      </p:sp>
      <p:sp>
        <p:nvSpPr>
          <p:cNvPr id="8" name="Text 6"/>
          <p:cNvSpPr/>
          <p:nvPr/>
        </p:nvSpPr>
        <p:spPr>
          <a:xfrm>
            <a:off x="457200" y="1591056"/>
            <a:ext cx="8229600" cy="4572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A)  Paper clips</a:t>
            </a:r>
            <a:endParaRPr lang="en-US" sz="1500" dirty="0"/>
          </a:p>
        </p:txBody>
      </p:sp>
      <p:sp>
        <p:nvSpPr>
          <p:cNvPr id="9" name="Shape 7"/>
          <p:cNvSpPr/>
          <p:nvPr/>
        </p:nvSpPr>
        <p:spPr>
          <a:xfrm>
            <a:off x="365760" y="2176272"/>
            <a:ext cx="8412480" cy="566928"/>
          </a:xfrm>
          <a:prstGeom prst="rect">
            <a:avLst/>
          </a:prstGeom>
          <a:solidFill>
            <a:srgbClr val="2A7A4B"/>
          </a:solidFill>
          <a:ln w="12700">
            <a:solidFill>
              <a:srgbClr val="2A7A4B"/>
            </a:solidFill>
            <a:prstDash val="solid"/>
          </a:ln>
        </p:spPr>
      </p:sp>
      <p:sp>
        <p:nvSpPr>
          <p:cNvPr id="10" name="Text 8"/>
          <p:cNvSpPr/>
          <p:nvPr/>
        </p:nvSpPr>
        <p:spPr>
          <a:xfrm>
            <a:off x="457200" y="2231136"/>
            <a:ext cx="8229600"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B)  Rice  ✓  CORRECT</a:t>
            </a:r>
            <a:endParaRPr lang="en-US" sz="1500" dirty="0"/>
          </a:p>
        </p:txBody>
      </p:sp>
      <p:sp>
        <p:nvSpPr>
          <p:cNvPr id="11" name="Shape 9"/>
          <p:cNvSpPr/>
          <p:nvPr/>
        </p:nvSpPr>
        <p:spPr>
          <a:xfrm>
            <a:off x="365760" y="2816352"/>
            <a:ext cx="8412480" cy="566928"/>
          </a:xfrm>
          <a:prstGeom prst="rect">
            <a:avLst/>
          </a:prstGeom>
          <a:solidFill>
            <a:srgbClr val="2C4A6E"/>
          </a:solidFill>
          <a:ln w="12700">
            <a:solidFill>
              <a:srgbClr val="2C4A6E"/>
            </a:solidFill>
            <a:prstDash val="solid"/>
          </a:ln>
        </p:spPr>
      </p:sp>
      <p:sp>
        <p:nvSpPr>
          <p:cNvPr id="12" name="Text 10"/>
          <p:cNvSpPr/>
          <p:nvPr/>
        </p:nvSpPr>
        <p:spPr>
          <a:xfrm>
            <a:off x="457200" y="2871216"/>
            <a:ext cx="8229600" cy="4572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C)  Salt</a:t>
            </a:r>
            <a:endParaRPr lang="en-US" sz="1500" dirty="0"/>
          </a:p>
        </p:txBody>
      </p:sp>
      <p:sp>
        <p:nvSpPr>
          <p:cNvPr id="13" name="Text 11"/>
          <p:cNvSpPr/>
          <p:nvPr/>
        </p:nvSpPr>
        <p:spPr>
          <a:xfrm>
            <a:off x="365760" y="3547872"/>
            <a:ext cx="8412480" cy="384048"/>
          </a:xfrm>
          <a:prstGeom prst="rect">
            <a:avLst/>
          </a:prstGeom>
          <a:noFill/>
          <a:ln/>
        </p:spPr>
        <p:txBody>
          <a:bodyPr wrap="square" lIns="0" tIns="0" rIns="0" bIns="0" rtlCol="0" anchor="ctr"/>
          <a:lstStyle/>
          <a:p>
            <a:pPr indent="0" marL="0">
              <a:buNone/>
            </a:pPr>
            <a:r>
              <a:rPr lang="en-US" sz="1300" i="1" dirty="0">
                <a:solidFill>
                  <a:srgbClr val="F6C90E"/>
                </a:solidFill>
                <a:latin typeface="Calibri" pitchFamily="34" charset="0"/>
                <a:ea typeface="Calibri" pitchFamily="34" charset="-122"/>
                <a:cs typeface="Calibri" pitchFamily="34" charset="-120"/>
              </a:rPr>
              <a:t>Paper clips were removed in Step 1. Salt grains are small enough to fall through sieve holes. Rice grains are too large — they stay in the strainer.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371600" cy="274320"/>
          </a:xfrm>
          <a:prstGeom prst="rect">
            <a:avLst/>
          </a:prstGeom>
          <a:solidFill>
            <a:srgbClr val="2E86AB"/>
          </a:solidFill>
          <a:ln w="12700">
            <a:solidFill>
              <a:srgbClr val="2E86AB"/>
            </a:solidFill>
            <a:prstDash val="solid"/>
          </a:ln>
        </p:spPr>
      </p:sp>
      <p:sp>
        <p:nvSpPr>
          <p:cNvPr id="3" name="Text 1"/>
          <p:cNvSpPr/>
          <p:nvPr/>
        </p:nvSpPr>
        <p:spPr>
          <a:xfrm>
            <a:off x="365760" y="109728"/>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SELF-CHECK</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mbria" pitchFamily="34" charset="0"/>
                <a:ea typeface="Cambria" pitchFamily="34" charset="-122"/>
                <a:cs typeface="Cambria" pitchFamily="34" charset="-120"/>
              </a:rPr>
              <a:t>Question 2 of 2</a:t>
            </a:r>
            <a:endParaRPr lang="en-US" sz="2600" dirty="0"/>
          </a:p>
        </p:txBody>
      </p:sp>
      <p:sp>
        <p:nvSpPr>
          <p:cNvPr id="5" name="Shape 3"/>
          <p:cNvSpPr/>
          <p:nvPr/>
        </p:nvSpPr>
        <p:spPr>
          <a:xfrm>
            <a:off x="365760" y="777240"/>
            <a:ext cx="8412480" cy="658368"/>
          </a:xfrm>
          <a:prstGeom prst="rect">
            <a:avLst/>
          </a:prstGeom>
          <a:solidFill>
            <a:srgbClr val="2C4A6E"/>
          </a:solidFill>
          <a:ln w="12700">
            <a:solidFill>
              <a:srgbClr val="2C4A6E"/>
            </a:solidFill>
            <a:prstDash val="solid"/>
          </a:ln>
        </p:spPr>
      </p:sp>
      <p:sp>
        <p:nvSpPr>
          <p:cNvPr id="6" name="Text 4"/>
          <p:cNvSpPr/>
          <p:nvPr/>
        </p:nvSpPr>
        <p:spPr>
          <a:xfrm>
            <a:off x="457200" y="832104"/>
            <a:ext cx="8229600" cy="54864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Why must the magnet step come BEFORE the water step?</a:t>
            </a:r>
            <a:endParaRPr lang="en-US" sz="1600" dirty="0"/>
          </a:p>
        </p:txBody>
      </p:sp>
      <p:sp>
        <p:nvSpPr>
          <p:cNvPr id="7" name="Shape 5"/>
          <p:cNvSpPr/>
          <p:nvPr/>
        </p:nvSpPr>
        <p:spPr>
          <a:xfrm>
            <a:off x="365760" y="1536192"/>
            <a:ext cx="8412480" cy="566928"/>
          </a:xfrm>
          <a:prstGeom prst="rect">
            <a:avLst/>
          </a:prstGeom>
          <a:solidFill>
            <a:srgbClr val="2C4A6E"/>
          </a:solidFill>
          <a:ln w="12700">
            <a:solidFill>
              <a:srgbClr val="2C4A6E"/>
            </a:solidFill>
            <a:prstDash val="solid"/>
          </a:ln>
        </p:spPr>
      </p:sp>
      <p:sp>
        <p:nvSpPr>
          <p:cNvPr id="8" name="Text 6"/>
          <p:cNvSpPr/>
          <p:nvPr/>
        </p:nvSpPr>
        <p:spPr>
          <a:xfrm>
            <a:off x="457200" y="1591056"/>
            <a:ext cx="8229600" cy="4572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A)  Water makes magnets weaker</a:t>
            </a:r>
            <a:endParaRPr lang="en-US" sz="1500" dirty="0"/>
          </a:p>
        </p:txBody>
      </p:sp>
      <p:sp>
        <p:nvSpPr>
          <p:cNvPr id="9" name="Shape 7"/>
          <p:cNvSpPr/>
          <p:nvPr/>
        </p:nvSpPr>
        <p:spPr>
          <a:xfrm>
            <a:off x="365760" y="2176272"/>
            <a:ext cx="8412480" cy="566928"/>
          </a:xfrm>
          <a:prstGeom prst="rect">
            <a:avLst/>
          </a:prstGeom>
          <a:solidFill>
            <a:srgbClr val="2A7A4B"/>
          </a:solidFill>
          <a:ln w="12700">
            <a:solidFill>
              <a:srgbClr val="2A7A4B"/>
            </a:solidFill>
            <a:prstDash val="solid"/>
          </a:ln>
        </p:spPr>
      </p:sp>
      <p:sp>
        <p:nvSpPr>
          <p:cNvPr id="10" name="Text 8"/>
          <p:cNvSpPr/>
          <p:nvPr/>
        </p:nvSpPr>
        <p:spPr>
          <a:xfrm>
            <a:off x="457200" y="2231136"/>
            <a:ext cx="8229600"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B)  Water dissolves the salt before you can sieve rice from it, and wet rice is harder to handle  ✓</a:t>
            </a:r>
            <a:endParaRPr lang="en-US" sz="1500" dirty="0"/>
          </a:p>
        </p:txBody>
      </p:sp>
      <p:sp>
        <p:nvSpPr>
          <p:cNvPr id="11" name="Shape 9"/>
          <p:cNvSpPr/>
          <p:nvPr/>
        </p:nvSpPr>
        <p:spPr>
          <a:xfrm>
            <a:off x="365760" y="2816352"/>
            <a:ext cx="8412480" cy="566928"/>
          </a:xfrm>
          <a:prstGeom prst="rect">
            <a:avLst/>
          </a:prstGeom>
          <a:solidFill>
            <a:srgbClr val="2C4A6E"/>
          </a:solidFill>
          <a:ln w="12700">
            <a:solidFill>
              <a:srgbClr val="2C4A6E"/>
            </a:solidFill>
            <a:prstDash val="solid"/>
          </a:ln>
        </p:spPr>
      </p:sp>
      <p:sp>
        <p:nvSpPr>
          <p:cNvPr id="12" name="Text 10"/>
          <p:cNvSpPr/>
          <p:nvPr/>
        </p:nvSpPr>
        <p:spPr>
          <a:xfrm>
            <a:off x="457200" y="2871216"/>
            <a:ext cx="8229600" cy="45720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C)  Magnets only work on dry materials</a:t>
            </a:r>
            <a:endParaRPr lang="en-US" sz="1500" dirty="0"/>
          </a:p>
        </p:txBody>
      </p:sp>
      <p:sp>
        <p:nvSpPr>
          <p:cNvPr id="13" name="Text 11"/>
          <p:cNvSpPr/>
          <p:nvPr/>
        </p:nvSpPr>
        <p:spPr>
          <a:xfrm>
            <a:off x="365760" y="3547872"/>
            <a:ext cx="8412480" cy="384048"/>
          </a:xfrm>
          <a:prstGeom prst="rect">
            <a:avLst/>
          </a:prstGeom>
          <a:noFill/>
          <a:ln/>
        </p:spPr>
        <p:txBody>
          <a:bodyPr wrap="square" lIns="0" tIns="0" rIns="0" bIns="0" rtlCol="0" anchor="ctr"/>
          <a:lstStyle/>
          <a:p>
            <a:pPr indent="0" marL="0">
              <a:buNone/>
            </a:pPr>
            <a:r>
              <a:rPr lang="en-US" sz="1300" i="1" dirty="0">
                <a:solidFill>
                  <a:srgbClr val="F6C90E"/>
                </a:solidFill>
                <a:latin typeface="Calibri" pitchFamily="34" charset="0"/>
                <a:ea typeface="Calibri" pitchFamily="34" charset="-122"/>
                <a:cs typeface="Calibri" pitchFamily="34" charset="-120"/>
              </a:rPr>
              <a:t>Magnets work fine in water. But the ORDER problem is about the salt and rice — water ruins the sieve step by dissolving salt too early.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109728"/>
            <a:ext cx="1595628" cy="274320"/>
          </a:xfrm>
          <a:prstGeom prst="rect">
            <a:avLst/>
          </a:prstGeom>
          <a:solidFill>
            <a:srgbClr val="F6C90E"/>
          </a:solidFill>
          <a:ln w="12700">
            <a:solidFill>
              <a:srgbClr val="F6C90E"/>
            </a:solidFill>
            <a:prstDash val="solid"/>
          </a:ln>
        </p:spPr>
      </p:sp>
      <p:sp>
        <p:nvSpPr>
          <p:cNvPr id="3" name="Text 1"/>
          <p:cNvSpPr/>
          <p:nvPr/>
        </p:nvSpPr>
        <p:spPr>
          <a:xfrm>
            <a:off x="365760" y="109728"/>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MIND-BLOWING FACT</a:t>
            </a:r>
            <a:endParaRPr lang="en-US" sz="1000" dirty="0"/>
          </a:p>
        </p:txBody>
      </p:sp>
      <p:sp>
        <p:nvSpPr>
          <p:cNvPr id="4" name="Text 2"/>
          <p:cNvSpPr/>
          <p:nvPr/>
        </p:nvSpPr>
        <p:spPr>
          <a:xfrm>
            <a:off x="365760" y="475488"/>
            <a:ext cx="841248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Water Treatment — 3 Steps, Millions of Gallons</a:t>
            </a:r>
            <a:endParaRPr lang="en-US" sz="3000" dirty="0"/>
          </a:p>
        </p:txBody>
      </p:sp>
      <p:sp>
        <p:nvSpPr>
          <p:cNvPr id="5" name="Text 3"/>
          <p:cNvSpPr/>
          <p:nvPr/>
        </p:nvSpPr>
        <p:spPr>
          <a:xfrm>
            <a:off x="365760" y="1188720"/>
            <a:ext cx="8412480" cy="1097280"/>
          </a:xfrm>
          <a:prstGeom prst="rect">
            <a:avLst/>
          </a:prstGeom>
          <a:noFill/>
          <a:ln/>
        </p:spPr>
        <p:txBody>
          <a:bodyPr wrap="square" lIns="0" tIns="0" rIns="0" bIns="0" rtlCol="0" anchor="ctr"/>
          <a:lstStyle/>
          <a:p>
            <a:pPr indent="0" marL="0">
              <a:buNone/>
            </a:pPr>
            <a:r>
              <a:rPr lang="en-US" sz="1500" dirty="0">
                <a:solidFill>
                  <a:srgbClr val="EBF4FA"/>
                </a:solidFill>
                <a:latin typeface="Calibri" pitchFamily="34" charset="0"/>
                <a:ea typeface="Calibri" pitchFamily="34" charset="-122"/>
                <a:cs typeface="Calibri" pitchFamily="34" charset="-120"/>
              </a:rPr>
              <a:t>Water treatment plants use the same three ideas you just used. Large particles settle by size. Filtration removes fine particles. Chemical treatment removes dissolved substances. Together, these three steps clean millions of gallons of drinking water per day — using the same property differences you exploited with a strainer and a magnet.</a:t>
            </a:r>
            <a:endParaRPr lang="en-US" sz="1500" dirty="0"/>
          </a:p>
        </p:txBody>
      </p:sp>
      <p:sp>
        <p:nvSpPr>
          <p:cNvPr id="6" name="Shape 4"/>
          <p:cNvSpPr/>
          <p:nvPr/>
        </p:nvSpPr>
        <p:spPr>
          <a:xfrm>
            <a:off x="365760" y="2423160"/>
            <a:ext cx="4114800" cy="1207008"/>
          </a:xfrm>
          <a:prstGeom prst="rect">
            <a:avLst/>
          </a:prstGeom>
          <a:solidFill>
            <a:srgbClr val="2C4A6E"/>
          </a:solidFill>
          <a:ln w="12700">
            <a:solidFill>
              <a:srgbClr val="2C4A6E"/>
            </a:solidFill>
            <a:prstDash val="solid"/>
          </a:ln>
        </p:spPr>
      </p:sp>
      <p:sp>
        <p:nvSpPr>
          <p:cNvPr id="7" name="Text 5"/>
          <p:cNvSpPr/>
          <p:nvPr/>
        </p:nvSpPr>
        <p:spPr>
          <a:xfrm>
            <a:off x="457200" y="2478024"/>
            <a:ext cx="3931920" cy="109728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 Extension Q1:</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Water treatment plants don't use a magnet — but they DO separate particles by size. What tool do they use? What is the equivalent of your strainer?</a:t>
            </a:r>
            <a:endParaRPr lang="en-US" sz="1400" dirty="0"/>
          </a:p>
        </p:txBody>
      </p:sp>
      <p:sp>
        <p:nvSpPr>
          <p:cNvPr id="8" name="Shape 6"/>
          <p:cNvSpPr/>
          <p:nvPr/>
        </p:nvSpPr>
        <p:spPr>
          <a:xfrm>
            <a:off x="4663440" y="2423160"/>
            <a:ext cx="4114800" cy="1207008"/>
          </a:xfrm>
          <a:prstGeom prst="rect">
            <a:avLst/>
          </a:prstGeom>
          <a:solidFill>
            <a:srgbClr val="2C4A6E"/>
          </a:solidFill>
          <a:ln w="12700">
            <a:solidFill>
              <a:srgbClr val="2C4A6E"/>
            </a:solidFill>
            <a:prstDash val="solid"/>
          </a:ln>
        </p:spPr>
      </p:sp>
      <p:sp>
        <p:nvSpPr>
          <p:cNvPr id="9" name="Text 7"/>
          <p:cNvSpPr/>
          <p:nvPr/>
        </p:nvSpPr>
        <p:spPr>
          <a:xfrm>
            <a:off x="4754880" y="2478024"/>
            <a:ext cx="3931920" cy="109728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 Extension Q2:</a:t>
            </a:r>
            <a:endParaRPr lang="en-US" sz="1400" dirty="0"/>
          </a:p>
          <a:p>
            <a:pPr algn="l" indent="0" marL="0">
              <a:buNone/>
            </a:pPr>
            <a:r>
              <a:rPr lang="en-US" sz="1400" dirty="0">
                <a:solidFill>
                  <a:srgbClr val="FFFFFF"/>
                </a:solidFill>
                <a:latin typeface="Calibri" pitchFamily="34" charset="0"/>
                <a:ea typeface="Calibri" pitchFamily="34" charset="-122"/>
                <a:cs typeface="Calibri" pitchFamily="34" charset="-120"/>
              </a:rPr>
              <a:t>After Step 3, you have salt dissolved in water. How could you get the salt BACK as dry salt? Name the process and explain what happens to the water.</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673352" cy="274320"/>
          </a:xfrm>
          <a:prstGeom prst="rect">
            <a:avLst/>
          </a:prstGeom>
          <a:solidFill>
            <a:srgbClr val="1A3A5C"/>
          </a:solidFill>
          <a:ln w="12700">
            <a:solidFill>
              <a:srgbClr val="1A3A5C"/>
            </a:solidFill>
            <a:prstDash val="solid"/>
          </a:ln>
        </p:spPr>
      </p:sp>
      <p:sp>
        <p:nvSpPr>
          <p:cNvPr id="3" name="Text 1"/>
          <p:cNvSpPr/>
          <p:nvPr/>
        </p:nvSpPr>
        <p:spPr>
          <a:xfrm>
            <a:off x="365760" y="109728"/>
            <a:ext cx="167335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PREVIEW</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1A1A2E"/>
                </a:solidFill>
                <a:latin typeface="Cambria" pitchFamily="34" charset="0"/>
                <a:ea typeface="Cambria" pitchFamily="34" charset="-122"/>
                <a:cs typeface="Cambria" pitchFamily="34" charset="-120"/>
              </a:rPr>
              <a:t>What You Will Turn In</a:t>
            </a:r>
            <a:endParaRPr lang="en-US" sz="2800" dirty="0"/>
          </a:p>
        </p:txBody>
      </p:sp>
      <p:sp>
        <p:nvSpPr>
          <p:cNvPr id="5" name="Shape 3"/>
          <p:cNvSpPr/>
          <p:nvPr/>
        </p:nvSpPr>
        <p:spPr>
          <a:xfrm>
            <a:off x="365760" y="804672"/>
            <a:ext cx="8412480" cy="1188720"/>
          </a:xfrm>
          <a:prstGeom prst="rect">
            <a:avLst/>
          </a:prstGeom>
          <a:solidFill>
            <a:srgbClr val="FFFFFF"/>
          </a:solidFill>
          <a:ln w="12700">
            <a:solidFill>
              <a:srgbClr val="FFFFFF"/>
            </a:solidFill>
            <a:prstDash val="solid"/>
          </a:ln>
        </p:spPr>
      </p:sp>
      <p:sp>
        <p:nvSpPr>
          <p:cNvPr id="6" name="Text 4"/>
          <p:cNvSpPr/>
          <p:nvPr/>
        </p:nvSpPr>
        <p:spPr>
          <a:xfrm>
            <a:off x="457200" y="859536"/>
            <a:ext cx="8229600" cy="1078992"/>
          </a:xfrm>
          <a:prstGeom prst="rect">
            <a:avLst/>
          </a:prstGeom>
          <a:noFill/>
          <a:ln/>
        </p:spPr>
        <p:txBody>
          <a:bodyPr wrap="square" lIns="0" tIns="0" rIns="0" bIns="0" rtlCol="0" anchor="ctr"/>
          <a:lstStyle/>
          <a:p>
            <a:pPr algn="l" indent="0" marL="0">
              <a:buNone/>
            </a:pPr>
            <a:r>
              <a:rPr lang="en-US" sz="1500" dirty="0">
                <a:solidFill>
                  <a:srgbClr val="1A1A2E"/>
                </a:solidFill>
                <a:latin typeface="Calibri" pitchFamily="34" charset="0"/>
                <a:ea typeface="Calibri" pitchFamily="34" charset="-122"/>
                <a:cs typeface="Calibri" pitchFamily="34" charset="-120"/>
              </a:rPr>
              <a:t>📋  PART A — Labeled Separation Diagram</a:t>
            </a:r>
            <a:endParaRPr lang="en-US" sz="1500" dirty="0"/>
          </a:p>
          <a:p>
            <a:pPr algn="l" indent="0" marL="0">
              <a:buNone/>
            </a:pPr>
            <a:r>
              <a:rPr lang="en-US" sz="1500" dirty="0">
                <a:solidFill>
                  <a:srgbClr val="1A1A2E"/>
                </a:solidFill>
                <a:latin typeface="Calibri" pitchFamily="34" charset="0"/>
                <a:ea typeface="Calibri" pitchFamily="34" charset="-122"/>
                <a:cs typeface="Calibri" pitchFamily="34" charset="-120"/>
              </a:rPr>
              <a:t>Draw the three-step flowchart. Each step must show: tool used, property used, and which material was separated. Use arrows to show direction of separation.</a:t>
            </a:r>
            <a:endParaRPr lang="en-US" sz="1500" dirty="0"/>
          </a:p>
        </p:txBody>
      </p:sp>
      <p:sp>
        <p:nvSpPr>
          <p:cNvPr id="7" name="Shape 5"/>
          <p:cNvSpPr/>
          <p:nvPr/>
        </p:nvSpPr>
        <p:spPr>
          <a:xfrm>
            <a:off x="365760" y="2084832"/>
            <a:ext cx="8412480" cy="1005840"/>
          </a:xfrm>
          <a:prstGeom prst="rect">
            <a:avLst/>
          </a:prstGeom>
          <a:solidFill>
            <a:srgbClr val="FFFFFF"/>
          </a:solidFill>
          <a:ln w="12700">
            <a:solidFill>
              <a:srgbClr val="FFFFFF"/>
            </a:solidFill>
            <a:prstDash val="solid"/>
          </a:ln>
        </p:spPr>
      </p:sp>
      <p:sp>
        <p:nvSpPr>
          <p:cNvPr id="8" name="Text 6"/>
          <p:cNvSpPr/>
          <p:nvPr/>
        </p:nvSpPr>
        <p:spPr>
          <a:xfrm>
            <a:off x="457200" y="2139696"/>
            <a:ext cx="8229600" cy="896112"/>
          </a:xfrm>
          <a:prstGeom prst="rect">
            <a:avLst/>
          </a:prstGeom>
          <a:noFill/>
          <a:ln/>
        </p:spPr>
        <p:txBody>
          <a:bodyPr wrap="square" lIns="0" tIns="0" rIns="0" bIns="0" rtlCol="0" anchor="ctr"/>
          <a:lstStyle/>
          <a:p>
            <a:pPr algn="l" indent="0" marL="0">
              <a:buNone/>
            </a:pPr>
            <a:r>
              <a:rPr lang="en-US" sz="1500" dirty="0">
                <a:solidFill>
                  <a:srgbClr val="1A1A2E"/>
                </a:solidFill>
                <a:latin typeface="Calibri" pitchFamily="34" charset="0"/>
                <a:ea typeface="Calibri" pitchFamily="34" charset="-122"/>
                <a:cs typeface="Calibri" pitchFamily="34" charset="-120"/>
              </a:rPr>
              <a:t>📝  PART B — Evidence Questions for Each Step</a:t>
            </a:r>
            <a:endParaRPr lang="en-US" sz="1500" dirty="0"/>
          </a:p>
          <a:p>
            <a:pPr algn="l" indent="0" marL="0">
              <a:buNone/>
            </a:pPr>
            <a:r>
              <a:rPr lang="en-US" sz="1500" dirty="0">
                <a:solidFill>
                  <a:srgbClr val="1A1A2E"/>
                </a:solidFill>
                <a:latin typeface="Calibri" pitchFamily="34" charset="0"/>
                <a:ea typeface="Calibri" pitchFamily="34" charset="-122"/>
                <a:cs typeface="Calibri" pitchFamily="34" charset="-120"/>
              </a:rPr>
              <a:t>(1) How did you know the magnet step worked? (2) How did you know the sieve step worked? (3) How did you know the salt dissolved — and how could a scale confirm it?</a:t>
            </a:r>
            <a:endParaRPr lang="en-US" sz="1500" dirty="0"/>
          </a:p>
        </p:txBody>
      </p:sp>
      <p:sp>
        <p:nvSpPr>
          <p:cNvPr id="9" name="Text 7"/>
          <p:cNvSpPr/>
          <p:nvPr/>
        </p:nvSpPr>
        <p:spPr>
          <a:xfrm>
            <a:off x="365760" y="3218688"/>
            <a:ext cx="8412480" cy="347472"/>
          </a:xfrm>
          <a:prstGeom prst="rect">
            <a:avLst/>
          </a:prstGeom>
          <a:noFill/>
          <a:ln/>
        </p:spPr>
        <p:txBody>
          <a:bodyPr wrap="square" lIns="0" tIns="0" rIns="0" bIns="0" rtlCol="0" anchor="ctr"/>
          <a:lstStyle/>
          <a:p>
            <a:pPr algn="ctr" indent="0" marL="0">
              <a:buNone/>
            </a:pPr>
            <a:r>
              <a:rPr lang="en-US" sz="1300" dirty="0">
                <a:solidFill>
                  <a:srgbClr val="2C4A6E"/>
                </a:solidFill>
                <a:latin typeface="Calibri" pitchFamily="34" charset="0"/>
                <a:ea typeface="Calibri" pitchFamily="34" charset="-122"/>
                <a:cs typeface="Calibri" pitchFamily="34" charset="-120"/>
              </a:rPr>
              <a:t>Part C and Revise Your Thinking are on the next slide.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BF4FA"/>
        </a:solidFill>
      </p:bgPr>
    </p:bg>
    <p:spTree>
      <p:nvGrpSpPr>
        <p:cNvPr id="1" name=""/>
        <p:cNvGrpSpPr/>
        <p:nvPr/>
      </p:nvGrpSpPr>
      <p:grpSpPr>
        <a:xfrm>
          <a:off x="0" y="0"/>
          <a:ext cx="0" cy="0"/>
          <a:chOff x="0" y="0"/>
          <a:chExt cx="0" cy="0"/>
        </a:xfrm>
      </p:grpSpPr>
      <p:sp>
        <p:nvSpPr>
          <p:cNvPr id="2" name="Shape 0"/>
          <p:cNvSpPr/>
          <p:nvPr/>
        </p:nvSpPr>
        <p:spPr>
          <a:xfrm>
            <a:off x="365760" y="109728"/>
            <a:ext cx="1751076" cy="274320"/>
          </a:xfrm>
          <a:prstGeom prst="rect">
            <a:avLst/>
          </a:prstGeom>
          <a:solidFill>
            <a:srgbClr val="1A3A5C"/>
          </a:solidFill>
          <a:ln w="12700">
            <a:solidFill>
              <a:srgbClr val="1A3A5C"/>
            </a:solidFill>
            <a:prstDash val="solid"/>
          </a:ln>
        </p:spPr>
      </p:sp>
      <p:sp>
        <p:nvSpPr>
          <p:cNvPr id="3" name="Text 1"/>
          <p:cNvSpPr/>
          <p:nvPr/>
        </p:nvSpPr>
        <p:spPr>
          <a:xfrm>
            <a:off x="365760" y="109728"/>
            <a:ext cx="175107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ASSIGNMENT — PART C</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600" b="1" dirty="0">
                <a:solidFill>
                  <a:srgbClr val="1A1A2E"/>
                </a:solidFill>
                <a:latin typeface="Cambria" pitchFamily="34" charset="0"/>
                <a:ea typeface="Cambria" pitchFamily="34" charset="-122"/>
                <a:cs typeface="Cambria" pitchFamily="34" charset="-120"/>
              </a:rPr>
              <a:t>CER — Defend the Order of Three Steps</a:t>
            </a:r>
            <a:endParaRPr lang="en-US" sz="2600" dirty="0"/>
          </a:p>
        </p:txBody>
      </p:sp>
      <p:sp>
        <p:nvSpPr>
          <p:cNvPr id="5" name="Shape 3"/>
          <p:cNvSpPr/>
          <p:nvPr/>
        </p:nvSpPr>
        <p:spPr>
          <a:xfrm>
            <a:off x="365760" y="777240"/>
            <a:ext cx="8412480" cy="502920"/>
          </a:xfrm>
          <a:prstGeom prst="rect">
            <a:avLst/>
          </a:prstGeom>
          <a:solidFill>
            <a:srgbClr val="1A3A5C"/>
          </a:solidFill>
          <a:ln w="12700">
            <a:solidFill>
              <a:srgbClr val="1A3A5C"/>
            </a:solidFill>
            <a:prstDash val="solid"/>
          </a:ln>
        </p:spPr>
      </p:sp>
      <p:sp>
        <p:nvSpPr>
          <p:cNvPr id="6" name="Text 4"/>
          <p:cNvSpPr/>
          <p:nvPr/>
        </p:nvSpPr>
        <p:spPr>
          <a:xfrm>
            <a:off x="457200" y="832104"/>
            <a:ext cx="8229600" cy="393192"/>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Write a CER defending why the three steps must be done in the order: magnet → sieve → water.</a:t>
            </a:r>
            <a:endParaRPr lang="en-US" sz="1300" dirty="0"/>
          </a:p>
        </p:txBody>
      </p:sp>
      <p:sp>
        <p:nvSpPr>
          <p:cNvPr id="7" name="Shape 5"/>
          <p:cNvSpPr/>
          <p:nvPr/>
        </p:nvSpPr>
        <p:spPr>
          <a:xfrm>
            <a:off x="365760" y="1371600"/>
            <a:ext cx="8412480" cy="621792"/>
          </a:xfrm>
          <a:prstGeom prst="rect">
            <a:avLst/>
          </a:prstGeom>
          <a:solidFill>
            <a:srgbClr val="EBF4FA"/>
          </a:solidFill>
          <a:ln w="12700">
            <a:solidFill>
              <a:srgbClr val="EBF4FA"/>
            </a:solidFill>
            <a:prstDash val="solid"/>
          </a:ln>
        </p:spPr>
      </p:sp>
      <p:sp>
        <p:nvSpPr>
          <p:cNvPr id="8" name="Text 6"/>
          <p:cNvSpPr/>
          <p:nvPr/>
        </p:nvSpPr>
        <p:spPr>
          <a:xfrm>
            <a:off x="457200" y="1426464"/>
            <a:ext cx="8229600" cy="512064"/>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  CLAIM:  "The correct order for separating this mixture is Step 1 magnet, Step 2 sieve, Step 3 water because ..."</a:t>
            </a:r>
            <a:endParaRPr lang="en-US" sz="1400" dirty="0"/>
          </a:p>
        </p:txBody>
      </p:sp>
      <p:sp>
        <p:nvSpPr>
          <p:cNvPr id="9" name="Shape 7"/>
          <p:cNvSpPr/>
          <p:nvPr/>
        </p:nvSpPr>
        <p:spPr>
          <a:xfrm>
            <a:off x="365760" y="2066544"/>
            <a:ext cx="8412480" cy="621792"/>
          </a:xfrm>
          <a:prstGeom prst="rect">
            <a:avLst/>
          </a:prstGeom>
          <a:solidFill>
            <a:srgbClr val="EBF4FA"/>
          </a:solidFill>
          <a:ln w="12700">
            <a:solidFill>
              <a:srgbClr val="EBF4FA"/>
            </a:solidFill>
            <a:prstDash val="solid"/>
          </a:ln>
        </p:spPr>
      </p:sp>
      <p:sp>
        <p:nvSpPr>
          <p:cNvPr id="10" name="Text 8"/>
          <p:cNvSpPr/>
          <p:nvPr/>
        </p:nvSpPr>
        <p:spPr>
          <a:xfrm>
            <a:off x="457200" y="2121408"/>
            <a:ext cx="8229600" cy="512064"/>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  EVIDENCE:  "I observed [specific result at each step] that shows each step removed only [specific material]..."</a:t>
            </a:r>
            <a:endParaRPr lang="en-US" sz="1400" dirty="0"/>
          </a:p>
        </p:txBody>
      </p:sp>
      <p:sp>
        <p:nvSpPr>
          <p:cNvPr id="11" name="Shape 9"/>
          <p:cNvSpPr/>
          <p:nvPr/>
        </p:nvSpPr>
        <p:spPr>
          <a:xfrm>
            <a:off x="365760" y="2761488"/>
            <a:ext cx="8412480" cy="621792"/>
          </a:xfrm>
          <a:prstGeom prst="rect">
            <a:avLst/>
          </a:prstGeom>
          <a:solidFill>
            <a:srgbClr val="EBF4FA"/>
          </a:solidFill>
          <a:ln w="12700">
            <a:solidFill>
              <a:srgbClr val="EBF4FA"/>
            </a:solidFill>
            <a:prstDash val="solid"/>
          </a:ln>
        </p:spPr>
      </p:sp>
      <p:sp>
        <p:nvSpPr>
          <p:cNvPr id="12" name="Text 10"/>
          <p:cNvSpPr/>
          <p:nvPr/>
        </p:nvSpPr>
        <p:spPr>
          <a:xfrm>
            <a:off x="457200" y="2816352"/>
            <a:ext cx="8229600" cy="512064"/>
          </a:xfrm>
          <a:prstGeom prst="rect">
            <a:avLst/>
          </a:prstGeom>
          <a:noFill/>
          <a:ln/>
        </p:spPr>
        <p:txBody>
          <a:bodyPr wrap="square" lIns="0" tIns="0" rIns="0" bIns="0" rtlCol="0" anchor="ctr"/>
          <a:lstStyle/>
          <a:p>
            <a:pPr algn="l" indent="0" marL="0">
              <a:buNone/>
            </a:pPr>
            <a:r>
              <a:rPr lang="en-US" sz="1400" dirty="0">
                <a:solidFill>
                  <a:srgbClr val="1A1A2E"/>
                </a:solidFill>
                <a:latin typeface="Calibri" pitchFamily="34" charset="0"/>
                <a:ea typeface="Calibri" pitchFamily="34" charset="-122"/>
                <a:cs typeface="Calibri" pitchFamily="34" charset="-120"/>
              </a:rPr>
              <a:t>🔗  REASONING:  "Changing the order would cause a problem because [specific consequence — e.g., salt dissolves before sieving, or...] ..."</a:t>
            </a:r>
            <a:endParaRPr lang="en-US" sz="1400" dirty="0"/>
          </a:p>
        </p:txBody>
      </p:sp>
      <p:sp>
        <p:nvSpPr>
          <p:cNvPr id="13" name="Text 11"/>
          <p:cNvSpPr/>
          <p:nvPr/>
        </p:nvSpPr>
        <p:spPr>
          <a:xfrm>
            <a:off x="365760" y="3547872"/>
            <a:ext cx="8412480" cy="347472"/>
          </a:xfrm>
          <a:prstGeom prst="rect">
            <a:avLst/>
          </a:prstGeom>
          <a:noFill/>
          <a:ln/>
        </p:spPr>
        <p:txBody>
          <a:bodyPr wrap="square" lIns="0" tIns="0" rIns="0" bIns="0" rtlCol="0" anchor="ctr"/>
          <a:lstStyle/>
          <a:p>
            <a:pPr algn="ctr" indent="0" marL="0">
              <a:buNone/>
            </a:pPr>
            <a:r>
              <a:rPr lang="en-US" sz="1300" dirty="0">
                <a:solidFill>
                  <a:srgbClr val="2C4A6E"/>
                </a:solidFill>
                <a:latin typeface="Calibri" pitchFamily="34" charset="0"/>
                <a:ea typeface="Calibri" pitchFamily="34" charset="-122"/>
                <a:cs typeface="Calibri" pitchFamily="34" charset="-120"/>
              </a:rPr>
              <a:t>4+ sentences. Name the property used at EACH step.</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365760" y="109728"/>
            <a:ext cx="1828800" cy="274320"/>
          </a:xfrm>
          <a:prstGeom prst="rect">
            <a:avLst/>
          </a:prstGeom>
          <a:solidFill>
            <a:srgbClr val="1A3A5C"/>
          </a:solidFill>
          <a:ln w="12700">
            <a:solidFill>
              <a:srgbClr val="1A3A5C"/>
            </a:solidFill>
            <a:prstDash val="solid"/>
          </a:ln>
        </p:spPr>
      </p:sp>
      <p:sp>
        <p:nvSpPr>
          <p:cNvPr id="3" name="Text 1"/>
          <p:cNvSpPr/>
          <p:nvPr/>
        </p:nvSpPr>
        <p:spPr>
          <a:xfrm>
            <a:off x="365760" y="109728"/>
            <a:ext cx="18288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REVISE YOUR THINKING</a:t>
            </a:r>
            <a:endParaRPr lang="en-US" sz="1000" dirty="0"/>
          </a:p>
        </p:txBody>
      </p:sp>
      <p:sp>
        <p:nvSpPr>
          <p:cNvPr id="4" name="Text 2"/>
          <p:cNvSpPr/>
          <p:nvPr/>
        </p:nvSpPr>
        <p:spPr>
          <a:xfrm>
            <a:off x="365760" y="10972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Return to Your Prediction</a:t>
            </a:r>
            <a:endParaRPr lang="en-US" sz="2800" dirty="0"/>
          </a:p>
        </p:txBody>
      </p:sp>
      <p:sp>
        <p:nvSpPr>
          <p:cNvPr id="5" name="Text 3"/>
          <p:cNvSpPr/>
          <p:nvPr/>
        </p:nvSpPr>
        <p:spPr>
          <a:xfrm>
            <a:off x="365760" y="804672"/>
            <a:ext cx="8412480" cy="411480"/>
          </a:xfrm>
          <a:prstGeom prst="rect">
            <a:avLst/>
          </a:prstGeom>
          <a:noFill/>
          <a:ln/>
        </p:spPr>
        <p:txBody>
          <a:bodyPr wrap="square" lIns="0" tIns="0" rIns="0" bIns="0" rtlCol="0" anchor="ctr"/>
          <a:lstStyle/>
          <a:p>
            <a:pPr indent="0" marL="0">
              <a:buNone/>
            </a:pPr>
            <a:r>
              <a:rPr lang="en-US" sz="1500" dirty="0">
                <a:solidFill>
                  <a:srgbClr val="EBF4FA"/>
                </a:solidFill>
                <a:latin typeface="Calibri" pitchFamily="34" charset="0"/>
                <a:ea typeface="Calibri" pitchFamily="34" charset="-122"/>
                <a:cs typeface="Calibri" pitchFamily="34" charset="-120"/>
              </a:rPr>
              <a:t>Look at the order you predicted before starting the investigation.</a:t>
            </a:r>
            <a:endParaRPr lang="en-US" sz="1500" dirty="0"/>
          </a:p>
        </p:txBody>
      </p:sp>
      <p:sp>
        <p:nvSpPr>
          <p:cNvPr id="6" name="Shape 4"/>
          <p:cNvSpPr/>
          <p:nvPr/>
        </p:nvSpPr>
        <p:spPr>
          <a:xfrm>
            <a:off x="365760" y="1298448"/>
            <a:ext cx="8412480" cy="658368"/>
          </a:xfrm>
          <a:prstGeom prst="rect">
            <a:avLst/>
          </a:prstGeom>
          <a:solidFill>
            <a:srgbClr val="1A3A5C"/>
          </a:solidFill>
          <a:ln w="12700">
            <a:solidFill>
              <a:srgbClr val="1A3A5C"/>
            </a:solidFill>
            <a:prstDash val="solid"/>
          </a:ln>
        </p:spPr>
      </p:sp>
      <p:sp>
        <p:nvSpPr>
          <p:cNvPr id="7" name="Text 5"/>
          <p:cNvSpPr/>
          <p:nvPr/>
        </p:nvSpPr>
        <p:spPr>
          <a:xfrm>
            <a:off x="457200" y="1353312"/>
            <a:ext cx="8229600" cy="5486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1.  Was your predicted order the same as the actual sequence? If not, what would have gone wrong with your original plan?</a:t>
            </a:r>
            <a:endParaRPr lang="en-US" sz="1400" dirty="0"/>
          </a:p>
        </p:txBody>
      </p:sp>
      <p:sp>
        <p:nvSpPr>
          <p:cNvPr id="8" name="Shape 6"/>
          <p:cNvSpPr/>
          <p:nvPr/>
        </p:nvSpPr>
        <p:spPr>
          <a:xfrm>
            <a:off x="365760" y="2029968"/>
            <a:ext cx="8412480" cy="658368"/>
          </a:xfrm>
          <a:prstGeom prst="rect">
            <a:avLst/>
          </a:prstGeom>
          <a:solidFill>
            <a:srgbClr val="1A3A5C"/>
          </a:solidFill>
          <a:ln w="12700">
            <a:solidFill>
              <a:srgbClr val="1A3A5C"/>
            </a:solidFill>
            <a:prstDash val="solid"/>
          </a:ln>
        </p:spPr>
      </p:sp>
      <p:sp>
        <p:nvSpPr>
          <p:cNvPr id="9" name="Text 7"/>
          <p:cNvSpPr/>
          <p:nvPr/>
        </p:nvSpPr>
        <p:spPr>
          <a:xfrm>
            <a:off x="457200" y="2084832"/>
            <a:ext cx="8229600" cy="5486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2.  Did you mention properties in your prediction — or just tools? What is the difference, and why does the property matter more?</a:t>
            </a:r>
            <a:endParaRPr lang="en-US" sz="1400" dirty="0"/>
          </a:p>
        </p:txBody>
      </p:sp>
      <p:sp>
        <p:nvSpPr>
          <p:cNvPr id="10" name="Shape 8"/>
          <p:cNvSpPr/>
          <p:nvPr/>
        </p:nvSpPr>
        <p:spPr>
          <a:xfrm>
            <a:off x="365760" y="2761488"/>
            <a:ext cx="8412480" cy="658368"/>
          </a:xfrm>
          <a:prstGeom prst="rect">
            <a:avLst/>
          </a:prstGeom>
          <a:solidFill>
            <a:srgbClr val="1A3A5C"/>
          </a:solidFill>
          <a:ln w="12700">
            <a:solidFill>
              <a:srgbClr val="1A3A5C"/>
            </a:solidFill>
            <a:prstDash val="solid"/>
          </a:ln>
        </p:spPr>
      </p:sp>
      <p:sp>
        <p:nvSpPr>
          <p:cNvPr id="11" name="Text 9"/>
          <p:cNvSpPr/>
          <p:nvPr/>
        </p:nvSpPr>
        <p:spPr>
          <a:xfrm>
            <a:off x="457200" y="2816352"/>
            <a:ext cx="8229600" cy="5486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3.  Write 2–3 sentences: how did today's investigation show that separation works because of PROPERTY DIFFERENCES — not luck or guesswork?</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365760" y="109728"/>
            <a:ext cx="1595628" cy="274320"/>
          </a:xfrm>
          <a:prstGeom prst="rect">
            <a:avLst/>
          </a:prstGeom>
          <a:solidFill>
            <a:srgbClr val="F6C90E"/>
          </a:solidFill>
          <a:ln w="12700">
            <a:solidFill>
              <a:srgbClr val="F6C90E"/>
            </a:solidFill>
            <a:prstDash val="solid"/>
          </a:ln>
        </p:spPr>
      </p:sp>
      <p:sp>
        <p:nvSpPr>
          <p:cNvPr id="3" name="Text 1"/>
          <p:cNvSpPr/>
          <p:nvPr/>
        </p:nvSpPr>
        <p:spPr>
          <a:xfrm>
            <a:off x="365760" y="109728"/>
            <a:ext cx="159562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BEFORE YOU SUBMIT</a:t>
            </a:r>
            <a:endParaRPr lang="en-US" sz="1000" dirty="0"/>
          </a:p>
        </p:txBody>
      </p:sp>
      <p:sp>
        <p:nvSpPr>
          <p:cNvPr id="4" name="Text 2"/>
          <p:cNvSpPr/>
          <p:nvPr/>
        </p:nvSpPr>
        <p:spPr>
          <a:xfrm>
            <a:off x="365760" y="475488"/>
            <a:ext cx="841248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Lesson 7.02 — Submission Checklist</a:t>
            </a:r>
            <a:endParaRPr lang="en-US" sz="2800" dirty="0"/>
          </a:p>
        </p:txBody>
      </p:sp>
      <p:sp>
        <p:nvSpPr>
          <p:cNvPr id="5" name="Shape 3"/>
          <p:cNvSpPr/>
          <p:nvPr/>
        </p:nvSpPr>
        <p:spPr>
          <a:xfrm>
            <a:off x="365760" y="1115568"/>
            <a:ext cx="8412480" cy="521208"/>
          </a:xfrm>
          <a:prstGeom prst="rect">
            <a:avLst/>
          </a:prstGeom>
          <a:solidFill>
            <a:srgbClr val="2C4A6E"/>
          </a:solidFill>
          <a:ln w="12700">
            <a:solidFill>
              <a:srgbClr val="2C4A6E"/>
            </a:solidFill>
            <a:prstDash val="solid"/>
          </a:ln>
        </p:spPr>
      </p:sp>
      <p:sp>
        <p:nvSpPr>
          <p:cNvPr id="6" name="Text 4"/>
          <p:cNvSpPr/>
          <p:nvPr/>
        </p:nvSpPr>
        <p:spPr>
          <a:xfrm>
            <a:off x="457200" y="1170432"/>
            <a:ext cx="8229600" cy="41148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Part A — Three-step diagram: tool, property, and material separated labeled at each step.</a:t>
            </a:r>
            <a:endParaRPr lang="en-US" sz="1300" dirty="0"/>
          </a:p>
        </p:txBody>
      </p:sp>
      <p:sp>
        <p:nvSpPr>
          <p:cNvPr id="7" name="Shape 5"/>
          <p:cNvSpPr/>
          <p:nvPr/>
        </p:nvSpPr>
        <p:spPr>
          <a:xfrm>
            <a:off x="365760" y="1709928"/>
            <a:ext cx="8412480" cy="521208"/>
          </a:xfrm>
          <a:prstGeom prst="rect">
            <a:avLst/>
          </a:prstGeom>
          <a:solidFill>
            <a:srgbClr val="2C4A6E"/>
          </a:solidFill>
          <a:ln w="12700">
            <a:solidFill>
              <a:srgbClr val="2C4A6E"/>
            </a:solidFill>
            <a:prstDash val="solid"/>
          </a:ln>
        </p:spPr>
      </p:sp>
      <p:sp>
        <p:nvSpPr>
          <p:cNvPr id="8" name="Text 6"/>
          <p:cNvSpPr/>
          <p:nvPr/>
        </p:nvSpPr>
        <p:spPr>
          <a:xfrm>
            <a:off x="457200" y="1764792"/>
            <a:ext cx="8229600" cy="41148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Part B — Evidence questions: specific observations from your actual investigation.</a:t>
            </a:r>
            <a:endParaRPr lang="en-US" sz="1300" dirty="0"/>
          </a:p>
        </p:txBody>
      </p:sp>
      <p:sp>
        <p:nvSpPr>
          <p:cNvPr id="9" name="Shape 7"/>
          <p:cNvSpPr/>
          <p:nvPr/>
        </p:nvSpPr>
        <p:spPr>
          <a:xfrm>
            <a:off x="365760" y="2304288"/>
            <a:ext cx="8412480" cy="521208"/>
          </a:xfrm>
          <a:prstGeom prst="rect">
            <a:avLst/>
          </a:prstGeom>
          <a:solidFill>
            <a:srgbClr val="2C4A6E"/>
          </a:solidFill>
          <a:ln w="12700">
            <a:solidFill>
              <a:srgbClr val="2C4A6E"/>
            </a:solidFill>
            <a:prstDash val="solid"/>
          </a:ln>
        </p:spPr>
      </p:sp>
      <p:sp>
        <p:nvSpPr>
          <p:cNvPr id="10" name="Text 8"/>
          <p:cNvSpPr/>
          <p:nvPr/>
        </p:nvSpPr>
        <p:spPr>
          <a:xfrm>
            <a:off x="457200" y="2359152"/>
            <a:ext cx="8229600" cy="41148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Part C — CER: claim + step-by-step evidence + reasoning explaining the correct order.</a:t>
            </a:r>
            <a:endParaRPr lang="en-US" sz="1300" dirty="0"/>
          </a:p>
        </p:txBody>
      </p:sp>
      <p:sp>
        <p:nvSpPr>
          <p:cNvPr id="11" name="Shape 9"/>
          <p:cNvSpPr/>
          <p:nvPr/>
        </p:nvSpPr>
        <p:spPr>
          <a:xfrm>
            <a:off x="365760" y="2898648"/>
            <a:ext cx="8412480" cy="521208"/>
          </a:xfrm>
          <a:prstGeom prst="rect">
            <a:avLst/>
          </a:prstGeom>
          <a:solidFill>
            <a:srgbClr val="2C4A6E"/>
          </a:solidFill>
          <a:ln w="12700">
            <a:solidFill>
              <a:srgbClr val="2C4A6E"/>
            </a:solidFill>
            <a:prstDash val="solid"/>
          </a:ln>
        </p:spPr>
      </p:sp>
      <p:sp>
        <p:nvSpPr>
          <p:cNvPr id="12" name="Text 10"/>
          <p:cNvSpPr/>
          <p:nvPr/>
        </p:nvSpPr>
        <p:spPr>
          <a:xfrm>
            <a:off x="457200" y="2953512"/>
            <a:ext cx="8229600" cy="41148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Revise Your Thinking — 2–3 sentences using property difference language.</a:t>
            </a:r>
            <a:endParaRPr lang="en-US" sz="1300" dirty="0"/>
          </a:p>
        </p:txBody>
      </p:sp>
      <p:sp>
        <p:nvSpPr>
          <p:cNvPr id="13" name="Shape 11"/>
          <p:cNvSpPr/>
          <p:nvPr/>
        </p:nvSpPr>
        <p:spPr>
          <a:xfrm>
            <a:off x="365760" y="3493008"/>
            <a:ext cx="8412480" cy="521208"/>
          </a:xfrm>
          <a:prstGeom prst="rect">
            <a:avLst/>
          </a:prstGeom>
          <a:solidFill>
            <a:srgbClr val="2C4A6E"/>
          </a:solidFill>
          <a:ln w="12700">
            <a:solidFill>
              <a:srgbClr val="2C4A6E"/>
            </a:solidFill>
            <a:prstDash val="solid"/>
          </a:ln>
        </p:spPr>
      </p:sp>
      <p:sp>
        <p:nvSpPr>
          <p:cNvPr id="14" name="Text 12"/>
          <p:cNvSpPr/>
          <p:nvPr/>
        </p:nvSpPr>
        <p:spPr>
          <a:xfrm>
            <a:off x="457200" y="3547872"/>
            <a:ext cx="8229600" cy="41148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  Vocab check — mixture, separate, magnetism, particle size, solubility used accurately.</a:t>
            </a:r>
            <a:endParaRPr lang="en-US" sz="1300" dirty="0"/>
          </a:p>
        </p:txBody>
      </p:sp>
      <p:sp>
        <p:nvSpPr>
          <p:cNvPr id="15" name="Text 13"/>
          <p:cNvSpPr/>
          <p:nvPr/>
        </p:nvSpPr>
        <p:spPr>
          <a:xfrm>
            <a:off x="365760" y="4224528"/>
            <a:ext cx="8412480" cy="347472"/>
          </a:xfrm>
          <a:prstGeom prst="rect">
            <a:avLst/>
          </a:prstGeom>
          <a:noFill/>
          <a:ln/>
        </p:spPr>
        <p:txBody>
          <a:bodyPr wrap="square" lIns="0" tIns="0" rIns="0" bIns="0" rtlCol="0" anchor="ctr"/>
          <a:lstStyle/>
          <a:p>
            <a:pPr algn="l" indent="0" marL="0">
              <a:buNone/>
            </a:pPr>
            <a:r>
              <a:rPr lang="en-US" sz="1300" dirty="0">
                <a:solidFill>
                  <a:srgbClr val="F6C90E"/>
                </a:solidFill>
                <a:latin typeface="Calibri" pitchFamily="34" charset="0"/>
                <a:ea typeface="Calibri" pitchFamily="34" charset="-122"/>
                <a:cs typeface="Calibri" pitchFamily="34" charset="-120"/>
              </a:rPr>
              <a:t>Next: Lesson 8.01 — Does Matter Disappear When It Changes?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7.02 — Investigation: Separate a Solid Mixture</dc:title>
  <dc:subject>PptxGenJS Presentation</dc:subject>
  <dc:creator>PptxGenJS</dc:creator>
  <cp:lastModifiedBy>PptxGenJS</cp:lastModifiedBy>
  <cp:revision>1</cp:revision>
  <dcterms:created xsi:type="dcterms:W3CDTF">2026-07-16T18:50:51Z</dcterms:created>
  <dcterms:modified xsi:type="dcterms:W3CDTF">2026-07-16T18:50:51Z</dcterms:modified>
</cp:coreProperties>
</file>