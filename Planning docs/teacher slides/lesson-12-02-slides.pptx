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 to notice/wonder. Reveal: battery, spring, metal contacts, bulb. All four connect in a loop =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LOOP. Ask what if the spring were rubber? The circuit would break - rubber is an insulator.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 for partner discussion. Require specific material name AND what the bulb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 weak CER then a strong one. Target 4-6 sentences. Use conductor and insulator.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- The battery.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 - The paperclip. What matters is conductivity not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Build a Circuit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Test Conductors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flashlight. Build the loop. Test what conducts.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578608"/>
            <a:ext cx="822960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1 - build a simple circuit with a battery, wire, and bulb.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54096"/>
            <a:ext cx="822960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2 - test materials and sort them as conductors or insulators.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529584"/>
            <a:ext cx="822960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84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3 - use evidence to explain which materials complete the circuit.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1330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SC.5.P.11.1 - SC.5.P.11.2  |  Q2 Unit 3 Week 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5th Grade Science  Module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Flashlight - What Do You See?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flashlight. Unscrew the back. Slide out the battery. Look inside carefully.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229600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46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parts do you see inside? Name as many as you can.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229600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wonder about HOW the flashlight makes light?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229600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181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one part were missing or made of the wrong material?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Question: Can electricity flow through every material - or only some?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Investigation: Build a Circuit and Test Conductors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Materials Will Complete the Circuit?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item, predict: will it complete the circuit and light the bulb - or not?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550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foil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13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Paperclip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16936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 (coin)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550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13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spoon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16936"/>
            <a:ext cx="4023360" cy="566928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eraser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6460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Write Conductor or Insulator next to each item.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predictions BEFORE testing - scientists commit first, then find out!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for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481328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closed loop that lets electricity flow from a power source, through wires, to a device, and back again. If the loop is broken anywhere, the electricity stops.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07208"/>
            <a:ext cx="8412480" cy="1481328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electricity CAN flow through easily. Most metals - like copper, iron, and aluminum - are good conductors.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Vocabulary (1 of 2)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for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481328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insulator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electricity CANNOT flow through easily. Rubber, plastic, wood, and glass are common insulators. They keep electricity from going where it should not.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07208"/>
            <a:ext cx="8412480" cy="1481328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that support a claim. In this lab, the bulb lighting up - or NOT - is the evidence that tells you whether a material is a conductor or insulator.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Vocabulary (2 of 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Circuit Is a Loop - Every Material Choice Matters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electricity to flow, the circuit must be a COMPLETE LOOP from the battery through the wire through the bulb and back. If any part is an insulator, the loop breaks and the bulb stays dark.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2697480" cy="1481328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6654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stores chemical energy and pushes electricity through the circuit.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029968"/>
            <a:ext cx="2697480" cy="1481328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6654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414016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(usually copper) carry electricity from the battery to the bulb and 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029968"/>
            <a:ext cx="2697480" cy="1481328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6654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414016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bulb converts electrical energy into light - only if the circuit is complete!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39312"/>
            <a:ext cx="8412480" cy="475488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Why is it important that wires are made of metal - not plastic?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Key Concept: Circuits and Conductors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Flashlight: Four Parts, One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(AA)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097280"/>
            <a:ext cx="6400800" cy="64008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1152144"/>
            <a:ext cx="6181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source - stores chemical energy and converts it to electrical energy that pushes through the circuit.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Spring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847088"/>
            <a:ext cx="6400800" cy="64008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901952"/>
            <a:ext cx="6181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- keeps the battery pressed against the contacts so electricity can flow without interruption.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Contacts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596896"/>
            <a:ext cx="6400800" cy="64008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651760"/>
            <a:ext cx="6181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- connects the battery to the bulb, completing the path for electricity to travel.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3346704"/>
            <a:ext cx="6400800" cy="64008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3401568"/>
            <a:ext cx="6181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- converts electrical energy into light and heat. Needs the full loop to light up.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Engineers design every circuit carefully - from phones to spacecraft - because one broken link stops everything.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The Lesson: Circuit Parts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Circuit: What Conducts, What Blocks?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280160" cy="640080"/>
          </a:xfrm>
          <a:prstGeom prst="rect">
            <a:avLst/>
          </a:prstGeom>
          <a:solidFill>
            <a:srgbClr val="1A3A5C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828800"/>
            <a:ext cx="5029200" cy="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508760"/>
            <a:ext cx="1280160" cy="640080"/>
          </a:xfrm>
          <a:prstGeom prst="rect">
            <a:avLst/>
          </a:prstGeom>
          <a:solidFill>
            <a:srgbClr val="0E7C7B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508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148840"/>
            <a:ext cx="0" cy="105156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999232"/>
            <a:ext cx="1920240" cy="658368"/>
          </a:xfrm>
          <a:prstGeom prst="rect">
            <a:avLst/>
          </a:prstGeom>
          <a:solidFill>
            <a:srgbClr val="F6C90E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9992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MATERIAL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148840"/>
            <a:ext cx="0" cy="91440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200400"/>
            <a:ext cx="2103120" cy="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200400"/>
            <a:ext cx="2286000" cy="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200400"/>
            <a:ext cx="0" cy="-137160"/>
          </a:xfrm>
          <a:prstGeom prst="line">
            <a:avLst/>
          </a:prstGeom>
          <a:noFill/>
          <a:ln w="50800">
            <a:solidFill>
              <a:srgbClr val="F07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CONDUCTOR: bulb lights 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INSULATOR: bulb stays dark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one test material at a time across the gap to complete (or break) the circuit.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Circuit Model - Test Gap Is Where the Material Goes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Circuit - Then Test Materials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Gather: a flashlight to examine, aluminum foil strips, a battery, a small bulb, and 6 test items.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38912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6112" y="1572768"/>
            <a:ext cx="7882128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27632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Flashlight - Unscrew the back. Identify each part: battery, spring, bulb, casing. Draw the loop in your notebook.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38912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6112" y="2286000"/>
            <a:ext cx="7882128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40864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Circuit - Connect foil to + battery terminal, run to bulb, then foil from bulb back to - terminal.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38912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" y="2999232"/>
            <a:ext cx="7882128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54096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Circuit Works - Touch both foil strips together - bulb should light. If not, check every metal-to-metal contact.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438912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12464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6112" y="3712464"/>
            <a:ext cx="7882128" cy="56692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67328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Material - One at a time, place each item in the gap. Bulb lights = CONDUCTOR. Stays dark = INSULATOR.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Only ONE material in the test gap at a time!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Conductor or Insulator? - Record Your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1945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7899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Tested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078992"/>
            <a:ext cx="18288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0904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078992"/>
            <a:ext cx="18288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078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 Result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078992"/>
            <a:ext cx="23774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07899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or Insulator?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219456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572768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572768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237744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62763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foil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0904" y="162763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35424" y="162763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9944" y="162763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04825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04825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04825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048256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103120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Paperclip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60904" y="2103120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5424" y="2103120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9944" y="210312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523744"/>
            <a:ext cx="219456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2523744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2523744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2523744"/>
            <a:ext cx="237744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57860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 (coin)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60904" y="25786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35424" y="25786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9944" y="2578608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99923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2999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2999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999232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3054096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60904" y="3054096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35424" y="3054096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dark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9944" y="3054096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474720"/>
            <a:ext cx="219456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3474720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3474720"/>
            <a:ext cx="182880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474720"/>
            <a:ext cx="2377440" cy="438912"/>
          </a:xfrm>
          <a:prstGeom prst="rect">
            <a:avLst/>
          </a:prstGeom>
          <a:solidFill>
            <a:srgbClr val="D5EBF7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3529584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spoon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60904" y="352958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35424" y="352958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dark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9944" y="3529584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95020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395020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0560" y="395020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5080" y="395020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400507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eraser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660904" y="400507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35424" y="400507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dark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09944" y="400507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table into your notebook. Fill in YOUR results as you test each material.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Data Table: Conductors and Insulators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Find?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 using your real data from the investigation.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75488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7863840" cy="82296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490472"/>
            <a:ext cx="76443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materials made the bulb light up? What do all those materials have in common? Use the word conductor in your answer.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75488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04872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7863840" cy="82296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478024"/>
            <a:ext cx="76443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materials kept the bulb dark? What do those materials have in common? Use the word insulator in your answer.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475488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92424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3392424"/>
            <a:ext cx="7863840" cy="822960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65576"/>
            <a:ext cx="76443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any results surprising? Did any material behave differently than you predicted? Explain why.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Record Your Thinking - Use your real data!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17904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17043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Thinking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says the bulb lit up because the foil was shiny - not because it was metal. Use your lab evidence to agree or disagree.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117043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95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Evidence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material gave you the STRONGEST evidence that it was an insulator? Explain your reasoning.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I disagree because my data shows...  |  The strongest evidence was...  |  This differs from my prediction because...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Discuss &amp; Defend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- Evidence - Reasoning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What kinds of materials work in a circuit?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670048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2670048" cy="263347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The materials that work in a circuit are...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type of material allows electricity to flow and completes the circuit loop.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536192"/>
            <a:ext cx="2670048" cy="32918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53619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82112" y="1883664"/>
            <a:ext cx="2670048" cy="263347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920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In my investigation, the materials that lit the bulb were...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73552" y="24231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materials. Report what the bulb did. Be precise!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98464" y="1536192"/>
            <a:ext cx="2670048" cy="32918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98464" y="153619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98464" y="1883664"/>
            <a:ext cx="2670048" cy="263347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920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This makes sense because conductors allow electricity to flow...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9904" y="24231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evidence to key concept: a circuit needs a complete conductive loop.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Scientist Talk: CER Frame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opened the flashlight, which part was the power source?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04672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475488" cy="594360"/>
          </a:xfrm>
          <a:prstGeom prst="rect">
            <a:avLst/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98064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98064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852928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metal spring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11296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plastic casing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046720" cy="502920"/>
          </a:xfrm>
          <a:prstGeom prst="rect">
            <a:avLst/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51960"/>
            <a:ext cx="7827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The battery stores chemical energy that becomes electrical energy. The spring connects; the bulb converts.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Self-Check - Not graded, just for you!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paperclip and a rubber band are both small. Which would best replace the flashlight spring?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04672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75488" cy="594360"/>
          </a:xfrm>
          <a:prstGeom prst="rect">
            <a:avLst/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paperclip - it is a metal conductor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rubber band - it is flexible like a spring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98064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98064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852928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one would work the same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046720" cy="59436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11296"/>
            <a:ext cx="475488" cy="594360"/>
          </a:xfrm>
          <a:prstGeom prst="rect">
            <a:avLst/>
          </a:prstGeom>
          <a:solidFill>
            <a:srgbClr val="263E55"/>
          </a:solidFill>
          <a:ln w="12700">
            <a:solidFill>
              <a:srgbClr val="263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475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7406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- only the original spring can carry electricity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046720" cy="502920"/>
          </a:xfrm>
          <a:prstGeom prst="rect">
            <a:avLst/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51960"/>
            <a:ext cx="7827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A paperclip is metal so electricity flows. A rubber band is an insulator. Conductivity matters - not flexibility!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Self-Check - Not graded, just for you!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Pencil Graphite Can Conduct Electricity!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lead is actually graphite - a form of carbon, not metal. Graphite is a conductor! Draw a thick graphite line between battery and bulb and the bulb will light. Carbon carries electricity - just not as efficiently as metal.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4069080" cy="1572768"/>
          </a:xfrm>
          <a:prstGeom prst="rect">
            <a:avLst/>
          </a:prstGeom>
          <a:solidFill>
            <a:srgbClr val="1B2E42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311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thick pencil-graphite line on paper. Connect each end with alligator clips in a circuit. Does the bulb glow? Try it!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2176272"/>
            <a:ext cx="4069080" cy="1572768"/>
          </a:xfrm>
          <a:prstGeom prst="rect">
            <a:avLst/>
          </a:prstGeom>
          <a:solidFill>
            <a:srgbClr val="1B2E42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2311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2578608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 is used in batteries, electric arc furnace electrodes, and brake pads because it conducts both heat and electricity.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Q3: If you put a thick graphite line in the circuit gap - what would happen?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Elaborate: Not All Conductors Are Metal!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 - Data Table  |  Part B - Evidence Questions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3154680"/>
          </a:xfrm>
          <a:prstGeom prst="rect">
            <a:avLst/>
          </a:prstGeom>
          <a:solidFill>
            <a:srgbClr val="D5EBF7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3977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 Data 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Take a clear photo of your completed data table from your notebook.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 your six test results as material / result pairs.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Example: Foil - Conductor  |  Rubber band - Insulator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078992"/>
            <a:ext cx="4343400" cy="3154680"/>
          </a:xfrm>
          <a:prstGeom prst="rect">
            <a:avLst/>
          </a:prstGeom>
          <a:solidFill>
            <a:srgbClr val="EAF7EE"/>
          </a:solidFill>
          <a:ln w="25400">
            <a:solidFill>
              <a:srgbClr val="2A7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078992"/>
            <a:ext cx="4343400" cy="3474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7899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 Evidence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48132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Look at your three conductors. What do they all have in common physically?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21284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your three insulators. What do they all have in common?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94436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the bulb behavior (on/off) tell you about whether electricity is flowing?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3708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Parts A and B in complete sentences using your real lab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Assignment Parts A &amp; B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- Claim - Evidence - Reasoning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Does your lab data prove which materials work in a circuit? Defend using specific material names and what the bulb did.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005840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572768"/>
            <a:ext cx="7296912" cy="804672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1627632"/>
            <a:ext cx="7077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My data shows that _____ are the materials that work in a circuit.  Name the type of material and make a clear, testable claim.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005840" cy="80467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2505456"/>
            <a:ext cx="7296912" cy="804672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560320"/>
            <a:ext cx="7077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In my investigation, the materials that lit the bulb were...  Name ALL six materials and what the bulb did for each. Be specific!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1005840" cy="8046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38144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63040" y="3438144"/>
            <a:ext cx="7296912" cy="804672"/>
          </a:xfrm>
          <a:prstGeom prst="rect">
            <a:avLst/>
          </a:prstGeom>
          <a:solidFill>
            <a:srgbClr val="D5EBF7"/>
          </a:solidFill>
          <a:ln w="12700">
            <a:solidFill>
              <a:srgbClr val="D5E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493008"/>
            <a:ext cx="7077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This makes sense because conductors allow electricity to flow...  Explain WHY using the circuit-loop concept. Use: conductor, insulator, circuit, evidence.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4622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- conductor, insulator, circuit, evidence, energy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Assignment Part C - CER (4-6 sentences total)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Back at Your Prediction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3-4 sentences answering these prompts: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75488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7863840" cy="777240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81912"/>
            <a:ext cx="7644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for each material? Which predictions were correct, and which were wrong?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475488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41448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2441448"/>
            <a:ext cx="7863840" cy="777240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514600"/>
            <a:ext cx="7644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real data match your predictions? What surprised you? What confirmed what you already thought?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475488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74136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3374136"/>
            <a:ext cx="7863840" cy="777240"/>
          </a:xfrm>
          <a:prstGeom prst="rect">
            <a:avLst/>
          </a:prstGeom>
          <a:solidFill>
            <a:srgbClr val="0A5F5F"/>
          </a:solidFill>
          <a:ln w="12700">
            <a:solidFill>
              <a:srgbClr val="0A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47288"/>
            <a:ext cx="7644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convincing piece of evidence you collected - the result that best proves your claim?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 Revise Your Thinking - Scientists always check their predictions!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12.02 - Submission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1097280"/>
            <a:ext cx="7909560" cy="53035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161288"/>
            <a:ext cx="76901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 Data Table - All 6 materials listed with Conductor or Insulator result.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84048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1737360"/>
            <a:ext cx="7909560" cy="53035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801368"/>
            <a:ext cx="76901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 Evidence Qs - All three questions answered using real lab data, complete sentences.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384048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248" y="2377440"/>
            <a:ext cx="7909560" cy="53035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441448"/>
            <a:ext cx="76901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- CER - Claim, evidence (6 materials named), and reasoning. 4-6 sentences.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84048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" y="3017520"/>
            <a:ext cx="7909560" cy="53035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081528"/>
            <a:ext cx="76901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 - 3-4 sentences: prediction vs. real data, plus strongest evidence.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384048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1248" y="3657600"/>
            <a:ext cx="7909560" cy="530352"/>
          </a:xfrm>
          <a:prstGeom prst="rect">
            <a:avLst/>
          </a:prstGeom>
          <a:solidFill>
            <a:srgbClr val="1E4A72"/>
          </a:solidFill>
          <a:ln w="12700">
            <a:solidFill>
              <a:srgbClr val="1E4A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721608"/>
            <a:ext cx="76901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 - At least 2 lesson words used accurately (conductor, insulator, circuit, evidence).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370832"/>
            <a:ext cx="9144000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70832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Lesson 12.03 - Electric Current and Measuring Energy!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2026-08-28T16:44:57Z</dcterms:created>
  <dcterms:modified xsi:type="dcterms:W3CDTF">2026-08-28T16:44:57Z</dcterms:modified>
</cp:coreProperties>
</file>