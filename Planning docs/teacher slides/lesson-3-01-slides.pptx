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Engage. The mass staying the same is the key observation. Do not explain yet.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Prediction. Students should pick one side and give a reason.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Key Concept. Shadow is NOT matter — it is the absence of light. It has no mass.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Discuss &amp; Defend.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Scientist Talk (CER).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Self-Check Q1.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Self-Check Q2.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Matter?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550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  |  Week 3  |  5-PS1-1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14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Describe matter using two properties: it has mass and takes up space.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9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 that all matter is made of tiny particles too small to see.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64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evidence to show that matter is still there even when it changes form.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5th Grade Science  ·  Week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Sugar Stirs Into Water — Then Disappears?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72184"/>
            <a:ext cx="8046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weigh a cup of water: 200 g. You add a spoonful of sugar: 200 g total before stirring. You stir. The sugar seems to vanish — you cannot see it anymore. You weigh again: 200 g. The reading has not changed.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980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about the mass readings before and after stirring?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9242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wonder about where the sugar went?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18388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the Sugar Go?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9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 Where did the sugar go? Did it disappear forever, or is it still there? What evidence makes you think so?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possibilities: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3931920" cy="109728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22576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sugar disappeared.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gone forever.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mass would not stay the same if the sugar was still there.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67712"/>
            <a:ext cx="3931920" cy="109728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22576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sugar is still there.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cannot see it.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mass stayed the same as evidence.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1129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possibility do you think is correct? Write your prediction and explain why the mass stayed at 200 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— Part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931920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has mass and takes up space. Rocks, water, air, and sugar are all matter.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matter: light, heat, sound — they do not have mass.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3931920" cy="1828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stuff something has. Measured in grams or kilograms. A scale measures mass.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5420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sugar + water = 200 g. Mass does not change when particles rearrange.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0098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68880" y="32461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space something takes up. Measured in liters, milliliters, or cubic centimeters.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  ·  5-PS1-1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— Part 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931920" cy="182880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piece of matter — too small to see with your eyes. All matter is made of particles.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sugar dissolves, its particles spread through the water — too small to see.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3931920" cy="182880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dissolve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substance breaks into particles too small to see and spreads evenly through a liquid.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5420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does NOT mean gone — the particles are still there with their mass.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31546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you can observe or measure. Mass and volume are properties of all matter.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229600" cy="4114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8561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= has mass + takes up space. Particles are always there even when you cannot see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  ·  5-PS1-1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 Has Mass and Takes Up Space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914400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= has mass + takes up space. When sugar dissolves, its particles spread out evenly throughout the water — but they are STILL THERE. The mass does not change because the particles do not disappear.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your notebook: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609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"Matter is anything that has mass and takes up space."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3182112"/>
            <a:ext cx="9144000" cy="457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101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71323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21024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shadow matter? Think carefully: Does a shadow have mass? Does it take up space? Use the definition to support your answer.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and Is NOT Matter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either matter (has mass + takes up space) or energy (no mass, no fixed volume). Knowing the difference is a key science skill.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931920" cy="310896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Matter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657600" cy="548640"/>
          </a:xfrm>
          <a:prstGeom prst="rect">
            <a:avLst/>
          </a:prstGeom>
          <a:solidFill>
            <a:srgbClr val="C8F5C8"/>
          </a:solidFill>
          <a:ln w="12700">
            <a:solidFill>
              <a:srgbClr val="C8F5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75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 (rocks, pencils, ice)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3657600" cy="548640"/>
          </a:xfrm>
          <a:prstGeom prst="rect">
            <a:avLst/>
          </a:prstGeom>
          <a:solidFill>
            <a:srgbClr val="C8F5C8"/>
          </a:solidFill>
          <a:ln w="12700">
            <a:solidFill>
              <a:srgbClr val="C8F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968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Liquids (water, juice, oil)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3657600" cy="548640"/>
          </a:xfrm>
          <a:prstGeom prst="rect">
            <a:avLst/>
          </a:prstGeom>
          <a:solidFill>
            <a:srgbClr val="C8F5C8"/>
          </a:solidFill>
          <a:ln w="12700">
            <a:solidFill>
              <a:srgbClr val="C8F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186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Gases (air, steam, oxygen)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3657600" cy="548640"/>
          </a:xfrm>
          <a:prstGeom prst="rect">
            <a:avLst/>
          </a:prstGeom>
          <a:solidFill>
            <a:srgbClr val="C8F5C8"/>
          </a:solidFill>
          <a:ln w="12700">
            <a:solidFill>
              <a:srgbClr val="C8F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04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of toast (tiny particles in air)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389888"/>
            <a:ext cx="3931920" cy="310896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Matter (Energy)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920240"/>
            <a:ext cx="3657600" cy="54864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975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(absence of light)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542032"/>
            <a:ext cx="3657600" cy="54864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968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from a flashlight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163824"/>
            <a:ext cx="3657600" cy="54864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186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from a radiator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785616"/>
            <a:ext cx="3657600" cy="54864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8404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from a speaker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Sugar Dissolving — Particles Are Still There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023360" cy="41148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Dissolving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2801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2801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2801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2801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5087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5087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5087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15087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17373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17373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7373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17373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19659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19659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19659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1965960"/>
            <a:ext cx="164592" cy="164592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crystals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(clustered together)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3657600" cy="914400"/>
          </a:xfrm>
          <a:prstGeom prst="rect">
            <a:avLst/>
          </a:prstGeom>
          <a:solidFill>
            <a:srgbClr val="C8E6FF"/>
          </a:solidFill>
          <a:ln w="12700">
            <a:solidFill>
              <a:srgbClr val="90B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80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(200 g total)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reads: 200 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640080"/>
            <a:ext cx="4023360" cy="411480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749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Dissolving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0" y="123444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141732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28016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146304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182880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73736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192024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164592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228600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19456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0" y="237744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274320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265176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256032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292608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0" y="3108960"/>
            <a:ext cx="137160" cy="137160"/>
          </a:xfrm>
          <a:prstGeom prst="rect">
            <a:avLst/>
          </a:prstGeom>
          <a:solidFill>
            <a:srgbClr val="D4AC0D"/>
          </a:solidFill>
          <a:ln w="12700">
            <a:solidFill>
              <a:srgbClr val="B896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particles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evenly through water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3429000"/>
            <a:ext cx="3749040" cy="804672"/>
          </a:xfrm>
          <a:prstGeom prst="rect">
            <a:avLst/>
          </a:prstGeom>
          <a:solidFill>
            <a:srgbClr val="C8E6FF"/>
          </a:solidFill>
          <a:ln w="12700">
            <a:solidFill>
              <a:srgbClr val="90B8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42900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mixed in water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4315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STILL reads: 200 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 or Not Matter? — Evidence Sort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8 examples as MATTER or NOT MATTER. For each one, write one sentence of evidence using the definition: does it have mass? Does it take up space?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9384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24128" y="1874520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929384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Read each example carefully. Do not rush.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87752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128" y="2532888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587752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Apply the test: Does it have mass? Does it take up space?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24128" y="3191256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246120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Write MATTER or NOT MATTER for each example.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49624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04488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24128" y="3849624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904488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Write your evidence sentence: "I know this is/is not matter because…"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Examples — Sort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011680" cy="192024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94360"/>
            <a:ext cx="2011680" cy="34747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 a balloon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mass (you can weigh it). Takes up space inside the balloon.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594360"/>
            <a:ext cx="2011680" cy="192024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594360"/>
            <a:ext cx="2011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594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shadow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mass. No fixed volume. It is the absence of light.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594360"/>
            <a:ext cx="2011680" cy="192024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594360"/>
            <a:ext cx="2011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594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from a flashlight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18304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energy. It has no mass and no fixed volume.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594360"/>
            <a:ext cx="2011680" cy="192024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594360"/>
            <a:ext cx="2011680" cy="34747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594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94576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4576" y="1417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mass. Takes up space. Easy example.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2011680" cy="192024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697480"/>
            <a:ext cx="2011680" cy="34747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697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of toast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particles float in the air. They have mass and take up space.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50592" y="2697480"/>
            <a:ext cx="2011680" cy="192024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2697480"/>
            <a:ext cx="2011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2697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42032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from a radiator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42032" y="3520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is a form of energy — it has no mass.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2697480"/>
            <a:ext cx="2011680" cy="192024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6864" y="2697480"/>
            <a:ext cx="2011680" cy="34747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2697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18304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of water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18304" y="3520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mass. Takes up space. Liquid form of matter.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03136" y="2697480"/>
            <a:ext cx="2011680" cy="192024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03136" y="2697480"/>
            <a:ext cx="2011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2697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MATTER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94576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from a speaker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94576" y="35204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is vibration — energy moving through air. No mass.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13232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658368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713232"/>
            <a:ext cx="7498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examples that are matter. What do all of them have in common?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30552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075688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30552"/>
            <a:ext cx="7498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examples that are NOT matter. What do all of them have in common?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47872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3493008"/>
            <a:ext cx="7680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47872"/>
            <a:ext cx="7498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the sugar dissolved and you cannot see it anymore. How do you know it is still matter?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1790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It 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8046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cannot see it or touch it, it is not matter." Is this true or false? Use at least two examples from the sort to defend your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8046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86584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smell of toast — is it matter? What specific evidence from the definition makes you sure?"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93192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75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statement is false because…"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520440"/>
            <a:ext cx="393192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575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evidence that the smell is matter is…"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2394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this because if you weighed the air before and after toast burned, you would find…"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62456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· Evidence · Reasoning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the smell of toast matter? Use the definition of matter to support your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64792"/>
            <a:ext cx="6629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6479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the smell of toast is matter because…"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51760"/>
            <a:ext cx="896112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toast burns, tiny particles break off and float through the air. These particles have mass and take up space because…"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38728"/>
            <a:ext cx="973836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38728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587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the smell of toast is matter because it has mass and takes up space, even though…"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1498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matter?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105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rock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glass of water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358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light from a lamp   CORRECT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124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a form of energy. It has no mass and does not take up space. It is NOT matter.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14984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dissolves in water. Which is the best evidence that the sugar is still there?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5681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water looks the same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946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mass of the water + cup is the same after stirring   CORRECT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821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You can still taste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96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staying the same is the scientific evidence. Taste and appearance are less reliable — and appearance actually changed.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Air in This Room Has Mass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8046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 in a typical classroom weighs 50 to 75 kg — about as much as a full-grown adult. You do not feel it because air pressure pushes equally from all directions. Without it, your body would have nothing to push against.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Questions: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3931920" cy="13533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71216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Astronauts in space suits carry their own air supply. Why is this necessary? Use the definition of matter in your answer.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816352"/>
            <a:ext cx="3931920" cy="13533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871216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sealed a classroom and removed all the air, the room would still exist. But would there still be matter inside? Explain your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 — Parts A &amp; B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Before &amp; After Diagram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before-and-after diagram showing sugar dissolving in water.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Sugar particles (before: clustered)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Sugar particles (after: spread out)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Arrow showing particles are still present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Mass reading stays the same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Evidence Questions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two properties define ALL matter?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scale reads 200 g before and after dissolving. What does this prove?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Name two things from the sort that are NOT matter. Why not?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 — Part C (CER Response)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A puff of smoke rises from a candle. Is smoke matter? Write 4-6 sentences using Claim + Evidence + Reasoning.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822960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46504"/>
            <a:ext cx="6629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a puff of smoke is/is not matter because…"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749808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69464"/>
            <a:ext cx="896112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94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"Smoke is made of tiny particles. I know this because…"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749808"/>
          </a:xfrm>
          <a:prstGeom prst="rect">
            <a:avLst/>
          </a:prstGeom>
          <a:solidFill>
            <a:srgbClr val="EAF9EA"/>
          </a:solidFill>
          <a:ln w="12700">
            <a:solidFill>
              <a:srgbClr val="EAF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92424"/>
            <a:ext cx="973836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92424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66674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matches the definition of matter because smoke has [mass and takes up space], even though…"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8229600" cy="38404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full CER response in your notebook. 4-6 complete sentences.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Your Thinking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3210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prediction. Did the sugar disappear, or was it still there? How do you know now?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1325880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80744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 I thought the sugar… but now I understand it actually…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511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496312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51176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that convinced me was… because it shows that matter…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21608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3666744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21608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 still have about particles or matter is…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Before/after diagram — Part A: particles labeled, arrow showing they stay, mass reading shown.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8366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questions — all three answered in complete sentences.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response — Part C: claim, evidence, reasoning about smoke, 4-6 sentences.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all three reflection prompts completed.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58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Vocabulary check — can you define matter, mass, particle, and dissolve?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085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3.02 — Model: Matter Made of Particles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2026-07-16T18:40:24Z</dcterms:created>
  <dcterms:modified xsi:type="dcterms:W3CDTF">2026-07-16T18:40:24Z</dcterms:modified>
</cp:coreProperties>
</file>