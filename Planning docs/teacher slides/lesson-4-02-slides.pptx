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Engage. Students choose their first test and explain their reasoning.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Prediction.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Key Concept. The volume test is the key to separating liquid from gas. Both flow, but only gas changes volume.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Discuss &amp; Defend.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Scientist Talk (CER).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Self-Check Q1.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Self-Check Q2.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Comparing States of Matter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822960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|  Week 4  |  SC.5.P.8.1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23744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78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Test three samples for shape, volume, and how they flow.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540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Record observations in a clear data 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9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data to defend a claim about which sample is which state.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5th Grade Science  ·  Week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a Scientist from Another Planet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8961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 you are a scientist from another planet. You have three unknown samples: a rock, some water, and a sealed bag of air. You do not know what any of them are. You need to figure out which state each one belongs 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98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test would you run first on all three samples? Why that test?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9242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observe in that test? What would the result tell you?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Test — Predict the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 Predict how each sample (rock, water, air in bag) will do on each of the three tests. Use property vocabulary: shape, volume, 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bag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383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predictions above in your notebook before running the tests.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— All Key Words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697480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 own shape. Fixed volume. Cannot be poured.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170432"/>
            <a:ext cx="2697480" cy="1371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618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container shape. Fixed volume. Can be poured.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70432"/>
            <a:ext cx="2697480" cy="13716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618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26480" y="166420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any container. No fixed shape or volume.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79192"/>
            <a:ext cx="2697480" cy="13716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06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" y="317296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you can observe or measure (shape, volume, flow).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679192"/>
            <a:ext cx="269748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7706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46120" y="317296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space something takes up.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679192"/>
            <a:ext cx="2697480" cy="1371600"/>
          </a:xfrm>
          <a:prstGeom prst="rect">
            <a:avLst/>
          </a:prstGeom>
          <a:solidFill>
            <a:srgbClr val="2D4A2D"/>
          </a:solidFill>
          <a:ln w="12700">
            <a:solidFill>
              <a:srgbClr val="2D4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7706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26480" y="3172968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or data that support a conclusion.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6110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these terms are review from Lessons 3.01, 3.02, and 4.01.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  ·  SC.5.P.8.1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Property Tests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SHAPE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sample in a differently-shaped container.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KEEP its shape — or TAKE the container's shape?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VOLUME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240487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different-sized container.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AMOUNT change — or stay the same?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11296"/>
            <a:ext cx="8412480" cy="10515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02736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 — 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575304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pour or move the sample.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pour — or does it stay put?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626864"/>
            <a:ext cx="841248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817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tests will give you the evidence to identify any unknown substance as solid, liquid, or gas.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  ·  SC.5.P.8.1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Tests — Identify Any State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80467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of matter behaves differently across these three tests. Run all three and you can identify any unknown sample — even without seeing its particles.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677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26771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keeps shape. Liquid: takes container shape. Gas: fills container.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8229600" cy="658368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449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04495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&amp; Liquid: fixed volume. Gas: volume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8229600" cy="658368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221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82219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no. Liquid: yes (pours). Gas: yes (expands in all directions).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Tests — What to Expect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766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test, understand what result to expect from each sample. Then compare your actual observations to these predictions.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7899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298448"/>
            <a:ext cx="5806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keeps its shape in any container. Volume: same. Flow: no — stays 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8229600" cy="10789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32888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532888"/>
            <a:ext cx="5806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takes container shape. Volume: same in any container. Flow: yes — pours easily.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8229600" cy="107899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67328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BAG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767328"/>
            <a:ext cx="5806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takes bag shape. Volume: CHANGES when you squeeze. Flow: yes — spreads when bag opens.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water and air both flow, but only air changes volume when you squeeze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Diagram — Three Samples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2743200" cy="4133088"/>
          </a:xfrm>
          <a:prstGeom prst="rect">
            <a:avLst/>
          </a:prstGeom>
          <a:solidFill>
            <a:srgbClr val="FFE8D5"/>
          </a:solidFill>
          <a:ln w="12700">
            <a:solidFill>
              <a:srgbClr val="FFE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58368"/>
            <a:ext cx="2743200" cy="38404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shape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1518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8561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poured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2743200" cy="5029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SOLID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658368"/>
            <a:ext cx="2743200" cy="41330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658368"/>
            <a:ext cx="274320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658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138988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44475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container shape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61518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73075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78561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 easily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LIQUID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658368"/>
            <a:ext cx="2743200" cy="4133088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658368"/>
            <a:ext cx="2743200" cy="38404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658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BAG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38988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44475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bag shape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560320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61518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CHANGES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730752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78561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Spreads/expands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4160520"/>
            <a:ext cx="2743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GAS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Tests — Rock, Water, Air in Bag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three tests on each sample. Record your observations in the data table. Then identify each sample's state with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38912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938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24128" y="1874520"/>
            <a:ext cx="7662672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929384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SHAPE TEST: Put each sample in a differently-shaped container. Record whether it keeps its shape or takes the container shape.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38912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1518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128" y="2560320"/>
            <a:ext cx="7662672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615184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VOLUME TEST: Move to a different-sized container. Record whether volume stays the same or changes.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38912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0098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24128" y="3246120"/>
            <a:ext cx="7662672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300984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FLOW TEST: Try to pour or move each sample. Record whether it flows freely, does not flow, or expands.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38912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8678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4128" y="3931920"/>
            <a:ext cx="7662672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986784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Review all 9 cells of your table. Use the data to identify each sample's state and write your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 — Record Your Observations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7665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table into your notebook. Fill in your observations during each test.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Bag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8229600" cy="896112"/>
          </a:xfrm>
          <a:prstGeom prst="rect">
            <a:avLst/>
          </a:prstGeom>
          <a:solidFill>
            <a:srgbClr val="D6EAF8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6304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146304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46304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896112"/>
          </a:xfrm>
          <a:prstGeom prst="rect">
            <a:avLst/>
          </a:prstGeom>
          <a:solidFill>
            <a:srgbClr val="D1F2EB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2316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242316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42316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896112"/>
          </a:xfrm>
          <a:prstGeom prst="rect">
            <a:avLst/>
          </a:prstGeom>
          <a:solidFill>
            <a:srgbClr val="FFF3CD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8328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338328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38328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3383280"/>
            <a:ext cx="2011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708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filling in all 9 cells: Which sample is solid? Which is liquid? Which is gas? Write your answer below the table.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65836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71323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three tests was most useful for distinguishing all three states from each other? Why?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055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07568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3055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water and the air in the bag similar? How are they different? (Hint: think about volume.)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4787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49300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4787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is each sample — and what specific evidence from your data table supports your answer?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It 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"Water takes its container's shape AND has fixed volume. Air in the bag also takes the bag's shape — but what happens to its volume when you squeeze the bag? How does this difference help you tell them apart?"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8229600" cy="8229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1401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run a fourth test? What property would you test next — and what would the result tell you about the state?"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93192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21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"Water and air are different because volume…"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621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fourth test I could run would be…"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6966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important test for telling liquid from gas is the volume test because…"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· Evidence ·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Use your data table to defend your identification of the rock.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the rock is a solid because…"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my shape test, the rock [kept its shape / did not change]. In my volume test, the rock…"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587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matches the definition of solid because tightly packed particles mean the substance…"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keeps the same volume in any container. Air in a bag does NOT keep the same volume when squeezed. What does this tell you?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Water is a gas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94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Water is a liquid (fixed volume) and air is a gas (no fixed volume)   CORRECT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821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They are both liquids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96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test separates liquid from gas. Liquids have fixed volume; gases do not.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 would NOT help tell solid from liquid?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05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Shape test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Volume test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358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Color test   CORRECT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124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is not a defining property of states of matter. A rock and water can be the same color. You need shape, volume, or flow to identify states.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Ice — Skipping the Liquid Stage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ice (frozen carbon dioxide) skips the liquid stage entirely — it goes straight from solid to gas. This is called sublimation. Fog machines and stage effects often use dry ice because as it sublimes, it creates a dramatic, ground-hugging cloud of cold CO2 gas.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Questions: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3258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9504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dry ice never becomes a liquid, which of the three property tests would be hardest to run on it? Why?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834640"/>
            <a:ext cx="3931920" cy="13258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89504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from dry ice sinks to the ground instead of rising like steam. What does this tell you about CO2 gas compared to the air around it?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Parts A &amp; 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Completed Data 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3x3 data table — all 9 cells filled in.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Shape Test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Volume Test result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Flow Test result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bottom: identify each sample as solid, liquid, or gas.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Comparison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Compare water and air: what did they have in common? How were they different?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test was MOST useful for separating all three states? Explain why.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Could you identify the three samples using only the flow test? Why or why not?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 C (CER Response)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Using your data table, identify all three samples (rock, water, air in bag) and defend your identification. Write 4-6 sentences.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82296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46504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the rock is a solid, the water is a liquid, and the air in the bag is a gas because…"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749808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69464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94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my shape test… In my volume test… In my flow test…"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749808"/>
          </a:xfrm>
          <a:prstGeom prst="rect">
            <a:avLst/>
          </a:prstGeom>
          <a:solidFill>
            <a:srgbClr val="EAF9EA"/>
          </a:solidFill>
          <a:ln w="12700">
            <a:solidFill>
              <a:srgbClr val="EAF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92424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92424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66674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matches the definitions because solids [keep shape], liquids [take container shape with fixed volume], and gases [fill any space]…"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8229600" cy="38404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full CER response in your notebook. 4-6 complete sentences.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Your Thinking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321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 table from the start. How accurate were your predictions before testing?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1325880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80744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predictions were [mostly right / mostly wrong / mixed] because…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496312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51176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result that surprised me the most was… because I did not expect…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21608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3666744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21608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all three tests, the best single test for identifying states is… because…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Completed data table — Part A: all 9 cells filled in, state identification noted below.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questions — all three answered in complete sentences.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 — Part C: claim, evidence, reasoning about all three samples, 4-6 sentences.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all three reflection prompts completed.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58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Vocabulary check — can you explain the difference between liquid and gas using the volume test?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5.01 — How Can Materials Be Identified?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2026-07-16T18:48:55Z</dcterms:created>
  <dcterms:modified xsi:type="dcterms:W3CDTF">2026-07-16T18:48:55Z</dcterms:modified>
</cp:coreProperties>
</file>