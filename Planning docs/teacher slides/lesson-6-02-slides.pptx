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"Has anyone stirred sugar into cold water vs. hot water? What did you notice?"
Push for: the SPEED is different, not whether it dissolves. That's the key distinction — solubility vs. rate.
Bridge: today's investigation measures HOW FAST, not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for particle-level thinking. Students who say "hot makes things dissolve faster" — ask: "Why? What is the hot water DOING to the salt particles?"
Target: particles moving faster → more collisions → dissolve faster. That's the reasoning they will prove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is the variable?" → Temperature. "What are the controls?" → cup size, water amount, salt amount, stirring.
Push: "Could you test stirring speed as the variable instead? What would you change and what would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Q1: students design the stirring-speed test. Check: is temperature now a control? Is water amount a control?
For Q2: push for repeated trials, then class-wide data pooling. Ask: "What if your warm water result was a fluke?"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CER model: ask students to identify which part of their evidence is QUANTITATIVE (numbers). Push: "Can you make the reasoning stronger by naming what particles are doing?" → faster collisions → faster dissolving.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480560"/>
            <a:ext cx="9144000" cy="658368"/>
          </a:xfrm>
          <a:prstGeom prst="rect">
            <a:avLst/>
          </a:prstGeom>
          <a:solidFill>
            <a:srgbClr val="0E7C7B"/>
          </a:solidFill>
          <a:ln w="12700">
            <a:solidFill>
              <a:srgbClr val="0E7C7B"/>
            </a:solidFill>
            <a:prstDash val="solid"/>
          </a:ln>
        </p:spPr>
      </p:sp>
      <p:sp>
        <p:nvSpPr>
          <p:cNvPr id="3" name="Shape 1"/>
          <p:cNvSpPr/>
          <p:nvPr/>
        </p:nvSpPr>
        <p:spPr>
          <a:xfrm>
            <a:off x="365760" y="164592"/>
            <a:ext cx="1828800" cy="274320"/>
          </a:xfrm>
          <a:prstGeom prst="rect">
            <a:avLst/>
          </a:prstGeom>
          <a:solidFill>
            <a:srgbClr val="0E7C7B"/>
          </a:solidFill>
          <a:ln w="12700">
            <a:solidFill>
              <a:srgbClr val="0E7C7B"/>
            </a:solidFill>
            <a:prstDash val="solid"/>
          </a:ln>
        </p:spPr>
      </p:sp>
      <p:sp>
        <p:nvSpPr>
          <p:cNvPr id="4" name="Text 2"/>
          <p:cNvSpPr/>
          <p:nvPr/>
        </p:nvSpPr>
        <p:spPr>
          <a:xfrm>
            <a:off x="365760" y="164592"/>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 · UNIT 2 — MATTER</a:t>
            </a:r>
            <a:endParaRPr lang="en-US" sz="1000" dirty="0"/>
          </a:p>
        </p:txBody>
      </p:sp>
      <p:sp>
        <p:nvSpPr>
          <p:cNvPr id="5" name="Text 3"/>
          <p:cNvSpPr/>
          <p:nvPr/>
        </p:nvSpPr>
        <p:spPr>
          <a:xfrm>
            <a:off x="365760" y="512064"/>
            <a:ext cx="8229600" cy="365760"/>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Lesson 6.02</a:t>
            </a:r>
            <a:endParaRPr lang="en-US" sz="1400" dirty="0"/>
          </a:p>
        </p:txBody>
      </p:sp>
      <p:sp>
        <p:nvSpPr>
          <p:cNvPr id="6" name="Text 4"/>
          <p:cNvSpPr/>
          <p:nvPr/>
        </p:nvSpPr>
        <p:spPr>
          <a:xfrm>
            <a:off x="365760" y="877824"/>
            <a:ext cx="8412480" cy="9601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Investigation: Conditions That Affect Dissolving</a:t>
            </a:r>
            <a:endParaRPr lang="en-US" sz="3200" dirty="0"/>
          </a:p>
        </p:txBody>
      </p:sp>
      <p:sp>
        <p:nvSpPr>
          <p:cNvPr id="7" name="Text 5"/>
          <p:cNvSpPr/>
          <p:nvPr/>
        </p:nvSpPr>
        <p:spPr>
          <a:xfrm>
            <a:off x="365760" y="1874520"/>
            <a:ext cx="8229600" cy="320040"/>
          </a:xfrm>
          <a:prstGeom prst="rect">
            <a:avLst/>
          </a:prstGeom>
          <a:noFill/>
          <a:ln/>
        </p:spPr>
        <p:txBody>
          <a:bodyPr wrap="square" lIns="0" tIns="0" rIns="0" bIns="0" rtlCol="0" anchor="ctr"/>
          <a:lstStyle/>
          <a:p>
            <a:pPr algn="l" indent="0" marL="0">
              <a:buNone/>
            </a:pPr>
            <a:r>
              <a:rPr lang="en-US" sz="1300" dirty="0">
                <a:solidFill>
                  <a:srgbClr val="5E7B9A"/>
                </a:solidFill>
                <a:latin typeface="Calibri" pitchFamily="34" charset="0"/>
                <a:ea typeface="Calibri" pitchFamily="34" charset="-122"/>
                <a:cs typeface="Calibri" pitchFamily="34" charset="-120"/>
              </a:rPr>
              <a:t>Q1 · Unit 2 — Matter   |   Week 6   |   SC.5.P.8.2</a:t>
            </a:r>
            <a:endParaRPr lang="en-US" sz="1300" dirty="0"/>
          </a:p>
        </p:txBody>
      </p:sp>
      <p:sp>
        <p:nvSpPr>
          <p:cNvPr id="8" name="Shape 6"/>
          <p:cNvSpPr/>
          <p:nvPr/>
        </p:nvSpPr>
        <p:spPr>
          <a:xfrm>
            <a:off x="365760" y="2331720"/>
            <a:ext cx="8412480" cy="438912"/>
          </a:xfrm>
          <a:prstGeom prst="rect">
            <a:avLst/>
          </a:prstGeom>
          <a:solidFill>
            <a:srgbClr val="2C4A6E"/>
          </a:solidFill>
          <a:ln w="12700">
            <a:solidFill>
              <a:srgbClr val="2C4A6E"/>
            </a:solidFill>
            <a:prstDash val="solid"/>
          </a:ln>
        </p:spPr>
      </p:sp>
      <p:sp>
        <p:nvSpPr>
          <p:cNvPr id="9" name="Text 7"/>
          <p:cNvSpPr/>
          <p:nvPr/>
        </p:nvSpPr>
        <p:spPr>
          <a:xfrm>
            <a:off x="457200" y="238658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Plan a fair test with one variable and several controls.</a:t>
            </a:r>
            <a:endParaRPr lang="en-US" sz="1300" dirty="0"/>
          </a:p>
        </p:txBody>
      </p:sp>
      <p:sp>
        <p:nvSpPr>
          <p:cNvPr id="10" name="Shape 8"/>
          <p:cNvSpPr/>
          <p:nvPr/>
        </p:nvSpPr>
        <p:spPr>
          <a:xfrm>
            <a:off x="365760" y="2834640"/>
            <a:ext cx="8412480" cy="438912"/>
          </a:xfrm>
          <a:prstGeom prst="rect">
            <a:avLst/>
          </a:prstGeom>
          <a:solidFill>
            <a:srgbClr val="2C4A6E"/>
          </a:solidFill>
          <a:ln w="12700">
            <a:solidFill>
              <a:srgbClr val="2C4A6E"/>
            </a:solidFill>
            <a:prstDash val="solid"/>
          </a:ln>
        </p:spPr>
      </p:sp>
      <p:sp>
        <p:nvSpPr>
          <p:cNvPr id="11" name="Text 9"/>
          <p:cNvSpPr/>
          <p:nvPr/>
        </p:nvSpPr>
        <p:spPr>
          <a:xfrm>
            <a:off x="457200" y="288950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Collect timed data across two conditions.</a:t>
            </a:r>
            <a:endParaRPr lang="en-US" sz="1300" dirty="0"/>
          </a:p>
        </p:txBody>
      </p:sp>
      <p:sp>
        <p:nvSpPr>
          <p:cNvPr id="12" name="Shape 10"/>
          <p:cNvSpPr/>
          <p:nvPr/>
        </p:nvSpPr>
        <p:spPr>
          <a:xfrm>
            <a:off x="365760" y="3337560"/>
            <a:ext cx="8412480" cy="438912"/>
          </a:xfrm>
          <a:prstGeom prst="rect">
            <a:avLst/>
          </a:prstGeom>
          <a:solidFill>
            <a:srgbClr val="2C4A6E"/>
          </a:solidFill>
          <a:ln w="12700">
            <a:solidFill>
              <a:srgbClr val="2C4A6E"/>
            </a:solidFill>
            <a:prstDash val="solid"/>
          </a:ln>
        </p:spPr>
      </p:sp>
      <p:sp>
        <p:nvSpPr>
          <p:cNvPr id="13" name="Text 11"/>
          <p:cNvSpPr/>
          <p:nvPr/>
        </p:nvSpPr>
        <p:spPr>
          <a:xfrm>
            <a:off x="457200" y="339242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Argue from evidence about how temperature affects dissolving.</a:t>
            </a:r>
            <a:endParaRPr lang="en-US" sz="1300" dirty="0"/>
          </a:p>
        </p:txBody>
      </p:sp>
      <p:sp>
        <p:nvSpPr>
          <p:cNvPr id="14" name="Text 12"/>
          <p:cNvSpPr/>
          <p:nvPr/>
        </p:nvSpPr>
        <p:spPr>
          <a:xfrm>
            <a:off x="365760" y="4590288"/>
            <a:ext cx="8412480"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Week 6  |  SC.5.P.8.2  |  Dissolving Rate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440180" cy="274320"/>
          </a:xfrm>
          <a:prstGeom prst="rect">
            <a:avLst/>
          </a:prstGeom>
          <a:solidFill>
            <a:srgbClr val="0E7C7B"/>
          </a:solidFill>
          <a:ln w="12700">
            <a:solidFill>
              <a:srgbClr val="0E7C7B"/>
            </a:solidFill>
            <a:prstDash val="solid"/>
          </a:ln>
        </p:spPr>
      </p:sp>
      <p:sp>
        <p:nvSpPr>
          <p:cNvPr id="3" name="Text 1"/>
          <p:cNvSpPr/>
          <p:nvPr/>
        </p:nvSpPr>
        <p:spPr>
          <a:xfrm>
            <a:off x="365760" y="109728"/>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457200"/>
            <a:ext cx="84124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Cold Tea vs. Hot Tea</a:t>
            </a:r>
            <a:endParaRPr lang="en-US" sz="3000" dirty="0"/>
          </a:p>
        </p:txBody>
      </p:sp>
      <p:sp>
        <p:nvSpPr>
          <p:cNvPr id="5" name="Text 3"/>
          <p:cNvSpPr/>
          <p:nvPr/>
        </p:nvSpPr>
        <p:spPr>
          <a:xfrm>
            <a:off x="365760" y="1115568"/>
            <a:ext cx="8412480" cy="777240"/>
          </a:xfrm>
          <a:prstGeom prst="rect">
            <a:avLst/>
          </a:prstGeom>
          <a:noFill/>
          <a:ln/>
        </p:spPr>
        <p:txBody>
          <a:bodyPr wrap="square" lIns="0" tIns="0" rIns="0" bIns="0" rtlCol="0" anchor="ctr"/>
          <a:lstStyle/>
          <a:p>
            <a:pPr indent="0" marL="0">
              <a:buNone/>
            </a:pPr>
            <a:r>
              <a:rPr lang="en-US" sz="1600" dirty="0">
                <a:solidFill>
                  <a:srgbClr val="EBF4FA"/>
                </a:solidFill>
                <a:latin typeface="Calibri" pitchFamily="34" charset="0"/>
                <a:ea typeface="Calibri" pitchFamily="34" charset="-122"/>
                <a:cs typeface="Calibri" pitchFamily="34" charset="-120"/>
              </a:rPr>
              <a:t>Drop sugar into iced tea — it takes forever. Drop the same sugar into hot tea — gone in seconds. Same sugar. Same tea. Different speed. What is different inside those two cups?</a:t>
            </a:r>
            <a:endParaRPr lang="en-US" sz="1600" dirty="0"/>
          </a:p>
        </p:txBody>
      </p:sp>
      <p:sp>
        <p:nvSpPr>
          <p:cNvPr id="6" name="Shape 4"/>
          <p:cNvSpPr/>
          <p:nvPr/>
        </p:nvSpPr>
        <p:spPr>
          <a:xfrm>
            <a:off x="365760" y="1993392"/>
            <a:ext cx="8412480" cy="621792"/>
          </a:xfrm>
          <a:prstGeom prst="rect">
            <a:avLst/>
          </a:prstGeom>
          <a:solidFill>
            <a:srgbClr val="0E7C7B"/>
          </a:solidFill>
          <a:ln w="12700">
            <a:solidFill>
              <a:srgbClr val="0E7C7B"/>
            </a:solidFill>
            <a:prstDash val="solid"/>
          </a:ln>
        </p:spPr>
      </p:sp>
      <p:sp>
        <p:nvSpPr>
          <p:cNvPr id="7" name="Text 5"/>
          <p:cNvSpPr/>
          <p:nvPr/>
        </p:nvSpPr>
        <p:spPr>
          <a:xfrm>
            <a:off x="457200" y="2048256"/>
            <a:ext cx="8229600" cy="51206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  NOTICE: "Which dissolved faster — iced tea or hot tea?"</a:t>
            </a:r>
            <a:endParaRPr lang="en-US" sz="1600" dirty="0"/>
          </a:p>
        </p:txBody>
      </p:sp>
      <p:sp>
        <p:nvSpPr>
          <p:cNvPr id="8" name="Shape 6"/>
          <p:cNvSpPr/>
          <p:nvPr/>
        </p:nvSpPr>
        <p:spPr>
          <a:xfrm>
            <a:off x="365760" y="2706624"/>
            <a:ext cx="8412480" cy="621792"/>
          </a:xfrm>
          <a:prstGeom prst="rect">
            <a:avLst/>
          </a:prstGeom>
          <a:solidFill>
            <a:srgbClr val="F6C90E"/>
          </a:solidFill>
          <a:ln w="12700">
            <a:solidFill>
              <a:srgbClr val="F6C90E"/>
            </a:solidFill>
            <a:prstDash val="solid"/>
          </a:ln>
        </p:spPr>
      </p:sp>
      <p:sp>
        <p:nvSpPr>
          <p:cNvPr id="9" name="Text 7"/>
          <p:cNvSpPr/>
          <p:nvPr/>
        </p:nvSpPr>
        <p:spPr>
          <a:xfrm>
            <a:off x="457200" y="2761488"/>
            <a:ext cx="8229600" cy="512064"/>
          </a:xfrm>
          <a:prstGeom prst="rect">
            <a:avLst/>
          </a:prstGeom>
          <a:noFill/>
          <a:ln/>
        </p:spPr>
        <p:txBody>
          <a:bodyPr wrap="square" lIns="0" tIns="0" rIns="0" bIns="0" rtlCol="0" anchor="ctr"/>
          <a:lstStyle/>
          <a:p>
            <a:pPr algn="l" indent="0" marL="0">
              <a:buNone/>
            </a:pPr>
            <a:r>
              <a:rPr lang="en-US" sz="1600" dirty="0">
                <a:solidFill>
                  <a:srgbClr val="1A1A2E"/>
                </a:solidFill>
                <a:latin typeface="Calibri" pitchFamily="34" charset="0"/>
                <a:ea typeface="Calibri" pitchFamily="34" charset="-122"/>
                <a:cs typeface="Calibri" pitchFamily="34" charset="-120"/>
              </a:rPr>
              <a:t>❓  WONDER: "What is different inside the hot cup compared to the cold cup? Think about the particles."</a:t>
            </a:r>
            <a:endParaRPr lang="en-US" sz="1600" dirty="0"/>
          </a:p>
        </p:txBody>
      </p:sp>
      <p:sp>
        <p:nvSpPr>
          <p:cNvPr id="10" name="Text 8"/>
          <p:cNvSpPr/>
          <p:nvPr/>
        </p:nvSpPr>
        <p:spPr>
          <a:xfrm>
            <a:off x="365760" y="3474720"/>
            <a:ext cx="8412480" cy="384048"/>
          </a:xfrm>
          <a:prstGeom prst="rect">
            <a:avLst/>
          </a:prstGeom>
          <a:noFill/>
          <a:ln/>
        </p:spPr>
        <p:txBody>
          <a:bodyPr wrap="square" lIns="0" tIns="0" rIns="0" bIns="0" rtlCol="0" anchor="ctr"/>
          <a:lstStyle/>
          <a:p>
            <a:pPr algn="ctr" indent="0" marL="0">
              <a:buNone/>
            </a:pPr>
            <a:r>
              <a:rPr lang="en-US" sz="1300" dirty="0">
                <a:solidFill>
                  <a:srgbClr val="5E7B9A"/>
                </a:solidFill>
                <a:latin typeface="Calibri" pitchFamily="34" charset="0"/>
                <a:ea typeface="Calibri" pitchFamily="34" charset="-122"/>
                <a:cs typeface="Calibri" pitchFamily="34" charset="-120"/>
              </a:rPr>
              <a:t>Materials for today: 2 identical cups · cold water · warm water · 1 tsp salt each · timer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07D35"/>
          </a:solidFill>
          <a:ln w="12700">
            <a:solidFill>
              <a:srgbClr val="F07D35"/>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Why Does Temperature Change the Speed?</a:t>
            </a:r>
            <a:endParaRPr lang="en-US" sz="2600" dirty="0"/>
          </a:p>
        </p:txBody>
      </p:sp>
      <p:sp>
        <p:nvSpPr>
          <p:cNvPr id="5" name="Shape 3"/>
          <p:cNvSpPr/>
          <p:nvPr/>
        </p:nvSpPr>
        <p:spPr>
          <a:xfrm>
            <a:off x="365760" y="804672"/>
            <a:ext cx="8412480" cy="658368"/>
          </a:xfrm>
          <a:prstGeom prst="rect">
            <a:avLst/>
          </a:prstGeom>
          <a:solidFill>
            <a:srgbClr val="FFFFFF"/>
          </a:solidFill>
          <a:ln w="12700">
            <a:solidFill>
              <a:srgbClr val="FFFFFF"/>
            </a:solidFill>
            <a:prstDash val="solid"/>
          </a:ln>
        </p:spPr>
      </p:sp>
      <p:sp>
        <p:nvSpPr>
          <p:cNvPr id="6" name="Text 4"/>
          <p:cNvSpPr/>
          <p:nvPr/>
        </p:nvSpPr>
        <p:spPr>
          <a:xfrm>
            <a:off x="457200" y="859536"/>
            <a:ext cx="8229600" cy="548640"/>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Prediction Prompt:</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"Why does sugar dissolve faster in hot tea than cold? Predict what is different inside the cup at the particle level."</a:t>
            </a:r>
            <a:endParaRPr lang="en-US" sz="1500" dirty="0"/>
          </a:p>
        </p:txBody>
      </p:sp>
      <p:sp>
        <p:nvSpPr>
          <p:cNvPr id="7" name="Text 5"/>
          <p:cNvSpPr/>
          <p:nvPr/>
        </p:nvSpPr>
        <p:spPr>
          <a:xfrm>
            <a:off x="365760" y="1572768"/>
            <a:ext cx="8412480" cy="411480"/>
          </a:xfrm>
          <a:prstGeom prst="rect">
            <a:avLst/>
          </a:prstGeom>
          <a:noFill/>
          <a:ln/>
        </p:spPr>
        <p:txBody>
          <a:bodyPr wrap="square" lIns="0" tIns="0" rIns="0" bIns="0" rtlCol="0" anchor="ctr"/>
          <a:lstStyle/>
          <a:p>
            <a:pPr indent="0" marL="0">
              <a:buNone/>
            </a:pPr>
            <a:r>
              <a:rPr lang="en-US" sz="1400" dirty="0">
                <a:solidFill>
                  <a:srgbClr val="2C4A6E"/>
                </a:solidFill>
                <a:latin typeface="Calibri" pitchFamily="34" charset="0"/>
                <a:ea typeface="Calibri" pitchFamily="34" charset="-122"/>
                <a:cs typeface="Calibri" pitchFamily="34" charset="-120"/>
              </a:rPr>
              <a:t>Write 2–3 sentences. You will come back to this at the end of the lesson.</a:t>
            </a:r>
            <a:endParaRPr lang="en-US" sz="1400" dirty="0"/>
          </a:p>
        </p:txBody>
      </p:sp>
      <p:sp>
        <p:nvSpPr>
          <p:cNvPr id="8" name="Shape 6"/>
          <p:cNvSpPr/>
          <p:nvPr/>
        </p:nvSpPr>
        <p:spPr>
          <a:xfrm>
            <a:off x="365760" y="2084832"/>
            <a:ext cx="8412480" cy="1024128"/>
          </a:xfrm>
          <a:prstGeom prst="rect">
            <a:avLst/>
          </a:prstGeom>
          <a:solidFill>
            <a:srgbClr val="EBF4FA"/>
          </a:solidFill>
          <a:ln w="12700">
            <a:solidFill>
              <a:srgbClr val="EBF4FA"/>
            </a:solidFill>
            <a:prstDash val="solid"/>
          </a:ln>
        </p:spPr>
      </p:sp>
      <p:sp>
        <p:nvSpPr>
          <p:cNvPr id="9" name="Text 7"/>
          <p:cNvSpPr/>
          <p:nvPr/>
        </p:nvSpPr>
        <p:spPr>
          <a:xfrm>
            <a:off x="457200" y="2139696"/>
            <a:ext cx="8229600" cy="914400"/>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My prediction:</a:t>
            </a:r>
            <a:endParaRPr lang="en-US" sz="1400" dirty="0"/>
          </a:p>
          <a:p>
            <a:pPr algn="l" indent="0" marL="0">
              <a:buNone/>
            </a:pP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_____________________________________________</a:t>
            </a:r>
            <a:endParaRPr lang="en-US" sz="1400" dirty="0"/>
          </a:p>
          <a:p>
            <a:pPr algn="l" indent="0" marL="0">
              <a:buNone/>
            </a:pP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_____________________________________________</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6C90E"/>
          </a:solidFill>
          <a:ln w="12700">
            <a:solidFill>
              <a:srgbClr val="F6C90E"/>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Fair Test Words</a:t>
            </a:r>
            <a:endParaRPr lang="en-US" sz="2800" dirty="0"/>
          </a:p>
        </p:txBody>
      </p:sp>
      <p:sp>
        <p:nvSpPr>
          <p:cNvPr id="5" name="Shape 3"/>
          <p:cNvSpPr/>
          <p:nvPr/>
        </p:nvSpPr>
        <p:spPr>
          <a:xfrm>
            <a:off x="365760" y="822960"/>
            <a:ext cx="4114800" cy="1417320"/>
          </a:xfrm>
          <a:prstGeom prst="rect">
            <a:avLst/>
          </a:prstGeom>
          <a:solidFill>
            <a:srgbClr val="2C4A6E"/>
          </a:solidFill>
          <a:ln w="12700">
            <a:solidFill>
              <a:srgbClr val="2C4A6E"/>
            </a:solidFill>
            <a:prstDash val="solid"/>
          </a:ln>
        </p:spPr>
      </p:sp>
      <p:sp>
        <p:nvSpPr>
          <p:cNvPr id="6" name="Text 4"/>
          <p:cNvSpPr/>
          <p:nvPr/>
        </p:nvSpPr>
        <p:spPr>
          <a:xfrm>
            <a:off x="45720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VARIABLE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The ONE thing you change in your test. Here: temperature of the water.</a:t>
            </a:r>
            <a:endParaRPr lang="en-US" sz="1500" dirty="0"/>
          </a:p>
        </p:txBody>
      </p:sp>
      <p:sp>
        <p:nvSpPr>
          <p:cNvPr id="7" name="Shape 5"/>
          <p:cNvSpPr/>
          <p:nvPr/>
        </p:nvSpPr>
        <p:spPr>
          <a:xfrm>
            <a:off x="4663440" y="822960"/>
            <a:ext cx="4114800" cy="1417320"/>
          </a:xfrm>
          <a:prstGeom prst="rect">
            <a:avLst/>
          </a:prstGeom>
          <a:solidFill>
            <a:srgbClr val="2C4A6E"/>
          </a:solidFill>
          <a:ln w="12700">
            <a:solidFill>
              <a:srgbClr val="2C4A6E"/>
            </a:solidFill>
            <a:prstDash val="solid"/>
          </a:ln>
        </p:spPr>
      </p:sp>
      <p:sp>
        <p:nvSpPr>
          <p:cNvPr id="8" name="Text 6"/>
          <p:cNvSpPr/>
          <p:nvPr/>
        </p:nvSpPr>
        <p:spPr>
          <a:xfrm>
            <a:off x="475488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CONTROL</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Everything that STAYS THE SAME — cup size, water amount, salt amount, stirring technique.</a:t>
            </a:r>
            <a:endParaRPr lang="en-US" sz="1500" dirty="0"/>
          </a:p>
        </p:txBody>
      </p:sp>
      <p:sp>
        <p:nvSpPr>
          <p:cNvPr id="9" name="Shape 7"/>
          <p:cNvSpPr/>
          <p:nvPr/>
        </p:nvSpPr>
        <p:spPr>
          <a:xfrm>
            <a:off x="365760" y="2359152"/>
            <a:ext cx="4114800" cy="1417320"/>
          </a:xfrm>
          <a:prstGeom prst="rect">
            <a:avLst/>
          </a:prstGeom>
          <a:solidFill>
            <a:srgbClr val="2C4A6E"/>
          </a:solidFill>
          <a:ln w="12700">
            <a:solidFill>
              <a:srgbClr val="2C4A6E"/>
            </a:solidFill>
            <a:prstDash val="solid"/>
          </a:ln>
        </p:spPr>
      </p:sp>
      <p:sp>
        <p:nvSpPr>
          <p:cNvPr id="10" name="Text 8"/>
          <p:cNvSpPr/>
          <p:nvPr/>
        </p:nvSpPr>
        <p:spPr>
          <a:xfrm>
            <a:off x="457200" y="2414016"/>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REPEATED TRIALS</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Running the test more than once. More trials = more confidence in your results.</a:t>
            </a:r>
            <a:endParaRPr lang="en-US" sz="1500" dirty="0"/>
          </a:p>
        </p:txBody>
      </p:sp>
      <p:sp>
        <p:nvSpPr>
          <p:cNvPr id="11" name="Shape 9"/>
          <p:cNvSpPr/>
          <p:nvPr/>
        </p:nvSpPr>
        <p:spPr>
          <a:xfrm>
            <a:off x="4663440" y="2359152"/>
            <a:ext cx="4114800" cy="1417320"/>
          </a:xfrm>
          <a:prstGeom prst="rect">
            <a:avLst/>
          </a:prstGeom>
          <a:solidFill>
            <a:srgbClr val="2C4A6E"/>
          </a:solidFill>
          <a:ln w="12700">
            <a:solidFill>
              <a:srgbClr val="2C4A6E"/>
            </a:solidFill>
            <a:prstDash val="solid"/>
          </a:ln>
        </p:spPr>
      </p:sp>
      <p:sp>
        <p:nvSpPr>
          <p:cNvPr id="12" name="Text 10"/>
          <p:cNvSpPr/>
          <p:nvPr/>
        </p:nvSpPr>
        <p:spPr>
          <a:xfrm>
            <a:off x="4754880" y="2414016"/>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RATE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How fast something happens. Dissolving RATE = how quickly the salt disappears.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6C90E"/>
          </a:solidFill>
          <a:ln w="12700">
            <a:solidFill>
              <a:srgbClr val="F6C90E"/>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More Investigation Words</a:t>
            </a:r>
            <a:endParaRPr lang="en-US" sz="2800" dirty="0"/>
          </a:p>
        </p:txBody>
      </p:sp>
      <p:sp>
        <p:nvSpPr>
          <p:cNvPr id="5" name="Shape 3"/>
          <p:cNvSpPr/>
          <p:nvPr/>
        </p:nvSpPr>
        <p:spPr>
          <a:xfrm>
            <a:off x="365760" y="822960"/>
            <a:ext cx="4114800" cy="1417320"/>
          </a:xfrm>
          <a:prstGeom prst="rect">
            <a:avLst/>
          </a:prstGeom>
          <a:solidFill>
            <a:srgbClr val="2C4A6E"/>
          </a:solidFill>
          <a:ln w="12700">
            <a:solidFill>
              <a:srgbClr val="2C4A6E"/>
            </a:solidFill>
            <a:prstDash val="solid"/>
          </a:ln>
        </p:spPr>
      </p:sp>
      <p:sp>
        <p:nvSpPr>
          <p:cNvPr id="6" name="Text 4"/>
          <p:cNvSpPr/>
          <p:nvPr/>
        </p:nvSpPr>
        <p:spPr>
          <a:xfrm>
            <a:off x="45720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DISSOLVE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Review: particles break apart and spread evenly. Salt disappears → dissolved.</a:t>
            </a:r>
            <a:endParaRPr lang="en-US" sz="1500" dirty="0"/>
          </a:p>
        </p:txBody>
      </p:sp>
      <p:sp>
        <p:nvSpPr>
          <p:cNvPr id="7" name="Shape 5"/>
          <p:cNvSpPr/>
          <p:nvPr/>
        </p:nvSpPr>
        <p:spPr>
          <a:xfrm>
            <a:off x="4663440" y="822960"/>
            <a:ext cx="4114800" cy="1417320"/>
          </a:xfrm>
          <a:prstGeom prst="rect">
            <a:avLst/>
          </a:prstGeom>
          <a:solidFill>
            <a:srgbClr val="2C4A6E"/>
          </a:solidFill>
          <a:ln w="12700">
            <a:solidFill>
              <a:srgbClr val="2C4A6E"/>
            </a:solidFill>
            <a:prstDash val="solid"/>
          </a:ln>
        </p:spPr>
      </p:sp>
      <p:sp>
        <p:nvSpPr>
          <p:cNvPr id="8" name="Text 6"/>
          <p:cNvSpPr/>
          <p:nvPr/>
        </p:nvSpPr>
        <p:spPr>
          <a:xfrm>
            <a:off x="4754880" y="877824"/>
            <a:ext cx="393192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SOLUTION</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Review: a mixture where one substance has fully dissolved. Looks clear and uniform.</a:t>
            </a:r>
            <a:endParaRPr lang="en-US" sz="1500" dirty="0"/>
          </a:p>
        </p:txBody>
      </p:sp>
      <p:sp>
        <p:nvSpPr>
          <p:cNvPr id="9" name="Shape 7"/>
          <p:cNvSpPr/>
          <p:nvPr/>
        </p:nvSpPr>
        <p:spPr>
          <a:xfrm>
            <a:off x="365760" y="2359152"/>
            <a:ext cx="8412480" cy="1417320"/>
          </a:xfrm>
          <a:prstGeom prst="rect">
            <a:avLst/>
          </a:prstGeom>
          <a:solidFill>
            <a:srgbClr val="1A3A5C"/>
          </a:solidFill>
          <a:ln w="12700">
            <a:solidFill>
              <a:srgbClr val="1A3A5C"/>
            </a:solidFill>
            <a:prstDash val="solid"/>
          </a:ln>
        </p:spPr>
      </p:sp>
      <p:sp>
        <p:nvSpPr>
          <p:cNvPr id="10" name="Text 8"/>
          <p:cNvSpPr/>
          <p:nvPr/>
        </p:nvSpPr>
        <p:spPr>
          <a:xfrm>
            <a:off x="457200" y="2414016"/>
            <a:ext cx="8229600" cy="130759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FAIR TEST RULE:</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Change ONLY ONE variable. Everything else is a control.</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If you change two things at once, you cannot know WHICH one caused the difference.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1A3A5C"/>
          </a:solidFill>
          <a:ln w="12700">
            <a:solidFill>
              <a:srgbClr val="1A3A5C"/>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Why Does Temperature Speed Up Dissolving?</a:t>
            </a:r>
            <a:endParaRPr lang="en-US" sz="2600" dirty="0"/>
          </a:p>
        </p:txBody>
      </p:sp>
      <p:sp>
        <p:nvSpPr>
          <p:cNvPr id="5" name="Text 3"/>
          <p:cNvSpPr/>
          <p:nvPr/>
        </p:nvSpPr>
        <p:spPr>
          <a:xfrm>
            <a:off x="365760" y="749808"/>
            <a:ext cx="8412480" cy="59436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Warm water has faster-moving particles. They bump into the salt particles more frequently and with more force — breaking them apart faster.</a:t>
            </a:r>
            <a:endParaRPr lang="en-US" sz="1500" dirty="0"/>
          </a:p>
        </p:txBody>
      </p:sp>
      <p:sp>
        <p:nvSpPr>
          <p:cNvPr id="6" name="Shape 4"/>
          <p:cNvSpPr/>
          <p:nvPr/>
        </p:nvSpPr>
        <p:spPr>
          <a:xfrm>
            <a:off x="365760" y="1417320"/>
            <a:ext cx="4114800" cy="1600200"/>
          </a:xfrm>
          <a:prstGeom prst="rect">
            <a:avLst/>
          </a:prstGeom>
          <a:solidFill>
            <a:srgbClr val="0A5C5A"/>
          </a:solidFill>
          <a:ln w="12700">
            <a:solidFill>
              <a:srgbClr val="0A5C5A"/>
            </a:solidFill>
            <a:prstDash val="solid"/>
          </a:ln>
        </p:spPr>
      </p:sp>
      <p:sp>
        <p:nvSpPr>
          <p:cNvPr id="7" name="Text 5"/>
          <p:cNvSpPr/>
          <p:nvPr/>
        </p:nvSpPr>
        <p:spPr>
          <a:xfrm>
            <a:off x="457200" y="1472184"/>
            <a:ext cx="3931920" cy="149047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COLD WATER</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Particles move SLOWLY</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Fewer collisions per second</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Salt dissolves SLOWLY</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More time needed</a:t>
            </a:r>
            <a:endParaRPr lang="en-US" sz="1400" dirty="0"/>
          </a:p>
        </p:txBody>
      </p:sp>
      <p:sp>
        <p:nvSpPr>
          <p:cNvPr id="8" name="Shape 6"/>
          <p:cNvSpPr/>
          <p:nvPr/>
        </p:nvSpPr>
        <p:spPr>
          <a:xfrm>
            <a:off x="4663440" y="1417320"/>
            <a:ext cx="4114800" cy="1600200"/>
          </a:xfrm>
          <a:prstGeom prst="rect">
            <a:avLst/>
          </a:prstGeom>
          <a:solidFill>
            <a:srgbClr val="0A5C5A"/>
          </a:solidFill>
          <a:ln w="12700">
            <a:solidFill>
              <a:srgbClr val="0A5C5A"/>
            </a:solidFill>
            <a:prstDash val="solid"/>
          </a:ln>
        </p:spPr>
      </p:sp>
      <p:sp>
        <p:nvSpPr>
          <p:cNvPr id="9" name="Text 7"/>
          <p:cNvSpPr/>
          <p:nvPr/>
        </p:nvSpPr>
        <p:spPr>
          <a:xfrm>
            <a:off x="4754880" y="1472184"/>
            <a:ext cx="3931920" cy="149047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WARM WATER</a:t>
            </a:r>
            <a:endParaRPr lang="en-US" sz="1400" dirty="0"/>
          </a:p>
          <a:p>
            <a:pPr algn="l" indent="0" marL="0">
              <a:buNone/>
            </a:pP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Particles move QUICKLY</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More collisions per second</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Salt dissolves FASTER</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Less time needed</a:t>
            </a:r>
            <a:endParaRPr lang="en-US" sz="1400" dirty="0"/>
          </a:p>
        </p:txBody>
      </p:sp>
      <p:sp>
        <p:nvSpPr>
          <p:cNvPr id="10" name="Shape 8"/>
          <p:cNvSpPr/>
          <p:nvPr/>
        </p:nvSpPr>
        <p:spPr>
          <a:xfrm>
            <a:off x="365760" y="3127248"/>
            <a:ext cx="8412480" cy="566928"/>
          </a:xfrm>
          <a:prstGeom prst="rect">
            <a:avLst/>
          </a:prstGeom>
          <a:solidFill>
            <a:srgbClr val="1A3A5C"/>
          </a:solidFill>
          <a:ln w="12700">
            <a:solidFill>
              <a:srgbClr val="1A3A5C"/>
            </a:solidFill>
            <a:prstDash val="solid"/>
          </a:ln>
        </p:spPr>
      </p:sp>
      <p:sp>
        <p:nvSpPr>
          <p:cNvPr id="11" name="Text 9"/>
          <p:cNvSpPr/>
          <p:nvPr/>
        </p:nvSpPr>
        <p:spPr>
          <a:xfrm>
            <a:off x="457200" y="3182112"/>
            <a:ext cx="822960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Variable: Temperature   |   Controls: same cup, same water amount (½ cup), same salt (1 tsp), same stirring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517904" cy="274320"/>
          </a:xfrm>
          <a:prstGeom prst="rect">
            <a:avLst/>
          </a:prstGeom>
          <a:solidFill>
            <a:srgbClr val="2E86AB"/>
          </a:solidFill>
          <a:ln w="12700">
            <a:solidFill>
              <a:srgbClr val="2E86AB"/>
            </a:solidFill>
            <a:prstDash val="solid"/>
          </a:ln>
        </p:spPr>
      </p:sp>
      <p:sp>
        <p:nvSpPr>
          <p:cNvPr id="3" name="Text 1"/>
          <p:cNvSpPr/>
          <p:nvPr/>
        </p:nvSpPr>
        <p:spPr>
          <a:xfrm>
            <a:off x="365760" y="109728"/>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FAIR TEST DESIGN</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One Variable — Many Controls</a:t>
            </a:r>
            <a:endParaRPr lang="en-US" sz="2600" dirty="0"/>
          </a:p>
        </p:txBody>
      </p:sp>
      <p:sp>
        <p:nvSpPr>
          <p:cNvPr id="5" name="Text 3"/>
          <p:cNvSpPr/>
          <p:nvPr/>
        </p:nvSpPr>
        <p:spPr>
          <a:xfrm>
            <a:off x="365760" y="749808"/>
            <a:ext cx="8412480" cy="502920"/>
          </a:xfrm>
          <a:prstGeom prst="rect">
            <a:avLst/>
          </a:prstGeom>
          <a:noFill/>
          <a:ln/>
        </p:spPr>
        <p:txBody>
          <a:bodyPr wrap="square" lIns="0" tIns="0" rIns="0" bIns="0" rtlCol="0" anchor="ctr"/>
          <a:lstStyle/>
          <a:p>
            <a:pPr indent="0" marL="0">
              <a:buNone/>
            </a:pPr>
            <a:r>
              <a:rPr lang="en-US" sz="1500" dirty="0">
                <a:solidFill>
                  <a:srgbClr val="2C4A6E"/>
                </a:solidFill>
                <a:latin typeface="Calibri" pitchFamily="34" charset="0"/>
                <a:ea typeface="Calibri" pitchFamily="34" charset="-122"/>
                <a:cs typeface="Calibri" pitchFamily="34" charset="-120"/>
              </a:rPr>
              <a:t>A fair test changes ONLY ONE thing. That way, any difference in results must be caused by that one change.</a:t>
            </a:r>
            <a:endParaRPr lang="en-US" sz="1500" dirty="0"/>
          </a:p>
        </p:txBody>
      </p:sp>
      <p:sp>
        <p:nvSpPr>
          <p:cNvPr id="6" name="Shape 4"/>
          <p:cNvSpPr/>
          <p:nvPr/>
        </p:nvSpPr>
        <p:spPr>
          <a:xfrm>
            <a:off x="365760" y="1325880"/>
            <a:ext cx="4114800" cy="2331720"/>
          </a:xfrm>
          <a:prstGeom prst="rect">
            <a:avLst/>
          </a:prstGeom>
          <a:solidFill>
            <a:srgbClr val="FFFFFF"/>
          </a:solidFill>
          <a:ln w="12700">
            <a:solidFill>
              <a:srgbClr val="FFFFFF"/>
            </a:solidFill>
            <a:prstDash val="solid"/>
          </a:ln>
        </p:spPr>
      </p:sp>
      <p:sp>
        <p:nvSpPr>
          <p:cNvPr id="7" name="Text 5"/>
          <p:cNvSpPr/>
          <p:nvPr/>
        </p:nvSpPr>
        <p:spPr>
          <a:xfrm>
            <a:off x="457200" y="1380744"/>
            <a:ext cx="3931920" cy="222199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THE VARIABLE</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(what CHANGES)</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Temperature of water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 Cup 1: cold tap water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 Cup 2: warm tap water</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This is the ONLY difference between the two cups.</a:t>
            </a:r>
            <a:endParaRPr lang="en-US" sz="1300" dirty="0"/>
          </a:p>
        </p:txBody>
      </p:sp>
      <p:sp>
        <p:nvSpPr>
          <p:cNvPr id="8" name="Shape 6"/>
          <p:cNvSpPr/>
          <p:nvPr/>
        </p:nvSpPr>
        <p:spPr>
          <a:xfrm>
            <a:off x="4663440" y="1325880"/>
            <a:ext cx="4114800" cy="2331720"/>
          </a:xfrm>
          <a:prstGeom prst="rect">
            <a:avLst/>
          </a:prstGeom>
          <a:solidFill>
            <a:srgbClr val="FFFFFF"/>
          </a:solidFill>
          <a:ln w="12700">
            <a:solidFill>
              <a:srgbClr val="FFFFFF"/>
            </a:solidFill>
            <a:prstDash val="solid"/>
          </a:ln>
        </p:spPr>
      </p:sp>
      <p:sp>
        <p:nvSpPr>
          <p:cNvPr id="9" name="Text 7"/>
          <p:cNvSpPr/>
          <p:nvPr/>
        </p:nvSpPr>
        <p:spPr>
          <a:xfrm>
            <a:off x="4754880" y="1380744"/>
            <a:ext cx="3931920" cy="222199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THE CONTROLS</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(what STAYS THE SAME)</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Same cup size</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Same water amount (½ cup)</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Same salt amount (1 tsp)</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Same stirring: gentle, same speed</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 Same starting point: timer starts at same moment</a:t>
            </a:r>
            <a:endParaRPr lang="en-US" sz="1300" dirty="0"/>
          </a:p>
        </p:txBody>
      </p:sp>
      <p:sp>
        <p:nvSpPr>
          <p:cNvPr id="10" name="Text 8"/>
          <p:cNvSpPr/>
          <p:nvPr/>
        </p:nvSpPr>
        <p:spPr>
          <a:xfrm>
            <a:off x="365760" y="3767328"/>
            <a:ext cx="8412480" cy="411480"/>
          </a:xfrm>
          <a:prstGeom prst="rect">
            <a:avLst/>
          </a:prstGeom>
          <a:noFill/>
          <a:ln/>
        </p:spPr>
        <p:txBody>
          <a:bodyPr wrap="square" lIns="0" tIns="0" rIns="0" bIns="0" rtlCol="0" anchor="ctr"/>
          <a:lstStyle/>
          <a:p>
            <a:pPr indent="0" marL="0">
              <a:buNone/>
            </a:pPr>
            <a:r>
              <a:rPr lang="en-US" sz="1300" i="1" dirty="0">
                <a:solidFill>
                  <a:srgbClr val="2C4A6E"/>
                </a:solidFill>
                <a:latin typeface="Calibri" pitchFamily="34" charset="0"/>
                <a:ea typeface="Calibri" pitchFamily="34" charset="-122"/>
                <a:cs typeface="Calibri" pitchFamily="34" charset="-120"/>
              </a:rPr>
              <a:t>If you change two things at once — like temperature AND amount of salt — you cannot know which one made the difference.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673352" cy="274320"/>
          </a:xfrm>
          <a:prstGeom prst="rect">
            <a:avLst/>
          </a:prstGeom>
          <a:solidFill>
            <a:srgbClr val="2E86AB"/>
          </a:solidFill>
          <a:ln w="12700">
            <a:solidFill>
              <a:srgbClr val="2E86AB"/>
            </a:solidFill>
            <a:prstDash val="solid"/>
          </a:ln>
        </p:spPr>
      </p:sp>
      <p:sp>
        <p:nvSpPr>
          <p:cNvPr id="3" name="Text 1"/>
          <p:cNvSpPr/>
          <p:nvPr/>
        </p:nvSpPr>
        <p:spPr>
          <a:xfrm>
            <a:off x="365760" y="10972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TEST SETUP DIAGRAM</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400" b="1" dirty="0">
                <a:solidFill>
                  <a:srgbClr val="1A1A2E"/>
                </a:solidFill>
                <a:latin typeface="Cambria" pitchFamily="34" charset="0"/>
                <a:ea typeface="Cambria" pitchFamily="34" charset="-122"/>
                <a:cs typeface="Cambria" pitchFamily="34" charset="-120"/>
              </a:rPr>
              <a:t>Two Cups — Same Everything Except Temperature</a:t>
            </a:r>
            <a:endParaRPr lang="en-US" sz="2400" dirty="0"/>
          </a:p>
        </p:txBody>
      </p:sp>
      <p:sp>
        <p:nvSpPr>
          <p:cNvPr id="5" name="Shape 3"/>
          <p:cNvSpPr/>
          <p:nvPr/>
        </p:nvSpPr>
        <p:spPr>
          <a:xfrm>
            <a:off x="457200" y="804672"/>
            <a:ext cx="3657600" cy="2971800"/>
          </a:xfrm>
          <a:prstGeom prst="rect">
            <a:avLst/>
          </a:prstGeom>
          <a:solidFill>
            <a:srgbClr val="FFFFFF"/>
          </a:solidFill>
          <a:ln w="12700">
            <a:solidFill>
              <a:srgbClr val="2E86AB"/>
            </a:solidFill>
            <a:prstDash val="solid"/>
          </a:ln>
        </p:spPr>
      </p:sp>
      <p:sp>
        <p:nvSpPr>
          <p:cNvPr id="6" name="Shape 4"/>
          <p:cNvSpPr/>
          <p:nvPr/>
        </p:nvSpPr>
        <p:spPr>
          <a:xfrm>
            <a:off x="548640" y="859536"/>
            <a:ext cx="3474720" cy="402336"/>
          </a:xfrm>
          <a:prstGeom prst="rect">
            <a:avLst/>
          </a:prstGeom>
          <a:solidFill>
            <a:srgbClr val="2E86AB"/>
          </a:solidFill>
          <a:ln w="12700">
            <a:solidFill>
              <a:srgbClr val="2E86AB"/>
            </a:solidFill>
            <a:prstDash val="solid"/>
          </a:ln>
        </p:spPr>
      </p:sp>
      <p:sp>
        <p:nvSpPr>
          <p:cNvPr id="7" name="Text 5"/>
          <p:cNvSpPr/>
          <p:nvPr/>
        </p:nvSpPr>
        <p:spPr>
          <a:xfrm>
            <a:off x="640080" y="914400"/>
            <a:ext cx="3291840" cy="29260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CUP 1: COLD WATER</a:t>
            </a:r>
            <a:endParaRPr lang="en-US" sz="1200" dirty="0"/>
          </a:p>
        </p:txBody>
      </p:sp>
      <p:sp>
        <p:nvSpPr>
          <p:cNvPr id="8" name="Text 6"/>
          <p:cNvSpPr/>
          <p:nvPr/>
        </p:nvSpPr>
        <p:spPr>
          <a:xfrm>
            <a:off x="640080" y="1353312"/>
            <a:ext cx="3291840" cy="731520"/>
          </a:xfrm>
          <a:prstGeom prst="rect">
            <a:avLst/>
          </a:prstGeom>
          <a:noFill/>
          <a:ln/>
        </p:spPr>
        <p:txBody>
          <a:bodyPr wrap="square" lIns="0" tIns="0" rIns="0" bIns="0" rtlCol="0" anchor="ctr"/>
          <a:lstStyle/>
          <a:p>
            <a:pPr indent="0" marL="0">
              <a:buNone/>
            </a:pPr>
            <a:r>
              <a:rPr lang="en-US" sz="1300" dirty="0">
                <a:solidFill>
                  <a:srgbClr val="2C4A6E"/>
                </a:solidFill>
                <a:latin typeface="Calibri" pitchFamily="34" charset="0"/>
                <a:ea typeface="Calibri" pitchFamily="34" charset="-122"/>
                <a:cs typeface="Calibri" pitchFamily="34" charset="-120"/>
              </a:rPr>
              <a:t>½ cup cold tap water</a:t>
            </a:r>
            <a:endParaRPr lang="en-US" sz="1300" dirty="0"/>
          </a:p>
          <a:p>
            <a:pPr indent="0" marL="0">
              <a:buNone/>
            </a:pPr>
            <a:r>
              <a:rPr lang="en-US" sz="1300" dirty="0">
                <a:solidFill>
                  <a:srgbClr val="2C4A6E"/>
                </a:solidFill>
                <a:latin typeface="Calibri" pitchFamily="34" charset="0"/>
                <a:ea typeface="Calibri" pitchFamily="34" charset="-122"/>
                <a:cs typeface="Calibri" pitchFamily="34" charset="-120"/>
              </a:rPr>
              <a:t>1 tsp salt</a:t>
            </a:r>
            <a:endParaRPr lang="en-US" sz="1300" dirty="0"/>
          </a:p>
          <a:p>
            <a:pPr indent="0" marL="0">
              <a:buNone/>
            </a:pPr>
            <a:r>
              <a:rPr lang="en-US" sz="1300" dirty="0">
                <a:solidFill>
                  <a:srgbClr val="2C4A6E"/>
                </a:solidFill>
                <a:latin typeface="Calibri" pitchFamily="34" charset="0"/>
                <a:ea typeface="Calibri" pitchFamily="34" charset="-122"/>
                <a:cs typeface="Calibri" pitchFamily="34" charset="-120"/>
              </a:rPr>
              <a:t>Same cup, same stir</a:t>
            </a:r>
            <a:endParaRPr lang="en-US" sz="1300" dirty="0"/>
          </a:p>
        </p:txBody>
      </p:sp>
      <p:sp>
        <p:nvSpPr>
          <p:cNvPr id="9" name="Shape 7"/>
          <p:cNvSpPr/>
          <p:nvPr/>
        </p:nvSpPr>
        <p:spPr>
          <a:xfrm>
            <a:off x="822960" y="2194560"/>
            <a:ext cx="146304" cy="146304"/>
          </a:xfrm>
          <a:prstGeom prst="rect">
            <a:avLst/>
          </a:prstGeom>
          <a:solidFill>
            <a:srgbClr val="2E86AB"/>
          </a:solidFill>
          <a:ln w="12700">
            <a:solidFill>
              <a:srgbClr val="2E86AB"/>
            </a:solidFill>
            <a:prstDash val="solid"/>
          </a:ln>
        </p:spPr>
      </p:sp>
      <p:sp>
        <p:nvSpPr>
          <p:cNvPr id="10" name="Shape 8"/>
          <p:cNvSpPr/>
          <p:nvPr/>
        </p:nvSpPr>
        <p:spPr>
          <a:xfrm>
            <a:off x="2011680" y="2560320"/>
            <a:ext cx="146304" cy="146304"/>
          </a:xfrm>
          <a:prstGeom prst="rect">
            <a:avLst/>
          </a:prstGeom>
          <a:solidFill>
            <a:srgbClr val="2E86AB"/>
          </a:solidFill>
          <a:ln w="12700">
            <a:solidFill>
              <a:srgbClr val="2E86AB"/>
            </a:solidFill>
            <a:prstDash val="solid"/>
          </a:ln>
        </p:spPr>
      </p:sp>
      <p:sp>
        <p:nvSpPr>
          <p:cNvPr id="11" name="Shape 9"/>
          <p:cNvSpPr/>
          <p:nvPr/>
        </p:nvSpPr>
        <p:spPr>
          <a:xfrm>
            <a:off x="3200400" y="2286000"/>
            <a:ext cx="146304" cy="146304"/>
          </a:xfrm>
          <a:prstGeom prst="rect">
            <a:avLst/>
          </a:prstGeom>
          <a:solidFill>
            <a:srgbClr val="2E86AB"/>
          </a:solidFill>
          <a:ln w="12700">
            <a:solidFill>
              <a:srgbClr val="2E86AB"/>
            </a:solidFill>
            <a:prstDash val="solid"/>
          </a:ln>
        </p:spPr>
      </p:sp>
      <p:sp>
        <p:nvSpPr>
          <p:cNvPr id="12" name="Text 10"/>
          <p:cNvSpPr/>
          <p:nvPr/>
        </p:nvSpPr>
        <p:spPr>
          <a:xfrm>
            <a:off x="548640" y="3218688"/>
            <a:ext cx="3474720" cy="411480"/>
          </a:xfrm>
          <a:prstGeom prst="rect">
            <a:avLst/>
          </a:prstGeom>
          <a:noFill/>
          <a:ln/>
        </p:spPr>
        <p:txBody>
          <a:bodyPr wrap="square" lIns="0" tIns="0" rIns="0" bIns="0" rtlCol="0" anchor="ctr"/>
          <a:lstStyle/>
          <a:p>
            <a:pPr indent="0" marL="0">
              <a:buNone/>
            </a:pPr>
            <a:r>
              <a:rPr lang="en-US" sz="1200" b="1" dirty="0">
                <a:solidFill>
                  <a:srgbClr val="2E86AB"/>
                </a:solidFill>
                <a:latin typeface="Calibri" pitchFamily="34" charset="0"/>
                <a:ea typeface="Calibri" pitchFamily="34" charset="-122"/>
                <a:cs typeface="Calibri" pitchFamily="34" charset="-120"/>
              </a:rPr>
              <a:t>🐢 Slow particles → slow dissolving</a:t>
            </a:r>
            <a:endParaRPr lang="en-US" sz="1200" dirty="0"/>
          </a:p>
        </p:txBody>
      </p:sp>
      <p:sp>
        <p:nvSpPr>
          <p:cNvPr id="13" name="Shape 11"/>
          <p:cNvSpPr/>
          <p:nvPr/>
        </p:nvSpPr>
        <p:spPr>
          <a:xfrm>
            <a:off x="5029200" y="804672"/>
            <a:ext cx="3657600" cy="2971800"/>
          </a:xfrm>
          <a:prstGeom prst="rect">
            <a:avLst/>
          </a:prstGeom>
          <a:solidFill>
            <a:srgbClr val="FFFFFF"/>
          </a:solidFill>
          <a:ln w="12700">
            <a:solidFill>
              <a:srgbClr val="F07D35"/>
            </a:solidFill>
            <a:prstDash val="solid"/>
          </a:ln>
        </p:spPr>
      </p:sp>
      <p:sp>
        <p:nvSpPr>
          <p:cNvPr id="14" name="Shape 12"/>
          <p:cNvSpPr/>
          <p:nvPr/>
        </p:nvSpPr>
        <p:spPr>
          <a:xfrm>
            <a:off x="5120640" y="859536"/>
            <a:ext cx="3474720" cy="402336"/>
          </a:xfrm>
          <a:prstGeom prst="rect">
            <a:avLst/>
          </a:prstGeom>
          <a:solidFill>
            <a:srgbClr val="F07D35"/>
          </a:solidFill>
          <a:ln w="12700">
            <a:solidFill>
              <a:srgbClr val="F07D35"/>
            </a:solidFill>
            <a:prstDash val="solid"/>
          </a:ln>
        </p:spPr>
      </p:sp>
      <p:sp>
        <p:nvSpPr>
          <p:cNvPr id="15" name="Text 13"/>
          <p:cNvSpPr/>
          <p:nvPr/>
        </p:nvSpPr>
        <p:spPr>
          <a:xfrm>
            <a:off x="5212080" y="914400"/>
            <a:ext cx="3291840" cy="29260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CUP 2: WARM WATER</a:t>
            </a:r>
            <a:endParaRPr lang="en-US" sz="1200" dirty="0"/>
          </a:p>
        </p:txBody>
      </p:sp>
      <p:sp>
        <p:nvSpPr>
          <p:cNvPr id="16" name="Text 14"/>
          <p:cNvSpPr/>
          <p:nvPr/>
        </p:nvSpPr>
        <p:spPr>
          <a:xfrm>
            <a:off x="5212080" y="1353312"/>
            <a:ext cx="3291840" cy="731520"/>
          </a:xfrm>
          <a:prstGeom prst="rect">
            <a:avLst/>
          </a:prstGeom>
          <a:noFill/>
          <a:ln/>
        </p:spPr>
        <p:txBody>
          <a:bodyPr wrap="square" lIns="0" tIns="0" rIns="0" bIns="0" rtlCol="0" anchor="ctr"/>
          <a:lstStyle/>
          <a:p>
            <a:pPr indent="0" marL="0">
              <a:buNone/>
            </a:pPr>
            <a:r>
              <a:rPr lang="en-US" sz="1300" dirty="0">
                <a:solidFill>
                  <a:srgbClr val="2C4A6E"/>
                </a:solidFill>
                <a:latin typeface="Calibri" pitchFamily="34" charset="0"/>
                <a:ea typeface="Calibri" pitchFamily="34" charset="-122"/>
                <a:cs typeface="Calibri" pitchFamily="34" charset="-120"/>
              </a:rPr>
              <a:t>½ cup warm tap water</a:t>
            </a:r>
            <a:endParaRPr lang="en-US" sz="1300" dirty="0"/>
          </a:p>
          <a:p>
            <a:pPr indent="0" marL="0">
              <a:buNone/>
            </a:pPr>
            <a:r>
              <a:rPr lang="en-US" sz="1300" dirty="0">
                <a:solidFill>
                  <a:srgbClr val="2C4A6E"/>
                </a:solidFill>
                <a:latin typeface="Calibri" pitchFamily="34" charset="0"/>
                <a:ea typeface="Calibri" pitchFamily="34" charset="-122"/>
                <a:cs typeface="Calibri" pitchFamily="34" charset="-120"/>
              </a:rPr>
              <a:t>1 tsp salt</a:t>
            </a:r>
            <a:endParaRPr lang="en-US" sz="1300" dirty="0"/>
          </a:p>
          <a:p>
            <a:pPr indent="0" marL="0">
              <a:buNone/>
            </a:pPr>
            <a:r>
              <a:rPr lang="en-US" sz="1300" dirty="0">
                <a:solidFill>
                  <a:srgbClr val="2C4A6E"/>
                </a:solidFill>
                <a:latin typeface="Calibri" pitchFamily="34" charset="0"/>
                <a:ea typeface="Calibri" pitchFamily="34" charset="-122"/>
                <a:cs typeface="Calibri" pitchFamily="34" charset="-120"/>
              </a:rPr>
              <a:t>Same cup, same stir</a:t>
            </a:r>
            <a:endParaRPr lang="en-US" sz="1300" dirty="0"/>
          </a:p>
        </p:txBody>
      </p:sp>
      <p:sp>
        <p:nvSpPr>
          <p:cNvPr id="17" name="Shape 15"/>
          <p:cNvSpPr/>
          <p:nvPr/>
        </p:nvSpPr>
        <p:spPr>
          <a:xfrm>
            <a:off x="5394960" y="2103120"/>
            <a:ext cx="146304" cy="146304"/>
          </a:xfrm>
          <a:prstGeom prst="rect">
            <a:avLst/>
          </a:prstGeom>
          <a:solidFill>
            <a:srgbClr val="F07D35"/>
          </a:solidFill>
          <a:ln w="12700">
            <a:solidFill>
              <a:srgbClr val="F07D35"/>
            </a:solidFill>
            <a:prstDash val="solid"/>
          </a:ln>
        </p:spPr>
      </p:sp>
      <p:sp>
        <p:nvSpPr>
          <p:cNvPr id="18" name="Shape 16"/>
          <p:cNvSpPr/>
          <p:nvPr/>
        </p:nvSpPr>
        <p:spPr>
          <a:xfrm>
            <a:off x="5943600" y="2468880"/>
            <a:ext cx="146304" cy="146304"/>
          </a:xfrm>
          <a:prstGeom prst="rect">
            <a:avLst/>
          </a:prstGeom>
          <a:solidFill>
            <a:srgbClr val="F07D35"/>
          </a:solidFill>
          <a:ln w="12700">
            <a:solidFill>
              <a:srgbClr val="F07D35"/>
            </a:solidFill>
            <a:prstDash val="solid"/>
          </a:ln>
        </p:spPr>
      </p:sp>
      <p:sp>
        <p:nvSpPr>
          <p:cNvPr id="19" name="Shape 17"/>
          <p:cNvSpPr/>
          <p:nvPr/>
        </p:nvSpPr>
        <p:spPr>
          <a:xfrm>
            <a:off x="6492240" y="2194560"/>
            <a:ext cx="146304" cy="146304"/>
          </a:xfrm>
          <a:prstGeom prst="rect">
            <a:avLst/>
          </a:prstGeom>
          <a:solidFill>
            <a:srgbClr val="F07D35"/>
          </a:solidFill>
          <a:ln w="12700">
            <a:solidFill>
              <a:srgbClr val="F07D35"/>
            </a:solidFill>
            <a:prstDash val="solid"/>
          </a:ln>
        </p:spPr>
      </p:sp>
      <p:sp>
        <p:nvSpPr>
          <p:cNvPr id="20" name="Shape 18"/>
          <p:cNvSpPr/>
          <p:nvPr/>
        </p:nvSpPr>
        <p:spPr>
          <a:xfrm>
            <a:off x="7132320" y="2560320"/>
            <a:ext cx="146304" cy="146304"/>
          </a:xfrm>
          <a:prstGeom prst="rect">
            <a:avLst/>
          </a:prstGeom>
          <a:solidFill>
            <a:srgbClr val="F07D35"/>
          </a:solidFill>
          <a:ln w="12700">
            <a:solidFill>
              <a:srgbClr val="F07D35"/>
            </a:solidFill>
            <a:prstDash val="solid"/>
          </a:ln>
        </p:spPr>
      </p:sp>
      <p:sp>
        <p:nvSpPr>
          <p:cNvPr id="21" name="Shape 19"/>
          <p:cNvSpPr/>
          <p:nvPr/>
        </p:nvSpPr>
        <p:spPr>
          <a:xfrm>
            <a:off x="7772400" y="2103120"/>
            <a:ext cx="146304" cy="146304"/>
          </a:xfrm>
          <a:prstGeom prst="rect">
            <a:avLst/>
          </a:prstGeom>
          <a:solidFill>
            <a:srgbClr val="F07D35"/>
          </a:solidFill>
          <a:ln w="12700">
            <a:solidFill>
              <a:srgbClr val="F07D35"/>
            </a:solidFill>
            <a:prstDash val="solid"/>
          </a:ln>
        </p:spPr>
      </p:sp>
      <p:sp>
        <p:nvSpPr>
          <p:cNvPr id="22" name="Shape 20"/>
          <p:cNvSpPr/>
          <p:nvPr/>
        </p:nvSpPr>
        <p:spPr>
          <a:xfrm>
            <a:off x="5669280" y="2834640"/>
            <a:ext cx="146304" cy="146304"/>
          </a:xfrm>
          <a:prstGeom prst="rect">
            <a:avLst/>
          </a:prstGeom>
          <a:solidFill>
            <a:srgbClr val="F07D35"/>
          </a:solidFill>
          <a:ln w="12700">
            <a:solidFill>
              <a:srgbClr val="F07D35"/>
            </a:solidFill>
            <a:prstDash val="solid"/>
          </a:ln>
        </p:spPr>
      </p:sp>
      <p:sp>
        <p:nvSpPr>
          <p:cNvPr id="23" name="Shape 21"/>
          <p:cNvSpPr/>
          <p:nvPr/>
        </p:nvSpPr>
        <p:spPr>
          <a:xfrm>
            <a:off x="6858000" y="2926080"/>
            <a:ext cx="146304" cy="146304"/>
          </a:xfrm>
          <a:prstGeom prst="rect">
            <a:avLst/>
          </a:prstGeom>
          <a:solidFill>
            <a:srgbClr val="F07D35"/>
          </a:solidFill>
          <a:ln w="12700">
            <a:solidFill>
              <a:srgbClr val="F07D35"/>
            </a:solidFill>
            <a:prstDash val="solid"/>
          </a:ln>
        </p:spPr>
      </p:sp>
      <p:sp>
        <p:nvSpPr>
          <p:cNvPr id="24" name="Shape 22"/>
          <p:cNvSpPr/>
          <p:nvPr/>
        </p:nvSpPr>
        <p:spPr>
          <a:xfrm>
            <a:off x="7498080" y="2377440"/>
            <a:ext cx="146304" cy="146304"/>
          </a:xfrm>
          <a:prstGeom prst="rect">
            <a:avLst/>
          </a:prstGeom>
          <a:solidFill>
            <a:srgbClr val="F07D35"/>
          </a:solidFill>
          <a:ln w="12700">
            <a:solidFill>
              <a:srgbClr val="F07D35"/>
            </a:solidFill>
            <a:prstDash val="solid"/>
          </a:ln>
        </p:spPr>
      </p:sp>
      <p:sp>
        <p:nvSpPr>
          <p:cNvPr id="25" name="Text 23"/>
          <p:cNvSpPr/>
          <p:nvPr/>
        </p:nvSpPr>
        <p:spPr>
          <a:xfrm>
            <a:off x="5120640" y="3218688"/>
            <a:ext cx="3474720" cy="411480"/>
          </a:xfrm>
          <a:prstGeom prst="rect">
            <a:avLst/>
          </a:prstGeom>
          <a:noFill/>
          <a:ln/>
        </p:spPr>
        <p:txBody>
          <a:bodyPr wrap="square" lIns="0" tIns="0" rIns="0" bIns="0" rtlCol="0" anchor="ctr"/>
          <a:lstStyle/>
          <a:p>
            <a:pPr indent="0" marL="0">
              <a:buNone/>
            </a:pPr>
            <a:r>
              <a:rPr lang="en-US" sz="1200" b="1" dirty="0">
                <a:solidFill>
                  <a:srgbClr val="F07D35"/>
                </a:solidFill>
                <a:latin typeface="Calibri" pitchFamily="34" charset="0"/>
                <a:ea typeface="Calibri" pitchFamily="34" charset="-122"/>
                <a:cs typeface="Calibri" pitchFamily="34" charset="-120"/>
              </a:rPr>
              <a:t>🚀 Fast particles → fast dissolving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A7A4B"/>
          </a:solidFill>
          <a:ln w="12700">
            <a:solidFill>
              <a:srgbClr val="2A7A4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Run Your Fair Test — Step by Step</a:t>
            </a:r>
            <a:endParaRPr lang="en-US" sz="2800" dirty="0"/>
          </a:p>
        </p:txBody>
      </p:sp>
      <p:sp>
        <p:nvSpPr>
          <p:cNvPr id="5" name="Shape 3"/>
          <p:cNvSpPr/>
          <p:nvPr/>
        </p:nvSpPr>
        <p:spPr>
          <a:xfrm>
            <a:off x="365760" y="804672"/>
            <a:ext cx="8412480" cy="640080"/>
          </a:xfrm>
          <a:prstGeom prst="rect">
            <a:avLst/>
          </a:prstGeom>
          <a:solidFill>
            <a:srgbClr val="2C4A6E"/>
          </a:solidFill>
          <a:ln w="12700">
            <a:solidFill>
              <a:srgbClr val="2C4A6E"/>
            </a:solidFill>
            <a:prstDash val="solid"/>
          </a:ln>
        </p:spPr>
      </p:sp>
      <p:sp>
        <p:nvSpPr>
          <p:cNvPr id="6" name="Text 4"/>
          <p:cNvSpPr/>
          <p:nvPr/>
        </p:nvSpPr>
        <p:spPr>
          <a:xfrm>
            <a:off x="457200" y="859536"/>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1: Set up 2 identical cups. Fill each with ½ cup water — one cold tap, one warm tap. Do NOT use hot water.</a:t>
            </a:r>
            <a:endParaRPr lang="en-US" sz="1300" dirty="0"/>
          </a:p>
        </p:txBody>
      </p:sp>
      <p:sp>
        <p:nvSpPr>
          <p:cNvPr id="7" name="Shape 5"/>
          <p:cNvSpPr/>
          <p:nvPr/>
        </p:nvSpPr>
        <p:spPr>
          <a:xfrm>
            <a:off x="365760" y="1517904"/>
            <a:ext cx="8412480" cy="640080"/>
          </a:xfrm>
          <a:prstGeom prst="rect">
            <a:avLst/>
          </a:prstGeom>
          <a:solidFill>
            <a:srgbClr val="2C4A6E"/>
          </a:solidFill>
          <a:ln w="12700">
            <a:solidFill>
              <a:srgbClr val="2C4A6E"/>
            </a:solidFill>
            <a:prstDash val="solid"/>
          </a:ln>
        </p:spPr>
      </p:sp>
      <p:sp>
        <p:nvSpPr>
          <p:cNvPr id="8" name="Text 6"/>
          <p:cNvSpPr/>
          <p:nvPr/>
        </p:nvSpPr>
        <p:spPr>
          <a:xfrm>
            <a:off x="457200" y="1572768"/>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2: At the SAME moment, add 1 tsp salt to each cup. Start your timer immediately.</a:t>
            </a:r>
            <a:endParaRPr lang="en-US" sz="1300" dirty="0"/>
          </a:p>
        </p:txBody>
      </p:sp>
      <p:sp>
        <p:nvSpPr>
          <p:cNvPr id="9" name="Shape 7"/>
          <p:cNvSpPr/>
          <p:nvPr/>
        </p:nvSpPr>
        <p:spPr>
          <a:xfrm>
            <a:off x="365760" y="2231136"/>
            <a:ext cx="8412480" cy="640080"/>
          </a:xfrm>
          <a:prstGeom prst="rect">
            <a:avLst/>
          </a:prstGeom>
          <a:solidFill>
            <a:srgbClr val="2C4A6E"/>
          </a:solidFill>
          <a:ln w="12700">
            <a:solidFill>
              <a:srgbClr val="2C4A6E"/>
            </a:solidFill>
            <a:prstDash val="solid"/>
          </a:ln>
        </p:spPr>
      </p:sp>
      <p:sp>
        <p:nvSpPr>
          <p:cNvPr id="10" name="Text 8"/>
          <p:cNvSpPr/>
          <p:nvPr/>
        </p:nvSpPr>
        <p:spPr>
          <a:xfrm>
            <a:off x="457200" y="2286000"/>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3: Stir BOTH cups gently — same number of strokes, same speed. This is a control.</a:t>
            </a:r>
            <a:endParaRPr lang="en-US" sz="1300" dirty="0"/>
          </a:p>
        </p:txBody>
      </p:sp>
      <p:sp>
        <p:nvSpPr>
          <p:cNvPr id="11" name="Shape 9"/>
          <p:cNvSpPr/>
          <p:nvPr/>
        </p:nvSpPr>
        <p:spPr>
          <a:xfrm>
            <a:off x="365760" y="2944368"/>
            <a:ext cx="8412480" cy="640080"/>
          </a:xfrm>
          <a:prstGeom prst="rect">
            <a:avLst/>
          </a:prstGeom>
          <a:solidFill>
            <a:srgbClr val="2C4A6E"/>
          </a:solidFill>
          <a:ln w="12700">
            <a:solidFill>
              <a:srgbClr val="2C4A6E"/>
            </a:solidFill>
            <a:prstDash val="solid"/>
          </a:ln>
        </p:spPr>
      </p:sp>
      <p:sp>
        <p:nvSpPr>
          <p:cNvPr id="12" name="Text 10"/>
          <p:cNvSpPr/>
          <p:nvPr/>
        </p:nvSpPr>
        <p:spPr>
          <a:xfrm>
            <a:off x="457200" y="2999232"/>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4: Watch for when each cup looks fully clear (salt dissolved). Stop the timer for each. Record the time.</a:t>
            </a:r>
            <a:endParaRPr lang="en-US" sz="1300" dirty="0"/>
          </a:p>
        </p:txBody>
      </p:sp>
      <p:sp>
        <p:nvSpPr>
          <p:cNvPr id="13" name="Shape 11"/>
          <p:cNvSpPr/>
          <p:nvPr/>
        </p:nvSpPr>
        <p:spPr>
          <a:xfrm>
            <a:off x="365760" y="3657600"/>
            <a:ext cx="8412480" cy="640080"/>
          </a:xfrm>
          <a:prstGeom prst="rect">
            <a:avLst/>
          </a:prstGeom>
          <a:solidFill>
            <a:srgbClr val="2C4A6E"/>
          </a:solidFill>
          <a:ln w="12700">
            <a:solidFill>
              <a:srgbClr val="2C4A6E"/>
            </a:solidFill>
            <a:prstDash val="solid"/>
          </a:ln>
        </p:spPr>
      </p:sp>
      <p:sp>
        <p:nvSpPr>
          <p:cNvPr id="14" name="Text 12"/>
          <p:cNvSpPr/>
          <p:nvPr/>
        </p:nvSpPr>
        <p:spPr>
          <a:xfrm>
            <a:off x="457200" y="3712464"/>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5: Repeat 3 times if possible, or use class data to build a table of multiple trials.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TABLE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Record Your Results</a:t>
            </a:r>
            <a:endParaRPr lang="en-US" sz="2600" dirty="0"/>
          </a:p>
        </p:txBody>
      </p:sp>
      <p:sp>
        <p:nvSpPr>
          <p:cNvPr id="5" name="Shape 3"/>
          <p:cNvSpPr/>
          <p:nvPr/>
        </p:nvSpPr>
        <p:spPr>
          <a:xfrm>
            <a:off x="365760" y="749808"/>
            <a:ext cx="1645920" cy="420624"/>
          </a:xfrm>
          <a:prstGeom prst="rect">
            <a:avLst/>
          </a:prstGeom>
          <a:solidFill>
            <a:srgbClr val="1A3A5C"/>
          </a:solidFill>
          <a:ln w="12700">
            <a:solidFill>
              <a:srgbClr val="1A3A5C"/>
            </a:solidFill>
            <a:prstDash val="solid"/>
          </a:ln>
        </p:spPr>
      </p:sp>
      <p:sp>
        <p:nvSpPr>
          <p:cNvPr id="6" name="Text 4"/>
          <p:cNvSpPr/>
          <p:nvPr/>
        </p:nvSpPr>
        <p:spPr>
          <a:xfrm>
            <a:off x="457200" y="804672"/>
            <a:ext cx="146304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7" name="Shape 5"/>
          <p:cNvSpPr/>
          <p:nvPr/>
        </p:nvSpPr>
        <p:spPr>
          <a:xfrm>
            <a:off x="2103120" y="749808"/>
            <a:ext cx="1463040" cy="420624"/>
          </a:xfrm>
          <a:prstGeom prst="rect">
            <a:avLst/>
          </a:prstGeom>
          <a:solidFill>
            <a:srgbClr val="1A3A5C"/>
          </a:solidFill>
          <a:ln w="12700">
            <a:solidFill>
              <a:srgbClr val="1A3A5C"/>
            </a:solidFill>
            <a:prstDash val="solid"/>
          </a:ln>
        </p:spPr>
      </p:sp>
      <p:sp>
        <p:nvSpPr>
          <p:cNvPr id="8" name="Text 6"/>
          <p:cNvSpPr/>
          <p:nvPr/>
        </p:nvSpPr>
        <p:spPr>
          <a:xfrm>
            <a:off x="2194560" y="804672"/>
            <a:ext cx="128016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TRIAL 1 (sec)</a:t>
            </a:r>
            <a:endParaRPr lang="en-US" sz="1100" dirty="0"/>
          </a:p>
        </p:txBody>
      </p:sp>
      <p:sp>
        <p:nvSpPr>
          <p:cNvPr id="9" name="Shape 7"/>
          <p:cNvSpPr/>
          <p:nvPr/>
        </p:nvSpPr>
        <p:spPr>
          <a:xfrm>
            <a:off x="3657600" y="749808"/>
            <a:ext cx="1463040" cy="420624"/>
          </a:xfrm>
          <a:prstGeom prst="rect">
            <a:avLst/>
          </a:prstGeom>
          <a:solidFill>
            <a:srgbClr val="1A3A5C"/>
          </a:solidFill>
          <a:ln w="12700">
            <a:solidFill>
              <a:srgbClr val="1A3A5C"/>
            </a:solidFill>
            <a:prstDash val="solid"/>
          </a:ln>
        </p:spPr>
      </p:sp>
      <p:sp>
        <p:nvSpPr>
          <p:cNvPr id="10" name="Text 8"/>
          <p:cNvSpPr/>
          <p:nvPr/>
        </p:nvSpPr>
        <p:spPr>
          <a:xfrm>
            <a:off x="3749040" y="804672"/>
            <a:ext cx="128016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TRIAL 2 (sec)</a:t>
            </a:r>
            <a:endParaRPr lang="en-US" sz="1100" dirty="0"/>
          </a:p>
        </p:txBody>
      </p:sp>
      <p:sp>
        <p:nvSpPr>
          <p:cNvPr id="11" name="Shape 9"/>
          <p:cNvSpPr/>
          <p:nvPr/>
        </p:nvSpPr>
        <p:spPr>
          <a:xfrm>
            <a:off x="5212080" y="749808"/>
            <a:ext cx="1463040" cy="420624"/>
          </a:xfrm>
          <a:prstGeom prst="rect">
            <a:avLst/>
          </a:prstGeom>
          <a:solidFill>
            <a:srgbClr val="1A3A5C"/>
          </a:solidFill>
          <a:ln w="12700">
            <a:solidFill>
              <a:srgbClr val="1A3A5C"/>
            </a:solidFill>
            <a:prstDash val="solid"/>
          </a:ln>
        </p:spPr>
      </p:sp>
      <p:sp>
        <p:nvSpPr>
          <p:cNvPr id="12" name="Text 10"/>
          <p:cNvSpPr/>
          <p:nvPr/>
        </p:nvSpPr>
        <p:spPr>
          <a:xfrm>
            <a:off x="5303520" y="804672"/>
            <a:ext cx="128016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TRIAL 3 (sec)</a:t>
            </a:r>
            <a:endParaRPr lang="en-US" sz="1100" dirty="0"/>
          </a:p>
        </p:txBody>
      </p:sp>
      <p:sp>
        <p:nvSpPr>
          <p:cNvPr id="13" name="Shape 11"/>
          <p:cNvSpPr/>
          <p:nvPr/>
        </p:nvSpPr>
        <p:spPr>
          <a:xfrm>
            <a:off x="6766560" y="749808"/>
            <a:ext cx="2011680" cy="420624"/>
          </a:xfrm>
          <a:prstGeom prst="rect">
            <a:avLst/>
          </a:prstGeom>
          <a:solidFill>
            <a:srgbClr val="1A3A5C"/>
          </a:solidFill>
          <a:ln w="12700">
            <a:solidFill>
              <a:srgbClr val="1A3A5C"/>
            </a:solidFill>
            <a:prstDash val="solid"/>
          </a:ln>
        </p:spPr>
      </p:sp>
      <p:sp>
        <p:nvSpPr>
          <p:cNvPr id="14" name="Text 12"/>
          <p:cNvSpPr/>
          <p:nvPr/>
        </p:nvSpPr>
        <p:spPr>
          <a:xfrm>
            <a:off x="6858000" y="804672"/>
            <a:ext cx="182880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AVERAGE (sec)</a:t>
            </a:r>
            <a:endParaRPr lang="en-US" sz="1100" dirty="0"/>
          </a:p>
        </p:txBody>
      </p:sp>
      <p:sp>
        <p:nvSpPr>
          <p:cNvPr id="15" name="Shape 13"/>
          <p:cNvSpPr/>
          <p:nvPr/>
        </p:nvSpPr>
        <p:spPr>
          <a:xfrm>
            <a:off x="365760" y="1243584"/>
            <a:ext cx="1645920" cy="694944"/>
          </a:xfrm>
          <a:prstGeom prst="rect">
            <a:avLst/>
          </a:prstGeom>
          <a:solidFill>
            <a:srgbClr val="EBF4FA"/>
          </a:solidFill>
          <a:ln w="12700">
            <a:solidFill>
              <a:srgbClr val="EBF4FA"/>
            </a:solidFill>
            <a:prstDash val="solid"/>
          </a:ln>
        </p:spPr>
      </p:sp>
      <p:sp>
        <p:nvSpPr>
          <p:cNvPr id="16" name="Text 14"/>
          <p:cNvSpPr/>
          <p:nvPr/>
        </p:nvSpPr>
        <p:spPr>
          <a:xfrm>
            <a:off x="457200" y="1298448"/>
            <a:ext cx="1463040" cy="585216"/>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Cold Water</a:t>
            </a:r>
            <a:endParaRPr lang="en-US" sz="1300" dirty="0"/>
          </a:p>
        </p:txBody>
      </p:sp>
      <p:sp>
        <p:nvSpPr>
          <p:cNvPr id="17" name="Shape 15"/>
          <p:cNvSpPr/>
          <p:nvPr/>
        </p:nvSpPr>
        <p:spPr>
          <a:xfrm>
            <a:off x="2103120" y="1243584"/>
            <a:ext cx="1463040" cy="694944"/>
          </a:xfrm>
          <a:prstGeom prst="rect">
            <a:avLst/>
          </a:prstGeom>
          <a:solidFill>
            <a:srgbClr val="EBF4FA"/>
          </a:solidFill>
          <a:ln w="12700">
            <a:solidFill>
              <a:srgbClr val="EBF4FA"/>
            </a:solidFill>
            <a:prstDash val="solid"/>
          </a:ln>
        </p:spPr>
      </p:sp>
      <p:sp>
        <p:nvSpPr>
          <p:cNvPr id="18" name="Shape 16"/>
          <p:cNvSpPr/>
          <p:nvPr/>
        </p:nvSpPr>
        <p:spPr>
          <a:xfrm>
            <a:off x="3657600" y="1243584"/>
            <a:ext cx="1463040" cy="694944"/>
          </a:xfrm>
          <a:prstGeom prst="rect">
            <a:avLst/>
          </a:prstGeom>
          <a:solidFill>
            <a:srgbClr val="EBF4FA"/>
          </a:solidFill>
          <a:ln w="12700">
            <a:solidFill>
              <a:srgbClr val="EBF4FA"/>
            </a:solidFill>
            <a:prstDash val="solid"/>
          </a:ln>
        </p:spPr>
      </p:sp>
      <p:sp>
        <p:nvSpPr>
          <p:cNvPr id="19" name="Shape 17"/>
          <p:cNvSpPr/>
          <p:nvPr/>
        </p:nvSpPr>
        <p:spPr>
          <a:xfrm>
            <a:off x="5212080" y="1243584"/>
            <a:ext cx="1463040" cy="694944"/>
          </a:xfrm>
          <a:prstGeom prst="rect">
            <a:avLst/>
          </a:prstGeom>
          <a:solidFill>
            <a:srgbClr val="EBF4FA"/>
          </a:solidFill>
          <a:ln w="12700">
            <a:solidFill>
              <a:srgbClr val="EBF4FA"/>
            </a:solidFill>
            <a:prstDash val="solid"/>
          </a:ln>
        </p:spPr>
      </p:sp>
      <p:sp>
        <p:nvSpPr>
          <p:cNvPr id="20" name="Shape 18"/>
          <p:cNvSpPr/>
          <p:nvPr/>
        </p:nvSpPr>
        <p:spPr>
          <a:xfrm>
            <a:off x="6766560" y="1243584"/>
            <a:ext cx="2011680" cy="694944"/>
          </a:xfrm>
          <a:prstGeom prst="rect">
            <a:avLst/>
          </a:prstGeom>
          <a:solidFill>
            <a:srgbClr val="EBF4FA"/>
          </a:solidFill>
          <a:ln w="12700">
            <a:solidFill>
              <a:srgbClr val="EBF4FA"/>
            </a:solidFill>
            <a:prstDash val="solid"/>
          </a:ln>
        </p:spPr>
      </p:sp>
      <p:sp>
        <p:nvSpPr>
          <p:cNvPr id="21" name="Shape 19"/>
          <p:cNvSpPr/>
          <p:nvPr/>
        </p:nvSpPr>
        <p:spPr>
          <a:xfrm>
            <a:off x="365760" y="2011680"/>
            <a:ext cx="1645920" cy="694944"/>
          </a:xfrm>
          <a:prstGeom prst="rect">
            <a:avLst/>
          </a:prstGeom>
          <a:solidFill>
            <a:srgbClr val="FFFFFF"/>
          </a:solidFill>
          <a:ln w="12700">
            <a:solidFill>
              <a:srgbClr val="FFFFFF"/>
            </a:solidFill>
            <a:prstDash val="solid"/>
          </a:ln>
        </p:spPr>
      </p:sp>
      <p:sp>
        <p:nvSpPr>
          <p:cNvPr id="22" name="Text 20"/>
          <p:cNvSpPr/>
          <p:nvPr/>
        </p:nvSpPr>
        <p:spPr>
          <a:xfrm>
            <a:off x="457200" y="2066544"/>
            <a:ext cx="1463040" cy="585216"/>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Warm Water</a:t>
            </a:r>
            <a:endParaRPr lang="en-US" sz="1300" dirty="0"/>
          </a:p>
        </p:txBody>
      </p:sp>
      <p:sp>
        <p:nvSpPr>
          <p:cNvPr id="23" name="Shape 21"/>
          <p:cNvSpPr/>
          <p:nvPr/>
        </p:nvSpPr>
        <p:spPr>
          <a:xfrm>
            <a:off x="2103120" y="2011680"/>
            <a:ext cx="1463040" cy="694944"/>
          </a:xfrm>
          <a:prstGeom prst="rect">
            <a:avLst/>
          </a:prstGeom>
          <a:solidFill>
            <a:srgbClr val="FFFFFF"/>
          </a:solidFill>
          <a:ln w="12700">
            <a:solidFill>
              <a:srgbClr val="FFFFFF"/>
            </a:solidFill>
            <a:prstDash val="solid"/>
          </a:ln>
        </p:spPr>
      </p:sp>
      <p:sp>
        <p:nvSpPr>
          <p:cNvPr id="24" name="Shape 22"/>
          <p:cNvSpPr/>
          <p:nvPr/>
        </p:nvSpPr>
        <p:spPr>
          <a:xfrm>
            <a:off x="3657600" y="2011680"/>
            <a:ext cx="1463040" cy="694944"/>
          </a:xfrm>
          <a:prstGeom prst="rect">
            <a:avLst/>
          </a:prstGeom>
          <a:solidFill>
            <a:srgbClr val="FFFFFF"/>
          </a:solidFill>
          <a:ln w="12700">
            <a:solidFill>
              <a:srgbClr val="FFFFFF"/>
            </a:solidFill>
            <a:prstDash val="solid"/>
          </a:ln>
        </p:spPr>
      </p:sp>
      <p:sp>
        <p:nvSpPr>
          <p:cNvPr id="25" name="Shape 23"/>
          <p:cNvSpPr/>
          <p:nvPr/>
        </p:nvSpPr>
        <p:spPr>
          <a:xfrm>
            <a:off x="5212080" y="2011680"/>
            <a:ext cx="1463040" cy="694944"/>
          </a:xfrm>
          <a:prstGeom prst="rect">
            <a:avLst/>
          </a:prstGeom>
          <a:solidFill>
            <a:srgbClr val="FFFFFF"/>
          </a:solidFill>
          <a:ln w="12700">
            <a:solidFill>
              <a:srgbClr val="FFFFFF"/>
            </a:solidFill>
            <a:prstDash val="solid"/>
          </a:ln>
        </p:spPr>
      </p:sp>
      <p:sp>
        <p:nvSpPr>
          <p:cNvPr id="26" name="Shape 24"/>
          <p:cNvSpPr/>
          <p:nvPr/>
        </p:nvSpPr>
        <p:spPr>
          <a:xfrm>
            <a:off x="6766560" y="2011680"/>
            <a:ext cx="2011680" cy="694944"/>
          </a:xfrm>
          <a:prstGeom prst="rect">
            <a:avLst/>
          </a:prstGeom>
          <a:solidFill>
            <a:srgbClr val="FFFFFF"/>
          </a:solidFill>
          <a:ln w="12700">
            <a:solidFill>
              <a:srgbClr val="FFFFFF"/>
            </a:solidFill>
            <a:prstDash val="solid"/>
          </a:ln>
        </p:spPr>
      </p:sp>
      <p:sp>
        <p:nvSpPr>
          <p:cNvPr id="27" name="Text 25"/>
          <p:cNvSpPr/>
          <p:nvPr/>
        </p:nvSpPr>
        <p:spPr>
          <a:xfrm>
            <a:off x="365760" y="2852928"/>
            <a:ext cx="8412480" cy="384048"/>
          </a:xfrm>
          <a:prstGeom prst="rect">
            <a:avLst/>
          </a:prstGeom>
          <a:noFill/>
          <a:ln/>
        </p:spPr>
        <p:txBody>
          <a:bodyPr wrap="square" lIns="0" tIns="0" rIns="0" bIns="0" rtlCol="0" anchor="ctr"/>
          <a:lstStyle/>
          <a:p>
            <a:pPr indent="0" marL="0">
              <a:buNone/>
            </a:pPr>
            <a:r>
              <a:rPr lang="en-US" sz="1200" i="1" dirty="0">
                <a:solidFill>
                  <a:srgbClr val="5E7B9A"/>
                </a:solidFill>
                <a:latin typeface="Calibri" pitchFamily="34" charset="0"/>
                <a:ea typeface="Calibri" pitchFamily="34" charset="-122"/>
                <a:cs typeface="Calibri" pitchFamily="34" charset="-120"/>
              </a:rPr>
              <a:t>SAMPLE DATA (if doing as demo): Cold water ≈ 150–200 sec  |  Warm water ≈ 30–60 sec</a:t>
            </a:r>
            <a:endParaRPr lang="en-US" sz="1200" dirty="0"/>
          </a:p>
        </p:txBody>
      </p:sp>
      <p:sp>
        <p:nvSpPr>
          <p:cNvPr id="28" name="Text 26"/>
          <p:cNvSpPr/>
          <p:nvPr/>
        </p:nvSpPr>
        <p:spPr>
          <a:xfrm>
            <a:off x="365760" y="3337560"/>
            <a:ext cx="8412480" cy="502920"/>
          </a:xfrm>
          <a:prstGeom prst="rect">
            <a:avLst/>
          </a:prstGeom>
          <a:noFill/>
          <a:ln/>
        </p:spPr>
        <p:txBody>
          <a:bodyPr wrap="square" lIns="0" tIns="0" rIns="0" bIns="0" rtlCol="0" anchor="ctr"/>
          <a:lstStyle/>
          <a:p>
            <a:pPr indent="0" marL="0">
              <a:buNone/>
            </a:pPr>
            <a:r>
              <a:rPr lang="en-US" sz="1300" dirty="0">
                <a:solidFill>
                  <a:srgbClr val="2C4A6E"/>
                </a:solidFill>
                <a:latin typeface="Calibri" pitchFamily="34" charset="0"/>
                <a:ea typeface="Calibri" pitchFamily="34" charset="-122"/>
                <a:cs typeface="Calibri" pitchFamily="34" charset="-120"/>
              </a:rPr>
              <a:t>Calculate the average: add the three trial times, then divide by 3. Which condition was faster? By how many seconds?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2E86AB"/>
          </a:solidFill>
          <a:ln w="12700">
            <a:solidFill>
              <a:srgbClr val="2E86AB"/>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Answer in Complete Sentences</a:t>
            </a:r>
            <a:endParaRPr lang="en-US" sz="2600" dirty="0"/>
          </a:p>
        </p:txBody>
      </p:sp>
      <p:sp>
        <p:nvSpPr>
          <p:cNvPr id="5" name="Shape 3"/>
          <p:cNvSpPr/>
          <p:nvPr/>
        </p:nvSpPr>
        <p:spPr>
          <a:xfrm>
            <a:off x="365760" y="822960"/>
            <a:ext cx="8412480" cy="1005840"/>
          </a:xfrm>
          <a:prstGeom prst="rect">
            <a:avLst/>
          </a:prstGeom>
          <a:solidFill>
            <a:srgbClr val="FFFFFF"/>
          </a:solidFill>
          <a:ln w="12700">
            <a:solidFill>
              <a:srgbClr val="FFFFFF"/>
            </a:solidFill>
            <a:prstDash val="solid"/>
          </a:ln>
        </p:spPr>
      </p:sp>
      <p:sp>
        <p:nvSpPr>
          <p:cNvPr id="6" name="Text 4"/>
          <p:cNvSpPr/>
          <p:nvPr/>
        </p:nvSpPr>
        <p:spPr>
          <a:xfrm>
            <a:off x="457200" y="877824"/>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1.  Write your data. Which dissolved faster — by how many seconds on average? Show your calculation.</a:t>
            </a:r>
            <a:endParaRPr lang="en-US" sz="1400" dirty="0"/>
          </a:p>
        </p:txBody>
      </p:sp>
      <p:sp>
        <p:nvSpPr>
          <p:cNvPr id="7" name="Shape 5"/>
          <p:cNvSpPr/>
          <p:nvPr/>
        </p:nvSpPr>
        <p:spPr>
          <a:xfrm>
            <a:off x="365760" y="1938528"/>
            <a:ext cx="8412480" cy="1005840"/>
          </a:xfrm>
          <a:prstGeom prst="rect">
            <a:avLst/>
          </a:prstGeom>
          <a:solidFill>
            <a:srgbClr val="FFFFFF"/>
          </a:solidFill>
          <a:ln w="12700">
            <a:solidFill>
              <a:srgbClr val="FFFFFF"/>
            </a:solidFill>
            <a:prstDash val="solid"/>
          </a:ln>
        </p:spPr>
      </p:sp>
      <p:sp>
        <p:nvSpPr>
          <p:cNvPr id="8" name="Text 6"/>
          <p:cNvSpPr/>
          <p:nvPr/>
        </p:nvSpPr>
        <p:spPr>
          <a:xfrm>
            <a:off x="457200" y="1993392"/>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2.  What was the variable in your test? Name at least THREE controls and explain why each mattered.</a:t>
            </a:r>
            <a:endParaRPr lang="en-US" sz="1400" dirty="0"/>
          </a:p>
        </p:txBody>
      </p:sp>
      <p:sp>
        <p:nvSpPr>
          <p:cNvPr id="9" name="Shape 7"/>
          <p:cNvSpPr/>
          <p:nvPr/>
        </p:nvSpPr>
        <p:spPr>
          <a:xfrm>
            <a:off x="365760" y="3054096"/>
            <a:ext cx="8412480" cy="1005840"/>
          </a:xfrm>
          <a:prstGeom prst="rect">
            <a:avLst/>
          </a:prstGeom>
          <a:solidFill>
            <a:srgbClr val="FFFFFF"/>
          </a:solidFill>
          <a:ln w="12700">
            <a:solidFill>
              <a:srgbClr val="FFFFFF"/>
            </a:solidFill>
            <a:prstDash val="solid"/>
          </a:ln>
        </p:spPr>
      </p:sp>
      <p:sp>
        <p:nvSpPr>
          <p:cNvPr id="10" name="Text 8"/>
          <p:cNvSpPr/>
          <p:nvPr/>
        </p:nvSpPr>
        <p:spPr>
          <a:xfrm>
            <a:off x="457200" y="3108960"/>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3.  Was this a fair test? What makes you say so? What could have made it even more reliable?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17904" cy="274320"/>
          </a:xfrm>
          <a:prstGeom prst="rect">
            <a:avLst/>
          </a:prstGeom>
          <a:solidFill>
            <a:srgbClr val="F07D35"/>
          </a:solidFill>
          <a:ln w="12700">
            <a:solidFill>
              <a:srgbClr val="F07D35"/>
            </a:solidFill>
            <a:prstDash val="solid"/>
          </a:ln>
        </p:spPr>
      </p:sp>
      <p:sp>
        <p:nvSpPr>
          <p:cNvPr id="3" name="Text 1"/>
          <p:cNvSpPr/>
          <p:nvPr/>
        </p:nvSpPr>
        <p:spPr>
          <a:xfrm>
            <a:off x="365760" y="109728"/>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Question the Evidence</a:t>
            </a:r>
            <a:endParaRPr lang="en-US" sz="2800" dirty="0"/>
          </a:p>
        </p:txBody>
      </p:sp>
      <p:sp>
        <p:nvSpPr>
          <p:cNvPr id="5" name="Shape 3"/>
          <p:cNvSpPr/>
          <p:nvPr/>
        </p:nvSpPr>
        <p:spPr>
          <a:xfrm>
            <a:off x="365760" y="822960"/>
            <a:ext cx="8412480" cy="1051560"/>
          </a:xfrm>
          <a:prstGeom prst="rect">
            <a:avLst/>
          </a:prstGeom>
          <a:solidFill>
            <a:srgbClr val="2C4A6E"/>
          </a:solidFill>
          <a:ln w="12700">
            <a:solidFill>
              <a:srgbClr val="2C4A6E"/>
            </a:solidFill>
            <a:prstDash val="solid"/>
          </a:ln>
        </p:spPr>
      </p:sp>
      <p:sp>
        <p:nvSpPr>
          <p:cNvPr id="6" name="Text 4"/>
          <p:cNvSpPr/>
          <p:nvPr/>
        </p:nvSpPr>
        <p:spPr>
          <a:xfrm>
            <a:off x="457200" y="877824"/>
            <a:ext cx="8229600" cy="94183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"You want to test whether STIRRING SPEED affects dissolving rate. What would be the variable? What would stay the same? Write out your fair test plan."</a:t>
            </a:r>
            <a:endParaRPr lang="en-US" sz="1500" dirty="0"/>
          </a:p>
        </p:txBody>
      </p:sp>
      <p:sp>
        <p:nvSpPr>
          <p:cNvPr id="7" name="Shape 5"/>
          <p:cNvSpPr/>
          <p:nvPr/>
        </p:nvSpPr>
        <p:spPr>
          <a:xfrm>
            <a:off x="365760" y="1965960"/>
            <a:ext cx="8412480" cy="1051560"/>
          </a:xfrm>
          <a:prstGeom prst="rect">
            <a:avLst/>
          </a:prstGeom>
          <a:solidFill>
            <a:srgbClr val="2C4A6E"/>
          </a:solidFill>
          <a:ln w="12700">
            <a:solidFill>
              <a:srgbClr val="2C4A6E"/>
            </a:solidFill>
            <a:prstDash val="solid"/>
          </a:ln>
        </p:spPr>
      </p:sp>
      <p:sp>
        <p:nvSpPr>
          <p:cNvPr id="8" name="Text 6"/>
          <p:cNvSpPr/>
          <p:nvPr/>
        </p:nvSpPr>
        <p:spPr>
          <a:xfrm>
            <a:off x="457200" y="2020824"/>
            <a:ext cx="8229600" cy="94183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"Your warm water dissolved salt in 45 seconds and cold water took 180 seconds. Is ONE round of data enough to conclude temperature affects dissolving rate? What would make you more confident?"</a:t>
            </a:r>
            <a:endParaRPr lang="en-US" sz="1500" dirty="0"/>
          </a:p>
        </p:txBody>
      </p:sp>
      <p:sp>
        <p:nvSpPr>
          <p:cNvPr id="9" name="Text 7"/>
          <p:cNvSpPr/>
          <p:nvPr/>
        </p:nvSpPr>
        <p:spPr>
          <a:xfrm>
            <a:off x="365760" y="3154680"/>
            <a:ext cx="8412480" cy="502920"/>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Starters: "The variable would be… and the controls would be…" / "One trial isn't enough because… I would need…"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6C90E"/>
          </a:solidFill>
          <a:ln w="12700">
            <a:solidFill>
              <a:srgbClr val="F6C90E"/>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Claim — Evidence — Reasoning</a:t>
            </a:r>
            <a:endParaRPr lang="en-US" sz="3000" dirty="0"/>
          </a:p>
        </p:txBody>
      </p:sp>
      <p:sp>
        <p:nvSpPr>
          <p:cNvPr id="5" name="Shape 3"/>
          <p:cNvSpPr/>
          <p:nvPr/>
        </p:nvSpPr>
        <p:spPr>
          <a:xfrm>
            <a:off x="365760" y="822960"/>
            <a:ext cx="8412480" cy="658368"/>
          </a:xfrm>
          <a:prstGeom prst="rect">
            <a:avLst/>
          </a:prstGeom>
          <a:solidFill>
            <a:srgbClr val="1A3A5C"/>
          </a:solidFill>
          <a:ln w="12700">
            <a:solidFill>
              <a:srgbClr val="1A3A5C"/>
            </a:solidFill>
            <a:prstDash val="solid"/>
          </a:ln>
        </p:spPr>
      </p:sp>
      <p:sp>
        <p:nvSpPr>
          <p:cNvPr id="6" name="Text 4"/>
          <p:cNvSpPr/>
          <p:nvPr/>
        </p:nvSpPr>
        <p:spPr>
          <a:xfrm>
            <a:off x="457200" y="877824"/>
            <a:ext cx="822960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  CLAIM:  "I claim warm water dissolves salt faster than cold water because of my timed data…"</a:t>
            </a:r>
            <a:endParaRPr lang="en-US" sz="1500" dirty="0"/>
          </a:p>
        </p:txBody>
      </p:sp>
      <p:sp>
        <p:nvSpPr>
          <p:cNvPr id="7" name="Shape 5"/>
          <p:cNvSpPr/>
          <p:nvPr/>
        </p:nvSpPr>
        <p:spPr>
          <a:xfrm>
            <a:off x="365760" y="1554480"/>
            <a:ext cx="8412480" cy="777240"/>
          </a:xfrm>
          <a:prstGeom prst="rect">
            <a:avLst/>
          </a:prstGeom>
          <a:solidFill>
            <a:srgbClr val="2C4A6E"/>
          </a:solidFill>
          <a:ln w="12700">
            <a:solidFill>
              <a:srgbClr val="2C4A6E"/>
            </a:solidFill>
            <a:prstDash val="solid"/>
          </a:ln>
        </p:spPr>
      </p:sp>
      <p:sp>
        <p:nvSpPr>
          <p:cNvPr id="8" name="Text 6"/>
          <p:cNvSpPr/>
          <p:nvPr/>
        </p:nvSpPr>
        <p:spPr>
          <a:xfrm>
            <a:off x="457200" y="160934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EVIDENCE:  "In my test, cold water took ___ seconds and warm water took ___ seconds on average. That is a difference of ___ seconds."</a:t>
            </a:r>
            <a:endParaRPr lang="en-US" sz="1400" dirty="0"/>
          </a:p>
        </p:txBody>
      </p:sp>
      <p:sp>
        <p:nvSpPr>
          <p:cNvPr id="9" name="Shape 7"/>
          <p:cNvSpPr/>
          <p:nvPr/>
        </p:nvSpPr>
        <p:spPr>
          <a:xfrm>
            <a:off x="365760" y="2423160"/>
            <a:ext cx="8412480" cy="777240"/>
          </a:xfrm>
          <a:prstGeom prst="rect">
            <a:avLst/>
          </a:prstGeom>
          <a:solidFill>
            <a:srgbClr val="2C4A6E"/>
          </a:solidFill>
          <a:ln w="12700">
            <a:solidFill>
              <a:srgbClr val="2C4A6E"/>
            </a:solidFill>
            <a:prstDash val="solid"/>
          </a:ln>
        </p:spPr>
      </p:sp>
      <p:sp>
        <p:nvSpPr>
          <p:cNvPr id="10" name="Text 8"/>
          <p:cNvSpPr/>
          <p:nvPr/>
        </p:nvSpPr>
        <p:spPr>
          <a:xfrm>
            <a:off x="457200" y="247802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REASONING:  "This supports the idea that higher temperature increases dissolving rate because warm water particles move faster, collide with salt particles more often, and break them apart more quickly."</a:t>
            </a:r>
            <a:endParaRPr lang="en-US" sz="1400" dirty="0"/>
          </a:p>
        </p:txBody>
      </p:sp>
      <p:sp>
        <p:nvSpPr>
          <p:cNvPr id="11" name="Text 9"/>
          <p:cNvSpPr/>
          <p:nvPr/>
        </p:nvSpPr>
        <p:spPr>
          <a:xfrm>
            <a:off x="365760" y="3310128"/>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For Part C: use your actual timed data in the evidence. Numbers are stronger than descriptions.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1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In your dissolving test, which of these is a CONTROL (something that stays the same)?</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The temperature of the water</a:t>
            </a:r>
            <a:endParaRPr lang="en-US" sz="1500" dirty="0"/>
          </a:p>
        </p:txBody>
      </p:sp>
      <p:sp>
        <p:nvSpPr>
          <p:cNvPr id="9" name="Shape 7"/>
          <p:cNvSpPr/>
          <p:nvPr/>
        </p:nvSpPr>
        <p:spPr>
          <a:xfrm>
            <a:off x="365760" y="2176272"/>
            <a:ext cx="8412480" cy="566928"/>
          </a:xfrm>
          <a:prstGeom prst="rect">
            <a:avLst/>
          </a:prstGeom>
          <a:solidFill>
            <a:srgbClr val="2A7A4B"/>
          </a:solidFill>
          <a:ln w="12700">
            <a:solidFill>
              <a:srgbClr val="2A7A4B"/>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The amount of salt used  ✓  CORRECT</a:t>
            </a:r>
            <a:endParaRPr lang="en-US" sz="1500" dirty="0"/>
          </a:p>
        </p:txBody>
      </p:sp>
      <p:sp>
        <p:nvSpPr>
          <p:cNvPr id="11" name="Shape 9"/>
          <p:cNvSpPr/>
          <p:nvPr/>
        </p:nvSpPr>
        <p:spPr>
          <a:xfrm>
            <a:off x="365760" y="2816352"/>
            <a:ext cx="8412480" cy="566928"/>
          </a:xfrm>
          <a:prstGeom prst="rect">
            <a:avLst/>
          </a:prstGeom>
          <a:solidFill>
            <a:srgbClr val="2C4A6E"/>
          </a:solidFill>
          <a:ln w="12700">
            <a:solidFill>
              <a:srgbClr val="2C4A6E"/>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The time it took to dissolve</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Temperature is the variable (it changes). Time is the outcome you measure. The salt amount must stay the same — it's a control.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2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Warm water dissolved the salt in 45 seconds. Cold water took 180 seconds. What does this tell you?</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Salt is more soluble at all temperatures</a:t>
            </a:r>
            <a:endParaRPr lang="en-US" sz="1500" dirty="0"/>
          </a:p>
        </p:txBody>
      </p:sp>
      <p:sp>
        <p:nvSpPr>
          <p:cNvPr id="9" name="Shape 7"/>
          <p:cNvSpPr/>
          <p:nvPr/>
        </p:nvSpPr>
        <p:spPr>
          <a:xfrm>
            <a:off x="365760" y="2176272"/>
            <a:ext cx="8412480" cy="566928"/>
          </a:xfrm>
          <a:prstGeom prst="rect">
            <a:avLst/>
          </a:prstGeom>
          <a:solidFill>
            <a:srgbClr val="2A7A4B"/>
          </a:solidFill>
          <a:ln w="12700">
            <a:solidFill>
              <a:srgbClr val="2A7A4B"/>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Higher temperature increases the dissolving rate  ✓  CORRECT</a:t>
            </a:r>
            <a:endParaRPr lang="en-US" sz="1500" dirty="0"/>
          </a:p>
        </p:txBody>
      </p:sp>
      <p:sp>
        <p:nvSpPr>
          <p:cNvPr id="11" name="Shape 9"/>
          <p:cNvSpPr/>
          <p:nvPr/>
        </p:nvSpPr>
        <p:spPr>
          <a:xfrm>
            <a:off x="365760" y="2816352"/>
            <a:ext cx="8412480" cy="566928"/>
          </a:xfrm>
          <a:prstGeom prst="rect">
            <a:avLst/>
          </a:prstGeom>
          <a:solidFill>
            <a:srgbClr val="2C4A6E"/>
          </a:solidFill>
          <a:ln w="12700">
            <a:solidFill>
              <a:srgbClr val="2C4A6E"/>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Cold water is a better solvent than warm water</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The salt dissolved in BOTH — so solubility is the same. But the RATE was 4× faster in warm water. Temperature affects rate, not solubility.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475488"/>
            <a:ext cx="841248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Pressure Also Affects Dissolving</a:t>
            </a:r>
            <a:endParaRPr lang="en-US" sz="3200" dirty="0"/>
          </a:p>
        </p:txBody>
      </p:sp>
      <p:sp>
        <p:nvSpPr>
          <p:cNvPr id="5" name="Text 3"/>
          <p:cNvSpPr/>
          <p:nvPr/>
        </p:nvSpPr>
        <p:spPr>
          <a:xfrm>
            <a:off x="365760" y="1207008"/>
            <a:ext cx="8412480" cy="10972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Carbonated drinks are made by dissolving CO₂ gas under high pressure. When you open the bottle, the pressure drops — and suddenly the CO₂ can't stay dissolved. It escapes as bubbles. Divers who rise from depth too quickly get "the bends" because nitrogen dissolved in their blood under pressure forms dangerous bubbles as pressure drops.</a:t>
            </a:r>
            <a:endParaRPr lang="en-US" sz="1500" dirty="0"/>
          </a:p>
        </p:txBody>
      </p:sp>
      <p:sp>
        <p:nvSpPr>
          <p:cNvPr id="6" name="Shape 4"/>
          <p:cNvSpPr/>
          <p:nvPr/>
        </p:nvSpPr>
        <p:spPr>
          <a:xfrm>
            <a:off x="365760" y="2423160"/>
            <a:ext cx="4114800" cy="1207008"/>
          </a:xfrm>
          <a:prstGeom prst="rect">
            <a:avLst/>
          </a:prstGeom>
          <a:solidFill>
            <a:srgbClr val="2C4A6E"/>
          </a:solidFill>
          <a:ln w="12700">
            <a:solidFill>
              <a:srgbClr val="2C4A6E"/>
            </a:solidFill>
            <a:prstDash val="solid"/>
          </a:ln>
        </p:spPr>
      </p:sp>
      <p:sp>
        <p:nvSpPr>
          <p:cNvPr id="7" name="Text 5"/>
          <p:cNvSpPr/>
          <p:nvPr/>
        </p:nvSpPr>
        <p:spPr>
          <a:xfrm>
            <a:off x="45720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Q1:</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Carbonated water goes flat faster in a warm room than in the fridge. How does this connect to what you learned about temperature and dissolving rate?</a:t>
            </a:r>
            <a:endParaRPr lang="en-US" sz="1400" dirty="0"/>
          </a:p>
        </p:txBody>
      </p:sp>
      <p:sp>
        <p:nvSpPr>
          <p:cNvPr id="8" name="Shape 6"/>
          <p:cNvSpPr/>
          <p:nvPr/>
        </p:nvSpPr>
        <p:spPr>
          <a:xfrm>
            <a:off x="4663440" y="2423160"/>
            <a:ext cx="4114800" cy="1207008"/>
          </a:xfrm>
          <a:prstGeom prst="rect">
            <a:avLst/>
          </a:prstGeom>
          <a:solidFill>
            <a:srgbClr val="2C4A6E"/>
          </a:solidFill>
          <a:ln w="12700">
            <a:solidFill>
              <a:srgbClr val="2C4A6E"/>
            </a:solidFill>
            <a:prstDash val="solid"/>
          </a:ln>
        </p:spPr>
      </p:sp>
      <p:sp>
        <p:nvSpPr>
          <p:cNvPr id="9" name="Text 7"/>
          <p:cNvSpPr/>
          <p:nvPr/>
        </p:nvSpPr>
        <p:spPr>
          <a:xfrm>
            <a:off x="475488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Q2:</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If temperature and pressure both affect dissolving rate, design an investigation to test BOTH — without breaking the "one variable" rule.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673352" cy="274320"/>
          </a:xfrm>
          <a:prstGeom prst="rect">
            <a:avLst/>
          </a:prstGeom>
          <a:solidFill>
            <a:srgbClr val="1A3A5C"/>
          </a:solidFill>
          <a:ln w="12700">
            <a:solidFill>
              <a:srgbClr val="1A3A5C"/>
            </a:solidFill>
            <a:prstDash val="solid"/>
          </a:ln>
        </p:spPr>
      </p:sp>
      <p:sp>
        <p:nvSpPr>
          <p:cNvPr id="3" name="Text 1"/>
          <p:cNvSpPr/>
          <p:nvPr/>
        </p:nvSpPr>
        <p:spPr>
          <a:xfrm>
            <a:off x="365760" y="10972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1A1A2E"/>
                </a:solidFill>
                <a:latin typeface="Cambria" pitchFamily="34" charset="0"/>
                <a:ea typeface="Cambria" pitchFamily="34" charset="-122"/>
                <a:cs typeface="Cambria" pitchFamily="34" charset="-120"/>
              </a:rPr>
              <a:t>What You Will Turn In</a:t>
            </a:r>
            <a:endParaRPr lang="en-US" sz="2800" dirty="0"/>
          </a:p>
        </p:txBody>
      </p:sp>
      <p:sp>
        <p:nvSpPr>
          <p:cNvPr id="5" name="Shape 3"/>
          <p:cNvSpPr/>
          <p:nvPr/>
        </p:nvSpPr>
        <p:spPr>
          <a:xfrm>
            <a:off x="365760" y="804672"/>
            <a:ext cx="8412480" cy="1188720"/>
          </a:xfrm>
          <a:prstGeom prst="rect">
            <a:avLst/>
          </a:prstGeom>
          <a:solidFill>
            <a:srgbClr val="FFFFFF"/>
          </a:solidFill>
          <a:ln w="12700">
            <a:solidFill>
              <a:srgbClr val="FFFFFF"/>
            </a:solidFill>
            <a:prstDash val="solid"/>
          </a:ln>
        </p:spPr>
      </p:sp>
      <p:sp>
        <p:nvSpPr>
          <p:cNvPr id="6" name="Text 4"/>
          <p:cNvSpPr/>
          <p:nvPr/>
        </p:nvSpPr>
        <p:spPr>
          <a:xfrm>
            <a:off x="457200" y="859536"/>
            <a:ext cx="8229600" cy="107899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A — Fair Test Diagram</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Draw two labeled cups (cold and warm). Label: the variable (temperature), and at least THREE controls (cup size, water amount, salt amount, stirring). Show particles moving at different speeds.</a:t>
            </a:r>
            <a:endParaRPr lang="en-US" sz="1500" dirty="0"/>
          </a:p>
        </p:txBody>
      </p:sp>
      <p:sp>
        <p:nvSpPr>
          <p:cNvPr id="7" name="Shape 5"/>
          <p:cNvSpPr/>
          <p:nvPr/>
        </p:nvSpPr>
        <p:spPr>
          <a:xfrm>
            <a:off x="365760" y="2084832"/>
            <a:ext cx="8412480" cy="1005840"/>
          </a:xfrm>
          <a:prstGeom prst="rect">
            <a:avLst/>
          </a:prstGeom>
          <a:solidFill>
            <a:srgbClr val="FFFFFF"/>
          </a:solidFill>
          <a:ln w="12700">
            <a:solidFill>
              <a:srgbClr val="FFFFFF"/>
            </a:solidFill>
            <a:prstDash val="solid"/>
          </a:ln>
        </p:spPr>
      </p:sp>
      <p:sp>
        <p:nvSpPr>
          <p:cNvPr id="8" name="Text 6"/>
          <p:cNvSpPr/>
          <p:nvPr/>
        </p:nvSpPr>
        <p:spPr>
          <a:xfrm>
            <a:off x="457200" y="2139696"/>
            <a:ext cx="8229600" cy="89611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B — Data and Rate Questions</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(1) Show your average time calculation for each condition. (2) How many seconds faster did warm water dissolve? (3) Was this a fair test? What would make it more reliable?</a:t>
            </a:r>
            <a:endParaRPr lang="en-US" sz="1500" dirty="0"/>
          </a:p>
        </p:txBody>
      </p:sp>
      <p:sp>
        <p:nvSpPr>
          <p:cNvPr id="9" name="Text 7"/>
          <p:cNvSpPr/>
          <p:nvPr/>
        </p:nvSpPr>
        <p:spPr>
          <a:xfrm>
            <a:off x="365760" y="3218688"/>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Part C and Revise Your Thinking are on the next slide.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751076" cy="274320"/>
          </a:xfrm>
          <a:prstGeom prst="rect">
            <a:avLst/>
          </a:prstGeom>
          <a:solidFill>
            <a:srgbClr val="1A3A5C"/>
          </a:solidFill>
          <a:ln w="12700">
            <a:solidFill>
              <a:srgbClr val="1A3A5C"/>
            </a:solidFill>
            <a:prstDash val="solid"/>
          </a:ln>
        </p:spPr>
      </p:sp>
      <p:sp>
        <p:nvSpPr>
          <p:cNvPr id="3" name="Text 1"/>
          <p:cNvSpPr/>
          <p:nvPr/>
        </p:nvSpPr>
        <p:spPr>
          <a:xfrm>
            <a:off x="365760" y="10972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 PART C</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CER — Temperature and Dissolving Rate</a:t>
            </a:r>
            <a:endParaRPr lang="en-US" sz="2600" dirty="0"/>
          </a:p>
        </p:txBody>
      </p:sp>
      <p:sp>
        <p:nvSpPr>
          <p:cNvPr id="5" name="Shape 3"/>
          <p:cNvSpPr/>
          <p:nvPr/>
        </p:nvSpPr>
        <p:spPr>
          <a:xfrm>
            <a:off x="365760" y="777240"/>
            <a:ext cx="8412480" cy="502920"/>
          </a:xfrm>
          <a:prstGeom prst="rect">
            <a:avLst/>
          </a:prstGeom>
          <a:solidFill>
            <a:srgbClr val="1A3A5C"/>
          </a:solidFill>
          <a:ln w="12700">
            <a:solidFill>
              <a:srgbClr val="1A3A5C"/>
            </a:solidFill>
            <a:prstDash val="solid"/>
          </a:ln>
        </p:spPr>
      </p:sp>
      <p:sp>
        <p:nvSpPr>
          <p:cNvPr id="6" name="Text 4"/>
          <p:cNvSpPr/>
          <p:nvPr/>
        </p:nvSpPr>
        <p:spPr>
          <a:xfrm>
            <a:off x="457200" y="832104"/>
            <a:ext cx="8229600"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Write a CER arguing how temperature affects dissolving rate. Use your timed data as evidence.</a:t>
            </a:r>
            <a:endParaRPr lang="en-US" sz="1300" dirty="0"/>
          </a:p>
        </p:txBody>
      </p:sp>
      <p:sp>
        <p:nvSpPr>
          <p:cNvPr id="7" name="Shape 5"/>
          <p:cNvSpPr/>
          <p:nvPr/>
        </p:nvSpPr>
        <p:spPr>
          <a:xfrm>
            <a:off x="365760" y="1371600"/>
            <a:ext cx="8412480" cy="621792"/>
          </a:xfrm>
          <a:prstGeom prst="rect">
            <a:avLst/>
          </a:prstGeom>
          <a:solidFill>
            <a:srgbClr val="EBF4FA"/>
          </a:solidFill>
          <a:ln w="12700">
            <a:solidFill>
              <a:srgbClr val="EBF4FA"/>
            </a:solidFill>
            <a:prstDash val="solid"/>
          </a:ln>
        </p:spPr>
      </p:sp>
      <p:sp>
        <p:nvSpPr>
          <p:cNvPr id="8" name="Text 6"/>
          <p:cNvSpPr/>
          <p:nvPr/>
        </p:nvSpPr>
        <p:spPr>
          <a:xfrm>
            <a:off x="457200" y="1426464"/>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CLAIM:  "I claim that higher temperature [increases/decreases] dissolving rate because ..."</a:t>
            </a:r>
            <a:endParaRPr lang="en-US" sz="1400" dirty="0"/>
          </a:p>
        </p:txBody>
      </p:sp>
      <p:sp>
        <p:nvSpPr>
          <p:cNvPr id="9" name="Shape 7"/>
          <p:cNvSpPr/>
          <p:nvPr/>
        </p:nvSpPr>
        <p:spPr>
          <a:xfrm>
            <a:off x="365760" y="2066544"/>
            <a:ext cx="8412480" cy="621792"/>
          </a:xfrm>
          <a:prstGeom prst="rect">
            <a:avLst/>
          </a:prstGeom>
          <a:solidFill>
            <a:srgbClr val="EBF4FA"/>
          </a:solidFill>
          <a:ln w="12700">
            <a:solidFill>
              <a:srgbClr val="EBF4FA"/>
            </a:solidFill>
            <a:prstDash val="solid"/>
          </a:ln>
        </p:spPr>
      </p:sp>
      <p:sp>
        <p:nvSpPr>
          <p:cNvPr id="10" name="Text 8"/>
          <p:cNvSpPr/>
          <p:nvPr/>
        </p:nvSpPr>
        <p:spPr>
          <a:xfrm>
            <a:off x="457200" y="2121408"/>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EVIDENCE:  "In my test, cold water took ___ sec and warm water took ___ sec (average). That is a ___ second difference."</a:t>
            </a:r>
            <a:endParaRPr lang="en-US" sz="1400" dirty="0"/>
          </a:p>
        </p:txBody>
      </p:sp>
      <p:sp>
        <p:nvSpPr>
          <p:cNvPr id="11" name="Shape 9"/>
          <p:cNvSpPr/>
          <p:nvPr/>
        </p:nvSpPr>
        <p:spPr>
          <a:xfrm>
            <a:off x="365760" y="2761488"/>
            <a:ext cx="8412480" cy="621792"/>
          </a:xfrm>
          <a:prstGeom prst="rect">
            <a:avLst/>
          </a:prstGeom>
          <a:solidFill>
            <a:srgbClr val="EBF4FA"/>
          </a:solidFill>
          <a:ln w="12700">
            <a:solidFill>
              <a:srgbClr val="EBF4FA"/>
            </a:solidFill>
            <a:prstDash val="solid"/>
          </a:ln>
        </p:spPr>
      </p:sp>
      <p:sp>
        <p:nvSpPr>
          <p:cNvPr id="12" name="Text 10"/>
          <p:cNvSpPr/>
          <p:nvPr/>
        </p:nvSpPr>
        <p:spPr>
          <a:xfrm>
            <a:off x="457200" y="2816352"/>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REASONING:  "This supports the idea that temperature affects dissolving rate because warm water particles move faster, causing more frequent collisions with salt particles."</a:t>
            </a:r>
            <a:endParaRPr lang="en-US" sz="1400" dirty="0"/>
          </a:p>
        </p:txBody>
      </p:sp>
      <p:sp>
        <p:nvSpPr>
          <p:cNvPr id="13" name="Text 11"/>
          <p:cNvSpPr/>
          <p:nvPr/>
        </p:nvSpPr>
        <p:spPr>
          <a:xfrm>
            <a:off x="365760" y="3547872"/>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Include actual numbers from your data table. 4+ sentences total.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1A3A5C"/>
          </a:solidFill>
          <a:ln w="12700">
            <a:solidFill>
              <a:srgbClr val="1A3A5C"/>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Return to Your Prediction</a:t>
            </a:r>
            <a:endParaRPr lang="en-US" sz="2800" dirty="0"/>
          </a:p>
        </p:txBody>
      </p:sp>
      <p:sp>
        <p:nvSpPr>
          <p:cNvPr id="5" name="Text 3"/>
          <p:cNvSpPr/>
          <p:nvPr/>
        </p:nvSpPr>
        <p:spPr>
          <a:xfrm>
            <a:off x="365760" y="804672"/>
            <a:ext cx="8412480" cy="4114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Read what you wrote about hot tea vs. cold tea at the start of the lesson.</a:t>
            </a:r>
            <a:endParaRPr lang="en-US" sz="1500" dirty="0"/>
          </a:p>
        </p:txBody>
      </p:sp>
      <p:sp>
        <p:nvSpPr>
          <p:cNvPr id="6" name="Shape 4"/>
          <p:cNvSpPr/>
          <p:nvPr/>
        </p:nvSpPr>
        <p:spPr>
          <a:xfrm>
            <a:off x="365760" y="1298448"/>
            <a:ext cx="8412480" cy="658368"/>
          </a:xfrm>
          <a:prstGeom prst="rect">
            <a:avLst/>
          </a:prstGeom>
          <a:solidFill>
            <a:srgbClr val="1A3A5C"/>
          </a:solidFill>
          <a:ln w="12700">
            <a:solidFill>
              <a:srgbClr val="1A3A5C"/>
            </a:solidFill>
            <a:prstDash val="solid"/>
          </a:ln>
        </p:spPr>
      </p:sp>
      <p:sp>
        <p:nvSpPr>
          <p:cNvPr id="7" name="Text 5"/>
          <p:cNvSpPr/>
          <p:nvPr/>
        </p:nvSpPr>
        <p:spPr>
          <a:xfrm>
            <a:off x="457200" y="135331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Did your prediction mention particle speed or collisions? If not, add that explanation now.</a:t>
            </a:r>
            <a:endParaRPr lang="en-US" sz="1400" dirty="0"/>
          </a:p>
        </p:txBody>
      </p:sp>
      <p:sp>
        <p:nvSpPr>
          <p:cNvPr id="8" name="Shape 6"/>
          <p:cNvSpPr/>
          <p:nvPr/>
        </p:nvSpPr>
        <p:spPr>
          <a:xfrm>
            <a:off x="365760" y="2029968"/>
            <a:ext cx="8412480" cy="658368"/>
          </a:xfrm>
          <a:prstGeom prst="rect">
            <a:avLst/>
          </a:prstGeom>
          <a:solidFill>
            <a:srgbClr val="1A3A5C"/>
          </a:solidFill>
          <a:ln w="12700">
            <a:solidFill>
              <a:srgbClr val="1A3A5C"/>
            </a:solidFill>
            <a:prstDash val="solid"/>
          </a:ln>
        </p:spPr>
      </p:sp>
      <p:sp>
        <p:nvSpPr>
          <p:cNvPr id="9" name="Text 7"/>
          <p:cNvSpPr/>
          <p:nvPr/>
        </p:nvSpPr>
        <p:spPr>
          <a:xfrm>
            <a:off x="457200" y="208483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What surprised you most about your data? Was warm water as much faster as you expected?</a:t>
            </a:r>
            <a:endParaRPr lang="en-US" sz="1400" dirty="0"/>
          </a:p>
        </p:txBody>
      </p:sp>
      <p:sp>
        <p:nvSpPr>
          <p:cNvPr id="10" name="Shape 8"/>
          <p:cNvSpPr/>
          <p:nvPr/>
        </p:nvSpPr>
        <p:spPr>
          <a:xfrm>
            <a:off x="365760" y="2761488"/>
            <a:ext cx="8412480" cy="658368"/>
          </a:xfrm>
          <a:prstGeom prst="rect">
            <a:avLst/>
          </a:prstGeom>
          <a:solidFill>
            <a:srgbClr val="1A3A5C"/>
          </a:solidFill>
          <a:ln w="12700">
            <a:solidFill>
              <a:srgbClr val="1A3A5C"/>
            </a:solidFill>
            <a:prstDash val="solid"/>
          </a:ln>
        </p:spPr>
      </p:sp>
      <p:sp>
        <p:nvSpPr>
          <p:cNvPr id="11" name="Text 9"/>
          <p:cNvSpPr/>
          <p:nvPr/>
        </p:nvSpPr>
        <p:spPr>
          <a:xfrm>
            <a:off x="457200" y="281635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  Write 2–3 sentences: explain WHY warm water dissolves salt faster using particle movement language.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47548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Lesson 6.02 — Submission Checklist</a:t>
            </a:r>
            <a:endParaRPr lang="en-US" sz="2800" dirty="0"/>
          </a:p>
        </p:txBody>
      </p:sp>
      <p:sp>
        <p:nvSpPr>
          <p:cNvPr id="5" name="Shape 3"/>
          <p:cNvSpPr/>
          <p:nvPr/>
        </p:nvSpPr>
        <p:spPr>
          <a:xfrm>
            <a:off x="365760" y="1115568"/>
            <a:ext cx="8412480" cy="521208"/>
          </a:xfrm>
          <a:prstGeom prst="rect">
            <a:avLst/>
          </a:prstGeom>
          <a:solidFill>
            <a:srgbClr val="2C4A6E"/>
          </a:solidFill>
          <a:ln w="12700">
            <a:solidFill>
              <a:srgbClr val="2C4A6E"/>
            </a:solidFill>
            <a:prstDash val="solid"/>
          </a:ln>
        </p:spPr>
      </p:sp>
      <p:sp>
        <p:nvSpPr>
          <p:cNvPr id="6" name="Text 4"/>
          <p:cNvSpPr/>
          <p:nvPr/>
        </p:nvSpPr>
        <p:spPr>
          <a:xfrm>
            <a:off x="457200" y="117043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A — Two-cup diagram: variable labeled, 3+ controls labeled, particle speed shown.</a:t>
            </a:r>
            <a:endParaRPr lang="en-US" sz="1300" dirty="0"/>
          </a:p>
        </p:txBody>
      </p:sp>
      <p:sp>
        <p:nvSpPr>
          <p:cNvPr id="7" name="Shape 5"/>
          <p:cNvSpPr/>
          <p:nvPr/>
        </p:nvSpPr>
        <p:spPr>
          <a:xfrm>
            <a:off x="365760" y="1709928"/>
            <a:ext cx="8412480" cy="521208"/>
          </a:xfrm>
          <a:prstGeom prst="rect">
            <a:avLst/>
          </a:prstGeom>
          <a:solidFill>
            <a:srgbClr val="2C4A6E"/>
          </a:solidFill>
          <a:ln w="12700">
            <a:solidFill>
              <a:srgbClr val="2C4A6E"/>
            </a:solidFill>
            <a:prstDash val="solid"/>
          </a:ln>
        </p:spPr>
      </p:sp>
      <p:sp>
        <p:nvSpPr>
          <p:cNvPr id="8" name="Text 6"/>
          <p:cNvSpPr/>
          <p:nvPr/>
        </p:nvSpPr>
        <p:spPr>
          <a:xfrm>
            <a:off x="457200" y="176479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 Average time calculated for each condition; fair test reasoning explained.</a:t>
            </a:r>
            <a:endParaRPr lang="en-US" sz="1300" dirty="0"/>
          </a:p>
        </p:txBody>
      </p:sp>
      <p:sp>
        <p:nvSpPr>
          <p:cNvPr id="9" name="Shape 7"/>
          <p:cNvSpPr/>
          <p:nvPr/>
        </p:nvSpPr>
        <p:spPr>
          <a:xfrm>
            <a:off x="365760" y="2304288"/>
            <a:ext cx="8412480" cy="521208"/>
          </a:xfrm>
          <a:prstGeom prst="rect">
            <a:avLst/>
          </a:prstGeom>
          <a:solidFill>
            <a:srgbClr val="2C4A6E"/>
          </a:solidFill>
          <a:ln w="12700">
            <a:solidFill>
              <a:srgbClr val="2C4A6E"/>
            </a:solidFill>
            <a:prstDash val="solid"/>
          </a:ln>
        </p:spPr>
      </p:sp>
      <p:sp>
        <p:nvSpPr>
          <p:cNvPr id="10" name="Text 8"/>
          <p:cNvSpPr/>
          <p:nvPr/>
        </p:nvSpPr>
        <p:spPr>
          <a:xfrm>
            <a:off x="457200" y="235915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C — CER: claim + timed data numbers as evidence + particle-speed reasoning.</a:t>
            </a:r>
            <a:endParaRPr lang="en-US" sz="1300" dirty="0"/>
          </a:p>
        </p:txBody>
      </p:sp>
      <p:sp>
        <p:nvSpPr>
          <p:cNvPr id="11" name="Shape 9"/>
          <p:cNvSpPr/>
          <p:nvPr/>
        </p:nvSpPr>
        <p:spPr>
          <a:xfrm>
            <a:off x="365760" y="2898648"/>
            <a:ext cx="8412480" cy="521208"/>
          </a:xfrm>
          <a:prstGeom prst="rect">
            <a:avLst/>
          </a:prstGeom>
          <a:solidFill>
            <a:srgbClr val="2C4A6E"/>
          </a:solidFill>
          <a:ln w="12700">
            <a:solidFill>
              <a:srgbClr val="2C4A6E"/>
            </a:solidFill>
            <a:prstDash val="solid"/>
          </a:ln>
        </p:spPr>
      </p:sp>
      <p:sp>
        <p:nvSpPr>
          <p:cNvPr id="12" name="Text 10"/>
          <p:cNvSpPr/>
          <p:nvPr/>
        </p:nvSpPr>
        <p:spPr>
          <a:xfrm>
            <a:off x="457200" y="295351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2–3 sentences using particle movement to explain temperature effect.</a:t>
            </a:r>
            <a:endParaRPr lang="en-US" sz="1300" dirty="0"/>
          </a:p>
        </p:txBody>
      </p:sp>
      <p:sp>
        <p:nvSpPr>
          <p:cNvPr id="13" name="Shape 11"/>
          <p:cNvSpPr/>
          <p:nvPr/>
        </p:nvSpPr>
        <p:spPr>
          <a:xfrm>
            <a:off x="365760" y="3493008"/>
            <a:ext cx="8412480" cy="521208"/>
          </a:xfrm>
          <a:prstGeom prst="rect">
            <a:avLst/>
          </a:prstGeom>
          <a:solidFill>
            <a:srgbClr val="2C4A6E"/>
          </a:solidFill>
          <a:ln w="12700">
            <a:solidFill>
              <a:srgbClr val="2C4A6E"/>
            </a:solidFill>
            <a:prstDash val="solid"/>
          </a:ln>
        </p:spPr>
      </p:sp>
      <p:sp>
        <p:nvSpPr>
          <p:cNvPr id="14" name="Text 12"/>
          <p:cNvSpPr/>
          <p:nvPr/>
        </p:nvSpPr>
        <p:spPr>
          <a:xfrm>
            <a:off x="457200" y="354787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Vocab check — variable, control, rate, dissolve used accurately.</a:t>
            </a:r>
            <a:endParaRPr lang="en-US" sz="1300" dirty="0"/>
          </a:p>
        </p:txBody>
      </p:sp>
      <p:sp>
        <p:nvSpPr>
          <p:cNvPr id="15" name="Text 13"/>
          <p:cNvSpPr/>
          <p:nvPr/>
        </p:nvSpPr>
        <p:spPr>
          <a:xfrm>
            <a:off x="365760" y="4224528"/>
            <a:ext cx="8412480" cy="347472"/>
          </a:xfrm>
          <a:prstGeom prst="rect">
            <a:avLst/>
          </a:prstGeom>
          <a:noFill/>
          <a:ln/>
        </p:spPr>
        <p:txBody>
          <a:bodyPr wrap="square" lIns="0" tIns="0" rIns="0" bIns="0" rtlCol="0" anchor="ctr"/>
          <a:lstStyle/>
          <a:p>
            <a:pPr algn="l" indent="0" marL="0">
              <a:buNone/>
            </a:pPr>
            <a:r>
              <a:rPr lang="en-US" sz="1300" dirty="0">
                <a:solidFill>
                  <a:srgbClr val="F6C90E"/>
                </a:solidFill>
                <a:latin typeface="Calibri" pitchFamily="34" charset="0"/>
                <a:ea typeface="Calibri" pitchFamily="34" charset="-122"/>
                <a:cs typeface="Calibri" pitchFamily="34" charset="-120"/>
              </a:rPr>
              <a:t>Next: Lesson 7.01 — How Can Mixtures Be Separated?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6.02 — Investigation: Conditions That Affect Dissolving</dc:title>
  <dc:subject>PptxGenJS Presentation</dc:subject>
  <dc:creator>PptxGenJS</dc:creator>
  <cp:lastModifiedBy>PptxGenJS</cp:lastModifiedBy>
  <cp:revision>1</cp:revision>
  <dcterms:created xsi:type="dcterms:W3CDTF">2026-07-16T18:50:48Z</dcterms:created>
  <dcterms:modified xsi:type="dcterms:W3CDTF">2026-07-16T18:50:48Z</dcterms:modified>
</cp:coreProperties>
</file>