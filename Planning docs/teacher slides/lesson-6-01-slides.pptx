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Display or describe the two cups clearly. Ask: "The sugar is gone — is it still matter?"
This is the anchor question for the whole lesson. Return to it at the end.
Listen for: "It dissolved," "it mixed in," "it became invisible." All correct — push for WHY at the particle level.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write independently. This activates prior knowledge about particles from Lesson 3.
After writing: "Hold onto this. By the end you'll be able to explain this at the particle level with scientific vocabulary."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Stop here and ask: "If you dissolved sugar in water and it looks clear — is the sugar still there? How would you prove it?"
Target answer: taste it, evaporate the water and sugar remains. Connect back to conservation of mass (Lesson 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Q1: pull out the definition — a solution must look like ONE clear uniform liquid. Flour-water is cloudy = not fully dissolved = not a solution.
For Q2: the answer is BOTH — a solution of salt + a mixture with sand. You'd see particles at the bottom but clear water above.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the CER for salt aloud. Then ask students to build the CER for sand (insoluble) in pairs.
Push on reasoning: "What does 'spread evenly' tell us about the particles? Connect back to the particle diagram."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480560"/>
            <a:ext cx="9144000" cy="65836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1828800" cy="2743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· UNIT 2 — MATTER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51206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6.01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877824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Dissolves in Water?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E7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· Unit 2 — Matter   |   Week 6   |   SC.5.P.8.2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304288"/>
            <a:ext cx="8412480" cy="438912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35915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Tell the difference between dissolving and not dissolving.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807208"/>
            <a:ext cx="8412480" cy="438912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86207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Describe what makes a solution different from a mixture.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3310128"/>
            <a:ext cx="8412480" cy="438912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36499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Use evidence to argue whether a material is soluble.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5760" y="459028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 |  SC.5.P.8.2  |  Solutions and Dissolving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"/>
            <a:ext cx="1440180" cy="2743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4401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&amp; WONDER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Cups — Two Very Different Stories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115568"/>
            <a:ext cx="8412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B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identical cups of water. Same amount. Same stirring. Sugar goes in one — it disappears completely. Sand goes in the other — it sinks. Why do two materials behave so differently in the same liquid?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2048256"/>
            <a:ext cx="8412480" cy="62179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103120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  NOTICE: "What happened to the sugar? Where did it go?"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65760" y="2761488"/>
            <a:ext cx="8412480" cy="621792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816352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WONDER: "Why does the sand sink but the sugar disappears? What is different about those two materials?"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352044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E7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Think: use what you know about particles from earlier in Unit 2.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B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"/>
            <a:ext cx="1371600" cy="274320"/>
          </a:xfrm>
          <a:prstGeom prst="rect">
            <a:avLst/>
          </a:prstGeom>
          <a:solidFill>
            <a:srgbClr val="F07D35"/>
          </a:solidFill>
          <a:ln w="12700">
            <a:solidFill>
              <a:srgbClr val="F07D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Does Sugar Disappear But Sand Sinks?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5953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Prediction Prompt: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"Use what you know about particles to explain why sugar disappears in water but sand sinks. What do you think is happening at the particle level?"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" y="157276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2–3 sentences. You will return to this at the end of the lesson.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084832"/>
            <a:ext cx="8412480" cy="1024128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139696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prediction: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_____________________________________________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_____________________________________________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"/>
            <a:ext cx="1371600" cy="274320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Words for This Lesson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4114800" cy="1444752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77824"/>
            <a:ext cx="393192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💧  DISSOLVE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into particles too tiny to see and spreads evenly through a liquid. The matter is still there.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663440" y="822960"/>
            <a:ext cx="4114800" cy="1444752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877824"/>
            <a:ext cx="393192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🌊  SOLUTION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mixture where one substance has FULLY dissolved in another. Looks like one liquid — clear, not cloudy.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2395728"/>
            <a:ext cx="4114800" cy="1444752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450592"/>
            <a:ext cx="393192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SOLUBLE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dissolve in water. Examples: salt, sugar, baking soda.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663440" y="2395728"/>
            <a:ext cx="4114800" cy="1444752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2450592"/>
            <a:ext cx="393192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INSOLUBLE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dissolve in water. Examples: sand, chalk, oil.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"/>
            <a:ext cx="1371600" cy="274320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More Key Words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4114800" cy="1444752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77824"/>
            <a:ext cx="393192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🔀  MIXTURE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or more materials combined. A mixture can usually be separated. Not all mixtures are solutions.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663440" y="822960"/>
            <a:ext cx="4114800" cy="1444752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877824"/>
            <a:ext cx="393192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⚛  PARTICLE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tiny piece of matter. When a material dissolves, its particles spread evenly — they do NOT disappear.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2395728"/>
            <a:ext cx="8412480" cy="144475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450592"/>
            <a:ext cx="822960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KEY DIFFERENCE: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SOLUTION looks clear and uniform. A MIXTURE may be cloudy or settle over time.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Flour + water looks cloudy → NOT a solution. Salt + water looks clear → SOLUTION.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7C7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"/>
            <a:ext cx="1371600" cy="2743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Dissolving Looks Like at the Particle Level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B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material dissolves, its particles break apart and spread EVENLY through the liquid. The matter is still there — just too small to see.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4114800" cy="1691640"/>
          </a:xfrm>
          <a:prstGeom prst="rect">
            <a:avLst/>
          </a:prstGeom>
          <a:solidFill>
            <a:srgbClr val="0A5C5A"/>
          </a:solidFill>
          <a:ln w="12700">
            <a:solidFill>
              <a:srgbClr val="0A5C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72184"/>
            <a:ext cx="3931920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SOLUBLE (dissolves)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Particles break apart.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evenly → liquid looks clear.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is conserved.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recovered.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63440" y="1417320"/>
            <a:ext cx="4114800" cy="1691640"/>
          </a:xfrm>
          <a:prstGeom prst="rect">
            <a:avLst/>
          </a:prstGeom>
          <a:solidFill>
            <a:srgbClr val="0A5C5A"/>
          </a:solidFill>
          <a:ln w="12700">
            <a:solidFill>
              <a:srgbClr val="0A5C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1472184"/>
            <a:ext cx="3931920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INSOLUBLE (does NOT dissolve)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Particles clump together.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 to bottom or stay cloudy.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is conserved.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often be filtered.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" y="32461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Unit 2: "When sugar dissolved in water earlier and mass stayed the same — NOW we know why. The particles were still there, just spread out."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B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"/>
            <a:ext cx="2061972" cy="2743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20619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EVIDENCE SHOWS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Materials — Two Categories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1828800" cy="402336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0467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286000" y="749808"/>
            <a:ext cx="4389120" cy="402336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77440" y="80467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766560" y="749808"/>
            <a:ext cx="2011680" cy="402336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0" y="80467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SOLUBLE?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1225296"/>
            <a:ext cx="1828800" cy="512064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280160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286000" y="1225296"/>
            <a:ext cx="4389120" cy="512064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77440" y="1280160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water + stir → clear liquid, no particles visible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766560" y="1225296"/>
            <a:ext cx="2011680" cy="512064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0" y="128016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A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SOLUBLE ✓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1810512"/>
            <a:ext cx="18288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1865376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286000" y="1810512"/>
            <a:ext cx="438912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377440" y="1865376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water + stir → settles to bottom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766560" y="1810512"/>
            <a:ext cx="201168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0" y="1865376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INSOLUBLE ✗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395728"/>
            <a:ext cx="1828800" cy="512064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2450592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Flour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286000" y="2395728"/>
            <a:ext cx="4389120" cy="512064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77440" y="2450592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water + stir → cloudy, particles visible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766560" y="2395728"/>
            <a:ext cx="2011680" cy="512064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0" y="2450592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INSOLUBLE ✗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65760" y="2980944"/>
            <a:ext cx="18288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3035808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Baking soda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2286000" y="2980944"/>
            <a:ext cx="438912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377440" y="3035808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water + stir → clear liquid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766560" y="2980944"/>
            <a:ext cx="201168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58000" y="3035808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A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SOLUBLE ✓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5760" y="3566160"/>
            <a:ext cx="1828800" cy="512064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3621024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2286000" y="3566160"/>
            <a:ext cx="4389120" cy="512064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377440" y="3621024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water + stir → separate layer, does not mix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766560" y="3566160"/>
            <a:ext cx="2011680" cy="512064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58000" y="3621024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INSOLUBLE ✗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365760" y="416052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and Think: If sugar dissolves and you can't see it — is it still matter? How could you PROVE it's still there?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B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"/>
            <a:ext cx="1517904" cy="2743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PARTICLE DIAGRAM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Dissolving vs. Not Dissolving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39319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804672"/>
            <a:ext cx="3749040" cy="402336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85953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SOLUBLE — Sugar in Water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097280" y="1463040"/>
            <a:ext cx="146304" cy="146304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28800" y="2011680"/>
            <a:ext cx="146304" cy="146304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34640" y="1645920"/>
            <a:ext cx="146304" cy="146304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45920" y="2743200"/>
            <a:ext cx="146304" cy="146304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60320" y="2377440"/>
            <a:ext cx="146304" cy="146304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2926080"/>
            <a:ext cx="146304" cy="146304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371600" y="2286000"/>
            <a:ext cx="146304" cy="146304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86000" y="1371600"/>
            <a:ext cx="146304" cy="146304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74720" y="1828800"/>
            <a:ext cx="146304" cy="146304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38328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Particles spread EVENLY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A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 looks CLEAR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A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is the same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54880" y="749808"/>
            <a:ext cx="39319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46320" y="804672"/>
            <a:ext cx="3749040" cy="40233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85953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INSOLUBLE — Sand in Water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29200" y="3474720"/>
            <a:ext cx="146304" cy="146304"/>
          </a:xfrm>
          <a:prstGeom prst="rect">
            <a:avLst/>
          </a:prstGeom>
          <a:solidFill>
            <a:srgbClr val="F07D35"/>
          </a:solidFill>
          <a:ln w="12700">
            <a:solidFill>
              <a:srgbClr val="F07D3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0" y="3429000"/>
            <a:ext cx="146304" cy="146304"/>
          </a:xfrm>
          <a:prstGeom prst="rect">
            <a:avLst/>
          </a:prstGeom>
          <a:solidFill>
            <a:srgbClr val="F07D35"/>
          </a:solidFill>
          <a:ln w="12700">
            <a:solidFill>
              <a:srgbClr val="F07D3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0" y="3474720"/>
            <a:ext cx="146304" cy="146304"/>
          </a:xfrm>
          <a:prstGeom prst="rect">
            <a:avLst/>
          </a:prstGeom>
          <a:solidFill>
            <a:srgbClr val="F07D35"/>
          </a:solidFill>
          <a:ln w="12700">
            <a:solidFill>
              <a:srgbClr val="F07D3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0" y="3429000"/>
            <a:ext cx="146304" cy="146304"/>
          </a:xfrm>
          <a:prstGeom prst="rect">
            <a:avLst/>
          </a:prstGeom>
          <a:solidFill>
            <a:srgbClr val="F07D35"/>
          </a:solidFill>
          <a:ln w="12700">
            <a:solidFill>
              <a:srgbClr val="F07D3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58000" y="3474720"/>
            <a:ext cx="146304" cy="146304"/>
          </a:xfrm>
          <a:prstGeom prst="rect">
            <a:avLst/>
          </a:prstGeom>
          <a:solidFill>
            <a:srgbClr val="F07D35"/>
          </a:solidFill>
          <a:ln w="12700">
            <a:solidFill>
              <a:srgbClr val="F07D3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15200" y="3429000"/>
            <a:ext cx="146304" cy="146304"/>
          </a:xfrm>
          <a:prstGeom prst="rect">
            <a:avLst/>
          </a:prstGeom>
          <a:solidFill>
            <a:srgbClr val="F07D35"/>
          </a:solidFill>
          <a:ln w="12700">
            <a:solidFill>
              <a:srgbClr val="F07D3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0" y="3474720"/>
            <a:ext cx="146304" cy="146304"/>
          </a:xfrm>
          <a:prstGeom prst="rect">
            <a:avLst/>
          </a:prstGeom>
          <a:solidFill>
            <a:srgbClr val="F07D35"/>
          </a:solidFill>
          <a:ln w="12700">
            <a:solidFill>
              <a:srgbClr val="F07D3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669280" y="3291840"/>
            <a:ext cx="146304" cy="146304"/>
          </a:xfrm>
          <a:prstGeom prst="rect">
            <a:avLst/>
          </a:prstGeom>
          <a:solidFill>
            <a:srgbClr val="F07D35"/>
          </a:solidFill>
          <a:ln w="12700">
            <a:solidFill>
              <a:srgbClr val="F07D3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132320" y="3291840"/>
            <a:ext cx="146304" cy="146304"/>
          </a:xfrm>
          <a:prstGeom prst="rect">
            <a:avLst/>
          </a:prstGeom>
          <a:solidFill>
            <a:srgbClr val="F07D35"/>
          </a:solidFill>
          <a:ln w="12700">
            <a:solidFill>
              <a:srgbClr val="F07D3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338328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Particles SINK to bottom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 looks CLOUDY or CLEAR above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is the same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"/>
            <a:ext cx="1371600" cy="274320"/>
          </a:xfrm>
          <a:prstGeom prst="rect">
            <a:avLst/>
          </a:prstGeom>
          <a:solidFill>
            <a:srgbClr val="2A7A4B"/>
          </a:solidFill>
          <a:ln w="12700">
            <a:solidFill>
              <a:srgbClr val="2A7A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Sort Five Materials: Soluble or Insoluble?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80467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B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evidence cards on the previous slide to sort each material. Write your reasoning for each — not just the answer.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389888"/>
            <a:ext cx="3200400" cy="493776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4475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0" y="1389888"/>
            <a:ext cx="5120640" cy="493776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49040" y="1444752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B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Clear liquid after stirring, no particles visible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1956816"/>
            <a:ext cx="3200400" cy="493776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01168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0" y="1956816"/>
            <a:ext cx="5120640" cy="493776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49040" y="201168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B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Settles to bottom quickly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2523744"/>
            <a:ext cx="3200400" cy="493776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57860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Flour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0" y="2523744"/>
            <a:ext cx="5120640" cy="493776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49040" y="257860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B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Cloudy water, visible particles remain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3090672"/>
            <a:ext cx="3200400" cy="493776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145536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Baking soda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0" y="3090672"/>
            <a:ext cx="5120640" cy="493776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49040" y="3145536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B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Clear liquid after stirring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65760" y="3657600"/>
            <a:ext cx="3200400" cy="493776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712464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0" y="3657600"/>
            <a:ext cx="5120640" cy="493776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49040" y="3712464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B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Forms a separate layer on top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65760" y="420624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material: (1) Write SOLUBLE or INSOLUBLE. (2) Write one sentence explaining the evidence.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B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"/>
            <a:ext cx="1906524" cy="2743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9065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 RESULTS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Record and Justify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2011680" cy="402336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0467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468880" y="749808"/>
            <a:ext cx="2377440" cy="402336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0" y="80467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937760" y="749808"/>
            <a:ext cx="1645920" cy="402336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80467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SOLUBLE?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675120" y="749808"/>
            <a:ext cx="2103120" cy="402336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66560" y="80467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SENTENCE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1225296"/>
            <a:ext cx="2011680" cy="493776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12801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468880" y="1225296"/>
            <a:ext cx="2377440" cy="493776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60320" y="128016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Clear, no particles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937760" y="1225296"/>
            <a:ext cx="1645920" cy="493776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0" y="12801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A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675120" y="1225296"/>
            <a:ext cx="2103120" cy="493776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66560" y="128016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Particles spread completely through liquid.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1792224"/>
            <a:ext cx="201168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184708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468880" y="1792224"/>
            <a:ext cx="237744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60320" y="184708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Settles to bottom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937760" y="1792224"/>
            <a:ext cx="164592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0" y="184708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675120" y="1792224"/>
            <a:ext cx="210312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66560" y="184708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Particles did not break apart or spread.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2359152"/>
            <a:ext cx="2011680" cy="493776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241401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Flour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468880" y="2359152"/>
            <a:ext cx="2377440" cy="493776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60320" y="2414016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Cloudy, particles visible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937760" y="2359152"/>
            <a:ext cx="1645920" cy="493776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0" y="2414016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675120" y="2359152"/>
            <a:ext cx="2103120" cy="493776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66560" y="241401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not fully dissolve — cloudy appearance.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65760" y="2926080"/>
            <a:ext cx="201168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298094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Baking soda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2468880" y="2926080"/>
            <a:ext cx="237744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560320" y="2980944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liquid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937760" y="2926080"/>
            <a:ext cx="164592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29200" y="298094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A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675120" y="2926080"/>
            <a:ext cx="210312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766560" y="298094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Particles broke apart and spread evenly.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65760" y="3493008"/>
            <a:ext cx="2011680" cy="493776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354787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2468880" y="3493008"/>
            <a:ext cx="2377440" cy="493776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560320" y="354787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layer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937760" y="3493008"/>
            <a:ext cx="1645920" cy="493776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029200" y="354787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6675120" y="3493008"/>
            <a:ext cx="2103120" cy="493776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766560" y="354787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not mix — formed a layer on top.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B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"/>
            <a:ext cx="1828800" cy="2743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YOUR THINKING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 in Complete Sentences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84124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77824"/>
            <a:ext cx="8229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Name TWO soluble materials and explain what happened to their particles when they dissolved.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938528"/>
            <a:ext cx="84124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993392"/>
            <a:ext cx="8229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Name TWO insoluble materials and explain why they did NOT dissolve — what did the particles do instead?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3054096"/>
            <a:ext cx="84124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108960"/>
            <a:ext cx="8229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If you dissolved salt in water, how could you get the dry salt back? Explain your method.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"/>
            <a:ext cx="1517904" cy="274320"/>
          </a:xfrm>
          <a:prstGeom prst="rect">
            <a:avLst/>
          </a:prstGeom>
          <a:solidFill>
            <a:srgbClr val="F07D35"/>
          </a:solidFill>
          <a:ln w="12700">
            <a:solidFill>
              <a:srgbClr val="F07D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&amp; DEFEND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Push Your Thinking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8412480" cy="1005840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77824"/>
            <a:ext cx="8229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"Flour makes water cloudy when you stir it — but it's not a solution. Is cloudy flour-water a solution? Use the definition of solution to argue your answer."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920240"/>
            <a:ext cx="8412480" cy="1005840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975104"/>
            <a:ext cx="8229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"If you mixed salt AND sand into water — would you see a solution, a mixture, or both? How would you tell them apart after stirring?"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" y="30632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Starters: "By definition, a solution must… so flour-water is NOT a solution because…" / "You would see both because salt ___ while sand ___"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"/>
            <a:ext cx="1371600" cy="274320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SCIENTIST TALK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Claim — Evidence — Reasoning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841248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7782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CLAIM:  "I claim salt is soluble in water because of what I observed when it was stirred in."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554480"/>
            <a:ext cx="8412480" cy="777240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09344"/>
            <a:ext cx="82296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EVIDENCE:  "When I stirred salt into water, the salt disappeared completely. The water remained clear. No particles settled to the bottom."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2423160"/>
            <a:ext cx="8412480" cy="777240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478024"/>
            <a:ext cx="82296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REASONING:  "This shows salt is soluble because its particles broke apart and spread evenly through the liquid, which is what dissolving means."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5760" y="331012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Part C: argue whether ONE specific material is soluble, using observations as evidence.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"/>
            <a:ext cx="1371600" cy="2743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SELF-CHECK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1 of 2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8412480" cy="658368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3210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 is stirred into water. The water looks completely clear. What happened to the salt?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536192"/>
            <a:ext cx="8412480" cy="56692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9105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It was destroyed and no longer exists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2176272"/>
            <a:ext cx="8412480" cy="566928"/>
          </a:xfrm>
          <a:prstGeom prst="rect">
            <a:avLst/>
          </a:prstGeom>
          <a:solidFill>
            <a:srgbClr val="2A7A4B"/>
          </a:solidFill>
          <a:ln w="12700">
            <a:solidFill>
              <a:srgbClr val="2A7A4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23113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Its particles spread evenly through the water  ✓  CORRECT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2816352"/>
            <a:ext cx="8412480" cy="566928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87121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It sank to the bottom of the cup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5760" y="3547872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Matter cannot be created or destroyed. The salt particles are still there — too tiny to see. Taste the water and you'll know.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"/>
            <a:ext cx="1371600" cy="2743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SELF-CHECK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2 of 2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8412480" cy="658368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3210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of these is a SOLUTION?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536192"/>
            <a:ext cx="8412480" cy="566928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9105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Sand mixed with water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2176272"/>
            <a:ext cx="8412480" cy="566928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23113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Oil mixed with water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2816352"/>
            <a:ext cx="8412480" cy="566928"/>
          </a:xfrm>
          <a:prstGeom prst="rect">
            <a:avLst/>
          </a:prstGeom>
          <a:solidFill>
            <a:srgbClr val="2A7A4B"/>
          </a:solidFill>
          <a:ln w="12700">
            <a:solidFill>
              <a:srgbClr val="2A7A4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87121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Salt mixed with water  ✓  CORRECT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5760" y="3547872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 settles — not a solution. Oil separates into layers — not a solution. Only salt dissolves completely and makes the liquid look uniform.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"/>
            <a:ext cx="1595628" cy="274320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5956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MIND-BLOWING FACT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Ocean Is a Giant Solution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1207008"/>
            <a:ext cx="8412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B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Ocean water is about 3.5% dissolved salt. That's roughly 50 million billion tons of dissolved salt in Earth's oceans. You cannot see it. You cannot filter it out. But it is definitely still there — and it shapes everything from ocean currents to which animals can survive there.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2395728"/>
            <a:ext cx="4114800" cy="1234440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450592"/>
            <a:ext cx="393192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🔭 Extension Q1: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could you get the salt out of ocean water? What method would you use — and how does it connect to what you learned about solutions?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63440" y="2395728"/>
            <a:ext cx="4114800" cy="1234440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2450592"/>
            <a:ext cx="393192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Extension Q2: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you dissolve TOO MUCH salt in water? What do you think happens when you keep adding more and more salt to a cup?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B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"/>
            <a:ext cx="1673352" cy="2743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PREVIEW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Will Turn In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84124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59536"/>
            <a:ext cx="82296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PART A — Particle-Level Comparison Diagram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two labeled panels: left = soluble material dissolving (particles spreading evenly), right = insoluble material (particles settling). Label what happens in each.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2084832"/>
            <a:ext cx="84124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139696"/>
            <a:ext cx="8229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PART B — Solubility Evidence Questions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(1) Explain in your own words what makes something soluble. (2) Why is flour NOT a solution when mixed with water? (3) How could you prove that dissolved salt is still present in water?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" y="321868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 and Revise Your Thinking are on the next slide.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B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"/>
            <a:ext cx="1751076" cy="2743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7510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— PART C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 — Defend a Solubility Claim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8412480" cy="5029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32104"/>
            <a:ext cx="8229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material from the investigation and defend whether it is soluble or insoluble.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8412480" cy="621792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26464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CLAIM:  "I claim ___ is [soluble/insoluble] in water because ..."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2066544"/>
            <a:ext cx="8412480" cy="621792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21408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EVIDENCE:  "When stirred into water, it [describe what happened to the particles / to the liquid appearance] ..."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2761488"/>
            <a:ext cx="8412480" cy="621792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816352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REASONING:  "This shows it is [soluble/insoluble] because [connect to particle behavior and the definition of dissolving] ..."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5760" y="354787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4 sentences. Use the words dissolve, particles, and solution or insoluble.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E7C7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"/>
            <a:ext cx="1828800" cy="2743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 YOUR THINKING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Return to Your Prediction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80467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B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what you wrote about sugar and sand at the beginning of the lesson.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841248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5331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Did your prediction mention particles? If yes, what did you say? If no, add a particle-level explanation now.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029968"/>
            <a:ext cx="841248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0848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You now know the sugar was still in the water all along. Does this change how you think about "disappearing" matter?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2761488"/>
            <a:ext cx="841248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816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Write 2–3 sentences revising your prediction: why does sugar dissolve but sand does not — at the particle level?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"/>
            <a:ext cx="1595628" cy="274320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5956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SUBMIT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6.01 — Submission Checklist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8412480" cy="521208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7043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Part A — Two-panel particle diagram: spreading particles (soluble) vs. settled particles (insoluble), both labeled.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709928"/>
            <a:ext cx="8412480" cy="521208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76479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Part B — Three evidence questions answered in complete sentences.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304288"/>
            <a:ext cx="8412480" cy="521208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35915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Part C — CER: claim + specific observation evidence + particle-level reasoning.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2898648"/>
            <a:ext cx="8412480" cy="521208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95351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Revise Your Thinking — 2–3 sentences with particle-level explanation.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3493008"/>
            <a:ext cx="8412480" cy="521208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54787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Vocab check — dissolve, solution, soluble, insoluble, particles used accurately.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422452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Lesson 6.02 — Investigation: Conditions That Affect Dissolving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6.01 — What Dissolves in Water?</dc:title>
  <dc:subject>PptxGenJS Presentation</dc:subject>
  <dc:creator>PptxGenJS</dc:creator>
  <cp:lastModifiedBy>PptxGenJS</cp:lastModifiedBy>
  <cp:revision>1</cp:revision>
  <dcterms:created xsi:type="dcterms:W3CDTF">2026-07-16T18:50:48Z</dcterms:created>
  <dcterms:modified xsi:type="dcterms:W3CDTF">2026-07-16T18:50:48Z</dcterms:modified>
</cp:coreProperties>
</file>