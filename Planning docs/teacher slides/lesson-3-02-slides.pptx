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Engage. The perfume scenario sets up gas particle movement.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Prediction.
Follow-up moves: "What makes you say that?" / "Can you say more?"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Key Concept. Students connect gas particle arrangement to the perfume phenomenon.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Discuss &amp; Defend.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Scientist Talk (CER).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Self-Check Q1.
Follow-up moves: "What makes you say that?" / "Can you say more?"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Self-Check Q2.
Follow-up moves: "What makes you say that?" / "Can you say more?"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Text 1"/>
          <p:cNvSpPr/>
          <p:nvPr/>
        </p:nvSpPr>
        <p:spPr>
          <a:xfrm>
            <a:off x="457200" y="365760"/>
            <a:ext cx="8229600" cy="411480"/>
          </a:xfrm>
          <a:prstGeom prst="rect">
            <a:avLst/>
          </a:prstGeom>
          <a:noFill/>
          <a:ln/>
        </p:spPr>
        <p:txBody>
          <a:bodyPr wrap="square" rtlCol="0" anchor="ctr"/>
          <a:lstStyle/>
          <a:p>
            <a:pPr indent="0" marL="0">
              <a:buNone/>
            </a:pPr>
            <a:r>
              <a:rPr lang="en-US" sz="1600" b="1" dirty="0">
                <a:solidFill>
                  <a:srgbClr val="F6C90E"/>
                </a:solidFill>
                <a:latin typeface="Calibri" pitchFamily="34" charset="0"/>
                <a:ea typeface="Calibri" pitchFamily="34" charset="-122"/>
                <a:cs typeface="Calibri" pitchFamily="34" charset="-120"/>
              </a:rPr>
              <a:t>Lesson 3.02</a:t>
            </a:r>
            <a:endParaRPr lang="en-US" sz="1600" dirty="0"/>
          </a:p>
        </p:txBody>
      </p:sp>
      <p:sp>
        <p:nvSpPr>
          <p:cNvPr id="4" name="Text 2"/>
          <p:cNvSpPr/>
          <p:nvPr/>
        </p:nvSpPr>
        <p:spPr>
          <a:xfrm>
            <a:off x="457200" y="822960"/>
            <a:ext cx="8229600" cy="77724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Model: Matter Made of Particles</a:t>
            </a:r>
            <a:endParaRPr lang="en-US" sz="3600" dirty="0"/>
          </a:p>
        </p:txBody>
      </p:sp>
      <p:sp>
        <p:nvSpPr>
          <p:cNvPr id="5" name="Shape 3"/>
          <p:cNvSpPr/>
          <p:nvPr/>
        </p:nvSpPr>
        <p:spPr>
          <a:xfrm>
            <a:off x="457200" y="1719072"/>
            <a:ext cx="8229600" cy="320040"/>
          </a:xfrm>
          <a:prstGeom prst="rect">
            <a:avLst/>
          </a:prstGeom>
          <a:solidFill>
            <a:srgbClr val="2C4A6E"/>
          </a:solidFill>
          <a:ln w="12700">
            <a:solidFill>
              <a:srgbClr val="2C4A6E"/>
            </a:solidFill>
            <a:prstDash val="solid"/>
          </a:ln>
        </p:spPr>
      </p:sp>
      <p:sp>
        <p:nvSpPr>
          <p:cNvPr id="6" name="Text 4"/>
          <p:cNvSpPr/>
          <p:nvPr/>
        </p:nvSpPr>
        <p:spPr>
          <a:xfrm>
            <a:off x="548640" y="1773936"/>
            <a:ext cx="8046720" cy="21031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Q1 · Unit 2 — Matter  |  Week 3  |  5-PS1-1</a:t>
            </a:r>
            <a:endParaRPr lang="en-US" sz="1200" dirty="0"/>
          </a:p>
        </p:txBody>
      </p:sp>
      <p:sp>
        <p:nvSpPr>
          <p:cNvPr id="7" name="Text 5"/>
          <p:cNvSpPr/>
          <p:nvPr/>
        </p:nvSpPr>
        <p:spPr>
          <a:xfrm>
            <a:off x="457200" y="2176272"/>
            <a:ext cx="1828800" cy="27432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I Can…</a:t>
            </a:r>
            <a:endParaRPr lang="en-US" sz="1200" dirty="0"/>
          </a:p>
        </p:txBody>
      </p:sp>
      <p:sp>
        <p:nvSpPr>
          <p:cNvPr id="8" name="Shape 6"/>
          <p:cNvSpPr/>
          <p:nvPr/>
        </p:nvSpPr>
        <p:spPr>
          <a:xfrm>
            <a:off x="457200" y="2487168"/>
            <a:ext cx="8229600" cy="438912"/>
          </a:xfrm>
          <a:prstGeom prst="rect">
            <a:avLst/>
          </a:prstGeom>
          <a:solidFill>
            <a:srgbClr val="2C4A6E"/>
          </a:solidFill>
          <a:ln w="12700">
            <a:solidFill>
              <a:srgbClr val="2C4A6E"/>
            </a:solidFill>
            <a:prstDash val="solid"/>
          </a:ln>
        </p:spPr>
      </p:sp>
      <p:sp>
        <p:nvSpPr>
          <p:cNvPr id="9" name="Text 7"/>
          <p:cNvSpPr/>
          <p:nvPr/>
        </p:nvSpPr>
        <p:spPr>
          <a:xfrm>
            <a:off x="548640" y="2542032"/>
            <a:ext cx="804672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1.  Build a particle model that shows how matter is arranged in three different forms.</a:t>
            </a:r>
            <a:endParaRPr lang="en-US" sz="1300" dirty="0"/>
          </a:p>
        </p:txBody>
      </p:sp>
      <p:sp>
        <p:nvSpPr>
          <p:cNvPr id="10" name="Shape 8"/>
          <p:cNvSpPr/>
          <p:nvPr/>
        </p:nvSpPr>
        <p:spPr>
          <a:xfrm>
            <a:off x="457200" y="2962656"/>
            <a:ext cx="8229600" cy="438912"/>
          </a:xfrm>
          <a:prstGeom prst="rect">
            <a:avLst/>
          </a:prstGeom>
          <a:solidFill>
            <a:srgbClr val="2C4A6E"/>
          </a:solidFill>
          <a:ln w="12700">
            <a:solidFill>
              <a:srgbClr val="2C4A6E"/>
            </a:solidFill>
            <a:prstDash val="solid"/>
          </a:ln>
        </p:spPr>
      </p:sp>
      <p:sp>
        <p:nvSpPr>
          <p:cNvPr id="11" name="Text 9"/>
          <p:cNvSpPr/>
          <p:nvPr/>
        </p:nvSpPr>
        <p:spPr>
          <a:xfrm>
            <a:off x="548640" y="3017520"/>
            <a:ext cx="804672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2.  Explain what my model shows AND what it does NOT show.</a:t>
            </a:r>
            <a:endParaRPr lang="en-US" sz="1300" dirty="0"/>
          </a:p>
        </p:txBody>
      </p:sp>
      <p:sp>
        <p:nvSpPr>
          <p:cNvPr id="12" name="Shape 10"/>
          <p:cNvSpPr/>
          <p:nvPr/>
        </p:nvSpPr>
        <p:spPr>
          <a:xfrm>
            <a:off x="457200" y="3438144"/>
            <a:ext cx="8229600" cy="438912"/>
          </a:xfrm>
          <a:prstGeom prst="rect">
            <a:avLst/>
          </a:prstGeom>
          <a:solidFill>
            <a:srgbClr val="2C4A6E"/>
          </a:solidFill>
          <a:ln w="12700">
            <a:solidFill>
              <a:srgbClr val="2C4A6E"/>
            </a:solidFill>
            <a:prstDash val="solid"/>
          </a:ln>
        </p:spPr>
      </p:sp>
      <p:sp>
        <p:nvSpPr>
          <p:cNvPr id="13" name="Text 11"/>
          <p:cNvSpPr/>
          <p:nvPr/>
        </p:nvSpPr>
        <p:spPr>
          <a:xfrm>
            <a:off x="548640" y="3493008"/>
            <a:ext cx="804672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3.  Use my model to explain something I observed about matter.</a:t>
            </a:r>
            <a:endParaRPr lang="en-US" sz="1300" dirty="0"/>
          </a:p>
        </p:txBody>
      </p:sp>
      <p:sp>
        <p:nvSpPr>
          <p:cNvPr id="14" name="Shape 12"/>
          <p:cNvSpPr/>
          <p:nvPr/>
        </p:nvSpPr>
        <p:spPr>
          <a:xfrm>
            <a:off x="0" y="4800600"/>
            <a:ext cx="9144000" cy="347472"/>
          </a:xfrm>
          <a:prstGeom prst="rect">
            <a:avLst/>
          </a:prstGeom>
          <a:solidFill>
            <a:srgbClr val="0E7C7B"/>
          </a:solidFill>
          <a:ln w="12700">
            <a:solidFill>
              <a:srgbClr val="0E7C7B"/>
            </a:solidFill>
            <a:prstDash val="solid"/>
          </a:ln>
        </p:spPr>
      </p:sp>
      <p:sp>
        <p:nvSpPr>
          <p:cNvPr id="15" name="Text 13"/>
          <p:cNvSpPr/>
          <p:nvPr/>
        </p:nvSpPr>
        <p:spPr>
          <a:xfrm>
            <a:off x="0" y="4800600"/>
            <a:ext cx="914400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Optima Academy Online  ·  5th Grade Science  ·  Week 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74320"/>
            <a:ext cx="1440180" cy="274320"/>
          </a:xfrm>
          <a:prstGeom prst="rect">
            <a:avLst/>
          </a:prstGeom>
          <a:solidFill>
            <a:srgbClr val="0E7C7B"/>
          </a:solidFill>
          <a:ln w="12700">
            <a:solidFill>
              <a:srgbClr val="0E7C7B"/>
            </a:solidFill>
            <a:prstDash val="solid"/>
          </a:ln>
        </p:spPr>
      </p:sp>
      <p:sp>
        <p:nvSpPr>
          <p:cNvPr id="4" name="Text 2"/>
          <p:cNvSpPr/>
          <p:nvPr/>
        </p:nvSpPr>
        <p:spPr>
          <a:xfrm>
            <a:off x="457200" y="274320"/>
            <a:ext cx="14401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5" name="Text 3"/>
          <p:cNvSpPr/>
          <p:nvPr/>
        </p:nvSpPr>
        <p:spPr>
          <a:xfrm>
            <a:off x="457200" y="68580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How Did the Perfume Cross the Room?</a:t>
            </a:r>
            <a:endParaRPr lang="en-US" sz="2800" dirty="0"/>
          </a:p>
        </p:txBody>
      </p:sp>
      <p:sp>
        <p:nvSpPr>
          <p:cNvPr id="6" name="Shape 4"/>
          <p:cNvSpPr/>
          <p:nvPr/>
        </p:nvSpPr>
        <p:spPr>
          <a:xfrm>
            <a:off x="457200" y="1417320"/>
            <a:ext cx="8229600" cy="868680"/>
          </a:xfrm>
          <a:prstGeom prst="rect">
            <a:avLst/>
          </a:prstGeom>
          <a:solidFill>
            <a:srgbClr val="2C4A6E"/>
          </a:solidFill>
          <a:ln w="12700">
            <a:solidFill>
              <a:srgbClr val="2C4A6E"/>
            </a:solidFill>
            <a:prstDash val="solid"/>
          </a:ln>
        </p:spPr>
      </p:sp>
      <p:sp>
        <p:nvSpPr>
          <p:cNvPr id="7" name="Text 5"/>
          <p:cNvSpPr/>
          <p:nvPr/>
        </p:nvSpPr>
        <p:spPr>
          <a:xfrm>
            <a:off x="548640" y="1472184"/>
            <a:ext cx="8046720" cy="75895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Someone opens a bottle of perfume across the room. No fan is on. Nobody moves. Five minutes later, you smell it clearly at your desk. How did those particles get from the bottle all the way to your nose?</a:t>
            </a:r>
            <a:endParaRPr lang="en-US" sz="1400" dirty="0"/>
          </a:p>
        </p:txBody>
      </p:sp>
      <p:sp>
        <p:nvSpPr>
          <p:cNvPr id="8" name="Text 6"/>
          <p:cNvSpPr/>
          <p:nvPr/>
        </p:nvSpPr>
        <p:spPr>
          <a:xfrm>
            <a:off x="457200" y="2423160"/>
            <a:ext cx="8229600" cy="27432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Notice &amp; Wonder:</a:t>
            </a:r>
            <a:endParaRPr lang="en-US" sz="1200" dirty="0"/>
          </a:p>
        </p:txBody>
      </p:sp>
      <p:sp>
        <p:nvSpPr>
          <p:cNvPr id="9" name="Shape 7"/>
          <p:cNvSpPr/>
          <p:nvPr/>
        </p:nvSpPr>
        <p:spPr>
          <a:xfrm>
            <a:off x="457200" y="2743200"/>
            <a:ext cx="8229600" cy="530352"/>
          </a:xfrm>
          <a:prstGeom prst="rect">
            <a:avLst/>
          </a:prstGeom>
          <a:solidFill>
            <a:srgbClr val="1A3A5C"/>
          </a:solidFill>
          <a:ln w="12700">
            <a:solidFill>
              <a:srgbClr val="1A3A5C"/>
            </a:solidFill>
            <a:prstDash val="solid"/>
          </a:ln>
        </p:spPr>
      </p:sp>
      <p:sp>
        <p:nvSpPr>
          <p:cNvPr id="10" name="Text 8"/>
          <p:cNvSpPr/>
          <p:nvPr/>
        </p:nvSpPr>
        <p:spPr>
          <a:xfrm>
            <a:off x="548640" y="2798064"/>
            <a:ext cx="8046720" cy="4206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What do you notice about this situation that is puzzling?</a:t>
            </a:r>
            <a:endParaRPr lang="en-US" sz="1400" dirty="0"/>
          </a:p>
        </p:txBody>
      </p:sp>
      <p:sp>
        <p:nvSpPr>
          <p:cNvPr id="11" name="Shape 9"/>
          <p:cNvSpPr/>
          <p:nvPr/>
        </p:nvSpPr>
        <p:spPr>
          <a:xfrm>
            <a:off x="457200" y="3337560"/>
            <a:ext cx="8229600" cy="530352"/>
          </a:xfrm>
          <a:prstGeom prst="rect">
            <a:avLst/>
          </a:prstGeom>
          <a:solidFill>
            <a:srgbClr val="1A3A5C"/>
          </a:solidFill>
          <a:ln w="12700">
            <a:solidFill>
              <a:srgbClr val="1A3A5C"/>
            </a:solidFill>
            <a:prstDash val="solid"/>
          </a:ln>
        </p:spPr>
      </p:sp>
      <p:sp>
        <p:nvSpPr>
          <p:cNvPr id="12" name="Text 10"/>
          <p:cNvSpPr/>
          <p:nvPr/>
        </p:nvSpPr>
        <p:spPr>
          <a:xfrm>
            <a:off x="548640" y="3392424"/>
            <a:ext cx="8046720" cy="4206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What do you wonder about how particles move through air?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457200" y="274320"/>
            <a:ext cx="818388" cy="274320"/>
          </a:xfrm>
          <a:prstGeom prst="rect">
            <a:avLst/>
          </a:prstGeom>
          <a:solidFill>
            <a:srgbClr val="F07D35"/>
          </a:solidFill>
          <a:ln w="12700">
            <a:solidFill>
              <a:srgbClr val="F07D35"/>
            </a:solidFill>
            <a:prstDash val="solid"/>
          </a:ln>
        </p:spPr>
      </p:sp>
      <p:sp>
        <p:nvSpPr>
          <p:cNvPr id="4" name="Text 2"/>
          <p:cNvSpPr/>
          <p:nvPr/>
        </p:nvSpPr>
        <p:spPr>
          <a:xfrm>
            <a:off x="457200" y="274320"/>
            <a:ext cx="81838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5" name="Text 3"/>
          <p:cNvSpPr/>
          <p:nvPr/>
        </p:nvSpPr>
        <p:spPr>
          <a:xfrm>
            <a:off x="457200" y="658368"/>
            <a:ext cx="8229600" cy="457200"/>
          </a:xfrm>
          <a:prstGeom prst="rect">
            <a:avLst/>
          </a:prstGeom>
          <a:noFill/>
          <a:ln/>
        </p:spPr>
        <p:txBody>
          <a:bodyPr wrap="square" rtlCol="0" anchor="ctr"/>
          <a:lstStyle/>
          <a:p>
            <a:pPr indent="0" marL="0">
              <a:buNone/>
            </a:pPr>
            <a:r>
              <a:rPr lang="en-US" sz="2600" b="1" dirty="0">
                <a:solidFill>
                  <a:srgbClr val="1A1A2E"/>
                </a:solidFill>
                <a:latin typeface="Cambria" pitchFamily="34" charset="0"/>
                <a:ea typeface="Cambria" pitchFamily="34" charset="-122"/>
                <a:cs typeface="Cambria" pitchFamily="34" charset="-120"/>
              </a:rPr>
              <a:t>What Do Gas Particles Look Like?</a:t>
            </a:r>
            <a:endParaRPr lang="en-US" sz="2600" dirty="0"/>
          </a:p>
        </p:txBody>
      </p:sp>
      <p:sp>
        <p:nvSpPr>
          <p:cNvPr id="6" name="Shape 4"/>
          <p:cNvSpPr/>
          <p:nvPr/>
        </p:nvSpPr>
        <p:spPr>
          <a:xfrm>
            <a:off x="457200" y="1234440"/>
            <a:ext cx="8229600" cy="640080"/>
          </a:xfrm>
          <a:prstGeom prst="rect">
            <a:avLst/>
          </a:prstGeom>
          <a:solidFill>
            <a:srgbClr val="FFFFFF"/>
          </a:solidFill>
          <a:ln w="12700">
            <a:solidFill>
              <a:srgbClr val="FFFFFF"/>
            </a:solidFill>
            <a:prstDash val="solid"/>
          </a:ln>
        </p:spPr>
      </p:sp>
      <p:sp>
        <p:nvSpPr>
          <p:cNvPr id="7" name="Text 5"/>
          <p:cNvSpPr/>
          <p:nvPr/>
        </p:nvSpPr>
        <p:spPr>
          <a:xfrm>
            <a:off x="548640" y="1289304"/>
            <a:ext cx="8046720" cy="53035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Write in your notebook: If you could shrink down and watch, what would the particles in the air look like? What would they be doing? Draw a quick sketch and write 2 sentences.</a:t>
            </a:r>
            <a:endParaRPr lang="en-US" sz="1400" dirty="0"/>
          </a:p>
        </p:txBody>
      </p:sp>
      <p:sp>
        <p:nvSpPr>
          <p:cNvPr id="8" name="Text 6"/>
          <p:cNvSpPr/>
          <p:nvPr/>
        </p:nvSpPr>
        <p:spPr>
          <a:xfrm>
            <a:off x="457200" y="1993392"/>
            <a:ext cx="8229600" cy="274320"/>
          </a:xfrm>
          <a:prstGeom prst="rect">
            <a:avLst/>
          </a:prstGeom>
          <a:noFill/>
          <a:ln/>
        </p:spPr>
        <p:txBody>
          <a:bodyPr wrap="square" rtlCol="0" anchor="ctr"/>
          <a:lstStyle/>
          <a:p>
            <a:pPr indent="0" marL="0">
              <a:buNone/>
            </a:pPr>
            <a:r>
              <a:rPr lang="en-US" sz="1200" b="1" dirty="0">
                <a:solidFill>
                  <a:srgbClr val="2C4A6E"/>
                </a:solidFill>
                <a:latin typeface="Calibri" pitchFamily="34" charset="0"/>
                <a:ea typeface="Calibri" pitchFamily="34" charset="-122"/>
                <a:cs typeface="Calibri" pitchFamily="34" charset="-120"/>
              </a:rPr>
              <a:t>Think about:</a:t>
            </a:r>
            <a:endParaRPr lang="en-US" sz="1200" dirty="0"/>
          </a:p>
        </p:txBody>
      </p:sp>
      <p:sp>
        <p:nvSpPr>
          <p:cNvPr id="9" name="Shape 7"/>
          <p:cNvSpPr/>
          <p:nvPr/>
        </p:nvSpPr>
        <p:spPr>
          <a:xfrm>
            <a:off x="457200" y="2304288"/>
            <a:ext cx="3931920" cy="685800"/>
          </a:xfrm>
          <a:prstGeom prst="rect">
            <a:avLst/>
          </a:prstGeom>
          <a:solidFill>
            <a:srgbClr val="D6EAF8"/>
          </a:solidFill>
          <a:ln w="12700">
            <a:solidFill>
              <a:srgbClr val="D6EAF8"/>
            </a:solidFill>
            <a:prstDash val="solid"/>
          </a:ln>
        </p:spPr>
      </p:sp>
      <p:sp>
        <p:nvSpPr>
          <p:cNvPr id="10" name="Text 8"/>
          <p:cNvSpPr/>
          <p:nvPr/>
        </p:nvSpPr>
        <p:spPr>
          <a:xfrm>
            <a:off x="548640" y="2359152"/>
            <a:ext cx="3749040" cy="5760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Are the particles packed close together or spread far apart?</a:t>
            </a:r>
            <a:endParaRPr lang="en-US" sz="1300" dirty="0"/>
          </a:p>
        </p:txBody>
      </p:sp>
      <p:sp>
        <p:nvSpPr>
          <p:cNvPr id="11" name="Shape 9"/>
          <p:cNvSpPr/>
          <p:nvPr/>
        </p:nvSpPr>
        <p:spPr>
          <a:xfrm>
            <a:off x="4663440" y="2304288"/>
            <a:ext cx="3931920" cy="685800"/>
          </a:xfrm>
          <a:prstGeom prst="rect">
            <a:avLst/>
          </a:prstGeom>
          <a:solidFill>
            <a:srgbClr val="D6EAF8"/>
          </a:solidFill>
          <a:ln w="12700">
            <a:solidFill>
              <a:srgbClr val="D6EAF8"/>
            </a:solidFill>
            <a:prstDash val="solid"/>
          </a:ln>
        </p:spPr>
      </p:sp>
      <p:sp>
        <p:nvSpPr>
          <p:cNvPr id="12" name="Text 10"/>
          <p:cNvSpPr/>
          <p:nvPr/>
        </p:nvSpPr>
        <p:spPr>
          <a:xfrm>
            <a:off x="4754880" y="2359152"/>
            <a:ext cx="3749040" cy="5760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Are the particles still, or are they moving? If moving — fast or slow?</a:t>
            </a:r>
            <a:endParaRPr lang="en-US" sz="1300" dirty="0"/>
          </a:p>
        </p:txBody>
      </p:sp>
      <p:sp>
        <p:nvSpPr>
          <p:cNvPr id="13" name="Shape 11"/>
          <p:cNvSpPr/>
          <p:nvPr/>
        </p:nvSpPr>
        <p:spPr>
          <a:xfrm>
            <a:off x="457200" y="3090672"/>
            <a:ext cx="8229600" cy="566928"/>
          </a:xfrm>
          <a:prstGeom prst="rect">
            <a:avLst/>
          </a:prstGeom>
          <a:solidFill>
            <a:srgbClr val="1A3A5C"/>
          </a:solidFill>
          <a:ln w="12700">
            <a:solidFill>
              <a:srgbClr val="1A3A5C"/>
            </a:solidFill>
            <a:prstDash val="solid"/>
          </a:ln>
        </p:spPr>
      </p:sp>
      <p:sp>
        <p:nvSpPr>
          <p:cNvPr id="14" name="Text 12"/>
          <p:cNvSpPr/>
          <p:nvPr/>
        </p:nvSpPr>
        <p:spPr>
          <a:xfrm>
            <a:off x="548640" y="3145536"/>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Sketch your prediction in your notebook. Label it. You will compare it to the real model later.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051560" cy="274320"/>
          </a:xfrm>
          <a:prstGeom prst="rect">
            <a:avLst/>
          </a:prstGeom>
          <a:solidFill>
            <a:srgbClr val="F6C90E"/>
          </a:solidFill>
          <a:ln w="12700">
            <a:solidFill>
              <a:srgbClr val="F6C90E"/>
            </a:solidFill>
            <a:prstDash val="solid"/>
          </a:ln>
        </p:spPr>
      </p:sp>
      <p:sp>
        <p:nvSpPr>
          <p:cNvPr id="4" name="Text 2"/>
          <p:cNvSpPr/>
          <p:nvPr/>
        </p:nvSpPr>
        <p:spPr>
          <a:xfrm>
            <a:off x="457200" y="27432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457200" y="685800"/>
            <a:ext cx="8229600" cy="384048"/>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Key Words — Review + New</a:t>
            </a:r>
            <a:endParaRPr lang="en-US" sz="2400" dirty="0"/>
          </a:p>
        </p:txBody>
      </p:sp>
      <p:sp>
        <p:nvSpPr>
          <p:cNvPr id="6" name="Shape 4"/>
          <p:cNvSpPr/>
          <p:nvPr/>
        </p:nvSpPr>
        <p:spPr>
          <a:xfrm>
            <a:off x="457200" y="1170432"/>
            <a:ext cx="3931920" cy="1828800"/>
          </a:xfrm>
          <a:prstGeom prst="rect">
            <a:avLst/>
          </a:prstGeom>
          <a:solidFill>
            <a:srgbClr val="2E86AB"/>
          </a:solidFill>
          <a:ln w="12700">
            <a:solidFill>
              <a:srgbClr val="2E86AB"/>
            </a:solidFill>
            <a:prstDash val="solid"/>
          </a:ln>
        </p:spPr>
      </p:sp>
      <p:sp>
        <p:nvSpPr>
          <p:cNvPr id="7" name="Text 5"/>
          <p:cNvSpPr/>
          <p:nvPr/>
        </p:nvSpPr>
        <p:spPr>
          <a:xfrm>
            <a:off x="548640" y="1261872"/>
            <a:ext cx="3749040" cy="365760"/>
          </a:xfrm>
          <a:prstGeom prst="rect">
            <a:avLst/>
          </a:prstGeom>
          <a:noFill/>
          <a:ln/>
        </p:spPr>
        <p:txBody>
          <a:bodyPr wrap="square" rtlCol="0" anchor="ctr"/>
          <a:lstStyle/>
          <a:p>
            <a:pPr indent="0" marL="0">
              <a:buNone/>
            </a:pPr>
            <a:r>
              <a:rPr lang="en-US" sz="2200" b="1" dirty="0">
                <a:solidFill>
                  <a:srgbClr val="F6C90E"/>
                </a:solidFill>
                <a:latin typeface="Cambria" pitchFamily="34" charset="0"/>
                <a:ea typeface="Cambria" pitchFamily="34" charset="-122"/>
                <a:cs typeface="Cambria" pitchFamily="34" charset="-120"/>
              </a:rPr>
              <a:t>model</a:t>
            </a:r>
            <a:endParaRPr lang="en-US" sz="2200" dirty="0"/>
          </a:p>
        </p:txBody>
      </p:sp>
      <p:sp>
        <p:nvSpPr>
          <p:cNvPr id="8" name="Text 6"/>
          <p:cNvSpPr/>
          <p:nvPr/>
        </p:nvSpPr>
        <p:spPr>
          <a:xfrm>
            <a:off x="548640" y="1691640"/>
            <a:ext cx="3749040" cy="8046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NEW: A drawing or physical object scientists use to show something they cannot easily see or measure directly.</a:t>
            </a:r>
            <a:endParaRPr lang="en-US" sz="1400" dirty="0"/>
          </a:p>
        </p:txBody>
      </p:sp>
      <p:sp>
        <p:nvSpPr>
          <p:cNvPr id="9" name="Text 7"/>
          <p:cNvSpPr/>
          <p:nvPr/>
        </p:nvSpPr>
        <p:spPr>
          <a:xfrm>
            <a:off x="548640" y="2542032"/>
            <a:ext cx="3749040" cy="384048"/>
          </a:xfrm>
          <a:prstGeom prst="rect">
            <a:avLst/>
          </a:prstGeom>
          <a:noFill/>
          <a:ln/>
        </p:spPr>
        <p:txBody>
          <a:bodyPr wrap="square" rtlCol="0" anchor="ctr"/>
          <a:lstStyle/>
          <a:p>
            <a:pPr indent="0" marL="0">
              <a:buNone/>
            </a:pPr>
            <a:r>
              <a:rPr lang="en-US" sz="1200" dirty="0">
                <a:solidFill>
                  <a:srgbClr val="B8D4F0"/>
                </a:solidFill>
                <a:latin typeface="Calibri" pitchFamily="34" charset="0"/>
                <a:ea typeface="Calibri" pitchFamily="34" charset="-122"/>
                <a:cs typeface="Calibri" pitchFamily="34" charset="-120"/>
              </a:rPr>
              <a:t>A model is useful even when it is not perfect.</a:t>
            </a:r>
            <a:endParaRPr lang="en-US" sz="1200" dirty="0"/>
          </a:p>
        </p:txBody>
      </p:sp>
      <p:sp>
        <p:nvSpPr>
          <p:cNvPr id="10" name="Shape 8"/>
          <p:cNvSpPr/>
          <p:nvPr/>
        </p:nvSpPr>
        <p:spPr>
          <a:xfrm>
            <a:off x="4754880" y="1170432"/>
            <a:ext cx="3931920" cy="1828800"/>
          </a:xfrm>
          <a:prstGeom prst="rect">
            <a:avLst/>
          </a:prstGeom>
          <a:solidFill>
            <a:srgbClr val="0E7C7B"/>
          </a:solidFill>
          <a:ln w="12700">
            <a:solidFill>
              <a:srgbClr val="0E7C7B"/>
            </a:solidFill>
            <a:prstDash val="solid"/>
          </a:ln>
        </p:spPr>
      </p:sp>
      <p:sp>
        <p:nvSpPr>
          <p:cNvPr id="11" name="Text 9"/>
          <p:cNvSpPr/>
          <p:nvPr/>
        </p:nvSpPr>
        <p:spPr>
          <a:xfrm>
            <a:off x="4846320" y="1261872"/>
            <a:ext cx="3749040" cy="365760"/>
          </a:xfrm>
          <a:prstGeom prst="rect">
            <a:avLst/>
          </a:prstGeom>
          <a:noFill/>
          <a:ln/>
        </p:spPr>
        <p:txBody>
          <a:bodyPr wrap="square" rtlCol="0" anchor="ctr"/>
          <a:lstStyle/>
          <a:p>
            <a:pPr indent="0" marL="0">
              <a:buNone/>
            </a:pPr>
            <a:r>
              <a:rPr lang="en-US" sz="2200" b="1" dirty="0">
                <a:solidFill>
                  <a:srgbClr val="F6C90E"/>
                </a:solidFill>
                <a:latin typeface="Cambria" pitchFamily="34" charset="0"/>
                <a:ea typeface="Cambria" pitchFamily="34" charset="-122"/>
                <a:cs typeface="Cambria" pitchFamily="34" charset="-120"/>
              </a:rPr>
              <a:t>particle</a:t>
            </a:r>
            <a:endParaRPr lang="en-US" sz="2200" dirty="0"/>
          </a:p>
        </p:txBody>
      </p:sp>
      <p:sp>
        <p:nvSpPr>
          <p:cNvPr id="12" name="Text 10"/>
          <p:cNvSpPr/>
          <p:nvPr/>
        </p:nvSpPr>
        <p:spPr>
          <a:xfrm>
            <a:off x="4846320" y="1691640"/>
            <a:ext cx="3749040" cy="8046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Review: A tiny piece of matter — too small to see. All matter is made of particles.</a:t>
            </a:r>
            <a:endParaRPr lang="en-US" sz="1400" dirty="0"/>
          </a:p>
        </p:txBody>
      </p:sp>
      <p:sp>
        <p:nvSpPr>
          <p:cNvPr id="13" name="Text 11"/>
          <p:cNvSpPr/>
          <p:nvPr/>
        </p:nvSpPr>
        <p:spPr>
          <a:xfrm>
            <a:off x="4846320" y="2542032"/>
            <a:ext cx="3749040" cy="384048"/>
          </a:xfrm>
          <a:prstGeom prst="rect">
            <a:avLst/>
          </a:prstGeom>
          <a:noFill/>
          <a:ln/>
        </p:spPr>
        <p:txBody>
          <a:bodyPr wrap="square" rtlCol="0" anchor="ctr"/>
          <a:lstStyle/>
          <a:p>
            <a:pPr indent="0" marL="0">
              <a:buNone/>
            </a:pPr>
            <a:r>
              <a:rPr lang="en-US" sz="1200" dirty="0">
                <a:solidFill>
                  <a:srgbClr val="B8EAE8"/>
                </a:solidFill>
                <a:latin typeface="Calibri" pitchFamily="34" charset="0"/>
                <a:ea typeface="Calibri" pitchFamily="34" charset="-122"/>
                <a:cs typeface="Calibri" pitchFamily="34" charset="-120"/>
              </a:rPr>
              <a:t>The perfume particles are floating through the air — you cannot see them but they have mass.</a:t>
            </a:r>
            <a:endParaRPr lang="en-US" sz="1200" dirty="0"/>
          </a:p>
        </p:txBody>
      </p:sp>
      <p:sp>
        <p:nvSpPr>
          <p:cNvPr id="14" name="Shape 12"/>
          <p:cNvSpPr/>
          <p:nvPr/>
        </p:nvSpPr>
        <p:spPr>
          <a:xfrm>
            <a:off x="457200" y="3154680"/>
            <a:ext cx="8229600" cy="621792"/>
          </a:xfrm>
          <a:prstGeom prst="rect">
            <a:avLst/>
          </a:prstGeom>
          <a:solidFill>
            <a:srgbClr val="2C4A6E"/>
          </a:solidFill>
          <a:ln w="12700">
            <a:solidFill>
              <a:srgbClr val="2C4A6E"/>
            </a:solidFill>
            <a:prstDash val="solid"/>
          </a:ln>
        </p:spPr>
      </p:sp>
      <p:sp>
        <p:nvSpPr>
          <p:cNvPr id="15" name="Text 13"/>
          <p:cNvSpPr/>
          <p:nvPr/>
        </p:nvSpPr>
        <p:spPr>
          <a:xfrm>
            <a:off x="548640" y="3209544"/>
            <a:ext cx="8046720" cy="51206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Also review: matter, mass, volume, property — all from Lesson 3.01. A particle model shows ARRANGEMENT of particles, even though the particles themselves are millions of times smaller.</a:t>
            </a:r>
            <a:endParaRPr lang="en-US" sz="1200" dirty="0"/>
          </a:p>
        </p:txBody>
      </p:sp>
      <p:sp>
        <p:nvSpPr>
          <p:cNvPr id="16" name="Shape 14"/>
          <p:cNvSpPr/>
          <p:nvPr/>
        </p:nvSpPr>
        <p:spPr>
          <a:xfrm>
            <a:off x="0" y="4800600"/>
            <a:ext cx="9144000" cy="347472"/>
          </a:xfrm>
          <a:prstGeom prst="rect">
            <a:avLst/>
          </a:prstGeom>
          <a:solidFill>
            <a:srgbClr val="0E7C7B"/>
          </a:solidFill>
          <a:ln w="12700">
            <a:solidFill>
              <a:srgbClr val="0E7C7B"/>
            </a:solidFill>
            <a:prstDash val="solid"/>
          </a:ln>
        </p:spPr>
      </p:sp>
      <p:sp>
        <p:nvSpPr>
          <p:cNvPr id="17" name="Text 15"/>
          <p:cNvSpPr/>
          <p:nvPr/>
        </p:nvSpPr>
        <p:spPr>
          <a:xfrm>
            <a:off x="0" y="4800600"/>
            <a:ext cx="914400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Lesson 3.02  ·  5-PS1-1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051560" cy="274320"/>
          </a:xfrm>
          <a:prstGeom prst="rect">
            <a:avLst/>
          </a:prstGeom>
          <a:solidFill>
            <a:srgbClr val="F6C90E"/>
          </a:solidFill>
          <a:ln w="12700">
            <a:solidFill>
              <a:srgbClr val="F6C90E"/>
            </a:solidFill>
            <a:prstDash val="solid"/>
          </a:ln>
        </p:spPr>
      </p:sp>
      <p:sp>
        <p:nvSpPr>
          <p:cNvPr id="4" name="Text 2"/>
          <p:cNvSpPr/>
          <p:nvPr/>
        </p:nvSpPr>
        <p:spPr>
          <a:xfrm>
            <a:off x="457200" y="27432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457200" y="685800"/>
            <a:ext cx="8229600" cy="384048"/>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What a Model Shows — and Does Not Show</a:t>
            </a:r>
            <a:endParaRPr lang="en-US" sz="2200" dirty="0"/>
          </a:p>
        </p:txBody>
      </p:sp>
      <p:sp>
        <p:nvSpPr>
          <p:cNvPr id="6" name="Shape 4"/>
          <p:cNvSpPr/>
          <p:nvPr/>
        </p:nvSpPr>
        <p:spPr>
          <a:xfrm>
            <a:off x="457200" y="1170432"/>
            <a:ext cx="3931920" cy="2011680"/>
          </a:xfrm>
          <a:prstGeom prst="rect">
            <a:avLst/>
          </a:prstGeom>
          <a:solidFill>
            <a:srgbClr val="2A7A4B"/>
          </a:solidFill>
          <a:ln w="12700">
            <a:solidFill>
              <a:srgbClr val="2A7A4B"/>
            </a:solidFill>
            <a:prstDash val="solid"/>
          </a:ln>
        </p:spPr>
      </p:sp>
      <p:sp>
        <p:nvSpPr>
          <p:cNvPr id="7" name="Text 5"/>
          <p:cNvSpPr/>
          <p:nvPr/>
        </p:nvSpPr>
        <p:spPr>
          <a:xfrm>
            <a:off x="548640" y="1261872"/>
            <a:ext cx="3749040" cy="365760"/>
          </a:xfrm>
          <a:prstGeom prst="rect">
            <a:avLst/>
          </a:prstGeom>
          <a:noFill/>
          <a:ln/>
        </p:spPr>
        <p:txBody>
          <a:bodyPr wrap="square" rtlCol="0" anchor="ctr"/>
          <a:lstStyle/>
          <a:p>
            <a:pPr indent="0" marL="0">
              <a:buNone/>
            </a:pPr>
            <a:r>
              <a:rPr lang="en-US" sz="1800" b="1" dirty="0">
                <a:solidFill>
                  <a:srgbClr val="F6C90E"/>
                </a:solidFill>
                <a:latin typeface="Cambria" pitchFamily="34" charset="0"/>
                <a:ea typeface="Cambria" pitchFamily="34" charset="-122"/>
                <a:cs typeface="Cambria" pitchFamily="34" charset="-120"/>
              </a:rPr>
              <a:t>What it SHOWS</a:t>
            </a:r>
            <a:endParaRPr lang="en-US" sz="1800" dirty="0"/>
          </a:p>
        </p:txBody>
      </p:sp>
      <p:sp>
        <p:nvSpPr>
          <p:cNvPr id="8" name="Text 6"/>
          <p:cNvSpPr/>
          <p:nvPr/>
        </p:nvSpPr>
        <p:spPr>
          <a:xfrm>
            <a:off x="548640" y="1691640"/>
            <a:ext cx="3749040" cy="14173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How particles are arranged relative to each other</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Whether they are close together or spread apart</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The general pattern of the three states</a:t>
            </a:r>
            <a:endParaRPr lang="en-US" sz="1300" dirty="0"/>
          </a:p>
        </p:txBody>
      </p:sp>
      <p:sp>
        <p:nvSpPr>
          <p:cNvPr id="9" name="Shape 7"/>
          <p:cNvSpPr/>
          <p:nvPr/>
        </p:nvSpPr>
        <p:spPr>
          <a:xfrm>
            <a:off x="4754880" y="1170432"/>
            <a:ext cx="3931920" cy="2011680"/>
          </a:xfrm>
          <a:prstGeom prst="rect">
            <a:avLst/>
          </a:prstGeom>
          <a:solidFill>
            <a:srgbClr val="B5390E"/>
          </a:solidFill>
          <a:ln w="12700">
            <a:solidFill>
              <a:srgbClr val="B5390E"/>
            </a:solidFill>
            <a:prstDash val="solid"/>
          </a:ln>
        </p:spPr>
      </p:sp>
      <p:sp>
        <p:nvSpPr>
          <p:cNvPr id="10" name="Text 8"/>
          <p:cNvSpPr/>
          <p:nvPr/>
        </p:nvSpPr>
        <p:spPr>
          <a:xfrm>
            <a:off x="4846320" y="1261872"/>
            <a:ext cx="374904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What it does NOT show</a:t>
            </a:r>
            <a:endParaRPr lang="en-US" sz="1800" dirty="0"/>
          </a:p>
        </p:txBody>
      </p:sp>
      <p:sp>
        <p:nvSpPr>
          <p:cNvPr id="11" name="Text 9"/>
          <p:cNvSpPr/>
          <p:nvPr/>
        </p:nvSpPr>
        <p:spPr>
          <a:xfrm>
            <a:off x="4846320" y="1691640"/>
            <a:ext cx="3749040" cy="14173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actual tiny size of particles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How fast particles are moving</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The temperature of the substance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The type of particle (what substance it is)</a:t>
            </a:r>
            <a:endParaRPr lang="en-US" sz="1300" dirty="0"/>
          </a:p>
        </p:txBody>
      </p:sp>
      <p:sp>
        <p:nvSpPr>
          <p:cNvPr id="12" name="Shape 10"/>
          <p:cNvSpPr/>
          <p:nvPr/>
        </p:nvSpPr>
        <p:spPr>
          <a:xfrm>
            <a:off x="457200" y="3310128"/>
            <a:ext cx="8229600" cy="713232"/>
          </a:xfrm>
          <a:prstGeom prst="rect">
            <a:avLst/>
          </a:prstGeom>
          <a:solidFill>
            <a:srgbClr val="2C4A6E"/>
          </a:solidFill>
          <a:ln w="12700">
            <a:solidFill>
              <a:srgbClr val="2C4A6E"/>
            </a:solidFill>
            <a:prstDash val="solid"/>
          </a:ln>
        </p:spPr>
      </p:sp>
      <p:sp>
        <p:nvSpPr>
          <p:cNvPr id="13" name="Text 11"/>
          <p:cNvSpPr/>
          <p:nvPr/>
        </p:nvSpPr>
        <p:spPr>
          <a:xfrm>
            <a:off x="548640" y="3364992"/>
            <a:ext cx="8046720" cy="6035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model is still useful even when it is not perfect. Scientists use models to understand things that are too small, too big, or too fast to observe directly.</a:t>
            </a:r>
            <a:endParaRPr lang="en-US" sz="1300" dirty="0"/>
          </a:p>
        </p:txBody>
      </p:sp>
      <p:sp>
        <p:nvSpPr>
          <p:cNvPr id="14" name="Shape 12"/>
          <p:cNvSpPr/>
          <p:nvPr/>
        </p:nvSpPr>
        <p:spPr>
          <a:xfrm>
            <a:off x="0" y="4800600"/>
            <a:ext cx="9144000" cy="347472"/>
          </a:xfrm>
          <a:prstGeom prst="rect">
            <a:avLst/>
          </a:prstGeom>
          <a:solidFill>
            <a:srgbClr val="0E7C7B"/>
          </a:solidFill>
          <a:ln w="12700">
            <a:solidFill>
              <a:srgbClr val="0E7C7B"/>
            </a:solidFill>
            <a:prstDash val="solid"/>
          </a:ln>
        </p:spPr>
      </p:sp>
      <p:sp>
        <p:nvSpPr>
          <p:cNvPr id="15" name="Text 13"/>
          <p:cNvSpPr/>
          <p:nvPr/>
        </p:nvSpPr>
        <p:spPr>
          <a:xfrm>
            <a:off x="0" y="4800600"/>
            <a:ext cx="914400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Lesson 3.02  ·  5-PS1-1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7C7B"/>
          </a:solidFill>
          <a:ln w="12700">
            <a:solidFill>
              <a:srgbClr val="0E7C7B"/>
            </a:solidFill>
            <a:prstDash val="solid"/>
          </a:ln>
        </p:spPr>
      </p:sp>
      <p:sp>
        <p:nvSpPr>
          <p:cNvPr id="3" name="Shape 1"/>
          <p:cNvSpPr/>
          <p:nvPr/>
        </p:nvSpPr>
        <p:spPr>
          <a:xfrm>
            <a:off x="457200" y="274320"/>
            <a:ext cx="1129284" cy="274320"/>
          </a:xfrm>
          <a:prstGeom prst="rect">
            <a:avLst/>
          </a:prstGeom>
          <a:solidFill>
            <a:srgbClr val="1A3A5C"/>
          </a:solidFill>
          <a:ln w="12700">
            <a:solidFill>
              <a:srgbClr val="1A3A5C"/>
            </a:solidFill>
            <a:prstDash val="solid"/>
          </a:ln>
        </p:spPr>
      </p:sp>
      <p:sp>
        <p:nvSpPr>
          <p:cNvPr id="4" name="Text 2"/>
          <p:cNvSpPr/>
          <p:nvPr/>
        </p:nvSpPr>
        <p:spPr>
          <a:xfrm>
            <a:off x="457200" y="274320"/>
            <a:ext cx="112928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5" name="Text 3"/>
          <p:cNvSpPr/>
          <p:nvPr/>
        </p:nvSpPr>
        <p:spPr>
          <a:xfrm>
            <a:off x="457200" y="685800"/>
            <a:ext cx="8229600" cy="45720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Particle Arrangement in the Three States</a:t>
            </a:r>
            <a:endParaRPr lang="en-US" sz="2600" dirty="0"/>
          </a:p>
        </p:txBody>
      </p:sp>
      <p:sp>
        <p:nvSpPr>
          <p:cNvPr id="6" name="Shape 4"/>
          <p:cNvSpPr/>
          <p:nvPr/>
        </p:nvSpPr>
        <p:spPr>
          <a:xfrm>
            <a:off x="365760" y="1298448"/>
            <a:ext cx="2697480" cy="1600200"/>
          </a:xfrm>
          <a:prstGeom prst="rect">
            <a:avLst/>
          </a:prstGeom>
          <a:solidFill>
            <a:srgbClr val="1B4F72"/>
          </a:solidFill>
          <a:ln w="12700">
            <a:solidFill>
              <a:srgbClr val="1B4F72"/>
            </a:solidFill>
            <a:prstDash val="solid"/>
          </a:ln>
        </p:spPr>
      </p:sp>
      <p:sp>
        <p:nvSpPr>
          <p:cNvPr id="7" name="Text 5"/>
          <p:cNvSpPr/>
          <p:nvPr/>
        </p:nvSpPr>
        <p:spPr>
          <a:xfrm>
            <a:off x="457200" y="1389888"/>
            <a:ext cx="2514600" cy="347472"/>
          </a:xfrm>
          <a:prstGeom prst="rect">
            <a:avLst/>
          </a:prstGeom>
          <a:noFill/>
          <a:ln/>
        </p:spPr>
        <p:txBody>
          <a:bodyPr wrap="square" rtlCol="0" anchor="ctr"/>
          <a:lstStyle/>
          <a:p>
            <a:pPr algn="ctr" indent="0" marL="0">
              <a:buNone/>
            </a:pPr>
            <a:r>
              <a:rPr lang="en-US" sz="1600" b="1" dirty="0">
                <a:solidFill>
                  <a:srgbClr val="F6C90E"/>
                </a:solidFill>
                <a:latin typeface="Calibri" pitchFamily="34" charset="0"/>
                <a:ea typeface="Calibri" pitchFamily="34" charset="-122"/>
                <a:cs typeface="Calibri" pitchFamily="34" charset="-120"/>
              </a:rPr>
              <a:t>SOLID</a:t>
            </a:r>
            <a:endParaRPr lang="en-US" sz="1600" dirty="0"/>
          </a:p>
        </p:txBody>
      </p:sp>
      <p:sp>
        <p:nvSpPr>
          <p:cNvPr id="8" name="Text 6"/>
          <p:cNvSpPr/>
          <p:nvPr/>
        </p:nvSpPr>
        <p:spPr>
          <a:xfrm>
            <a:off x="457200" y="1792224"/>
            <a:ext cx="2514600" cy="1024128"/>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Particles tightly packed, barely move, keep their shape.</a:t>
            </a:r>
            <a:endParaRPr lang="en-US" sz="1300" dirty="0"/>
          </a:p>
        </p:txBody>
      </p:sp>
      <p:sp>
        <p:nvSpPr>
          <p:cNvPr id="9" name="Shape 7"/>
          <p:cNvSpPr/>
          <p:nvPr/>
        </p:nvSpPr>
        <p:spPr>
          <a:xfrm>
            <a:off x="3200400" y="1298448"/>
            <a:ext cx="2697480" cy="1600200"/>
          </a:xfrm>
          <a:prstGeom prst="rect">
            <a:avLst/>
          </a:prstGeom>
          <a:solidFill>
            <a:srgbClr val="075F5F"/>
          </a:solidFill>
          <a:ln w="12700">
            <a:solidFill>
              <a:srgbClr val="075F5F"/>
            </a:solidFill>
            <a:prstDash val="solid"/>
          </a:ln>
        </p:spPr>
      </p:sp>
      <p:sp>
        <p:nvSpPr>
          <p:cNvPr id="10" name="Text 8"/>
          <p:cNvSpPr/>
          <p:nvPr/>
        </p:nvSpPr>
        <p:spPr>
          <a:xfrm>
            <a:off x="3291840" y="1389888"/>
            <a:ext cx="2514600" cy="347472"/>
          </a:xfrm>
          <a:prstGeom prst="rect">
            <a:avLst/>
          </a:prstGeom>
          <a:noFill/>
          <a:ln/>
        </p:spPr>
        <p:txBody>
          <a:bodyPr wrap="square" rtlCol="0" anchor="ctr"/>
          <a:lstStyle/>
          <a:p>
            <a:pPr algn="ctr" indent="0" marL="0">
              <a:buNone/>
            </a:pPr>
            <a:r>
              <a:rPr lang="en-US" sz="1600" b="1" dirty="0">
                <a:solidFill>
                  <a:srgbClr val="F6C90E"/>
                </a:solidFill>
                <a:latin typeface="Calibri" pitchFamily="34" charset="0"/>
                <a:ea typeface="Calibri" pitchFamily="34" charset="-122"/>
                <a:cs typeface="Calibri" pitchFamily="34" charset="-120"/>
              </a:rPr>
              <a:t>LIQUID</a:t>
            </a:r>
            <a:endParaRPr lang="en-US" sz="1600" dirty="0"/>
          </a:p>
        </p:txBody>
      </p:sp>
      <p:sp>
        <p:nvSpPr>
          <p:cNvPr id="11" name="Text 9"/>
          <p:cNvSpPr/>
          <p:nvPr/>
        </p:nvSpPr>
        <p:spPr>
          <a:xfrm>
            <a:off x="3291840" y="1792224"/>
            <a:ext cx="2514600" cy="1024128"/>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Particles close, can slide past each other, takes container shape.</a:t>
            </a:r>
            <a:endParaRPr lang="en-US" sz="1300" dirty="0"/>
          </a:p>
        </p:txBody>
      </p:sp>
      <p:sp>
        <p:nvSpPr>
          <p:cNvPr id="12" name="Shape 10"/>
          <p:cNvSpPr/>
          <p:nvPr/>
        </p:nvSpPr>
        <p:spPr>
          <a:xfrm>
            <a:off x="6035040" y="1298448"/>
            <a:ext cx="2697480" cy="1600200"/>
          </a:xfrm>
          <a:prstGeom prst="rect">
            <a:avLst/>
          </a:prstGeom>
          <a:solidFill>
            <a:srgbClr val="2A7A4B"/>
          </a:solidFill>
          <a:ln w="12700">
            <a:solidFill>
              <a:srgbClr val="2A7A4B"/>
            </a:solidFill>
            <a:prstDash val="solid"/>
          </a:ln>
        </p:spPr>
      </p:sp>
      <p:sp>
        <p:nvSpPr>
          <p:cNvPr id="13" name="Text 11"/>
          <p:cNvSpPr/>
          <p:nvPr/>
        </p:nvSpPr>
        <p:spPr>
          <a:xfrm>
            <a:off x="6126480" y="1389888"/>
            <a:ext cx="2514600" cy="347472"/>
          </a:xfrm>
          <a:prstGeom prst="rect">
            <a:avLst/>
          </a:prstGeom>
          <a:noFill/>
          <a:ln/>
        </p:spPr>
        <p:txBody>
          <a:bodyPr wrap="square" rtlCol="0" anchor="ctr"/>
          <a:lstStyle/>
          <a:p>
            <a:pPr algn="ctr" indent="0" marL="0">
              <a:buNone/>
            </a:pPr>
            <a:r>
              <a:rPr lang="en-US" sz="1600" b="1" dirty="0">
                <a:solidFill>
                  <a:srgbClr val="F6C90E"/>
                </a:solidFill>
                <a:latin typeface="Calibri" pitchFamily="34" charset="0"/>
                <a:ea typeface="Calibri" pitchFamily="34" charset="-122"/>
                <a:cs typeface="Calibri" pitchFamily="34" charset="-120"/>
              </a:rPr>
              <a:t>GAS</a:t>
            </a:r>
            <a:endParaRPr lang="en-US" sz="1600" dirty="0"/>
          </a:p>
        </p:txBody>
      </p:sp>
      <p:sp>
        <p:nvSpPr>
          <p:cNvPr id="14" name="Text 12"/>
          <p:cNvSpPr/>
          <p:nvPr/>
        </p:nvSpPr>
        <p:spPr>
          <a:xfrm>
            <a:off x="6126480" y="1792224"/>
            <a:ext cx="2514600" cy="1024128"/>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Particles spread far apart, move fast, fill any container.</a:t>
            </a:r>
            <a:endParaRPr lang="en-US" sz="1300" dirty="0"/>
          </a:p>
        </p:txBody>
      </p:sp>
      <p:sp>
        <p:nvSpPr>
          <p:cNvPr id="15" name="Text 13"/>
          <p:cNvSpPr/>
          <p:nvPr/>
        </p:nvSpPr>
        <p:spPr>
          <a:xfrm>
            <a:off x="457200" y="3017520"/>
            <a:ext cx="8229600" cy="22860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Stop and Think:</a:t>
            </a:r>
            <a:endParaRPr lang="en-US" sz="1200" dirty="0"/>
          </a:p>
        </p:txBody>
      </p:sp>
      <p:sp>
        <p:nvSpPr>
          <p:cNvPr id="16" name="Shape 14"/>
          <p:cNvSpPr/>
          <p:nvPr/>
        </p:nvSpPr>
        <p:spPr>
          <a:xfrm>
            <a:off x="457200" y="3273552"/>
            <a:ext cx="8229600" cy="658368"/>
          </a:xfrm>
          <a:prstGeom prst="rect">
            <a:avLst/>
          </a:prstGeom>
          <a:solidFill>
            <a:srgbClr val="075F5F"/>
          </a:solidFill>
          <a:ln w="12700">
            <a:solidFill>
              <a:srgbClr val="075F5F"/>
            </a:solidFill>
            <a:prstDash val="solid"/>
          </a:ln>
        </p:spPr>
      </p:sp>
      <p:sp>
        <p:nvSpPr>
          <p:cNvPr id="17" name="Text 15"/>
          <p:cNvSpPr/>
          <p:nvPr/>
        </p:nvSpPr>
        <p:spPr>
          <a:xfrm>
            <a:off x="548640" y="3328416"/>
            <a:ext cx="804672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Look at the three state descriptions. Which state best explains how perfume traveled across the room? What does that tell you about gas particle arrangement?</a:t>
            </a:r>
            <a:endParaRPr lang="en-US" sz="1400" dirty="0"/>
          </a:p>
        </p:txBody>
      </p:sp>
      <p:sp>
        <p:nvSpPr>
          <p:cNvPr id="18" name="Shape 16"/>
          <p:cNvSpPr/>
          <p:nvPr/>
        </p:nvSpPr>
        <p:spPr>
          <a:xfrm>
            <a:off x="457200" y="4041648"/>
            <a:ext cx="8229600" cy="384048"/>
          </a:xfrm>
          <a:prstGeom prst="rect">
            <a:avLst/>
          </a:prstGeom>
          <a:solidFill>
            <a:srgbClr val="1A3A5C"/>
          </a:solidFill>
          <a:ln w="12700">
            <a:solidFill>
              <a:srgbClr val="1A3A5C"/>
            </a:solidFill>
            <a:prstDash val="solid"/>
          </a:ln>
        </p:spPr>
      </p:sp>
      <p:sp>
        <p:nvSpPr>
          <p:cNvPr id="19" name="Text 17"/>
          <p:cNvSpPr/>
          <p:nvPr/>
        </p:nvSpPr>
        <p:spPr>
          <a:xfrm>
            <a:off x="548640" y="4096512"/>
            <a:ext cx="8046720" cy="27432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Models show ARRANGEMENT — but NOT actual size. Real particles are millions of times smaller than anything you can see.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384048"/>
          </a:xfrm>
          <a:prstGeom prst="rect">
            <a:avLst/>
          </a:prstGeom>
          <a:noFill/>
          <a:ln/>
        </p:spPr>
        <p:txBody>
          <a:bodyPr wrap="square" rtlCol="0" anchor="ctr"/>
          <a:lstStyle/>
          <a:p>
            <a:pPr indent="0" marL="0">
              <a:buNone/>
            </a:pPr>
            <a:r>
              <a:rPr lang="en-US" sz="2400" b="1" dirty="0">
                <a:solidFill>
                  <a:srgbClr val="1A3A5C"/>
                </a:solidFill>
                <a:latin typeface="Cambria" pitchFamily="34" charset="0"/>
                <a:ea typeface="Cambria" pitchFamily="34" charset="-122"/>
                <a:cs typeface="Cambria" pitchFamily="34" charset="-120"/>
              </a:rPr>
              <a:t>Three States — Particle Arrangement</a:t>
            </a:r>
            <a:endParaRPr lang="en-US" sz="2400" dirty="0"/>
          </a:p>
        </p:txBody>
      </p:sp>
      <p:sp>
        <p:nvSpPr>
          <p:cNvPr id="4" name="Shape 2"/>
          <p:cNvSpPr/>
          <p:nvPr/>
        </p:nvSpPr>
        <p:spPr>
          <a:xfrm>
            <a:off x="274320" y="640080"/>
            <a:ext cx="2743200" cy="4160520"/>
          </a:xfrm>
          <a:prstGeom prst="rect">
            <a:avLst/>
          </a:prstGeom>
          <a:solidFill>
            <a:srgbClr val="E8F4FD"/>
          </a:solidFill>
          <a:ln w="12700">
            <a:solidFill>
              <a:srgbClr val="E8F4FD"/>
            </a:solidFill>
            <a:prstDash val="solid"/>
          </a:ln>
        </p:spPr>
      </p:sp>
      <p:sp>
        <p:nvSpPr>
          <p:cNvPr id="5" name="Shape 3"/>
          <p:cNvSpPr/>
          <p:nvPr/>
        </p:nvSpPr>
        <p:spPr>
          <a:xfrm>
            <a:off x="274320" y="640080"/>
            <a:ext cx="2743200" cy="384048"/>
          </a:xfrm>
          <a:prstGeom prst="rect">
            <a:avLst/>
          </a:prstGeom>
          <a:solidFill>
            <a:srgbClr val="2E86AB"/>
          </a:solidFill>
          <a:ln w="12700">
            <a:solidFill>
              <a:srgbClr val="2E86AB"/>
            </a:solidFill>
            <a:prstDash val="solid"/>
          </a:ln>
        </p:spPr>
      </p:sp>
      <p:sp>
        <p:nvSpPr>
          <p:cNvPr id="6" name="Text 4"/>
          <p:cNvSpPr/>
          <p:nvPr/>
        </p:nvSpPr>
        <p:spPr>
          <a:xfrm>
            <a:off x="274320" y="640080"/>
            <a:ext cx="2743200"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SOLID</a:t>
            </a:r>
            <a:endParaRPr lang="en-US" sz="1600" dirty="0"/>
          </a:p>
        </p:txBody>
      </p:sp>
      <p:sp>
        <p:nvSpPr>
          <p:cNvPr id="7" name="Shape 5"/>
          <p:cNvSpPr/>
          <p:nvPr/>
        </p:nvSpPr>
        <p:spPr>
          <a:xfrm>
            <a:off x="594360" y="1143000"/>
            <a:ext cx="228600" cy="228600"/>
          </a:xfrm>
          <a:prstGeom prst="rect">
            <a:avLst/>
          </a:prstGeom>
          <a:solidFill>
            <a:srgbClr val="2E86AB"/>
          </a:solidFill>
          <a:ln w="12700">
            <a:solidFill>
              <a:srgbClr val="2E86AB"/>
            </a:solidFill>
            <a:prstDash val="solid"/>
          </a:ln>
        </p:spPr>
      </p:sp>
      <p:sp>
        <p:nvSpPr>
          <p:cNvPr id="8" name="Shape 6"/>
          <p:cNvSpPr/>
          <p:nvPr/>
        </p:nvSpPr>
        <p:spPr>
          <a:xfrm>
            <a:off x="941832" y="1143000"/>
            <a:ext cx="228600" cy="228600"/>
          </a:xfrm>
          <a:prstGeom prst="rect">
            <a:avLst/>
          </a:prstGeom>
          <a:solidFill>
            <a:srgbClr val="2E86AB"/>
          </a:solidFill>
          <a:ln w="12700">
            <a:solidFill>
              <a:srgbClr val="2E86AB"/>
            </a:solidFill>
            <a:prstDash val="solid"/>
          </a:ln>
        </p:spPr>
      </p:sp>
      <p:sp>
        <p:nvSpPr>
          <p:cNvPr id="9" name="Shape 7"/>
          <p:cNvSpPr/>
          <p:nvPr/>
        </p:nvSpPr>
        <p:spPr>
          <a:xfrm>
            <a:off x="1289304" y="1143000"/>
            <a:ext cx="228600" cy="228600"/>
          </a:xfrm>
          <a:prstGeom prst="rect">
            <a:avLst/>
          </a:prstGeom>
          <a:solidFill>
            <a:srgbClr val="2E86AB"/>
          </a:solidFill>
          <a:ln w="12700">
            <a:solidFill>
              <a:srgbClr val="2E86AB"/>
            </a:solidFill>
            <a:prstDash val="solid"/>
          </a:ln>
        </p:spPr>
      </p:sp>
      <p:sp>
        <p:nvSpPr>
          <p:cNvPr id="10" name="Shape 8"/>
          <p:cNvSpPr/>
          <p:nvPr/>
        </p:nvSpPr>
        <p:spPr>
          <a:xfrm>
            <a:off x="1636776" y="1143000"/>
            <a:ext cx="228600" cy="228600"/>
          </a:xfrm>
          <a:prstGeom prst="rect">
            <a:avLst/>
          </a:prstGeom>
          <a:solidFill>
            <a:srgbClr val="2E86AB"/>
          </a:solidFill>
          <a:ln w="12700">
            <a:solidFill>
              <a:srgbClr val="2E86AB"/>
            </a:solidFill>
            <a:prstDash val="solid"/>
          </a:ln>
        </p:spPr>
      </p:sp>
      <p:sp>
        <p:nvSpPr>
          <p:cNvPr id="11" name="Shape 9"/>
          <p:cNvSpPr/>
          <p:nvPr/>
        </p:nvSpPr>
        <p:spPr>
          <a:xfrm>
            <a:off x="594360" y="1490472"/>
            <a:ext cx="228600" cy="228600"/>
          </a:xfrm>
          <a:prstGeom prst="rect">
            <a:avLst/>
          </a:prstGeom>
          <a:solidFill>
            <a:srgbClr val="2E86AB"/>
          </a:solidFill>
          <a:ln w="12700">
            <a:solidFill>
              <a:srgbClr val="2E86AB"/>
            </a:solidFill>
            <a:prstDash val="solid"/>
          </a:ln>
        </p:spPr>
      </p:sp>
      <p:sp>
        <p:nvSpPr>
          <p:cNvPr id="12" name="Shape 10"/>
          <p:cNvSpPr/>
          <p:nvPr/>
        </p:nvSpPr>
        <p:spPr>
          <a:xfrm>
            <a:off x="941832" y="1490472"/>
            <a:ext cx="228600" cy="228600"/>
          </a:xfrm>
          <a:prstGeom prst="rect">
            <a:avLst/>
          </a:prstGeom>
          <a:solidFill>
            <a:srgbClr val="2E86AB"/>
          </a:solidFill>
          <a:ln w="12700">
            <a:solidFill>
              <a:srgbClr val="2E86AB"/>
            </a:solidFill>
            <a:prstDash val="solid"/>
          </a:ln>
        </p:spPr>
      </p:sp>
      <p:sp>
        <p:nvSpPr>
          <p:cNvPr id="13" name="Shape 11"/>
          <p:cNvSpPr/>
          <p:nvPr/>
        </p:nvSpPr>
        <p:spPr>
          <a:xfrm>
            <a:off x="1289304" y="1490472"/>
            <a:ext cx="228600" cy="228600"/>
          </a:xfrm>
          <a:prstGeom prst="rect">
            <a:avLst/>
          </a:prstGeom>
          <a:solidFill>
            <a:srgbClr val="2E86AB"/>
          </a:solidFill>
          <a:ln w="12700">
            <a:solidFill>
              <a:srgbClr val="2E86AB"/>
            </a:solidFill>
            <a:prstDash val="solid"/>
          </a:ln>
        </p:spPr>
      </p:sp>
      <p:sp>
        <p:nvSpPr>
          <p:cNvPr id="14" name="Shape 12"/>
          <p:cNvSpPr/>
          <p:nvPr/>
        </p:nvSpPr>
        <p:spPr>
          <a:xfrm>
            <a:off x="1636776" y="1490472"/>
            <a:ext cx="228600" cy="228600"/>
          </a:xfrm>
          <a:prstGeom prst="rect">
            <a:avLst/>
          </a:prstGeom>
          <a:solidFill>
            <a:srgbClr val="2E86AB"/>
          </a:solidFill>
          <a:ln w="12700">
            <a:solidFill>
              <a:srgbClr val="2E86AB"/>
            </a:solidFill>
            <a:prstDash val="solid"/>
          </a:ln>
        </p:spPr>
      </p:sp>
      <p:sp>
        <p:nvSpPr>
          <p:cNvPr id="15" name="Shape 13"/>
          <p:cNvSpPr/>
          <p:nvPr/>
        </p:nvSpPr>
        <p:spPr>
          <a:xfrm>
            <a:off x="594360" y="1837944"/>
            <a:ext cx="228600" cy="228600"/>
          </a:xfrm>
          <a:prstGeom prst="rect">
            <a:avLst/>
          </a:prstGeom>
          <a:solidFill>
            <a:srgbClr val="2E86AB"/>
          </a:solidFill>
          <a:ln w="12700">
            <a:solidFill>
              <a:srgbClr val="2E86AB"/>
            </a:solidFill>
            <a:prstDash val="solid"/>
          </a:ln>
        </p:spPr>
      </p:sp>
      <p:sp>
        <p:nvSpPr>
          <p:cNvPr id="16" name="Shape 14"/>
          <p:cNvSpPr/>
          <p:nvPr/>
        </p:nvSpPr>
        <p:spPr>
          <a:xfrm>
            <a:off x="941832" y="1837944"/>
            <a:ext cx="228600" cy="228600"/>
          </a:xfrm>
          <a:prstGeom prst="rect">
            <a:avLst/>
          </a:prstGeom>
          <a:solidFill>
            <a:srgbClr val="2E86AB"/>
          </a:solidFill>
          <a:ln w="12700">
            <a:solidFill>
              <a:srgbClr val="2E86AB"/>
            </a:solidFill>
            <a:prstDash val="solid"/>
          </a:ln>
        </p:spPr>
      </p:sp>
      <p:sp>
        <p:nvSpPr>
          <p:cNvPr id="17" name="Shape 15"/>
          <p:cNvSpPr/>
          <p:nvPr/>
        </p:nvSpPr>
        <p:spPr>
          <a:xfrm>
            <a:off x="1289304" y="1837944"/>
            <a:ext cx="228600" cy="228600"/>
          </a:xfrm>
          <a:prstGeom prst="rect">
            <a:avLst/>
          </a:prstGeom>
          <a:solidFill>
            <a:srgbClr val="2E86AB"/>
          </a:solidFill>
          <a:ln w="12700">
            <a:solidFill>
              <a:srgbClr val="2E86AB"/>
            </a:solidFill>
            <a:prstDash val="solid"/>
          </a:ln>
        </p:spPr>
      </p:sp>
      <p:sp>
        <p:nvSpPr>
          <p:cNvPr id="18" name="Shape 16"/>
          <p:cNvSpPr/>
          <p:nvPr/>
        </p:nvSpPr>
        <p:spPr>
          <a:xfrm>
            <a:off x="1636776" y="1837944"/>
            <a:ext cx="228600" cy="228600"/>
          </a:xfrm>
          <a:prstGeom prst="rect">
            <a:avLst/>
          </a:prstGeom>
          <a:solidFill>
            <a:srgbClr val="2E86AB"/>
          </a:solidFill>
          <a:ln w="12700">
            <a:solidFill>
              <a:srgbClr val="2E86AB"/>
            </a:solidFill>
            <a:prstDash val="solid"/>
          </a:ln>
        </p:spPr>
      </p:sp>
      <p:sp>
        <p:nvSpPr>
          <p:cNvPr id="19" name="Shape 17"/>
          <p:cNvSpPr/>
          <p:nvPr/>
        </p:nvSpPr>
        <p:spPr>
          <a:xfrm>
            <a:off x="594360" y="2185416"/>
            <a:ext cx="228600" cy="228600"/>
          </a:xfrm>
          <a:prstGeom prst="rect">
            <a:avLst/>
          </a:prstGeom>
          <a:solidFill>
            <a:srgbClr val="2E86AB"/>
          </a:solidFill>
          <a:ln w="12700">
            <a:solidFill>
              <a:srgbClr val="2E86AB"/>
            </a:solidFill>
            <a:prstDash val="solid"/>
          </a:ln>
        </p:spPr>
      </p:sp>
      <p:sp>
        <p:nvSpPr>
          <p:cNvPr id="20" name="Shape 18"/>
          <p:cNvSpPr/>
          <p:nvPr/>
        </p:nvSpPr>
        <p:spPr>
          <a:xfrm>
            <a:off x="941832" y="2185416"/>
            <a:ext cx="228600" cy="228600"/>
          </a:xfrm>
          <a:prstGeom prst="rect">
            <a:avLst/>
          </a:prstGeom>
          <a:solidFill>
            <a:srgbClr val="2E86AB"/>
          </a:solidFill>
          <a:ln w="12700">
            <a:solidFill>
              <a:srgbClr val="2E86AB"/>
            </a:solidFill>
            <a:prstDash val="solid"/>
          </a:ln>
        </p:spPr>
      </p:sp>
      <p:sp>
        <p:nvSpPr>
          <p:cNvPr id="21" name="Shape 19"/>
          <p:cNvSpPr/>
          <p:nvPr/>
        </p:nvSpPr>
        <p:spPr>
          <a:xfrm>
            <a:off x="1289304" y="2185416"/>
            <a:ext cx="228600" cy="228600"/>
          </a:xfrm>
          <a:prstGeom prst="rect">
            <a:avLst/>
          </a:prstGeom>
          <a:solidFill>
            <a:srgbClr val="2E86AB"/>
          </a:solidFill>
          <a:ln w="12700">
            <a:solidFill>
              <a:srgbClr val="2E86AB"/>
            </a:solidFill>
            <a:prstDash val="solid"/>
          </a:ln>
        </p:spPr>
      </p:sp>
      <p:sp>
        <p:nvSpPr>
          <p:cNvPr id="22" name="Shape 20"/>
          <p:cNvSpPr/>
          <p:nvPr/>
        </p:nvSpPr>
        <p:spPr>
          <a:xfrm>
            <a:off x="1636776" y="2185416"/>
            <a:ext cx="228600" cy="228600"/>
          </a:xfrm>
          <a:prstGeom prst="rect">
            <a:avLst/>
          </a:prstGeom>
          <a:solidFill>
            <a:srgbClr val="2E86AB"/>
          </a:solidFill>
          <a:ln w="12700">
            <a:solidFill>
              <a:srgbClr val="2E86AB"/>
            </a:solidFill>
            <a:prstDash val="solid"/>
          </a:ln>
        </p:spPr>
      </p:sp>
      <p:sp>
        <p:nvSpPr>
          <p:cNvPr id="23" name="Text 21"/>
          <p:cNvSpPr/>
          <p:nvPr/>
        </p:nvSpPr>
        <p:spPr>
          <a:xfrm>
            <a:off x="365760" y="3383280"/>
            <a:ext cx="2560320" cy="1280160"/>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Examples: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Rock, ice cube, pencil</a:t>
            </a:r>
            <a:endParaRPr lang="en-US" sz="1200" dirty="0"/>
          </a:p>
        </p:txBody>
      </p:sp>
      <p:sp>
        <p:nvSpPr>
          <p:cNvPr id="24" name="Shape 22"/>
          <p:cNvSpPr/>
          <p:nvPr/>
        </p:nvSpPr>
        <p:spPr>
          <a:xfrm>
            <a:off x="3200400" y="640080"/>
            <a:ext cx="2743200" cy="4160520"/>
          </a:xfrm>
          <a:prstGeom prst="rect">
            <a:avLst/>
          </a:prstGeom>
          <a:solidFill>
            <a:srgbClr val="E8FDF8"/>
          </a:solidFill>
          <a:ln w="12700">
            <a:solidFill>
              <a:srgbClr val="E8FDF8"/>
            </a:solidFill>
            <a:prstDash val="solid"/>
          </a:ln>
        </p:spPr>
      </p:sp>
      <p:sp>
        <p:nvSpPr>
          <p:cNvPr id="25" name="Shape 23"/>
          <p:cNvSpPr/>
          <p:nvPr/>
        </p:nvSpPr>
        <p:spPr>
          <a:xfrm>
            <a:off x="3200400" y="640080"/>
            <a:ext cx="2743200" cy="384048"/>
          </a:xfrm>
          <a:prstGeom prst="rect">
            <a:avLst/>
          </a:prstGeom>
          <a:solidFill>
            <a:srgbClr val="0E7C7B"/>
          </a:solidFill>
          <a:ln w="12700">
            <a:solidFill>
              <a:srgbClr val="0E7C7B"/>
            </a:solidFill>
            <a:prstDash val="solid"/>
          </a:ln>
        </p:spPr>
      </p:sp>
      <p:sp>
        <p:nvSpPr>
          <p:cNvPr id="26" name="Text 24"/>
          <p:cNvSpPr/>
          <p:nvPr/>
        </p:nvSpPr>
        <p:spPr>
          <a:xfrm>
            <a:off x="3200400" y="640080"/>
            <a:ext cx="2743200"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LIQUID</a:t>
            </a:r>
            <a:endParaRPr lang="en-US" sz="1600" dirty="0"/>
          </a:p>
        </p:txBody>
      </p:sp>
      <p:sp>
        <p:nvSpPr>
          <p:cNvPr id="27" name="Shape 25"/>
          <p:cNvSpPr/>
          <p:nvPr/>
        </p:nvSpPr>
        <p:spPr>
          <a:xfrm>
            <a:off x="594360" y="1143000"/>
            <a:ext cx="228600" cy="228600"/>
          </a:xfrm>
          <a:prstGeom prst="rect">
            <a:avLst/>
          </a:prstGeom>
          <a:solidFill>
            <a:srgbClr val="0E7C7B"/>
          </a:solidFill>
          <a:ln w="12700">
            <a:solidFill>
              <a:srgbClr val="0E7C7B"/>
            </a:solidFill>
            <a:prstDash val="solid"/>
          </a:ln>
        </p:spPr>
      </p:sp>
      <p:sp>
        <p:nvSpPr>
          <p:cNvPr id="28" name="Shape 26"/>
          <p:cNvSpPr/>
          <p:nvPr/>
        </p:nvSpPr>
        <p:spPr>
          <a:xfrm>
            <a:off x="1005840" y="1188720"/>
            <a:ext cx="228600" cy="228600"/>
          </a:xfrm>
          <a:prstGeom prst="rect">
            <a:avLst/>
          </a:prstGeom>
          <a:solidFill>
            <a:srgbClr val="0E7C7B"/>
          </a:solidFill>
          <a:ln w="12700">
            <a:solidFill>
              <a:srgbClr val="0E7C7B"/>
            </a:solidFill>
            <a:prstDash val="solid"/>
          </a:ln>
        </p:spPr>
      </p:sp>
      <p:sp>
        <p:nvSpPr>
          <p:cNvPr id="29" name="Shape 27"/>
          <p:cNvSpPr/>
          <p:nvPr/>
        </p:nvSpPr>
        <p:spPr>
          <a:xfrm>
            <a:off x="1417320" y="1115568"/>
            <a:ext cx="228600" cy="228600"/>
          </a:xfrm>
          <a:prstGeom prst="rect">
            <a:avLst/>
          </a:prstGeom>
          <a:solidFill>
            <a:srgbClr val="0E7C7B"/>
          </a:solidFill>
          <a:ln w="12700">
            <a:solidFill>
              <a:srgbClr val="0E7C7B"/>
            </a:solidFill>
            <a:prstDash val="solid"/>
          </a:ln>
        </p:spPr>
      </p:sp>
      <p:sp>
        <p:nvSpPr>
          <p:cNvPr id="30" name="Shape 28"/>
          <p:cNvSpPr/>
          <p:nvPr/>
        </p:nvSpPr>
        <p:spPr>
          <a:xfrm>
            <a:off x="1828800" y="1207008"/>
            <a:ext cx="228600" cy="228600"/>
          </a:xfrm>
          <a:prstGeom prst="rect">
            <a:avLst/>
          </a:prstGeom>
          <a:solidFill>
            <a:srgbClr val="0E7C7B"/>
          </a:solidFill>
          <a:ln w="12700">
            <a:solidFill>
              <a:srgbClr val="0E7C7B"/>
            </a:solidFill>
            <a:prstDash val="solid"/>
          </a:ln>
        </p:spPr>
      </p:sp>
      <p:sp>
        <p:nvSpPr>
          <p:cNvPr id="31" name="Shape 29"/>
          <p:cNvSpPr/>
          <p:nvPr/>
        </p:nvSpPr>
        <p:spPr>
          <a:xfrm>
            <a:off x="658368" y="1572768"/>
            <a:ext cx="228600" cy="228600"/>
          </a:xfrm>
          <a:prstGeom prst="rect">
            <a:avLst/>
          </a:prstGeom>
          <a:solidFill>
            <a:srgbClr val="0E7C7B"/>
          </a:solidFill>
          <a:ln w="12700">
            <a:solidFill>
              <a:srgbClr val="0E7C7B"/>
            </a:solidFill>
            <a:prstDash val="solid"/>
          </a:ln>
        </p:spPr>
      </p:sp>
      <p:sp>
        <p:nvSpPr>
          <p:cNvPr id="32" name="Shape 30"/>
          <p:cNvSpPr/>
          <p:nvPr/>
        </p:nvSpPr>
        <p:spPr>
          <a:xfrm>
            <a:off x="1097280" y="1508760"/>
            <a:ext cx="228600" cy="228600"/>
          </a:xfrm>
          <a:prstGeom prst="rect">
            <a:avLst/>
          </a:prstGeom>
          <a:solidFill>
            <a:srgbClr val="0E7C7B"/>
          </a:solidFill>
          <a:ln w="12700">
            <a:solidFill>
              <a:srgbClr val="0E7C7B"/>
            </a:solidFill>
            <a:prstDash val="solid"/>
          </a:ln>
        </p:spPr>
      </p:sp>
      <p:sp>
        <p:nvSpPr>
          <p:cNvPr id="33" name="Shape 31"/>
          <p:cNvSpPr/>
          <p:nvPr/>
        </p:nvSpPr>
        <p:spPr>
          <a:xfrm>
            <a:off x="1536192" y="1554480"/>
            <a:ext cx="228600" cy="228600"/>
          </a:xfrm>
          <a:prstGeom prst="rect">
            <a:avLst/>
          </a:prstGeom>
          <a:solidFill>
            <a:srgbClr val="0E7C7B"/>
          </a:solidFill>
          <a:ln w="12700">
            <a:solidFill>
              <a:srgbClr val="0E7C7B"/>
            </a:solidFill>
            <a:prstDash val="solid"/>
          </a:ln>
        </p:spPr>
      </p:sp>
      <p:sp>
        <p:nvSpPr>
          <p:cNvPr id="34" name="Shape 32"/>
          <p:cNvSpPr/>
          <p:nvPr/>
        </p:nvSpPr>
        <p:spPr>
          <a:xfrm>
            <a:off x="1901952" y="1481328"/>
            <a:ext cx="228600" cy="228600"/>
          </a:xfrm>
          <a:prstGeom prst="rect">
            <a:avLst/>
          </a:prstGeom>
          <a:solidFill>
            <a:srgbClr val="0E7C7B"/>
          </a:solidFill>
          <a:ln w="12700">
            <a:solidFill>
              <a:srgbClr val="0E7C7B"/>
            </a:solidFill>
            <a:prstDash val="solid"/>
          </a:ln>
        </p:spPr>
      </p:sp>
      <p:sp>
        <p:nvSpPr>
          <p:cNvPr id="35" name="Shape 33"/>
          <p:cNvSpPr/>
          <p:nvPr/>
        </p:nvSpPr>
        <p:spPr>
          <a:xfrm>
            <a:off x="548640" y="1965960"/>
            <a:ext cx="228600" cy="228600"/>
          </a:xfrm>
          <a:prstGeom prst="rect">
            <a:avLst/>
          </a:prstGeom>
          <a:solidFill>
            <a:srgbClr val="0E7C7B"/>
          </a:solidFill>
          <a:ln w="12700">
            <a:solidFill>
              <a:srgbClr val="0E7C7B"/>
            </a:solidFill>
            <a:prstDash val="solid"/>
          </a:ln>
        </p:spPr>
      </p:sp>
      <p:sp>
        <p:nvSpPr>
          <p:cNvPr id="36" name="Shape 34"/>
          <p:cNvSpPr/>
          <p:nvPr/>
        </p:nvSpPr>
        <p:spPr>
          <a:xfrm>
            <a:off x="914400" y="2011680"/>
            <a:ext cx="228600" cy="228600"/>
          </a:xfrm>
          <a:prstGeom prst="rect">
            <a:avLst/>
          </a:prstGeom>
          <a:solidFill>
            <a:srgbClr val="0E7C7B"/>
          </a:solidFill>
          <a:ln w="12700">
            <a:solidFill>
              <a:srgbClr val="0E7C7B"/>
            </a:solidFill>
            <a:prstDash val="solid"/>
          </a:ln>
        </p:spPr>
      </p:sp>
      <p:sp>
        <p:nvSpPr>
          <p:cNvPr id="37" name="Shape 35"/>
          <p:cNvSpPr/>
          <p:nvPr/>
        </p:nvSpPr>
        <p:spPr>
          <a:xfrm>
            <a:off x="1371600" y="1920240"/>
            <a:ext cx="228600" cy="228600"/>
          </a:xfrm>
          <a:prstGeom prst="rect">
            <a:avLst/>
          </a:prstGeom>
          <a:solidFill>
            <a:srgbClr val="0E7C7B"/>
          </a:solidFill>
          <a:ln w="12700">
            <a:solidFill>
              <a:srgbClr val="0E7C7B"/>
            </a:solidFill>
            <a:prstDash val="solid"/>
          </a:ln>
        </p:spPr>
      </p:sp>
      <p:sp>
        <p:nvSpPr>
          <p:cNvPr id="38" name="Shape 36"/>
          <p:cNvSpPr/>
          <p:nvPr/>
        </p:nvSpPr>
        <p:spPr>
          <a:xfrm>
            <a:off x="1783080" y="1993392"/>
            <a:ext cx="228600" cy="228600"/>
          </a:xfrm>
          <a:prstGeom prst="rect">
            <a:avLst/>
          </a:prstGeom>
          <a:solidFill>
            <a:srgbClr val="0E7C7B"/>
          </a:solidFill>
          <a:ln w="12700">
            <a:solidFill>
              <a:srgbClr val="0E7C7B"/>
            </a:solidFill>
            <a:prstDash val="solid"/>
          </a:ln>
        </p:spPr>
      </p:sp>
      <p:sp>
        <p:nvSpPr>
          <p:cNvPr id="39" name="Shape 37"/>
          <p:cNvSpPr/>
          <p:nvPr/>
        </p:nvSpPr>
        <p:spPr>
          <a:xfrm>
            <a:off x="640080" y="2377440"/>
            <a:ext cx="228600" cy="228600"/>
          </a:xfrm>
          <a:prstGeom prst="rect">
            <a:avLst/>
          </a:prstGeom>
          <a:solidFill>
            <a:srgbClr val="0E7C7B"/>
          </a:solidFill>
          <a:ln w="12700">
            <a:solidFill>
              <a:srgbClr val="0E7C7B"/>
            </a:solidFill>
            <a:prstDash val="solid"/>
          </a:ln>
        </p:spPr>
      </p:sp>
      <p:sp>
        <p:nvSpPr>
          <p:cNvPr id="40" name="Shape 38"/>
          <p:cNvSpPr/>
          <p:nvPr/>
        </p:nvSpPr>
        <p:spPr>
          <a:xfrm>
            <a:off x="1051560" y="2331720"/>
            <a:ext cx="228600" cy="228600"/>
          </a:xfrm>
          <a:prstGeom prst="rect">
            <a:avLst/>
          </a:prstGeom>
          <a:solidFill>
            <a:srgbClr val="0E7C7B"/>
          </a:solidFill>
          <a:ln w="12700">
            <a:solidFill>
              <a:srgbClr val="0E7C7B"/>
            </a:solidFill>
            <a:prstDash val="solid"/>
          </a:ln>
        </p:spPr>
      </p:sp>
      <p:sp>
        <p:nvSpPr>
          <p:cNvPr id="41" name="Shape 39"/>
          <p:cNvSpPr/>
          <p:nvPr/>
        </p:nvSpPr>
        <p:spPr>
          <a:xfrm>
            <a:off x="1508760" y="2395728"/>
            <a:ext cx="228600" cy="228600"/>
          </a:xfrm>
          <a:prstGeom prst="rect">
            <a:avLst/>
          </a:prstGeom>
          <a:solidFill>
            <a:srgbClr val="0E7C7B"/>
          </a:solidFill>
          <a:ln w="12700">
            <a:solidFill>
              <a:srgbClr val="0E7C7B"/>
            </a:solidFill>
            <a:prstDash val="solid"/>
          </a:ln>
        </p:spPr>
      </p:sp>
      <p:sp>
        <p:nvSpPr>
          <p:cNvPr id="42" name="Text 40"/>
          <p:cNvSpPr/>
          <p:nvPr/>
        </p:nvSpPr>
        <p:spPr>
          <a:xfrm>
            <a:off x="3291840" y="3383280"/>
            <a:ext cx="2560320" cy="1280160"/>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Examples: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Water, juice, oil</a:t>
            </a:r>
            <a:endParaRPr lang="en-US" sz="1200" dirty="0"/>
          </a:p>
        </p:txBody>
      </p:sp>
      <p:sp>
        <p:nvSpPr>
          <p:cNvPr id="43" name="Shape 41"/>
          <p:cNvSpPr/>
          <p:nvPr/>
        </p:nvSpPr>
        <p:spPr>
          <a:xfrm>
            <a:off x="6126480" y="640080"/>
            <a:ext cx="2743200" cy="4160520"/>
          </a:xfrm>
          <a:prstGeom prst="rect">
            <a:avLst/>
          </a:prstGeom>
          <a:solidFill>
            <a:srgbClr val="E8FDE8"/>
          </a:solidFill>
          <a:ln w="12700">
            <a:solidFill>
              <a:srgbClr val="E8FDE8"/>
            </a:solidFill>
            <a:prstDash val="solid"/>
          </a:ln>
        </p:spPr>
      </p:sp>
      <p:sp>
        <p:nvSpPr>
          <p:cNvPr id="44" name="Shape 42"/>
          <p:cNvSpPr/>
          <p:nvPr/>
        </p:nvSpPr>
        <p:spPr>
          <a:xfrm>
            <a:off x="6126480" y="640080"/>
            <a:ext cx="2743200" cy="384048"/>
          </a:xfrm>
          <a:prstGeom prst="rect">
            <a:avLst/>
          </a:prstGeom>
          <a:solidFill>
            <a:srgbClr val="2A7A4B"/>
          </a:solidFill>
          <a:ln w="12700">
            <a:solidFill>
              <a:srgbClr val="2A7A4B"/>
            </a:solidFill>
            <a:prstDash val="solid"/>
          </a:ln>
        </p:spPr>
      </p:sp>
      <p:sp>
        <p:nvSpPr>
          <p:cNvPr id="45" name="Text 43"/>
          <p:cNvSpPr/>
          <p:nvPr/>
        </p:nvSpPr>
        <p:spPr>
          <a:xfrm>
            <a:off x="6126480" y="640080"/>
            <a:ext cx="2743200"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GAS</a:t>
            </a:r>
            <a:endParaRPr lang="en-US" sz="1600" dirty="0"/>
          </a:p>
        </p:txBody>
      </p:sp>
      <p:sp>
        <p:nvSpPr>
          <p:cNvPr id="46" name="Shape 44"/>
          <p:cNvSpPr/>
          <p:nvPr/>
        </p:nvSpPr>
        <p:spPr>
          <a:xfrm>
            <a:off x="502920" y="1097280"/>
            <a:ext cx="201168" cy="201168"/>
          </a:xfrm>
          <a:prstGeom prst="rect">
            <a:avLst/>
          </a:prstGeom>
          <a:solidFill>
            <a:srgbClr val="2A7A4B"/>
          </a:solidFill>
          <a:ln w="12700">
            <a:solidFill>
              <a:srgbClr val="2A7A4B"/>
            </a:solidFill>
            <a:prstDash val="solid"/>
          </a:ln>
        </p:spPr>
      </p:sp>
      <p:sp>
        <p:nvSpPr>
          <p:cNvPr id="47" name="Shape 45"/>
          <p:cNvSpPr/>
          <p:nvPr/>
        </p:nvSpPr>
        <p:spPr>
          <a:xfrm>
            <a:off x="1371600" y="1234440"/>
            <a:ext cx="201168" cy="201168"/>
          </a:xfrm>
          <a:prstGeom prst="rect">
            <a:avLst/>
          </a:prstGeom>
          <a:solidFill>
            <a:srgbClr val="2A7A4B"/>
          </a:solidFill>
          <a:ln w="12700">
            <a:solidFill>
              <a:srgbClr val="2A7A4B"/>
            </a:solidFill>
            <a:prstDash val="solid"/>
          </a:ln>
        </p:spPr>
      </p:sp>
      <p:sp>
        <p:nvSpPr>
          <p:cNvPr id="48" name="Shape 46"/>
          <p:cNvSpPr/>
          <p:nvPr/>
        </p:nvSpPr>
        <p:spPr>
          <a:xfrm>
            <a:off x="2286000" y="1078992"/>
            <a:ext cx="201168" cy="201168"/>
          </a:xfrm>
          <a:prstGeom prst="rect">
            <a:avLst/>
          </a:prstGeom>
          <a:solidFill>
            <a:srgbClr val="2A7A4B"/>
          </a:solidFill>
          <a:ln w="12700">
            <a:solidFill>
              <a:srgbClr val="2A7A4B"/>
            </a:solidFill>
            <a:prstDash val="solid"/>
          </a:ln>
        </p:spPr>
      </p:sp>
      <p:sp>
        <p:nvSpPr>
          <p:cNvPr id="49" name="Shape 47"/>
          <p:cNvSpPr/>
          <p:nvPr/>
        </p:nvSpPr>
        <p:spPr>
          <a:xfrm>
            <a:off x="685800" y="1737360"/>
            <a:ext cx="201168" cy="201168"/>
          </a:xfrm>
          <a:prstGeom prst="rect">
            <a:avLst/>
          </a:prstGeom>
          <a:solidFill>
            <a:srgbClr val="2A7A4B"/>
          </a:solidFill>
          <a:ln w="12700">
            <a:solidFill>
              <a:srgbClr val="2A7A4B"/>
            </a:solidFill>
            <a:prstDash val="solid"/>
          </a:ln>
        </p:spPr>
      </p:sp>
      <p:sp>
        <p:nvSpPr>
          <p:cNvPr id="50" name="Shape 48"/>
          <p:cNvSpPr/>
          <p:nvPr/>
        </p:nvSpPr>
        <p:spPr>
          <a:xfrm>
            <a:off x="1920240" y="1828800"/>
            <a:ext cx="201168" cy="201168"/>
          </a:xfrm>
          <a:prstGeom prst="rect">
            <a:avLst/>
          </a:prstGeom>
          <a:solidFill>
            <a:srgbClr val="2A7A4B"/>
          </a:solidFill>
          <a:ln w="12700">
            <a:solidFill>
              <a:srgbClr val="2A7A4B"/>
            </a:solidFill>
            <a:prstDash val="solid"/>
          </a:ln>
        </p:spPr>
      </p:sp>
      <p:sp>
        <p:nvSpPr>
          <p:cNvPr id="51" name="Shape 49"/>
          <p:cNvSpPr/>
          <p:nvPr/>
        </p:nvSpPr>
        <p:spPr>
          <a:xfrm>
            <a:off x="1097280" y="2331720"/>
            <a:ext cx="201168" cy="201168"/>
          </a:xfrm>
          <a:prstGeom prst="rect">
            <a:avLst/>
          </a:prstGeom>
          <a:solidFill>
            <a:srgbClr val="2A7A4B"/>
          </a:solidFill>
          <a:ln w="12700">
            <a:solidFill>
              <a:srgbClr val="2A7A4B"/>
            </a:solidFill>
            <a:prstDash val="solid"/>
          </a:ln>
        </p:spPr>
      </p:sp>
      <p:sp>
        <p:nvSpPr>
          <p:cNvPr id="52" name="Shape 50"/>
          <p:cNvSpPr/>
          <p:nvPr/>
        </p:nvSpPr>
        <p:spPr>
          <a:xfrm>
            <a:off x="2423160" y="2194560"/>
            <a:ext cx="201168" cy="201168"/>
          </a:xfrm>
          <a:prstGeom prst="rect">
            <a:avLst/>
          </a:prstGeom>
          <a:solidFill>
            <a:srgbClr val="2A7A4B"/>
          </a:solidFill>
          <a:ln w="12700">
            <a:solidFill>
              <a:srgbClr val="2A7A4B"/>
            </a:solidFill>
            <a:prstDash val="solid"/>
          </a:ln>
        </p:spPr>
      </p:sp>
      <p:sp>
        <p:nvSpPr>
          <p:cNvPr id="53" name="Shape 51"/>
          <p:cNvSpPr/>
          <p:nvPr/>
        </p:nvSpPr>
        <p:spPr>
          <a:xfrm>
            <a:off x="457200" y="2834640"/>
            <a:ext cx="201168" cy="201168"/>
          </a:xfrm>
          <a:prstGeom prst="rect">
            <a:avLst/>
          </a:prstGeom>
          <a:solidFill>
            <a:srgbClr val="2A7A4B"/>
          </a:solidFill>
          <a:ln w="12700">
            <a:solidFill>
              <a:srgbClr val="2A7A4B"/>
            </a:solidFill>
            <a:prstDash val="solid"/>
          </a:ln>
        </p:spPr>
      </p:sp>
      <p:sp>
        <p:nvSpPr>
          <p:cNvPr id="54" name="Shape 52"/>
          <p:cNvSpPr/>
          <p:nvPr/>
        </p:nvSpPr>
        <p:spPr>
          <a:xfrm>
            <a:off x="1645920" y="2926080"/>
            <a:ext cx="201168" cy="201168"/>
          </a:xfrm>
          <a:prstGeom prst="rect">
            <a:avLst/>
          </a:prstGeom>
          <a:solidFill>
            <a:srgbClr val="2A7A4B"/>
          </a:solidFill>
          <a:ln w="12700">
            <a:solidFill>
              <a:srgbClr val="2A7A4B"/>
            </a:solidFill>
            <a:prstDash val="solid"/>
          </a:ln>
        </p:spPr>
      </p:sp>
      <p:sp>
        <p:nvSpPr>
          <p:cNvPr id="55" name="Shape 53"/>
          <p:cNvSpPr/>
          <p:nvPr/>
        </p:nvSpPr>
        <p:spPr>
          <a:xfrm>
            <a:off x="2560320" y="2743200"/>
            <a:ext cx="201168" cy="201168"/>
          </a:xfrm>
          <a:prstGeom prst="rect">
            <a:avLst/>
          </a:prstGeom>
          <a:solidFill>
            <a:srgbClr val="2A7A4B"/>
          </a:solidFill>
          <a:ln w="12700">
            <a:solidFill>
              <a:srgbClr val="2A7A4B"/>
            </a:solidFill>
            <a:prstDash val="solid"/>
          </a:ln>
        </p:spPr>
      </p:sp>
      <p:sp>
        <p:nvSpPr>
          <p:cNvPr id="56" name="Text 54"/>
          <p:cNvSpPr/>
          <p:nvPr/>
        </p:nvSpPr>
        <p:spPr>
          <a:xfrm>
            <a:off x="6217920" y="3383280"/>
            <a:ext cx="2560320" cy="1280160"/>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Examples: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Air, steam, oxygen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384048"/>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Particle Model — Label Each Part</a:t>
            </a:r>
            <a:endParaRPr lang="en-US" sz="2200" dirty="0"/>
          </a:p>
        </p:txBody>
      </p:sp>
      <p:sp>
        <p:nvSpPr>
          <p:cNvPr id="4" name="Shape 2"/>
          <p:cNvSpPr/>
          <p:nvPr/>
        </p:nvSpPr>
        <p:spPr>
          <a:xfrm>
            <a:off x="274320" y="640080"/>
            <a:ext cx="2743200" cy="4114800"/>
          </a:xfrm>
          <a:prstGeom prst="rect">
            <a:avLst/>
          </a:prstGeom>
          <a:solidFill>
            <a:srgbClr val="D6EAF8"/>
          </a:solidFill>
          <a:ln w="12700">
            <a:solidFill>
              <a:srgbClr val="D6EAF8"/>
            </a:solidFill>
            <a:prstDash val="solid"/>
          </a:ln>
        </p:spPr>
      </p:sp>
      <p:sp>
        <p:nvSpPr>
          <p:cNvPr id="5" name="Shape 3"/>
          <p:cNvSpPr/>
          <p:nvPr/>
        </p:nvSpPr>
        <p:spPr>
          <a:xfrm>
            <a:off x="274320" y="640080"/>
            <a:ext cx="2743200" cy="384048"/>
          </a:xfrm>
          <a:prstGeom prst="rect">
            <a:avLst/>
          </a:prstGeom>
          <a:solidFill>
            <a:srgbClr val="2E86AB"/>
          </a:solidFill>
          <a:ln w="12700">
            <a:solidFill>
              <a:srgbClr val="2E86AB"/>
            </a:solidFill>
            <a:prstDash val="solid"/>
          </a:ln>
        </p:spPr>
      </p:sp>
      <p:sp>
        <p:nvSpPr>
          <p:cNvPr id="6" name="Text 4"/>
          <p:cNvSpPr/>
          <p:nvPr/>
        </p:nvSpPr>
        <p:spPr>
          <a:xfrm>
            <a:off x="274320" y="640080"/>
            <a:ext cx="274320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SOLID</a:t>
            </a:r>
            <a:endParaRPr lang="en-US" sz="1400" dirty="0"/>
          </a:p>
        </p:txBody>
      </p:sp>
      <p:sp>
        <p:nvSpPr>
          <p:cNvPr id="7" name="Shape 5"/>
          <p:cNvSpPr/>
          <p:nvPr/>
        </p:nvSpPr>
        <p:spPr>
          <a:xfrm>
            <a:off x="594360" y="1143000"/>
            <a:ext cx="219456" cy="219456"/>
          </a:xfrm>
          <a:prstGeom prst="rect">
            <a:avLst/>
          </a:prstGeom>
          <a:solidFill>
            <a:srgbClr val="2E86AB"/>
          </a:solidFill>
          <a:ln w="12700">
            <a:solidFill>
              <a:srgbClr val="2E86AB"/>
            </a:solidFill>
            <a:prstDash val="solid"/>
          </a:ln>
        </p:spPr>
      </p:sp>
      <p:sp>
        <p:nvSpPr>
          <p:cNvPr id="8" name="Shape 6"/>
          <p:cNvSpPr/>
          <p:nvPr/>
        </p:nvSpPr>
        <p:spPr>
          <a:xfrm>
            <a:off x="923544" y="1143000"/>
            <a:ext cx="219456" cy="219456"/>
          </a:xfrm>
          <a:prstGeom prst="rect">
            <a:avLst/>
          </a:prstGeom>
          <a:solidFill>
            <a:srgbClr val="2E86AB"/>
          </a:solidFill>
          <a:ln w="12700">
            <a:solidFill>
              <a:srgbClr val="2E86AB"/>
            </a:solidFill>
            <a:prstDash val="solid"/>
          </a:ln>
        </p:spPr>
      </p:sp>
      <p:sp>
        <p:nvSpPr>
          <p:cNvPr id="9" name="Shape 7"/>
          <p:cNvSpPr/>
          <p:nvPr/>
        </p:nvSpPr>
        <p:spPr>
          <a:xfrm>
            <a:off x="1252728" y="1143000"/>
            <a:ext cx="219456" cy="219456"/>
          </a:xfrm>
          <a:prstGeom prst="rect">
            <a:avLst/>
          </a:prstGeom>
          <a:solidFill>
            <a:srgbClr val="2E86AB"/>
          </a:solidFill>
          <a:ln w="12700">
            <a:solidFill>
              <a:srgbClr val="2E86AB"/>
            </a:solidFill>
            <a:prstDash val="solid"/>
          </a:ln>
        </p:spPr>
      </p:sp>
      <p:sp>
        <p:nvSpPr>
          <p:cNvPr id="10" name="Shape 8"/>
          <p:cNvSpPr/>
          <p:nvPr/>
        </p:nvSpPr>
        <p:spPr>
          <a:xfrm>
            <a:off x="1581912" y="1143000"/>
            <a:ext cx="219456" cy="219456"/>
          </a:xfrm>
          <a:prstGeom prst="rect">
            <a:avLst/>
          </a:prstGeom>
          <a:solidFill>
            <a:srgbClr val="2E86AB"/>
          </a:solidFill>
          <a:ln w="12700">
            <a:solidFill>
              <a:srgbClr val="2E86AB"/>
            </a:solidFill>
            <a:prstDash val="solid"/>
          </a:ln>
        </p:spPr>
      </p:sp>
      <p:sp>
        <p:nvSpPr>
          <p:cNvPr id="11" name="Shape 9"/>
          <p:cNvSpPr/>
          <p:nvPr/>
        </p:nvSpPr>
        <p:spPr>
          <a:xfrm>
            <a:off x="594360" y="1472184"/>
            <a:ext cx="219456" cy="219456"/>
          </a:xfrm>
          <a:prstGeom prst="rect">
            <a:avLst/>
          </a:prstGeom>
          <a:solidFill>
            <a:srgbClr val="2E86AB"/>
          </a:solidFill>
          <a:ln w="12700">
            <a:solidFill>
              <a:srgbClr val="2E86AB"/>
            </a:solidFill>
            <a:prstDash val="solid"/>
          </a:ln>
        </p:spPr>
      </p:sp>
      <p:sp>
        <p:nvSpPr>
          <p:cNvPr id="12" name="Shape 10"/>
          <p:cNvSpPr/>
          <p:nvPr/>
        </p:nvSpPr>
        <p:spPr>
          <a:xfrm>
            <a:off x="923544" y="1472184"/>
            <a:ext cx="219456" cy="219456"/>
          </a:xfrm>
          <a:prstGeom prst="rect">
            <a:avLst/>
          </a:prstGeom>
          <a:solidFill>
            <a:srgbClr val="2E86AB"/>
          </a:solidFill>
          <a:ln w="12700">
            <a:solidFill>
              <a:srgbClr val="2E86AB"/>
            </a:solidFill>
            <a:prstDash val="solid"/>
          </a:ln>
        </p:spPr>
      </p:sp>
      <p:sp>
        <p:nvSpPr>
          <p:cNvPr id="13" name="Shape 11"/>
          <p:cNvSpPr/>
          <p:nvPr/>
        </p:nvSpPr>
        <p:spPr>
          <a:xfrm>
            <a:off x="1252728" y="1472184"/>
            <a:ext cx="219456" cy="219456"/>
          </a:xfrm>
          <a:prstGeom prst="rect">
            <a:avLst/>
          </a:prstGeom>
          <a:solidFill>
            <a:srgbClr val="2E86AB"/>
          </a:solidFill>
          <a:ln w="12700">
            <a:solidFill>
              <a:srgbClr val="2E86AB"/>
            </a:solidFill>
            <a:prstDash val="solid"/>
          </a:ln>
        </p:spPr>
      </p:sp>
      <p:sp>
        <p:nvSpPr>
          <p:cNvPr id="14" name="Shape 12"/>
          <p:cNvSpPr/>
          <p:nvPr/>
        </p:nvSpPr>
        <p:spPr>
          <a:xfrm>
            <a:off x="1581912" y="1472184"/>
            <a:ext cx="219456" cy="219456"/>
          </a:xfrm>
          <a:prstGeom prst="rect">
            <a:avLst/>
          </a:prstGeom>
          <a:solidFill>
            <a:srgbClr val="2E86AB"/>
          </a:solidFill>
          <a:ln w="12700">
            <a:solidFill>
              <a:srgbClr val="2E86AB"/>
            </a:solidFill>
            <a:prstDash val="solid"/>
          </a:ln>
        </p:spPr>
      </p:sp>
      <p:sp>
        <p:nvSpPr>
          <p:cNvPr id="15" name="Shape 13"/>
          <p:cNvSpPr/>
          <p:nvPr/>
        </p:nvSpPr>
        <p:spPr>
          <a:xfrm>
            <a:off x="594360" y="1801368"/>
            <a:ext cx="219456" cy="219456"/>
          </a:xfrm>
          <a:prstGeom prst="rect">
            <a:avLst/>
          </a:prstGeom>
          <a:solidFill>
            <a:srgbClr val="2E86AB"/>
          </a:solidFill>
          <a:ln w="12700">
            <a:solidFill>
              <a:srgbClr val="2E86AB"/>
            </a:solidFill>
            <a:prstDash val="solid"/>
          </a:ln>
        </p:spPr>
      </p:sp>
      <p:sp>
        <p:nvSpPr>
          <p:cNvPr id="16" name="Shape 14"/>
          <p:cNvSpPr/>
          <p:nvPr/>
        </p:nvSpPr>
        <p:spPr>
          <a:xfrm>
            <a:off x="923544" y="1801368"/>
            <a:ext cx="219456" cy="219456"/>
          </a:xfrm>
          <a:prstGeom prst="rect">
            <a:avLst/>
          </a:prstGeom>
          <a:solidFill>
            <a:srgbClr val="2E86AB"/>
          </a:solidFill>
          <a:ln w="12700">
            <a:solidFill>
              <a:srgbClr val="2E86AB"/>
            </a:solidFill>
            <a:prstDash val="solid"/>
          </a:ln>
        </p:spPr>
      </p:sp>
      <p:sp>
        <p:nvSpPr>
          <p:cNvPr id="17" name="Shape 15"/>
          <p:cNvSpPr/>
          <p:nvPr/>
        </p:nvSpPr>
        <p:spPr>
          <a:xfrm>
            <a:off x="1252728" y="1801368"/>
            <a:ext cx="219456" cy="219456"/>
          </a:xfrm>
          <a:prstGeom prst="rect">
            <a:avLst/>
          </a:prstGeom>
          <a:solidFill>
            <a:srgbClr val="2E86AB"/>
          </a:solidFill>
          <a:ln w="12700">
            <a:solidFill>
              <a:srgbClr val="2E86AB"/>
            </a:solidFill>
            <a:prstDash val="solid"/>
          </a:ln>
        </p:spPr>
      </p:sp>
      <p:sp>
        <p:nvSpPr>
          <p:cNvPr id="18" name="Shape 16"/>
          <p:cNvSpPr/>
          <p:nvPr/>
        </p:nvSpPr>
        <p:spPr>
          <a:xfrm>
            <a:off x="1581912" y="1801368"/>
            <a:ext cx="219456" cy="219456"/>
          </a:xfrm>
          <a:prstGeom prst="rect">
            <a:avLst/>
          </a:prstGeom>
          <a:solidFill>
            <a:srgbClr val="2E86AB"/>
          </a:solidFill>
          <a:ln w="12700">
            <a:solidFill>
              <a:srgbClr val="2E86AB"/>
            </a:solidFill>
            <a:prstDash val="solid"/>
          </a:ln>
        </p:spPr>
      </p:sp>
      <p:sp>
        <p:nvSpPr>
          <p:cNvPr id="19" name="Shape 17"/>
          <p:cNvSpPr/>
          <p:nvPr/>
        </p:nvSpPr>
        <p:spPr>
          <a:xfrm>
            <a:off x="594360" y="2130552"/>
            <a:ext cx="219456" cy="219456"/>
          </a:xfrm>
          <a:prstGeom prst="rect">
            <a:avLst/>
          </a:prstGeom>
          <a:solidFill>
            <a:srgbClr val="2E86AB"/>
          </a:solidFill>
          <a:ln w="12700">
            <a:solidFill>
              <a:srgbClr val="2E86AB"/>
            </a:solidFill>
            <a:prstDash val="solid"/>
          </a:ln>
        </p:spPr>
      </p:sp>
      <p:sp>
        <p:nvSpPr>
          <p:cNvPr id="20" name="Shape 18"/>
          <p:cNvSpPr/>
          <p:nvPr/>
        </p:nvSpPr>
        <p:spPr>
          <a:xfrm>
            <a:off x="923544" y="2130552"/>
            <a:ext cx="219456" cy="219456"/>
          </a:xfrm>
          <a:prstGeom prst="rect">
            <a:avLst/>
          </a:prstGeom>
          <a:solidFill>
            <a:srgbClr val="2E86AB"/>
          </a:solidFill>
          <a:ln w="12700">
            <a:solidFill>
              <a:srgbClr val="2E86AB"/>
            </a:solidFill>
            <a:prstDash val="solid"/>
          </a:ln>
        </p:spPr>
      </p:sp>
      <p:sp>
        <p:nvSpPr>
          <p:cNvPr id="21" name="Shape 19"/>
          <p:cNvSpPr/>
          <p:nvPr/>
        </p:nvSpPr>
        <p:spPr>
          <a:xfrm>
            <a:off x="1252728" y="2130552"/>
            <a:ext cx="219456" cy="219456"/>
          </a:xfrm>
          <a:prstGeom prst="rect">
            <a:avLst/>
          </a:prstGeom>
          <a:solidFill>
            <a:srgbClr val="2E86AB"/>
          </a:solidFill>
          <a:ln w="12700">
            <a:solidFill>
              <a:srgbClr val="2E86AB"/>
            </a:solidFill>
            <a:prstDash val="solid"/>
          </a:ln>
        </p:spPr>
      </p:sp>
      <p:sp>
        <p:nvSpPr>
          <p:cNvPr id="22" name="Shape 20"/>
          <p:cNvSpPr/>
          <p:nvPr/>
        </p:nvSpPr>
        <p:spPr>
          <a:xfrm>
            <a:off x="1581912" y="2130552"/>
            <a:ext cx="219456" cy="219456"/>
          </a:xfrm>
          <a:prstGeom prst="rect">
            <a:avLst/>
          </a:prstGeom>
          <a:solidFill>
            <a:srgbClr val="2E86AB"/>
          </a:solidFill>
          <a:ln w="12700">
            <a:solidFill>
              <a:srgbClr val="2E86AB"/>
            </a:solidFill>
            <a:prstDash val="solid"/>
          </a:ln>
        </p:spPr>
      </p:sp>
      <p:sp>
        <p:nvSpPr>
          <p:cNvPr id="23" name="Text 21"/>
          <p:cNvSpPr/>
          <p:nvPr/>
        </p:nvSpPr>
        <p:spPr>
          <a:xfrm>
            <a:off x="365760" y="3200400"/>
            <a:ext cx="2560320" cy="27432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Tight grid pattern</a:t>
            </a:r>
            <a:endParaRPr lang="en-US" sz="1100" dirty="0"/>
          </a:p>
        </p:txBody>
      </p:sp>
      <p:sp>
        <p:nvSpPr>
          <p:cNvPr id="24" name="Text 22"/>
          <p:cNvSpPr/>
          <p:nvPr/>
        </p:nvSpPr>
        <p:spPr>
          <a:xfrm>
            <a:off x="365760" y="3493008"/>
            <a:ext cx="2560320" cy="27432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Barely any gaps</a:t>
            </a:r>
            <a:endParaRPr lang="en-US" sz="1100" dirty="0"/>
          </a:p>
        </p:txBody>
      </p:sp>
      <p:sp>
        <p:nvSpPr>
          <p:cNvPr id="25" name="Text 23"/>
          <p:cNvSpPr/>
          <p:nvPr/>
        </p:nvSpPr>
        <p:spPr>
          <a:xfrm>
            <a:off x="365760" y="3785616"/>
            <a:ext cx="2560320" cy="27432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Shape stays fixed</a:t>
            </a:r>
            <a:endParaRPr lang="en-US" sz="1100" dirty="0"/>
          </a:p>
        </p:txBody>
      </p:sp>
      <p:sp>
        <p:nvSpPr>
          <p:cNvPr id="26" name="Shape 24"/>
          <p:cNvSpPr/>
          <p:nvPr/>
        </p:nvSpPr>
        <p:spPr>
          <a:xfrm>
            <a:off x="3200400" y="640080"/>
            <a:ext cx="2743200" cy="4114800"/>
          </a:xfrm>
          <a:prstGeom prst="rect">
            <a:avLst/>
          </a:prstGeom>
          <a:solidFill>
            <a:srgbClr val="D1F2EB"/>
          </a:solidFill>
          <a:ln w="12700">
            <a:solidFill>
              <a:srgbClr val="D1F2EB"/>
            </a:solidFill>
            <a:prstDash val="solid"/>
          </a:ln>
        </p:spPr>
      </p:sp>
      <p:sp>
        <p:nvSpPr>
          <p:cNvPr id="27" name="Shape 25"/>
          <p:cNvSpPr/>
          <p:nvPr/>
        </p:nvSpPr>
        <p:spPr>
          <a:xfrm>
            <a:off x="3200400" y="640080"/>
            <a:ext cx="2743200" cy="384048"/>
          </a:xfrm>
          <a:prstGeom prst="rect">
            <a:avLst/>
          </a:prstGeom>
          <a:solidFill>
            <a:srgbClr val="0E7C7B"/>
          </a:solidFill>
          <a:ln w="12700">
            <a:solidFill>
              <a:srgbClr val="0E7C7B"/>
            </a:solidFill>
            <a:prstDash val="solid"/>
          </a:ln>
        </p:spPr>
      </p:sp>
      <p:sp>
        <p:nvSpPr>
          <p:cNvPr id="28" name="Text 26"/>
          <p:cNvSpPr/>
          <p:nvPr/>
        </p:nvSpPr>
        <p:spPr>
          <a:xfrm>
            <a:off x="3200400" y="640080"/>
            <a:ext cx="274320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LIQUID</a:t>
            </a:r>
            <a:endParaRPr lang="en-US" sz="1400" dirty="0"/>
          </a:p>
        </p:txBody>
      </p:sp>
      <p:sp>
        <p:nvSpPr>
          <p:cNvPr id="29" name="Shape 27"/>
          <p:cNvSpPr/>
          <p:nvPr/>
        </p:nvSpPr>
        <p:spPr>
          <a:xfrm>
            <a:off x="566928" y="1188720"/>
            <a:ext cx="219456" cy="219456"/>
          </a:xfrm>
          <a:prstGeom prst="rect">
            <a:avLst/>
          </a:prstGeom>
          <a:solidFill>
            <a:srgbClr val="0E7C7B"/>
          </a:solidFill>
          <a:ln w="12700">
            <a:solidFill>
              <a:srgbClr val="0E7C7B"/>
            </a:solidFill>
            <a:prstDash val="solid"/>
          </a:ln>
        </p:spPr>
      </p:sp>
      <p:sp>
        <p:nvSpPr>
          <p:cNvPr id="30" name="Shape 28"/>
          <p:cNvSpPr/>
          <p:nvPr/>
        </p:nvSpPr>
        <p:spPr>
          <a:xfrm>
            <a:off x="960120" y="1170432"/>
            <a:ext cx="219456" cy="219456"/>
          </a:xfrm>
          <a:prstGeom prst="rect">
            <a:avLst/>
          </a:prstGeom>
          <a:solidFill>
            <a:srgbClr val="0E7C7B"/>
          </a:solidFill>
          <a:ln w="12700">
            <a:solidFill>
              <a:srgbClr val="0E7C7B"/>
            </a:solidFill>
            <a:prstDash val="solid"/>
          </a:ln>
        </p:spPr>
      </p:sp>
      <p:sp>
        <p:nvSpPr>
          <p:cNvPr id="31" name="Shape 29"/>
          <p:cNvSpPr/>
          <p:nvPr/>
        </p:nvSpPr>
        <p:spPr>
          <a:xfrm>
            <a:off x="1353312" y="1234440"/>
            <a:ext cx="219456" cy="219456"/>
          </a:xfrm>
          <a:prstGeom prst="rect">
            <a:avLst/>
          </a:prstGeom>
          <a:solidFill>
            <a:srgbClr val="0E7C7B"/>
          </a:solidFill>
          <a:ln w="12700">
            <a:solidFill>
              <a:srgbClr val="0E7C7B"/>
            </a:solidFill>
            <a:prstDash val="solid"/>
          </a:ln>
        </p:spPr>
      </p:sp>
      <p:sp>
        <p:nvSpPr>
          <p:cNvPr id="32" name="Shape 30"/>
          <p:cNvSpPr/>
          <p:nvPr/>
        </p:nvSpPr>
        <p:spPr>
          <a:xfrm>
            <a:off x="1737360" y="1170432"/>
            <a:ext cx="219456" cy="219456"/>
          </a:xfrm>
          <a:prstGeom prst="rect">
            <a:avLst/>
          </a:prstGeom>
          <a:solidFill>
            <a:srgbClr val="0E7C7B"/>
          </a:solidFill>
          <a:ln w="12700">
            <a:solidFill>
              <a:srgbClr val="0E7C7B"/>
            </a:solidFill>
            <a:prstDash val="solid"/>
          </a:ln>
        </p:spPr>
      </p:sp>
      <p:sp>
        <p:nvSpPr>
          <p:cNvPr id="33" name="Shape 31"/>
          <p:cNvSpPr/>
          <p:nvPr/>
        </p:nvSpPr>
        <p:spPr>
          <a:xfrm>
            <a:off x="621792" y="1572768"/>
            <a:ext cx="219456" cy="219456"/>
          </a:xfrm>
          <a:prstGeom prst="rect">
            <a:avLst/>
          </a:prstGeom>
          <a:solidFill>
            <a:srgbClr val="0E7C7B"/>
          </a:solidFill>
          <a:ln w="12700">
            <a:solidFill>
              <a:srgbClr val="0E7C7B"/>
            </a:solidFill>
            <a:prstDash val="solid"/>
          </a:ln>
        </p:spPr>
      </p:sp>
      <p:sp>
        <p:nvSpPr>
          <p:cNvPr id="34" name="Shape 32"/>
          <p:cNvSpPr/>
          <p:nvPr/>
        </p:nvSpPr>
        <p:spPr>
          <a:xfrm>
            <a:off x="1024128" y="1554480"/>
            <a:ext cx="219456" cy="219456"/>
          </a:xfrm>
          <a:prstGeom prst="rect">
            <a:avLst/>
          </a:prstGeom>
          <a:solidFill>
            <a:srgbClr val="0E7C7B"/>
          </a:solidFill>
          <a:ln w="12700">
            <a:solidFill>
              <a:srgbClr val="0E7C7B"/>
            </a:solidFill>
            <a:prstDash val="solid"/>
          </a:ln>
        </p:spPr>
      </p:sp>
      <p:sp>
        <p:nvSpPr>
          <p:cNvPr id="35" name="Shape 33"/>
          <p:cNvSpPr/>
          <p:nvPr/>
        </p:nvSpPr>
        <p:spPr>
          <a:xfrm>
            <a:off x="1417320" y="1536192"/>
            <a:ext cx="219456" cy="219456"/>
          </a:xfrm>
          <a:prstGeom prst="rect">
            <a:avLst/>
          </a:prstGeom>
          <a:solidFill>
            <a:srgbClr val="0E7C7B"/>
          </a:solidFill>
          <a:ln w="12700">
            <a:solidFill>
              <a:srgbClr val="0E7C7B"/>
            </a:solidFill>
            <a:prstDash val="solid"/>
          </a:ln>
        </p:spPr>
      </p:sp>
      <p:sp>
        <p:nvSpPr>
          <p:cNvPr id="36" name="Shape 34"/>
          <p:cNvSpPr/>
          <p:nvPr/>
        </p:nvSpPr>
        <p:spPr>
          <a:xfrm>
            <a:off x="1783080" y="1591056"/>
            <a:ext cx="219456" cy="219456"/>
          </a:xfrm>
          <a:prstGeom prst="rect">
            <a:avLst/>
          </a:prstGeom>
          <a:solidFill>
            <a:srgbClr val="0E7C7B"/>
          </a:solidFill>
          <a:ln w="12700">
            <a:solidFill>
              <a:srgbClr val="0E7C7B"/>
            </a:solidFill>
            <a:prstDash val="solid"/>
          </a:ln>
        </p:spPr>
      </p:sp>
      <p:sp>
        <p:nvSpPr>
          <p:cNvPr id="37" name="Shape 35"/>
          <p:cNvSpPr/>
          <p:nvPr/>
        </p:nvSpPr>
        <p:spPr>
          <a:xfrm>
            <a:off x="548640" y="1965960"/>
            <a:ext cx="219456" cy="219456"/>
          </a:xfrm>
          <a:prstGeom prst="rect">
            <a:avLst/>
          </a:prstGeom>
          <a:solidFill>
            <a:srgbClr val="0E7C7B"/>
          </a:solidFill>
          <a:ln w="12700">
            <a:solidFill>
              <a:srgbClr val="0E7C7B"/>
            </a:solidFill>
            <a:prstDash val="solid"/>
          </a:ln>
        </p:spPr>
      </p:sp>
      <p:sp>
        <p:nvSpPr>
          <p:cNvPr id="38" name="Shape 36"/>
          <p:cNvSpPr/>
          <p:nvPr/>
        </p:nvSpPr>
        <p:spPr>
          <a:xfrm>
            <a:off x="914400" y="1993392"/>
            <a:ext cx="219456" cy="219456"/>
          </a:xfrm>
          <a:prstGeom prst="rect">
            <a:avLst/>
          </a:prstGeom>
          <a:solidFill>
            <a:srgbClr val="0E7C7B"/>
          </a:solidFill>
          <a:ln w="12700">
            <a:solidFill>
              <a:srgbClr val="0E7C7B"/>
            </a:solidFill>
            <a:prstDash val="solid"/>
          </a:ln>
        </p:spPr>
      </p:sp>
      <p:sp>
        <p:nvSpPr>
          <p:cNvPr id="39" name="Shape 37"/>
          <p:cNvSpPr/>
          <p:nvPr/>
        </p:nvSpPr>
        <p:spPr>
          <a:xfrm>
            <a:off x="1325880" y="1938528"/>
            <a:ext cx="219456" cy="219456"/>
          </a:xfrm>
          <a:prstGeom prst="rect">
            <a:avLst/>
          </a:prstGeom>
          <a:solidFill>
            <a:srgbClr val="0E7C7B"/>
          </a:solidFill>
          <a:ln w="12700">
            <a:solidFill>
              <a:srgbClr val="0E7C7B"/>
            </a:solidFill>
            <a:prstDash val="solid"/>
          </a:ln>
        </p:spPr>
      </p:sp>
      <p:sp>
        <p:nvSpPr>
          <p:cNvPr id="40" name="Shape 38"/>
          <p:cNvSpPr/>
          <p:nvPr/>
        </p:nvSpPr>
        <p:spPr>
          <a:xfrm>
            <a:off x="1719072" y="2011680"/>
            <a:ext cx="219456" cy="219456"/>
          </a:xfrm>
          <a:prstGeom prst="rect">
            <a:avLst/>
          </a:prstGeom>
          <a:solidFill>
            <a:srgbClr val="0E7C7B"/>
          </a:solidFill>
          <a:ln w="12700">
            <a:solidFill>
              <a:srgbClr val="0E7C7B"/>
            </a:solidFill>
            <a:prstDash val="solid"/>
          </a:ln>
        </p:spPr>
      </p:sp>
      <p:sp>
        <p:nvSpPr>
          <p:cNvPr id="41" name="Text 39"/>
          <p:cNvSpPr/>
          <p:nvPr/>
        </p:nvSpPr>
        <p:spPr>
          <a:xfrm>
            <a:off x="3291840" y="3200400"/>
            <a:ext cx="2560320" cy="27432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Loose arrangement</a:t>
            </a:r>
            <a:endParaRPr lang="en-US" sz="1100" dirty="0"/>
          </a:p>
        </p:txBody>
      </p:sp>
      <p:sp>
        <p:nvSpPr>
          <p:cNvPr id="42" name="Text 40"/>
          <p:cNvSpPr/>
          <p:nvPr/>
        </p:nvSpPr>
        <p:spPr>
          <a:xfrm>
            <a:off x="3291840" y="3493008"/>
            <a:ext cx="2560320" cy="27432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Some gaps</a:t>
            </a:r>
            <a:endParaRPr lang="en-US" sz="1100" dirty="0"/>
          </a:p>
        </p:txBody>
      </p:sp>
      <p:sp>
        <p:nvSpPr>
          <p:cNvPr id="43" name="Text 41"/>
          <p:cNvSpPr/>
          <p:nvPr/>
        </p:nvSpPr>
        <p:spPr>
          <a:xfrm>
            <a:off x="3291840" y="3785616"/>
            <a:ext cx="2560320" cy="27432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Slides to new shape</a:t>
            </a:r>
            <a:endParaRPr lang="en-US" sz="1100" dirty="0"/>
          </a:p>
        </p:txBody>
      </p:sp>
      <p:sp>
        <p:nvSpPr>
          <p:cNvPr id="44" name="Shape 42"/>
          <p:cNvSpPr/>
          <p:nvPr/>
        </p:nvSpPr>
        <p:spPr>
          <a:xfrm>
            <a:off x="6126480" y="640080"/>
            <a:ext cx="2743200" cy="4114800"/>
          </a:xfrm>
          <a:prstGeom prst="rect">
            <a:avLst/>
          </a:prstGeom>
          <a:solidFill>
            <a:srgbClr val="D5F5E3"/>
          </a:solidFill>
          <a:ln w="12700">
            <a:solidFill>
              <a:srgbClr val="D5F5E3"/>
            </a:solidFill>
            <a:prstDash val="solid"/>
          </a:ln>
        </p:spPr>
      </p:sp>
      <p:sp>
        <p:nvSpPr>
          <p:cNvPr id="45" name="Shape 43"/>
          <p:cNvSpPr/>
          <p:nvPr/>
        </p:nvSpPr>
        <p:spPr>
          <a:xfrm>
            <a:off x="6126480" y="640080"/>
            <a:ext cx="2743200" cy="384048"/>
          </a:xfrm>
          <a:prstGeom prst="rect">
            <a:avLst/>
          </a:prstGeom>
          <a:solidFill>
            <a:srgbClr val="2A7A4B"/>
          </a:solidFill>
          <a:ln w="12700">
            <a:solidFill>
              <a:srgbClr val="2A7A4B"/>
            </a:solidFill>
            <a:prstDash val="solid"/>
          </a:ln>
        </p:spPr>
      </p:sp>
      <p:sp>
        <p:nvSpPr>
          <p:cNvPr id="46" name="Text 44"/>
          <p:cNvSpPr/>
          <p:nvPr/>
        </p:nvSpPr>
        <p:spPr>
          <a:xfrm>
            <a:off x="6126480" y="640080"/>
            <a:ext cx="274320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GAS</a:t>
            </a:r>
            <a:endParaRPr lang="en-US" sz="1400" dirty="0"/>
          </a:p>
        </p:txBody>
      </p:sp>
      <p:sp>
        <p:nvSpPr>
          <p:cNvPr id="47" name="Shape 45"/>
          <p:cNvSpPr/>
          <p:nvPr/>
        </p:nvSpPr>
        <p:spPr>
          <a:xfrm>
            <a:off x="457200" y="1143000"/>
            <a:ext cx="182880" cy="182880"/>
          </a:xfrm>
          <a:prstGeom prst="rect">
            <a:avLst/>
          </a:prstGeom>
          <a:solidFill>
            <a:srgbClr val="2A7A4B"/>
          </a:solidFill>
          <a:ln w="12700">
            <a:solidFill>
              <a:srgbClr val="2A7A4B"/>
            </a:solidFill>
            <a:prstDash val="solid"/>
          </a:ln>
        </p:spPr>
      </p:sp>
      <p:sp>
        <p:nvSpPr>
          <p:cNvPr id="48" name="Shape 46"/>
          <p:cNvSpPr/>
          <p:nvPr/>
        </p:nvSpPr>
        <p:spPr>
          <a:xfrm>
            <a:off x="1325880" y="1261872"/>
            <a:ext cx="182880" cy="182880"/>
          </a:xfrm>
          <a:prstGeom prst="rect">
            <a:avLst/>
          </a:prstGeom>
          <a:solidFill>
            <a:srgbClr val="2A7A4B"/>
          </a:solidFill>
          <a:ln w="12700">
            <a:solidFill>
              <a:srgbClr val="2A7A4B"/>
            </a:solidFill>
            <a:prstDash val="solid"/>
          </a:ln>
        </p:spPr>
      </p:sp>
      <p:sp>
        <p:nvSpPr>
          <p:cNvPr id="49" name="Shape 47"/>
          <p:cNvSpPr/>
          <p:nvPr/>
        </p:nvSpPr>
        <p:spPr>
          <a:xfrm>
            <a:off x="2304288" y="1097280"/>
            <a:ext cx="182880" cy="182880"/>
          </a:xfrm>
          <a:prstGeom prst="rect">
            <a:avLst/>
          </a:prstGeom>
          <a:solidFill>
            <a:srgbClr val="2A7A4B"/>
          </a:solidFill>
          <a:ln w="12700">
            <a:solidFill>
              <a:srgbClr val="2A7A4B"/>
            </a:solidFill>
            <a:prstDash val="solid"/>
          </a:ln>
        </p:spPr>
      </p:sp>
      <p:sp>
        <p:nvSpPr>
          <p:cNvPr id="50" name="Shape 48"/>
          <p:cNvSpPr/>
          <p:nvPr/>
        </p:nvSpPr>
        <p:spPr>
          <a:xfrm>
            <a:off x="658368" y="1783080"/>
            <a:ext cx="182880" cy="182880"/>
          </a:xfrm>
          <a:prstGeom prst="rect">
            <a:avLst/>
          </a:prstGeom>
          <a:solidFill>
            <a:srgbClr val="2A7A4B"/>
          </a:solidFill>
          <a:ln w="12700">
            <a:solidFill>
              <a:srgbClr val="2A7A4B"/>
            </a:solidFill>
            <a:prstDash val="solid"/>
          </a:ln>
        </p:spPr>
      </p:sp>
      <p:sp>
        <p:nvSpPr>
          <p:cNvPr id="51" name="Shape 49"/>
          <p:cNvSpPr/>
          <p:nvPr/>
        </p:nvSpPr>
        <p:spPr>
          <a:xfrm>
            <a:off x="1920240" y="1874520"/>
            <a:ext cx="182880" cy="182880"/>
          </a:xfrm>
          <a:prstGeom prst="rect">
            <a:avLst/>
          </a:prstGeom>
          <a:solidFill>
            <a:srgbClr val="2A7A4B"/>
          </a:solidFill>
          <a:ln w="12700">
            <a:solidFill>
              <a:srgbClr val="2A7A4B"/>
            </a:solidFill>
            <a:prstDash val="solid"/>
          </a:ln>
        </p:spPr>
      </p:sp>
      <p:sp>
        <p:nvSpPr>
          <p:cNvPr id="52" name="Shape 50"/>
          <p:cNvSpPr/>
          <p:nvPr/>
        </p:nvSpPr>
        <p:spPr>
          <a:xfrm>
            <a:off x="1097280" y="2377440"/>
            <a:ext cx="182880" cy="182880"/>
          </a:xfrm>
          <a:prstGeom prst="rect">
            <a:avLst/>
          </a:prstGeom>
          <a:solidFill>
            <a:srgbClr val="2A7A4B"/>
          </a:solidFill>
          <a:ln w="12700">
            <a:solidFill>
              <a:srgbClr val="2A7A4B"/>
            </a:solidFill>
            <a:prstDash val="solid"/>
          </a:ln>
        </p:spPr>
      </p:sp>
      <p:sp>
        <p:nvSpPr>
          <p:cNvPr id="53" name="Shape 51"/>
          <p:cNvSpPr/>
          <p:nvPr/>
        </p:nvSpPr>
        <p:spPr>
          <a:xfrm>
            <a:off x="2423160" y="2240280"/>
            <a:ext cx="182880" cy="182880"/>
          </a:xfrm>
          <a:prstGeom prst="rect">
            <a:avLst/>
          </a:prstGeom>
          <a:solidFill>
            <a:srgbClr val="2A7A4B"/>
          </a:solidFill>
          <a:ln w="12700">
            <a:solidFill>
              <a:srgbClr val="2A7A4B"/>
            </a:solidFill>
            <a:prstDash val="solid"/>
          </a:ln>
        </p:spPr>
      </p:sp>
      <p:sp>
        <p:nvSpPr>
          <p:cNvPr id="54" name="Shape 52"/>
          <p:cNvSpPr/>
          <p:nvPr/>
        </p:nvSpPr>
        <p:spPr>
          <a:xfrm>
            <a:off x="438912" y="2880360"/>
            <a:ext cx="182880" cy="182880"/>
          </a:xfrm>
          <a:prstGeom prst="rect">
            <a:avLst/>
          </a:prstGeom>
          <a:solidFill>
            <a:srgbClr val="2A7A4B"/>
          </a:solidFill>
          <a:ln w="12700">
            <a:solidFill>
              <a:srgbClr val="2A7A4B"/>
            </a:solidFill>
            <a:prstDash val="solid"/>
          </a:ln>
        </p:spPr>
      </p:sp>
      <p:sp>
        <p:nvSpPr>
          <p:cNvPr id="55" name="Shape 53"/>
          <p:cNvSpPr/>
          <p:nvPr/>
        </p:nvSpPr>
        <p:spPr>
          <a:xfrm>
            <a:off x="1691640" y="2926080"/>
            <a:ext cx="182880" cy="182880"/>
          </a:xfrm>
          <a:prstGeom prst="rect">
            <a:avLst/>
          </a:prstGeom>
          <a:solidFill>
            <a:srgbClr val="2A7A4B"/>
          </a:solidFill>
          <a:ln w="12700">
            <a:solidFill>
              <a:srgbClr val="2A7A4B"/>
            </a:solidFill>
            <a:prstDash val="solid"/>
          </a:ln>
        </p:spPr>
      </p:sp>
      <p:sp>
        <p:nvSpPr>
          <p:cNvPr id="56" name="Text 54"/>
          <p:cNvSpPr/>
          <p:nvPr/>
        </p:nvSpPr>
        <p:spPr>
          <a:xfrm>
            <a:off x="6217920" y="3200400"/>
            <a:ext cx="2560320" cy="27432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Widely spread</a:t>
            </a:r>
            <a:endParaRPr lang="en-US" sz="1100" dirty="0"/>
          </a:p>
        </p:txBody>
      </p:sp>
      <p:sp>
        <p:nvSpPr>
          <p:cNvPr id="57" name="Text 55"/>
          <p:cNvSpPr/>
          <p:nvPr/>
        </p:nvSpPr>
        <p:spPr>
          <a:xfrm>
            <a:off x="6217920" y="3493008"/>
            <a:ext cx="2560320" cy="27432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Lots of empty space</a:t>
            </a:r>
            <a:endParaRPr lang="en-US" sz="1100" dirty="0"/>
          </a:p>
        </p:txBody>
      </p:sp>
      <p:sp>
        <p:nvSpPr>
          <p:cNvPr id="58" name="Text 56"/>
          <p:cNvSpPr/>
          <p:nvPr/>
        </p:nvSpPr>
        <p:spPr>
          <a:xfrm>
            <a:off x="6217920" y="3785616"/>
            <a:ext cx="2560320" cy="27432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Fills container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74320"/>
            <a:ext cx="1129284" cy="274320"/>
          </a:xfrm>
          <a:prstGeom prst="rect">
            <a:avLst/>
          </a:prstGeom>
          <a:solidFill>
            <a:srgbClr val="2A7A4B"/>
          </a:solidFill>
          <a:ln w="12700">
            <a:solidFill>
              <a:srgbClr val="2A7A4B"/>
            </a:solidFill>
            <a:prstDash val="solid"/>
          </a:ln>
        </p:spPr>
      </p:sp>
      <p:sp>
        <p:nvSpPr>
          <p:cNvPr id="4" name="Text 2"/>
          <p:cNvSpPr/>
          <p:nvPr/>
        </p:nvSpPr>
        <p:spPr>
          <a:xfrm>
            <a:off x="457200" y="274320"/>
            <a:ext cx="112928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5" name="Text 3"/>
          <p:cNvSpPr/>
          <p:nvPr/>
        </p:nvSpPr>
        <p:spPr>
          <a:xfrm>
            <a:off x="457200" y="685800"/>
            <a:ext cx="8229600" cy="475488"/>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Build Your Own Particle Models</a:t>
            </a:r>
            <a:endParaRPr lang="en-US" sz="2800" dirty="0"/>
          </a:p>
        </p:txBody>
      </p:sp>
      <p:sp>
        <p:nvSpPr>
          <p:cNvPr id="6" name="Shape 4"/>
          <p:cNvSpPr/>
          <p:nvPr/>
        </p:nvSpPr>
        <p:spPr>
          <a:xfrm>
            <a:off x="457200" y="1261872"/>
            <a:ext cx="8229600" cy="475488"/>
          </a:xfrm>
          <a:prstGeom prst="rect">
            <a:avLst/>
          </a:prstGeom>
          <a:solidFill>
            <a:srgbClr val="2C4A6E"/>
          </a:solidFill>
          <a:ln w="12700">
            <a:solidFill>
              <a:srgbClr val="2C4A6E"/>
            </a:solidFill>
            <a:prstDash val="solid"/>
          </a:ln>
        </p:spPr>
      </p:sp>
      <p:sp>
        <p:nvSpPr>
          <p:cNvPr id="7" name="Text 5"/>
          <p:cNvSpPr/>
          <p:nvPr/>
        </p:nvSpPr>
        <p:spPr>
          <a:xfrm>
            <a:off x="548640" y="1316736"/>
            <a:ext cx="804672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Use 12 identical small objects (coins, beans, erasers, or dots drawn on paper). Build models of all three states. Sketch each one and label it.</a:t>
            </a:r>
            <a:endParaRPr lang="en-US" sz="1300" dirty="0"/>
          </a:p>
        </p:txBody>
      </p:sp>
      <p:sp>
        <p:nvSpPr>
          <p:cNvPr id="8" name="Shape 6"/>
          <p:cNvSpPr/>
          <p:nvPr/>
        </p:nvSpPr>
        <p:spPr>
          <a:xfrm>
            <a:off x="457200" y="1874520"/>
            <a:ext cx="438912" cy="566928"/>
          </a:xfrm>
          <a:prstGeom prst="rect">
            <a:avLst/>
          </a:prstGeom>
          <a:solidFill>
            <a:srgbClr val="2A7A4B"/>
          </a:solidFill>
          <a:ln w="12700">
            <a:solidFill>
              <a:srgbClr val="2A7A4B"/>
            </a:solidFill>
            <a:prstDash val="solid"/>
          </a:ln>
        </p:spPr>
      </p:sp>
      <p:sp>
        <p:nvSpPr>
          <p:cNvPr id="9" name="Text 7"/>
          <p:cNvSpPr/>
          <p:nvPr/>
        </p:nvSpPr>
        <p:spPr>
          <a:xfrm>
            <a:off x="548640" y="1929384"/>
            <a:ext cx="256032"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Shape 8"/>
          <p:cNvSpPr/>
          <p:nvPr/>
        </p:nvSpPr>
        <p:spPr>
          <a:xfrm>
            <a:off x="1024128" y="1874520"/>
            <a:ext cx="7662672" cy="566928"/>
          </a:xfrm>
          <a:prstGeom prst="rect">
            <a:avLst/>
          </a:prstGeom>
          <a:solidFill>
            <a:srgbClr val="1A3A5C"/>
          </a:solidFill>
          <a:ln w="12700">
            <a:solidFill>
              <a:srgbClr val="1A3A5C"/>
            </a:solidFill>
            <a:prstDash val="solid"/>
          </a:ln>
        </p:spPr>
      </p:sp>
      <p:sp>
        <p:nvSpPr>
          <p:cNvPr id="11" name="Text 9"/>
          <p:cNvSpPr/>
          <p:nvPr/>
        </p:nvSpPr>
        <p:spPr>
          <a:xfrm>
            <a:off x="1115568" y="1929384"/>
            <a:ext cx="7479792" cy="4572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Step 1: SOLID model: Arrange all 12 objects tightly packed in a small circle with barely any gaps. Sketch and label.</a:t>
            </a:r>
            <a:endParaRPr lang="en-US" sz="1200" dirty="0"/>
          </a:p>
        </p:txBody>
      </p:sp>
      <p:sp>
        <p:nvSpPr>
          <p:cNvPr id="12" name="Shape 10"/>
          <p:cNvSpPr/>
          <p:nvPr/>
        </p:nvSpPr>
        <p:spPr>
          <a:xfrm>
            <a:off x="457200" y="2560320"/>
            <a:ext cx="438912" cy="566928"/>
          </a:xfrm>
          <a:prstGeom prst="rect">
            <a:avLst/>
          </a:prstGeom>
          <a:solidFill>
            <a:srgbClr val="2A7A4B"/>
          </a:solidFill>
          <a:ln w="12700">
            <a:solidFill>
              <a:srgbClr val="2A7A4B"/>
            </a:solidFill>
            <a:prstDash val="solid"/>
          </a:ln>
        </p:spPr>
      </p:sp>
      <p:sp>
        <p:nvSpPr>
          <p:cNvPr id="13" name="Text 11"/>
          <p:cNvSpPr/>
          <p:nvPr/>
        </p:nvSpPr>
        <p:spPr>
          <a:xfrm>
            <a:off x="548640" y="2615184"/>
            <a:ext cx="256032"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Shape 12"/>
          <p:cNvSpPr/>
          <p:nvPr/>
        </p:nvSpPr>
        <p:spPr>
          <a:xfrm>
            <a:off x="1024128" y="2560320"/>
            <a:ext cx="7662672" cy="566928"/>
          </a:xfrm>
          <a:prstGeom prst="rect">
            <a:avLst/>
          </a:prstGeom>
          <a:solidFill>
            <a:srgbClr val="1A3A5C"/>
          </a:solidFill>
          <a:ln w="12700">
            <a:solidFill>
              <a:srgbClr val="1A3A5C"/>
            </a:solidFill>
            <a:prstDash val="solid"/>
          </a:ln>
        </p:spPr>
      </p:sp>
      <p:sp>
        <p:nvSpPr>
          <p:cNvPr id="15" name="Text 13"/>
          <p:cNvSpPr/>
          <p:nvPr/>
        </p:nvSpPr>
        <p:spPr>
          <a:xfrm>
            <a:off x="1115568" y="2615184"/>
            <a:ext cx="7479792" cy="4572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Step 2: LIQUID model: Rearrange the same 12 objects loosely in a new outline shape — they can touch but are not perfectly ordered. Sketch.</a:t>
            </a:r>
            <a:endParaRPr lang="en-US" sz="1200" dirty="0"/>
          </a:p>
        </p:txBody>
      </p:sp>
      <p:sp>
        <p:nvSpPr>
          <p:cNvPr id="16" name="Shape 14"/>
          <p:cNvSpPr/>
          <p:nvPr/>
        </p:nvSpPr>
        <p:spPr>
          <a:xfrm>
            <a:off x="457200" y="3246120"/>
            <a:ext cx="438912" cy="566928"/>
          </a:xfrm>
          <a:prstGeom prst="rect">
            <a:avLst/>
          </a:prstGeom>
          <a:solidFill>
            <a:srgbClr val="2A7A4B"/>
          </a:solidFill>
          <a:ln w="12700">
            <a:solidFill>
              <a:srgbClr val="2A7A4B"/>
            </a:solidFill>
            <a:prstDash val="solid"/>
          </a:ln>
        </p:spPr>
      </p:sp>
      <p:sp>
        <p:nvSpPr>
          <p:cNvPr id="17" name="Text 15"/>
          <p:cNvSpPr/>
          <p:nvPr/>
        </p:nvSpPr>
        <p:spPr>
          <a:xfrm>
            <a:off x="548640" y="3300984"/>
            <a:ext cx="256032"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Shape 16"/>
          <p:cNvSpPr/>
          <p:nvPr/>
        </p:nvSpPr>
        <p:spPr>
          <a:xfrm>
            <a:off x="1024128" y="3246120"/>
            <a:ext cx="7662672" cy="566928"/>
          </a:xfrm>
          <a:prstGeom prst="rect">
            <a:avLst/>
          </a:prstGeom>
          <a:solidFill>
            <a:srgbClr val="1A3A5C"/>
          </a:solidFill>
          <a:ln w="12700">
            <a:solidFill>
              <a:srgbClr val="1A3A5C"/>
            </a:solidFill>
            <a:prstDash val="solid"/>
          </a:ln>
        </p:spPr>
      </p:sp>
      <p:sp>
        <p:nvSpPr>
          <p:cNvPr id="19" name="Text 17"/>
          <p:cNvSpPr/>
          <p:nvPr/>
        </p:nvSpPr>
        <p:spPr>
          <a:xfrm>
            <a:off x="1115568" y="3300984"/>
            <a:ext cx="7479792" cy="4572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Step 3: GAS model: Scatter all 12 objects far apart over a large area. Lots of empty space between them. Sketch.</a:t>
            </a:r>
            <a:endParaRPr lang="en-US" sz="1200" dirty="0"/>
          </a:p>
        </p:txBody>
      </p:sp>
      <p:sp>
        <p:nvSpPr>
          <p:cNvPr id="20" name="Shape 18"/>
          <p:cNvSpPr/>
          <p:nvPr/>
        </p:nvSpPr>
        <p:spPr>
          <a:xfrm>
            <a:off x="457200" y="3931920"/>
            <a:ext cx="438912" cy="566928"/>
          </a:xfrm>
          <a:prstGeom prst="rect">
            <a:avLst/>
          </a:prstGeom>
          <a:solidFill>
            <a:srgbClr val="2A7A4B"/>
          </a:solidFill>
          <a:ln w="12700">
            <a:solidFill>
              <a:srgbClr val="2A7A4B"/>
            </a:solidFill>
            <a:prstDash val="solid"/>
          </a:ln>
        </p:spPr>
      </p:sp>
      <p:sp>
        <p:nvSpPr>
          <p:cNvPr id="21" name="Text 19"/>
          <p:cNvSpPr/>
          <p:nvPr/>
        </p:nvSpPr>
        <p:spPr>
          <a:xfrm>
            <a:off x="548640" y="3986784"/>
            <a:ext cx="256032"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Shape 20"/>
          <p:cNvSpPr/>
          <p:nvPr/>
        </p:nvSpPr>
        <p:spPr>
          <a:xfrm>
            <a:off x="1024128" y="3931920"/>
            <a:ext cx="7662672" cy="566928"/>
          </a:xfrm>
          <a:prstGeom prst="rect">
            <a:avLst/>
          </a:prstGeom>
          <a:solidFill>
            <a:srgbClr val="1A3A5C"/>
          </a:solidFill>
          <a:ln w="12700">
            <a:solidFill>
              <a:srgbClr val="1A3A5C"/>
            </a:solidFill>
            <a:prstDash val="solid"/>
          </a:ln>
        </p:spPr>
      </p:sp>
      <p:sp>
        <p:nvSpPr>
          <p:cNvPr id="23" name="Text 21"/>
          <p:cNvSpPr/>
          <p:nvPr/>
        </p:nvSpPr>
        <p:spPr>
          <a:xfrm>
            <a:off x="1115568" y="3986784"/>
            <a:ext cx="7479792" cy="45720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Step 4: For each model, write: (a) what it SHOWS — (b) one thing it does NOT show accurately.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384048"/>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What Your Three Models Should Show</a:t>
            </a:r>
            <a:endParaRPr lang="en-US" sz="2200" dirty="0"/>
          </a:p>
        </p:txBody>
      </p:sp>
      <p:sp>
        <p:nvSpPr>
          <p:cNvPr id="4" name="Shape 2"/>
          <p:cNvSpPr/>
          <p:nvPr/>
        </p:nvSpPr>
        <p:spPr>
          <a:xfrm>
            <a:off x="457200" y="621792"/>
            <a:ext cx="8229600" cy="347472"/>
          </a:xfrm>
          <a:prstGeom prst="rect">
            <a:avLst/>
          </a:prstGeom>
          <a:solidFill>
            <a:srgbClr val="1A3A5C"/>
          </a:solidFill>
          <a:ln w="12700">
            <a:solidFill>
              <a:srgbClr val="1A3A5C"/>
            </a:solidFill>
            <a:prstDash val="solid"/>
          </a:ln>
        </p:spPr>
      </p:sp>
      <p:sp>
        <p:nvSpPr>
          <p:cNvPr id="5" name="Text 3"/>
          <p:cNvSpPr/>
          <p:nvPr/>
        </p:nvSpPr>
        <p:spPr>
          <a:xfrm>
            <a:off x="548640" y="676656"/>
            <a:ext cx="8046720" cy="23774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After building, sketch each model and complete the "shows / does not show" analysis below.</a:t>
            </a:r>
            <a:endParaRPr lang="en-US" sz="1200" dirty="0"/>
          </a:p>
        </p:txBody>
      </p:sp>
      <p:sp>
        <p:nvSpPr>
          <p:cNvPr id="6" name="Shape 4"/>
          <p:cNvSpPr/>
          <p:nvPr/>
        </p:nvSpPr>
        <p:spPr>
          <a:xfrm>
            <a:off x="274320" y="1078992"/>
            <a:ext cx="2743200" cy="3547872"/>
          </a:xfrm>
          <a:prstGeom prst="rect">
            <a:avLst/>
          </a:prstGeom>
          <a:solidFill>
            <a:srgbClr val="D6EAF8"/>
          </a:solidFill>
          <a:ln w="12700">
            <a:solidFill>
              <a:srgbClr val="D6EAF8"/>
            </a:solidFill>
            <a:prstDash val="solid"/>
          </a:ln>
        </p:spPr>
      </p:sp>
      <p:sp>
        <p:nvSpPr>
          <p:cNvPr id="7" name="Shape 5"/>
          <p:cNvSpPr/>
          <p:nvPr/>
        </p:nvSpPr>
        <p:spPr>
          <a:xfrm>
            <a:off x="274320" y="1078992"/>
            <a:ext cx="2743200" cy="365760"/>
          </a:xfrm>
          <a:prstGeom prst="rect">
            <a:avLst/>
          </a:prstGeom>
          <a:solidFill>
            <a:srgbClr val="2E86AB"/>
          </a:solidFill>
          <a:ln w="12700">
            <a:solidFill>
              <a:srgbClr val="2E86AB"/>
            </a:solidFill>
            <a:prstDash val="solid"/>
          </a:ln>
        </p:spPr>
      </p:sp>
      <p:sp>
        <p:nvSpPr>
          <p:cNvPr id="8" name="Text 6"/>
          <p:cNvSpPr/>
          <p:nvPr/>
        </p:nvSpPr>
        <p:spPr>
          <a:xfrm>
            <a:off x="274320" y="1078992"/>
            <a:ext cx="2743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SOLID</a:t>
            </a:r>
            <a:endParaRPr lang="en-US" sz="1400" dirty="0"/>
          </a:p>
        </p:txBody>
      </p:sp>
      <p:sp>
        <p:nvSpPr>
          <p:cNvPr id="9" name="Text 7"/>
          <p:cNvSpPr/>
          <p:nvPr/>
        </p:nvSpPr>
        <p:spPr>
          <a:xfrm>
            <a:off x="365760" y="1508760"/>
            <a:ext cx="2560320" cy="256032"/>
          </a:xfrm>
          <a:prstGeom prst="rect">
            <a:avLst/>
          </a:prstGeom>
          <a:noFill/>
          <a:ln/>
        </p:spPr>
        <p:txBody>
          <a:bodyPr wrap="square" rtlCol="0" anchor="ctr"/>
          <a:lstStyle/>
          <a:p>
            <a:pPr indent="0" marL="0">
              <a:buNone/>
            </a:pPr>
            <a:r>
              <a:rPr lang="en-US" sz="1100" b="1" dirty="0">
                <a:solidFill>
                  <a:srgbClr val="2E86AB"/>
                </a:solidFill>
                <a:latin typeface="Calibri" pitchFamily="34" charset="0"/>
                <a:ea typeface="Calibri" pitchFamily="34" charset="-122"/>
                <a:cs typeface="Calibri" pitchFamily="34" charset="-120"/>
              </a:rPr>
              <a:t>SHOWS:</a:t>
            </a:r>
            <a:endParaRPr lang="en-US" sz="1100" dirty="0"/>
          </a:p>
        </p:txBody>
      </p:sp>
      <p:sp>
        <p:nvSpPr>
          <p:cNvPr id="10" name="Text 8"/>
          <p:cNvSpPr/>
          <p:nvPr/>
        </p:nvSpPr>
        <p:spPr>
          <a:xfrm>
            <a:off x="365760" y="1783080"/>
            <a:ext cx="2560320" cy="105156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Particles tightly packed — no space to move. Arrangement stays fixed.</a:t>
            </a:r>
            <a:endParaRPr lang="en-US" sz="1100" dirty="0"/>
          </a:p>
        </p:txBody>
      </p:sp>
      <p:sp>
        <p:nvSpPr>
          <p:cNvPr id="11" name="Text 9"/>
          <p:cNvSpPr/>
          <p:nvPr/>
        </p:nvSpPr>
        <p:spPr>
          <a:xfrm>
            <a:off x="365760" y="2880360"/>
            <a:ext cx="2560320" cy="256032"/>
          </a:xfrm>
          <a:prstGeom prst="rect">
            <a:avLst/>
          </a:prstGeom>
          <a:noFill/>
          <a:ln/>
        </p:spPr>
        <p:txBody>
          <a:bodyPr wrap="square" rtlCol="0" anchor="ctr"/>
          <a:lstStyle/>
          <a:p>
            <a:pPr indent="0" marL="0">
              <a:buNone/>
            </a:pPr>
            <a:r>
              <a:rPr lang="en-US" sz="1100" b="1" dirty="0">
                <a:solidFill>
                  <a:srgbClr val="B5390E"/>
                </a:solidFill>
                <a:latin typeface="Calibri" pitchFamily="34" charset="0"/>
                <a:ea typeface="Calibri" pitchFamily="34" charset="-122"/>
                <a:cs typeface="Calibri" pitchFamily="34" charset="-120"/>
              </a:rPr>
              <a:t>DOES NOT SHOW:</a:t>
            </a:r>
            <a:endParaRPr lang="en-US" sz="1100" dirty="0"/>
          </a:p>
        </p:txBody>
      </p:sp>
      <p:sp>
        <p:nvSpPr>
          <p:cNvPr id="12" name="Text 10"/>
          <p:cNvSpPr/>
          <p:nvPr/>
        </p:nvSpPr>
        <p:spPr>
          <a:xfrm>
            <a:off x="365760" y="3154680"/>
            <a:ext cx="2560320" cy="13258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Does NOT show: actual tiny size, speed (very slow), or temperature.</a:t>
            </a:r>
            <a:endParaRPr lang="en-US" sz="1100" dirty="0"/>
          </a:p>
        </p:txBody>
      </p:sp>
      <p:sp>
        <p:nvSpPr>
          <p:cNvPr id="13" name="Shape 11"/>
          <p:cNvSpPr/>
          <p:nvPr/>
        </p:nvSpPr>
        <p:spPr>
          <a:xfrm>
            <a:off x="3200400" y="1078992"/>
            <a:ext cx="2743200" cy="3547872"/>
          </a:xfrm>
          <a:prstGeom prst="rect">
            <a:avLst/>
          </a:prstGeom>
          <a:solidFill>
            <a:srgbClr val="D1F2EB"/>
          </a:solidFill>
          <a:ln w="12700">
            <a:solidFill>
              <a:srgbClr val="D1F2EB"/>
            </a:solidFill>
            <a:prstDash val="solid"/>
          </a:ln>
        </p:spPr>
      </p:sp>
      <p:sp>
        <p:nvSpPr>
          <p:cNvPr id="14" name="Shape 12"/>
          <p:cNvSpPr/>
          <p:nvPr/>
        </p:nvSpPr>
        <p:spPr>
          <a:xfrm>
            <a:off x="3200400" y="1078992"/>
            <a:ext cx="2743200" cy="365760"/>
          </a:xfrm>
          <a:prstGeom prst="rect">
            <a:avLst/>
          </a:prstGeom>
          <a:solidFill>
            <a:srgbClr val="0E7C7B"/>
          </a:solidFill>
          <a:ln w="12700">
            <a:solidFill>
              <a:srgbClr val="0E7C7B"/>
            </a:solidFill>
            <a:prstDash val="solid"/>
          </a:ln>
        </p:spPr>
      </p:sp>
      <p:sp>
        <p:nvSpPr>
          <p:cNvPr id="15" name="Text 13"/>
          <p:cNvSpPr/>
          <p:nvPr/>
        </p:nvSpPr>
        <p:spPr>
          <a:xfrm>
            <a:off x="3200400" y="1078992"/>
            <a:ext cx="2743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LIQUID</a:t>
            </a:r>
            <a:endParaRPr lang="en-US" sz="1400" dirty="0"/>
          </a:p>
        </p:txBody>
      </p:sp>
      <p:sp>
        <p:nvSpPr>
          <p:cNvPr id="16" name="Text 14"/>
          <p:cNvSpPr/>
          <p:nvPr/>
        </p:nvSpPr>
        <p:spPr>
          <a:xfrm>
            <a:off x="3291840" y="1508760"/>
            <a:ext cx="2560320" cy="256032"/>
          </a:xfrm>
          <a:prstGeom prst="rect">
            <a:avLst/>
          </a:prstGeom>
          <a:noFill/>
          <a:ln/>
        </p:spPr>
        <p:txBody>
          <a:bodyPr wrap="square"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SHOWS:</a:t>
            </a:r>
            <a:endParaRPr lang="en-US" sz="1100" dirty="0"/>
          </a:p>
        </p:txBody>
      </p:sp>
      <p:sp>
        <p:nvSpPr>
          <p:cNvPr id="17" name="Text 15"/>
          <p:cNvSpPr/>
          <p:nvPr/>
        </p:nvSpPr>
        <p:spPr>
          <a:xfrm>
            <a:off x="3291840" y="1783080"/>
            <a:ext cx="2560320" cy="105156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Particles close together but not in a fixed arrangement. Can rearrange.</a:t>
            </a:r>
            <a:endParaRPr lang="en-US" sz="1100" dirty="0"/>
          </a:p>
        </p:txBody>
      </p:sp>
      <p:sp>
        <p:nvSpPr>
          <p:cNvPr id="18" name="Text 16"/>
          <p:cNvSpPr/>
          <p:nvPr/>
        </p:nvSpPr>
        <p:spPr>
          <a:xfrm>
            <a:off x="3291840" y="2880360"/>
            <a:ext cx="2560320" cy="256032"/>
          </a:xfrm>
          <a:prstGeom prst="rect">
            <a:avLst/>
          </a:prstGeom>
          <a:noFill/>
          <a:ln/>
        </p:spPr>
        <p:txBody>
          <a:bodyPr wrap="square" rtlCol="0" anchor="ctr"/>
          <a:lstStyle/>
          <a:p>
            <a:pPr indent="0" marL="0">
              <a:buNone/>
            </a:pPr>
            <a:r>
              <a:rPr lang="en-US" sz="1100" b="1" dirty="0">
                <a:solidFill>
                  <a:srgbClr val="B5390E"/>
                </a:solidFill>
                <a:latin typeface="Calibri" pitchFamily="34" charset="0"/>
                <a:ea typeface="Calibri" pitchFamily="34" charset="-122"/>
                <a:cs typeface="Calibri" pitchFamily="34" charset="-120"/>
              </a:rPr>
              <a:t>DOES NOT SHOW:</a:t>
            </a:r>
            <a:endParaRPr lang="en-US" sz="1100" dirty="0"/>
          </a:p>
        </p:txBody>
      </p:sp>
      <p:sp>
        <p:nvSpPr>
          <p:cNvPr id="19" name="Text 17"/>
          <p:cNvSpPr/>
          <p:nvPr/>
        </p:nvSpPr>
        <p:spPr>
          <a:xfrm>
            <a:off x="3291840" y="3154680"/>
            <a:ext cx="2560320" cy="13258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Does NOT show: actual size, speed (medium), or surface tension forces.</a:t>
            </a:r>
            <a:endParaRPr lang="en-US" sz="1100" dirty="0"/>
          </a:p>
        </p:txBody>
      </p:sp>
      <p:sp>
        <p:nvSpPr>
          <p:cNvPr id="20" name="Shape 18"/>
          <p:cNvSpPr/>
          <p:nvPr/>
        </p:nvSpPr>
        <p:spPr>
          <a:xfrm>
            <a:off x="6126480" y="1078992"/>
            <a:ext cx="2743200" cy="3547872"/>
          </a:xfrm>
          <a:prstGeom prst="rect">
            <a:avLst/>
          </a:prstGeom>
          <a:solidFill>
            <a:srgbClr val="D5F5E3"/>
          </a:solidFill>
          <a:ln w="12700">
            <a:solidFill>
              <a:srgbClr val="D5F5E3"/>
            </a:solidFill>
            <a:prstDash val="solid"/>
          </a:ln>
        </p:spPr>
      </p:sp>
      <p:sp>
        <p:nvSpPr>
          <p:cNvPr id="21" name="Shape 19"/>
          <p:cNvSpPr/>
          <p:nvPr/>
        </p:nvSpPr>
        <p:spPr>
          <a:xfrm>
            <a:off x="6126480" y="1078992"/>
            <a:ext cx="2743200" cy="365760"/>
          </a:xfrm>
          <a:prstGeom prst="rect">
            <a:avLst/>
          </a:prstGeom>
          <a:solidFill>
            <a:srgbClr val="2A7A4B"/>
          </a:solidFill>
          <a:ln w="12700">
            <a:solidFill>
              <a:srgbClr val="2A7A4B"/>
            </a:solidFill>
            <a:prstDash val="solid"/>
          </a:ln>
        </p:spPr>
      </p:sp>
      <p:sp>
        <p:nvSpPr>
          <p:cNvPr id="22" name="Text 20"/>
          <p:cNvSpPr/>
          <p:nvPr/>
        </p:nvSpPr>
        <p:spPr>
          <a:xfrm>
            <a:off x="6126480" y="1078992"/>
            <a:ext cx="2743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GAS</a:t>
            </a:r>
            <a:endParaRPr lang="en-US" sz="1400" dirty="0"/>
          </a:p>
        </p:txBody>
      </p:sp>
      <p:sp>
        <p:nvSpPr>
          <p:cNvPr id="23" name="Text 21"/>
          <p:cNvSpPr/>
          <p:nvPr/>
        </p:nvSpPr>
        <p:spPr>
          <a:xfrm>
            <a:off x="6217920" y="1508760"/>
            <a:ext cx="2560320" cy="256032"/>
          </a:xfrm>
          <a:prstGeom prst="rect">
            <a:avLst/>
          </a:prstGeom>
          <a:noFill/>
          <a:ln/>
        </p:spPr>
        <p:txBody>
          <a:bodyPr wrap="square" rtlCol="0" anchor="ctr"/>
          <a:lstStyle/>
          <a:p>
            <a:pPr indent="0" marL="0">
              <a:buNone/>
            </a:pPr>
            <a:r>
              <a:rPr lang="en-US" sz="1100" b="1" dirty="0">
                <a:solidFill>
                  <a:srgbClr val="2A7A4B"/>
                </a:solidFill>
                <a:latin typeface="Calibri" pitchFamily="34" charset="0"/>
                <a:ea typeface="Calibri" pitchFamily="34" charset="-122"/>
                <a:cs typeface="Calibri" pitchFamily="34" charset="-120"/>
              </a:rPr>
              <a:t>SHOWS:</a:t>
            </a:r>
            <a:endParaRPr lang="en-US" sz="1100" dirty="0"/>
          </a:p>
        </p:txBody>
      </p:sp>
      <p:sp>
        <p:nvSpPr>
          <p:cNvPr id="24" name="Text 22"/>
          <p:cNvSpPr/>
          <p:nvPr/>
        </p:nvSpPr>
        <p:spPr>
          <a:xfrm>
            <a:off x="6217920" y="1783080"/>
            <a:ext cx="2560320" cy="105156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Particles spread far apart with lots of empty space. Fill any area.</a:t>
            </a:r>
            <a:endParaRPr lang="en-US" sz="1100" dirty="0"/>
          </a:p>
        </p:txBody>
      </p:sp>
      <p:sp>
        <p:nvSpPr>
          <p:cNvPr id="25" name="Text 23"/>
          <p:cNvSpPr/>
          <p:nvPr/>
        </p:nvSpPr>
        <p:spPr>
          <a:xfrm>
            <a:off x="6217920" y="2880360"/>
            <a:ext cx="2560320" cy="256032"/>
          </a:xfrm>
          <a:prstGeom prst="rect">
            <a:avLst/>
          </a:prstGeom>
          <a:noFill/>
          <a:ln/>
        </p:spPr>
        <p:txBody>
          <a:bodyPr wrap="square" rtlCol="0" anchor="ctr"/>
          <a:lstStyle/>
          <a:p>
            <a:pPr indent="0" marL="0">
              <a:buNone/>
            </a:pPr>
            <a:r>
              <a:rPr lang="en-US" sz="1100" b="1" dirty="0">
                <a:solidFill>
                  <a:srgbClr val="B5390E"/>
                </a:solidFill>
                <a:latin typeface="Calibri" pitchFamily="34" charset="0"/>
                <a:ea typeface="Calibri" pitchFamily="34" charset="-122"/>
                <a:cs typeface="Calibri" pitchFamily="34" charset="-120"/>
              </a:rPr>
              <a:t>DOES NOT SHOW:</a:t>
            </a:r>
            <a:endParaRPr lang="en-US" sz="1100" dirty="0"/>
          </a:p>
        </p:txBody>
      </p:sp>
      <p:sp>
        <p:nvSpPr>
          <p:cNvPr id="26" name="Text 24"/>
          <p:cNvSpPr/>
          <p:nvPr/>
        </p:nvSpPr>
        <p:spPr>
          <a:xfrm>
            <a:off x="6217920" y="3154680"/>
            <a:ext cx="2560320" cy="13258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Does NOT show: actual size, speed (very fast), or exact distance apart.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400" b="1" dirty="0">
                <a:solidFill>
                  <a:srgbClr val="1A3A5C"/>
                </a:solidFill>
                <a:latin typeface="Cambria" pitchFamily="34" charset="0"/>
                <a:ea typeface="Cambria" pitchFamily="34" charset="-122"/>
                <a:cs typeface="Cambria" pitchFamily="34" charset="-120"/>
              </a:rPr>
              <a:t>Record Your Thinking</a:t>
            </a:r>
            <a:endParaRPr lang="en-US" sz="2400" dirty="0"/>
          </a:p>
        </p:txBody>
      </p:sp>
      <p:sp>
        <p:nvSpPr>
          <p:cNvPr id="4" name="Shape 2"/>
          <p:cNvSpPr/>
          <p:nvPr/>
        </p:nvSpPr>
        <p:spPr>
          <a:xfrm>
            <a:off x="457200" y="658368"/>
            <a:ext cx="411480" cy="411480"/>
          </a:xfrm>
          <a:prstGeom prst="rect">
            <a:avLst/>
          </a:prstGeom>
          <a:solidFill>
            <a:srgbClr val="0E7C7B"/>
          </a:solidFill>
          <a:ln w="12700">
            <a:solidFill>
              <a:srgbClr val="0E7C7B"/>
            </a:solidFill>
            <a:prstDash val="solid"/>
          </a:ln>
        </p:spPr>
      </p:sp>
      <p:sp>
        <p:nvSpPr>
          <p:cNvPr id="5" name="Text 3"/>
          <p:cNvSpPr/>
          <p:nvPr/>
        </p:nvSpPr>
        <p:spPr>
          <a:xfrm>
            <a:off x="548640" y="713232"/>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1005840" y="658368"/>
            <a:ext cx="7680960" cy="1234440"/>
          </a:xfrm>
          <a:prstGeom prst="rect">
            <a:avLst/>
          </a:prstGeom>
          <a:solidFill>
            <a:srgbClr val="FFFFFF"/>
          </a:solidFill>
          <a:ln w="12700">
            <a:solidFill>
              <a:srgbClr val="FFFFFF"/>
            </a:solidFill>
            <a:prstDash val="solid"/>
          </a:ln>
        </p:spPr>
      </p:sp>
      <p:sp>
        <p:nvSpPr>
          <p:cNvPr id="7" name="Text 5"/>
          <p:cNvSpPr/>
          <p:nvPr/>
        </p:nvSpPr>
        <p:spPr>
          <a:xfrm>
            <a:off x="1097280" y="713232"/>
            <a:ext cx="7498080" cy="11247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What does your solid model show about why solids keep their shape?</a:t>
            </a:r>
            <a:endParaRPr lang="en-US" sz="1400" dirty="0"/>
          </a:p>
        </p:txBody>
      </p:sp>
      <p:sp>
        <p:nvSpPr>
          <p:cNvPr id="8" name="Shape 6"/>
          <p:cNvSpPr/>
          <p:nvPr/>
        </p:nvSpPr>
        <p:spPr>
          <a:xfrm>
            <a:off x="457200" y="2075688"/>
            <a:ext cx="411480" cy="411480"/>
          </a:xfrm>
          <a:prstGeom prst="rect">
            <a:avLst/>
          </a:prstGeom>
          <a:solidFill>
            <a:srgbClr val="0E7C7B"/>
          </a:solidFill>
          <a:ln w="12700">
            <a:solidFill>
              <a:srgbClr val="0E7C7B"/>
            </a:solidFill>
            <a:prstDash val="solid"/>
          </a:ln>
        </p:spPr>
      </p:sp>
      <p:sp>
        <p:nvSpPr>
          <p:cNvPr id="9" name="Text 7"/>
          <p:cNvSpPr/>
          <p:nvPr/>
        </p:nvSpPr>
        <p:spPr>
          <a:xfrm>
            <a:off x="548640" y="2130552"/>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1005840" y="2075688"/>
            <a:ext cx="7680960" cy="1234440"/>
          </a:xfrm>
          <a:prstGeom prst="rect">
            <a:avLst/>
          </a:prstGeom>
          <a:solidFill>
            <a:srgbClr val="FFFFFF"/>
          </a:solidFill>
          <a:ln w="12700">
            <a:solidFill>
              <a:srgbClr val="FFFFFF"/>
            </a:solidFill>
            <a:prstDash val="solid"/>
          </a:ln>
        </p:spPr>
      </p:sp>
      <p:sp>
        <p:nvSpPr>
          <p:cNvPr id="11" name="Text 9"/>
          <p:cNvSpPr/>
          <p:nvPr/>
        </p:nvSpPr>
        <p:spPr>
          <a:xfrm>
            <a:off x="1097280" y="2130552"/>
            <a:ext cx="7498080" cy="11247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What does your gas model help explain about how perfume traveled across the room?</a:t>
            </a:r>
            <a:endParaRPr lang="en-US" sz="1400" dirty="0"/>
          </a:p>
        </p:txBody>
      </p:sp>
      <p:sp>
        <p:nvSpPr>
          <p:cNvPr id="12" name="Shape 10"/>
          <p:cNvSpPr/>
          <p:nvPr/>
        </p:nvSpPr>
        <p:spPr>
          <a:xfrm>
            <a:off x="457200" y="3493008"/>
            <a:ext cx="411480" cy="411480"/>
          </a:xfrm>
          <a:prstGeom prst="rect">
            <a:avLst/>
          </a:prstGeom>
          <a:solidFill>
            <a:srgbClr val="0E7C7B"/>
          </a:solidFill>
          <a:ln w="12700">
            <a:solidFill>
              <a:srgbClr val="0E7C7B"/>
            </a:solidFill>
            <a:prstDash val="solid"/>
          </a:ln>
        </p:spPr>
      </p:sp>
      <p:sp>
        <p:nvSpPr>
          <p:cNvPr id="13" name="Text 11"/>
          <p:cNvSpPr/>
          <p:nvPr/>
        </p:nvSpPr>
        <p:spPr>
          <a:xfrm>
            <a:off x="548640" y="3547872"/>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a:off x="1005840" y="3493008"/>
            <a:ext cx="7680960" cy="1234440"/>
          </a:xfrm>
          <a:prstGeom prst="rect">
            <a:avLst/>
          </a:prstGeom>
          <a:solidFill>
            <a:srgbClr val="FFFFFF"/>
          </a:solidFill>
          <a:ln w="12700">
            <a:solidFill>
              <a:srgbClr val="FFFFFF"/>
            </a:solidFill>
            <a:prstDash val="solid"/>
          </a:ln>
        </p:spPr>
      </p:sp>
      <p:sp>
        <p:nvSpPr>
          <p:cNvPr id="15" name="Text 13"/>
          <p:cNvSpPr/>
          <p:nvPr/>
        </p:nvSpPr>
        <p:spPr>
          <a:xfrm>
            <a:off x="1097280" y="3547872"/>
            <a:ext cx="7498080" cy="11247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What is ONE thing your model cannot show accurately? Why is it still useful anyway?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517904" cy="274320"/>
          </a:xfrm>
          <a:prstGeom prst="rect">
            <a:avLst/>
          </a:prstGeom>
          <a:solidFill>
            <a:srgbClr val="2E86AB"/>
          </a:solidFill>
          <a:ln w="12700">
            <a:solidFill>
              <a:srgbClr val="2E86AB"/>
            </a:solidFill>
            <a:prstDash val="solid"/>
          </a:ln>
        </p:spPr>
      </p:sp>
      <p:sp>
        <p:nvSpPr>
          <p:cNvPr id="4" name="Text 2"/>
          <p:cNvSpPr/>
          <p:nvPr/>
        </p:nvSpPr>
        <p:spPr>
          <a:xfrm>
            <a:off x="457200" y="274320"/>
            <a:ext cx="15179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5" name="Text 3"/>
          <p:cNvSpPr/>
          <p:nvPr/>
        </p:nvSpPr>
        <p:spPr>
          <a:xfrm>
            <a:off x="457200" y="685800"/>
            <a:ext cx="8229600" cy="4114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Talk It Out</a:t>
            </a:r>
            <a:endParaRPr lang="en-US" sz="2600" dirty="0"/>
          </a:p>
        </p:txBody>
      </p:sp>
      <p:sp>
        <p:nvSpPr>
          <p:cNvPr id="6" name="Shape 4"/>
          <p:cNvSpPr/>
          <p:nvPr/>
        </p:nvSpPr>
        <p:spPr>
          <a:xfrm>
            <a:off x="457200" y="1188720"/>
            <a:ext cx="8229600" cy="1005840"/>
          </a:xfrm>
          <a:prstGeom prst="rect">
            <a:avLst/>
          </a:prstGeom>
          <a:solidFill>
            <a:srgbClr val="2C4A6E"/>
          </a:solidFill>
          <a:ln w="12700">
            <a:solidFill>
              <a:srgbClr val="2C4A6E"/>
            </a:solidFill>
            <a:prstDash val="solid"/>
          </a:ln>
        </p:spPr>
      </p:sp>
      <p:sp>
        <p:nvSpPr>
          <p:cNvPr id="7" name="Text 5"/>
          <p:cNvSpPr/>
          <p:nvPr/>
        </p:nvSpPr>
        <p:spPr>
          <a:xfrm>
            <a:off x="548640" y="1243584"/>
            <a:ext cx="8046720" cy="8961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"Your liquid model and solid model both have 12 objects touching each other. How does your liquid model show that liquids flow but solids do not?"</a:t>
            </a:r>
            <a:endParaRPr lang="en-US" sz="1400" dirty="0"/>
          </a:p>
        </p:txBody>
      </p:sp>
      <p:sp>
        <p:nvSpPr>
          <p:cNvPr id="8" name="Shape 6"/>
          <p:cNvSpPr/>
          <p:nvPr/>
        </p:nvSpPr>
        <p:spPr>
          <a:xfrm>
            <a:off x="457200" y="2286000"/>
            <a:ext cx="8229600" cy="822960"/>
          </a:xfrm>
          <a:prstGeom prst="rect">
            <a:avLst/>
          </a:prstGeom>
          <a:solidFill>
            <a:srgbClr val="2C4A6E"/>
          </a:solidFill>
          <a:ln w="12700">
            <a:solidFill>
              <a:srgbClr val="2C4A6E"/>
            </a:solidFill>
            <a:prstDash val="solid"/>
          </a:ln>
        </p:spPr>
      </p:sp>
      <p:sp>
        <p:nvSpPr>
          <p:cNvPr id="9" name="Text 7"/>
          <p:cNvSpPr/>
          <p:nvPr/>
        </p:nvSpPr>
        <p:spPr>
          <a:xfrm>
            <a:off x="548640" y="2340864"/>
            <a:ext cx="8046720" cy="71323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 classmate says: Your model is wrong because the dots are too big. Is this a real problem with the model? Why or why not?"</a:t>
            </a:r>
            <a:endParaRPr lang="en-US" sz="1400" dirty="0"/>
          </a:p>
        </p:txBody>
      </p:sp>
      <p:sp>
        <p:nvSpPr>
          <p:cNvPr id="10" name="Text 8"/>
          <p:cNvSpPr/>
          <p:nvPr/>
        </p:nvSpPr>
        <p:spPr>
          <a:xfrm>
            <a:off x="457200" y="3218688"/>
            <a:ext cx="8229600" cy="22860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1" name="Shape 9"/>
          <p:cNvSpPr/>
          <p:nvPr/>
        </p:nvSpPr>
        <p:spPr>
          <a:xfrm>
            <a:off x="457200" y="3493008"/>
            <a:ext cx="3931920" cy="457200"/>
          </a:xfrm>
          <a:prstGeom prst="rect">
            <a:avLst/>
          </a:prstGeom>
          <a:solidFill>
            <a:srgbClr val="2E86AB"/>
          </a:solidFill>
          <a:ln w="12700">
            <a:solidFill>
              <a:srgbClr val="2E86AB"/>
            </a:solidFill>
            <a:prstDash val="solid"/>
          </a:ln>
        </p:spPr>
      </p:sp>
      <p:sp>
        <p:nvSpPr>
          <p:cNvPr id="12" name="Text 10"/>
          <p:cNvSpPr/>
          <p:nvPr/>
        </p:nvSpPr>
        <p:spPr>
          <a:xfrm>
            <a:off x="548640" y="3547872"/>
            <a:ext cx="3749040" cy="3474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"The liquid model shows flow because…"</a:t>
            </a:r>
            <a:endParaRPr lang="en-US" sz="1200" dirty="0"/>
          </a:p>
        </p:txBody>
      </p:sp>
      <p:sp>
        <p:nvSpPr>
          <p:cNvPr id="13" name="Shape 11"/>
          <p:cNvSpPr/>
          <p:nvPr/>
        </p:nvSpPr>
        <p:spPr>
          <a:xfrm>
            <a:off x="4754880" y="3493008"/>
            <a:ext cx="3931920" cy="457200"/>
          </a:xfrm>
          <a:prstGeom prst="rect">
            <a:avLst/>
          </a:prstGeom>
          <a:solidFill>
            <a:srgbClr val="2E86AB"/>
          </a:solidFill>
          <a:ln w="12700">
            <a:solidFill>
              <a:srgbClr val="2E86AB"/>
            </a:solidFill>
            <a:prstDash val="solid"/>
          </a:ln>
        </p:spPr>
      </p:sp>
      <p:sp>
        <p:nvSpPr>
          <p:cNvPr id="14" name="Text 12"/>
          <p:cNvSpPr/>
          <p:nvPr/>
        </p:nvSpPr>
        <p:spPr>
          <a:xfrm>
            <a:off x="4846320" y="3547872"/>
            <a:ext cx="3749040" cy="3474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"The size problem does not matter because a model…"</a:t>
            </a:r>
            <a:endParaRPr lang="en-US" sz="1200" dirty="0"/>
          </a:p>
        </p:txBody>
      </p:sp>
      <p:sp>
        <p:nvSpPr>
          <p:cNvPr id="15" name="Shape 13"/>
          <p:cNvSpPr/>
          <p:nvPr/>
        </p:nvSpPr>
        <p:spPr>
          <a:xfrm>
            <a:off x="457200" y="4041648"/>
            <a:ext cx="8229600" cy="502920"/>
          </a:xfrm>
          <a:prstGeom prst="rect">
            <a:avLst/>
          </a:prstGeom>
          <a:solidFill>
            <a:srgbClr val="2C4A6E"/>
          </a:solidFill>
          <a:ln w="12700">
            <a:solidFill>
              <a:srgbClr val="2C4A6E"/>
            </a:solidFill>
            <a:prstDash val="solid"/>
          </a:ln>
        </p:spPr>
      </p:sp>
      <p:sp>
        <p:nvSpPr>
          <p:cNvPr id="16" name="Text 14"/>
          <p:cNvSpPr/>
          <p:nvPr/>
        </p:nvSpPr>
        <p:spPr>
          <a:xfrm>
            <a:off x="548640" y="4096512"/>
            <a:ext cx="8046720" cy="39319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"Even though it is not perfect, my model is useful because it shows…"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362456" cy="274320"/>
          </a:xfrm>
          <a:prstGeom prst="rect">
            <a:avLst/>
          </a:prstGeom>
          <a:solidFill>
            <a:srgbClr val="F6C90E"/>
          </a:solidFill>
          <a:ln w="12700">
            <a:solidFill>
              <a:srgbClr val="F6C90E"/>
            </a:solidFill>
            <a:prstDash val="solid"/>
          </a:ln>
        </p:spPr>
      </p:sp>
      <p:sp>
        <p:nvSpPr>
          <p:cNvPr id="4" name="Text 2"/>
          <p:cNvSpPr/>
          <p:nvPr/>
        </p:nvSpPr>
        <p:spPr>
          <a:xfrm>
            <a:off x="457200" y="274320"/>
            <a:ext cx="13624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5" name="Text 3"/>
          <p:cNvSpPr/>
          <p:nvPr/>
        </p:nvSpPr>
        <p:spPr>
          <a:xfrm>
            <a:off x="457200" y="685800"/>
            <a:ext cx="8229600" cy="4114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Claim · Evidence · Reasoning</a:t>
            </a:r>
            <a:endParaRPr lang="en-US" sz="2600" dirty="0"/>
          </a:p>
        </p:txBody>
      </p:sp>
      <p:sp>
        <p:nvSpPr>
          <p:cNvPr id="6" name="Shape 4"/>
          <p:cNvSpPr/>
          <p:nvPr/>
        </p:nvSpPr>
        <p:spPr>
          <a:xfrm>
            <a:off x="457200" y="1188720"/>
            <a:ext cx="8229600" cy="438912"/>
          </a:xfrm>
          <a:prstGeom prst="rect">
            <a:avLst/>
          </a:prstGeom>
          <a:solidFill>
            <a:srgbClr val="2C4A6E"/>
          </a:solidFill>
          <a:ln w="12700">
            <a:solidFill>
              <a:srgbClr val="2C4A6E"/>
            </a:solidFill>
            <a:prstDash val="solid"/>
          </a:ln>
        </p:spPr>
      </p:sp>
      <p:sp>
        <p:nvSpPr>
          <p:cNvPr id="7" name="Text 5"/>
          <p:cNvSpPr/>
          <p:nvPr/>
        </p:nvSpPr>
        <p:spPr>
          <a:xfrm>
            <a:off x="548640" y="1243584"/>
            <a:ext cx="8046720" cy="329184"/>
          </a:xfrm>
          <a:prstGeom prst="rect">
            <a:avLst/>
          </a:prstGeom>
          <a:noFill/>
          <a:ln/>
        </p:spPr>
        <p:txBody>
          <a:bodyPr wrap="square" lIns="0" tIns="0" rIns="0" bIns="0" rtlCol="0" anchor="ctr"/>
          <a:lstStyle/>
          <a:p>
            <a:pPr algn="l" indent="0" marL="0">
              <a:buNone/>
            </a:pPr>
            <a:r>
              <a:rPr lang="en-US" sz="1400" dirty="0">
                <a:solidFill>
                  <a:srgbClr val="F6C90E"/>
                </a:solidFill>
                <a:latin typeface="Calibri" pitchFamily="34" charset="0"/>
                <a:ea typeface="Calibri" pitchFamily="34" charset="-122"/>
                <a:cs typeface="Calibri" pitchFamily="34" charset="-120"/>
              </a:rPr>
              <a:t>Question: How does your particle model explain how perfume traveled from one side of the room to your nose?</a:t>
            </a:r>
            <a:endParaRPr lang="en-US" sz="1400" dirty="0"/>
          </a:p>
        </p:txBody>
      </p:sp>
      <p:sp>
        <p:nvSpPr>
          <p:cNvPr id="8" name="Shape 6"/>
          <p:cNvSpPr/>
          <p:nvPr/>
        </p:nvSpPr>
        <p:spPr>
          <a:xfrm>
            <a:off x="457200" y="1719072"/>
            <a:ext cx="8229600" cy="822960"/>
          </a:xfrm>
          <a:prstGeom prst="rect">
            <a:avLst/>
          </a:prstGeom>
          <a:solidFill>
            <a:srgbClr val="1B4F72"/>
          </a:solidFill>
          <a:ln w="12700">
            <a:solidFill>
              <a:srgbClr val="1B4F72"/>
            </a:solidFill>
            <a:prstDash val="solid"/>
          </a:ln>
        </p:spPr>
      </p:sp>
      <p:sp>
        <p:nvSpPr>
          <p:cNvPr id="9" name="Shape 7"/>
          <p:cNvSpPr/>
          <p:nvPr/>
        </p:nvSpPr>
        <p:spPr>
          <a:xfrm>
            <a:off x="548640" y="1764792"/>
            <a:ext cx="662940" cy="274320"/>
          </a:xfrm>
          <a:prstGeom prst="rect">
            <a:avLst/>
          </a:prstGeom>
          <a:solidFill>
            <a:srgbClr val="2E86AB"/>
          </a:solidFill>
          <a:ln w="12700">
            <a:solidFill>
              <a:srgbClr val="2E86AB"/>
            </a:solidFill>
            <a:prstDash val="solid"/>
          </a:ln>
        </p:spPr>
      </p:sp>
      <p:sp>
        <p:nvSpPr>
          <p:cNvPr id="10" name="Text 8"/>
          <p:cNvSpPr/>
          <p:nvPr/>
        </p:nvSpPr>
        <p:spPr>
          <a:xfrm>
            <a:off x="548640" y="1764792"/>
            <a:ext cx="6629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CLAIM</a:t>
            </a:r>
            <a:endParaRPr lang="en-US" sz="1000" dirty="0"/>
          </a:p>
        </p:txBody>
      </p:sp>
      <p:sp>
        <p:nvSpPr>
          <p:cNvPr id="11" name="Text 9"/>
          <p:cNvSpPr/>
          <p:nvPr/>
        </p:nvSpPr>
        <p:spPr>
          <a:xfrm>
            <a:off x="548640" y="2084832"/>
            <a:ext cx="7955280" cy="38404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"My particle model shows that perfume particles spread from the bottle to my nose because…"</a:t>
            </a:r>
            <a:endParaRPr lang="en-US" sz="1400" dirty="0"/>
          </a:p>
        </p:txBody>
      </p:sp>
      <p:sp>
        <p:nvSpPr>
          <p:cNvPr id="12" name="Shape 10"/>
          <p:cNvSpPr/>
          <p:nvPr/>
        </p:nvSpPr>
        <p:spPr>
          <a:xfrm>
            <a:off x="457200" y="2606040"/>
            <a:ext cx="8229600" cy="822960"/>
          </a:xfrm>
          <a:prstGeom prst="rect">
            <a:avLst/>
          </a:prstGeom>
          <a:solidFill>
            <a:srgbClr val="1B4F72"/>
          </a:solidFill>
          <a:ln w="12700">
            <a:solidFill>
              <a:srgbClr val="1B4F72"/>
            </a:solidFill>
            <a:prstDash val="solid"/>
          </a:ln>
        </p:spPr>
      </p:sp>
      <p:sp>
        <p:nvSpPr>
          <p:cNvPr id="13" name="Shape 11"/>
          <p:cNvSpPr/>
          <p:nvPr/>
        </p:nvSpPr>
        <p:spPr>
          <a:xfrm>
            <a:off x="548640" y="2651760"/>
            <a:ext cx="896112" cy="274320"/>
          </a:xfrm>
          <a:prstGeom prst="rect">
            <a:avLst/>
          </a:prstGeom>
          <a:solidFill>
            <a:srgbClr val="0E7C7B"/>
          </a:solidFill>
          <a:ln w="12700">
            <a:solidFill>
              <a:srgbClr val="0E7C7B"/>
            </a:solidFill>
            <a:prstDash val="solid"/>
          </a:ln>
        </p:spPr>
      </p:sp>
      <p:sp>
        <p:nvSpPr>
          <p:cNvPr id="14" name="Text 12"/>
          <p:cNvSpPr/>
          <p:nvPr/>
        </p:nvSpPr>
        <p:spPr>
          <a:xfrm>
            <a:off x="548640" y="2651760"/>
            <a:ext cx="8961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EVIDENCE</a:t>
            </a:r>
            <a:endParaRPr lang="en-US" sz="1000" dirty="0"/>
          </a:p>
        </p:txBody>
      </p:sp>
      <p:sp>
        <p:nvSpPr>
          <p:cNvPr id="15" name="Text 13"/>
          <p:cNvSpPr/>
          <p:nvPr/>
        </p:nvSpPr>
        <p:spPr>
          <a:xfrm>
            <a:off x="548640" y="2971800"/>
            <a:ext cx="7955280" cy="38404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 my gas model, the particles were spread far apart and scattered. This represents…"</a:t>
            </a:r>
            <a:endParaRPr lang="en-US" sz="1400" dirty="0"/>
          </a:p>
        </p:txBody>
      </p:sp>
      <p:sp>
        <p:nvSpPr>
          <p:cNvPr id="16" name="Shape 14"/>
          <p:cNvSpPr/>
          <p:nvPr/>
        </p:nvSpPr>
        <p:spPr>
          <a:xfrm>
            <a:off x="457200" y="3493008"/>
            <a:ext cx="8229600" cy="822960"/>
          </a:xfrm>
          <a:prstGeom prst="rect">
            <a:avLst/>
          </a:prstGeom>
          <a:solidFill>
            <a:srgbClr val="1B4F72"/>
          </a:solidFill>
          <a:ln w="12700">
            <a:solidFill>
              <a:srgbClr val="1B4F72"/>
            </a:solidFill>
            <a:prstDash val="solid"/>
          </a:ln>
        </p:spPr>
      </p:sp>
      <p:sp>
        <p:nvSpPr>
          <p:cNvPr id="17" name="Shape 15"/>
          <p:cNvSpPr/>
          <p:nvPr/>
        </p:nvSpPr>
        <p:spPr>
          <a:xfrm>
            <a:off x="548640" y="3538728"/>
            <a:ext cx="973836" cy="274320"/>
          </a:xfrm>
          <a:prstGeom prst="rect">
            <a:avLst/>
          </a:prstGeom>
          <a:solidFill>
            <a:srgbClr val="2A7A4B"/>
          </a:solidFill>
          <a:ln w="12700">
            <a:solidFill>
              <a:srgbClr val="2A7A4B"/>
            </a:solidFill>
            <a:prstDash val="solid"/>
          </a:ln>
        </p:spPr>
      </p:sp>
      <p:sp>
        <p:nvSpPr>
          <p:cNvPr id="18" name="Text 16"/>
          <p:cNvSpPr/>
          <p:nvPr/>
        </p:nvSpPr>
        <p:spPr>
          <a:xfrm>
            <a:off x="548640" y="3538728"/>
            <a:ext cx="97383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REASONING</a:t>
            </a:r>
            <a:endParaRPr lang="en-US" sz="1000" dirty="0"/>
          </a:p>
        </p:txBody>
      </p:sp>
      <p:sp>
        <p:nvSpPr>
          <p:cNvPr id="19" name="Text 17"/>
          <p:cNvSpPr/>
          <p:nvPr/>
        </p:nvSpPr>
        <p:spPr>
          <a:xfrm>
            <a:off x="548640" y="3858768"/>
            <a:ext cx="7955280" cy="38404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"This explains the perfume smell because gas particles move freely / spread out / fill any space, so…"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28600"/>
            <a:ext cx="1051560" cy="274320"/>
          </a:xfrm>
          <a:prstGeom prst="rect">
            <a:avLst/>
          </a:prstGeom>
          <a:solidFill>
            <a:srgbClr val="F6C90E"/>
          </a:solidFill>
          <a:ln w="12700">
            <a:solidFill>
              <a:srgbClr val="F6C90E"/>
            </a:solidFill>
            <a:prstDash val="solid"/>
          </a:ln>
        </p:spPr>
      </p:sp>
      <p:sp>
        <p:nvSpPr>
          <p:cNvPr id="4" name="Text 2"/>
          <p:cNvSpPr/>
          <p:nvPr/>
        </p:nvSpPr>
        <p:spPr>
          <a:xfrm>
            <a:off x="457200" y="2286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457200" y="594360"/>
            <a:ext cx="8229600" cy="292608"/>
          </a:xfrm>
          <a:prstGeom prst="rect">
            <a:avLst/>
          </a:prstGeom>
          <a:noFill/>
          <a:ln/>
        </p:spPr>
        <p:txBody>
          <a:bodyPr wrap="square" rtlCol="0" anchor="ctr"/>
          <a:lstStyle/>
          <a:p>
            <a:pPr indent="0" marL="0">
              <a:buNone/>
            </a:pPr>
            <a:r>
              <a:rPr lang="en-US" sz="1400" dirty="0">
                <a:solidFill>
                  <a:srgbClr val="5E7B9A"/>
                </a:solidFill>
                <a:latin typeface="Calibri" pitchFamily="34" charset="0"/>
                <a:ea typeface="Calibri" pitchFamily="34" charset="-122"/>
                <a:cs typeface="Calibri" pitchFamily="34" charset="-120"/>
              </a:rPr>
              <a:t>Question 1 of 2</a:t>
            </a:r>
            <a:endParaRPr lang="en-US" sz="1400" dirty="0"/>
          </a:p>
        </p:txBody>
      </p:sp>
      <p:sp>
        <p:nvSpPr>
          <p:cNvPr id="6" name="Shape 4"/>
          <p:cNvSpPr/>
          <p:nvPr/>
        </p:nvSpPr>
        <p:spPr>
          <a:xfrm>
            <a:off x="457200" y="960120"/>
            <a:ext cx="8229600" cy="658368"/>
          </a:xfrm>
          <a:prstGeom prst="rect">
            <a:avLst/>
          </a:prstGeom>
          <a:solidFill>
            <a:srgbClr val="1A3A5C"/>
          </a:solidFill>
          <a:ln w="12700">
            <a:solidFill>
              <a:srgbClr val="1A3A5C"/>
            </a:solidFill>
            <a:prstDash val="solid"/>
          </a:ln>
        </p:spPr>
      </p:sp>
      <p:sp>
        <p:nvSpPr>
          <p:cNvPr id="7" name="Text 5"/>
          <p:cNvSpPr/>
          <p:nvPr/>
        </p:nvSpPr>
        <p:spPr>
          <a:xfrm>
            <a:off x="548640" y="1014984"/>
            <a:ext cx="8046720" cy="54864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Which particle arrangement correctly shows a liquid?</a:t>
            </a:r>
            <a:endParaRPr lang="en-US" sz="1600" dirty="0"/>
          </a:p>
        </p:txBody>
      </p:sp>
      <p:sp>
        <p:nvSpPr>
          <p:cNvPr id="8" name="Shape 6"/>
          <p:cNvSpPr/>
          <p:nvPr/>
        </p:nvSpPr>
        <p:spPr>
          <a:xfrm>
            <a:off x="457200" y="1755648"/>
            <a:ext cx="8229600" cy="548640"/>
          </a:xfrm>
          <a:prstGeom prst="rect">
            <a:avLst/>
          </a:prstGeom>
          <a:solidFill>
            <a:srgbClr val="2C4A6E"/>
          </a:solidFill>
          <a:ln w="12700">
            <a:solidFill>
              <a:srgbClr val="2C4A6E"/>
            </a:solidFill>
            <a:prstDash val="solid"/>
          </a:ln>
        </p:spPr>
      </p:sp>
      <p:sp>
        <p:nvSpPr>
          <p:cNvPr id="9" name="Text 7"/>
          <p:cNvSpPr/>
          <p:nvPr/>
        </p:nvSpPr>
        <p:spPr>
          <a:xfrm>
            <a:off x="548640" y="1810512"/>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Particles packed in a tight, fixed grid</a:t>
            </a:r>
            <a:endParaRPr lang="en-US" sz="1500" dirty="0"/>
          </a:p>
        </p:txBody>
      </p:sp>
      <p:sp>
        <p:nvSpPr>
          <p:cNvPr id="10" name="Shape 8"/>
          <p:cNvSpPr/>
          <p:nvPr/>
        </p:nvSpPr>
        <p:spPr>
          <a:xfrm>
            <a:off x="457200" y="2368296"/>
            <a:ext cx="8229600" cy="548640"/>
          </a:xfrm>
          <a:prstGeom prst="rect">
            <a:avLst/>
          </a:prstGeom>
          <a:solidFill>
            <a:srgbClr val="2C4A6E"/>
          </a:solidFill>
          <a:ln w="12700">
            <a:solidFill>
              <a:srgbClr val="2C4A6E"/>
            </a:solidFill>
            <a:prstDash val="solid"/>
          </a:ln>
        </p:spPr>
      </p:sp>
      <p:sp>
        <p:nvSpPr>
          <p:cNvPr id="11" name="Text 9"/>
          <p:cNvSpPr/>
          <p:nvPr/>
        </p:nvSpPr>
        <p:spPr>
          <a:xfrm>
            <a:off x="548640" y="2423160"/>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B)  Particles spread far apart with large gaps</a:t>
            </a:r>
            <a:endParaRPr lang="en-US" sz="1500" dirty="0"/>
          </a:p>
        </p:txBody>
      </p:sp>
      <p:sp>
        <p:nvSpPr>
          <p:cNvPr id="12" name="Shape 10"/>
          <p:cNvSpPr/>
          <p:nvPr/>
        </p:nvSpPr>
        <p:spPr>
          <a:xfrm>
            <a:off x="457200" y="2980944"/>
            <a:ext cx="8229600" cy="548640"/>
          </a:xfrm>
          <a:prstGeom prst="rect">
            <a:avLst/>
          </a:prstGeom>
          <a:solidFill>
            <a:srgbClr val="2A7A4B"/>
          </a:solidFill>
          <a:ln w="12700">
            <a:solidFill>
              <a:srgbClr val="2A7A4B"/>
            </a:solidFill>
            <a:prstDash val="solid"/>
          </a:ln>
        </p:spPr>
      </p:sp>
      <p:sp>
        <p:nvSpPr>
          <p:cNvPr id="13" name="Text 11"/>
          <p:cNvSpPr/>
          <p:nvPr/>
        </p:nvSpPr>
        <p:spPr>
          <a:xfrm>
            <a:off x="548640" y="3035808"/>
            <a:ext cx="8046720"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C)  Particles close but able to slide past each other   CORRECT</a:t>
            </a:r>
            <a:endParaRPr lang="en-US" sz="1500" dirty="0"/>
          </a:p>
        </p:txBody>
      </p:sp>
      <p:sp>
        <p:nvSpPr>
          <p:cNvPr id="14" name="Shape 12"/>
          <p:cNvSpPr/>
          <p:nvPr/>
        </p:nvSpPr>
        <p:spPr>
          <a:xfrm>
            <a:off x="457200" y="3657600"/>
            <a:ext cx="8229600" cy="475488"/>
          </a:xfrm>
          <a:prstGeom prst="rect">
            <a:avLst/>
          </a:prstGeom>
          <a:solidFill>
            <a:srgbClr val="1B4F72"/>
          </a:solidFill>
          <a:ln w="12700">
            <a:solidFill>
              <a:srgbClr val="1B4F72"/>
            </a:solidFill>
            <a:prstDash val="solid"/>
          </a:ln>
        </p:spPr>
      </p:sp>
      <p:sp>
        <p:nvSpPr>
          <p:cNvPr id="15" name="Text 13"/>
          <p:cNvSpPr/>
          <p:nvPr/>
        </p:nvSpPr>
        <p:spPr>
          <a:xfrm>
            <a:off x="548640" y="3712464"/>
            <a:ext cx="804672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Liquids have particles close together (fixed volume) but not in a fixed grid, so they can flow and take the shape of their container.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28600"/>
            <a:ext cx="1051560" cy="274320"/>
          </a:xfrm>
          <a:prstGeom prst="rect">
            <a:avLst/>
          </a:prstGeom>
          <a:solidFill>
            <a:srgbClr val="F6C90E"/>
          </a:solidFill>
          <a:ln w="12700">
            <a:solidFill>
              <a:srgbClr val="F6C90E"/>
            </a:solidFill>
            <a:prstDash val="solid"/>
          </a:ln>
        </p:spPr>
      </p:sp>
      <p:sp>
        <p:nvSpPr>
          <p:cNvPr id="4" name="Text 2"/>
          <p:cNvSpPr/>
          <p:nvPr/>
        </p:nvSpPr>
        <p:spPr>
          <a:xfrm>
            <a:off x="457200" y="2286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457200" y="594360"/>
            <a:ext cx="8229600" cy="292608"/>
          </a:xfrm>
          <a:prstGeom prst="rect">
            <a:avLst/>
          </a:prstGeom>
          <a:noFill/>
          <a:ln/>
        </p:spPr>
        <p:txBody>
          <a:bodyPr wrap="square" rtlCol="0" anchor="ctr"/>
          <a:lstStyle/>
          <a:p>
            <a:pPr indent="0" marL="0">
              <a:buNone/>
            </a:pPr>
            <a:r>
              <a:rPr lang="en-US" sz="1400" dirty="0">
                <a:solidFill>
                  <a:srgbClr val="5E7B9A"/>
                </a:solidFill>
                <a:latin typeface="Calibri" pitchFamily="34" charset="0"/>
                <a:ea typeface="Calibri" pitchFamily="34" charset="-122"/>
                <a:cs typeface="Calibri" pitchFamily="34" charset="-120"/>
              </a:rPr>
              <a:t>Question 2 of 2</a:t>
            </a:r>
            <a:endParaRPr lang="en-US" sz="1400" dirty="0"/>
          </a:p>
        </p:txBody>
      </p:sp>
      <p:sp>
        <p:nvSpPr>
          <p:cNvPr id="6" name="Shape 4"/>
          <p:cNvSpPr/>
          <p:nvPr/>
        </p:nvSpPr>
        <p:spPr>
          <a:xfrm>
            <a:off x="457200" y="960120"/>
            <a:ext cx="8229600" cy="804672"/>
          </a:xfrm>
          <a:prstGeom prst="rect">
            <a:avLst/>
          </a:prstGeom>
          <a:solidFill>
            <a:srgbClr val="1A3A5C"/>
          </a:solidFill>
          <a:ln w="12700">
            <a:solidFill>
              <a:srgbClr val="1A3A5C"/>
            </a:solidFill>
            <a:prstDash val="solid"/>
          </a:ln>
        </p:spPr>
      </p:sp>
      <p:sp>
        <p:nvSpPr>
          <p:cNvPr id="7" name="Text 5"/>
          <p:cNvSpPr/>
          <p:nvPr/>
        </p:nvSpPr>
        <p:spPr>
          <a:xfrm>
            <a:off x="548640" y="1014984"/>
            <a:ext cx="8046720" cy="694944"/>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A student says her model of a solid is not perfect because her objects are much bigger than real particles. Is this a problem?</a:t>
            </a:r>
            <a:endParaRPr lang="en-US" sz="1600" dirty="0"/>
          </a:p>
        </p:txBody>
      </p:sp>
      <p:sp>
        <p:nvSpPr>
          <p:cNvPr id="8" name="Shape 6"/>
          <p:cNvSpPr/>
          <p:nvPr/>
        </p:nvSpPr>
        <p:spPr>
          <a:xfrm>
            <a:off x="457200" y="1901952"/>
            <a:ext cx="8229600" cy="548640"/>
          </a:xfrm>
          <a:prstGeom prst="rect">
            <a:avLst/>
          </a:prstGeom>
          <a:solidFill>
            <a:srgbClr val="2C4A6E"/>
          </a:solidFill>
          <a:ln w="12700">
            <a:solidFill>
              <a:srgbClr val="2C4A6E"/>
            </a:solidFill>
            <a:prstDash val="solid"/>
          </a:ln>
        </p:spPr>
      </p:sp>
      <p:sp>
        <p:nvSpPr>
          <p:cNvPr id="9" name="Text 7"/>
          <p:cNvSpPr/>
          <p:nvPr/>
        </p:nvSpPr>
        <p:spPr>
          <a:xfrm>
            <a:off x="548640" y="1956816"/>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Yes — models must be exactly to scale</a:t>
            </a:r>
            <a:endParaRPr lang="en-US" sz="1500" dirty="0"/>
          </a:p>
        </p:txBody>
      </p:sp>
      <p:sp>
        <p:nvSpPr>
          <p:cNvPr id="10" name="Shape 8"/>
          <p:cNvSpPr/>
          <p:nvPr/>
        </p:nvSpPr>
        <p:spPr>
          <a:xfrm>
            <a:off x="457200" y="2514600"/>
            <a:ext cx="8229600" cy="548640"/>
          </a:xfrm>
          <a:prstGeom prst="rect">
            <a:avLst/>
          </a:prstGeom>
          <a:solidFill>
            <a:srgbClr val="2A7A4B"/>
          </a:solidFill>
          <a:ln w="12700">
            <a:solidFill>
              <a:srgbClr val="2A7A4B"/>
            </a:solidFill>
            <a:prstDash val="solid"/>
          </a:ln>
        </p:spPr>
      </p:sp>
      <p:sp>
        <p:nvSpPr>
          <p:cNvPr id="11" name="Text 9"/>
          <p:cNvSpPr/>
          <p:nvPr/>
        </p:nvSpPr>
        <p:spPr>
          <a:xfrm>
            <a:off x="548640" y="2569464"/>
            <a:ext cx="8046720"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  No — models show the arrangement, even if size is not accurate   CORRECT</a:t>
            </a:r>
            <a:endParaRPr lang="en-US" sz="1500" dirty="0"/>
          </a:p>
        </p:txBody>
      </p:sp>
      <p:sp>
        <p:nvSpPr>
          <p:cNvPr id="12" name="Shape 10"/>
          <p:cNvSpPr/>
          <p:nvPr/>
        </p:nvSpPr>
        <p:spPr>
          <a:xfrm>
            <a:off x="457200" y="3127248"/>
            <a:ext cx="8229600" cy="548640"/>
          </a:xfrm>
          <a:prstGeom prst="rect">
            <a:avLst/>
          </a:prstGeom>
          <a:solidFill>
            <a:srgbClr val="2C4A6E"/>
          </a:solidFill>
          <a:ln w="12700">
            <a:solidFill>
              <a:srgbClr val="2C4A6E"/>
            </a:solidFill>
            <a:prstDash val="solid"/>
          </a:ln>
        </p:spPr>
      </p:sp>
      <p:sp>
        <p:nvSpPr>
          <p:cNvPr id="13" name="Text 11"/>
          <p:cNvSpPr/>
          <p:nvPr/>
        </p:nvSpPr>
        <p:spPr>
          <a:xfrm>
            <a:off x="548640" y="3182112"/>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  Yes — she needs to find smaller objects</a:t>
            </a:r>
            <a:endParaRPr lang="en-US" sz="1500" dirty="0"/>
          </a:p>
        </p:txBody>
      </p:sp>
      <p:sp>
        <p:nvSpPr>
          <p:cNvPr id="14" name="Shape 12"/>
          <p:cNvSpPr/>
          <p:nvPr/>
        </p:nvSpPr>
        <p:spPr>
          <a:xfrm>
            <a:off x="457200" y="3794760"/>
            <a:ext cx="8229600" cy="475488"/>
          </a:xfrm>
          <a:prstGeom prst="rect">
            <a:avLst/>
          </a:prstGeom>
          <a:solidFill>
            <a:srgbClr val="1B4F72"/>
          </a:solidFill>
          <a:ln w="12700">
            <a:solidFill>
              <a:srgbClr val="1B4F72"/>
            </a:solidFill>
            <a:prstDash val="solid"/>
          </a:ln>
        </p:spPr>
      </p:sp>
      <p:sp>
        <p:nvSpPr>
          <p:cNvPr id="15" name="Text 13"/>
          <p:cNvSpPr/>
          <p:nvPr/>
        </p:nvSpPr>
        <p:spPr>
          <a:xfrm>
            <a:off x="548640" y="3849624"/>
            <a:ext cx="804672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The purpose of a particle model is to show how particles are arranged. Size accuracy is a known limitation — not a reason the model is wrong.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74320"/>
            <a:ext cx="1595628" cy="274320"/>
          </a:xfrm>
          <a:prstGeom prst="rect">
            <a:avLst/>
          </a:prstGeom>
          <a:solidFill>
            <a:srgbClr val="F6C90E"/>
          </a:solidFill>
          <a:ln w="12700">
            <a:solidFill>
              <a:srgbClr val="F6C90E"/>
            </a:solidFill>
            <a:prstDash val="solid"/>
          </a:ln>
        </p:spPr>
      </p:sp>
      <p:sp>
        <p:nvSpPr>
          <p:cNvPr id="4" name="Text 2"/>
          <p:cNvSpPr/>
          <p:nvPr/>
        </p:nvSpPr>
        <p:spPr>
          <a:xfrm>
            <a:off x="457200" y="27432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5" name="Text 3"/>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How Small Are Particles, Really?</a:t>
            </a:r>
            <a:endParaRPr lang="en-US" sz="2600" dirty="0"/>
          </a:p>
        </p:txBody>
      </p:sp>
      <p:sp>
        <p:nvSpPr>
          <p:cNvPr id="6" name="Shape 4"/>
          <p:cNvSpPr/>
          <p:nvPr/>
        </p:nvSpPr>
        <p:spPr>
          <a:xfrm>
            <a:off x="457200" y="1325880"/>
            <a:ext cx="8229600" cy="1097280"/>
          </a:xfrm>
          <a:prstGeom prst="rect">
            <a:avLst/>
          </a:prstGeom>
          <a:solidFill>
            <a:srgbClr val="1A3A5C"/>
          </a:solidFill>
          <a:ln w="12700">
            <a:solidFill>
              <a:srgbClr val="1A3A5C"/>
            </a:solidFill>
            <a:prstDash val="solid"/>
          </a:ln>
        </p:spPr>
      </p:sp>
      <p:sp>
        <p:nvSpPr>
          <p:cNvPr id="7" name="Text 5"/>
          <p:cNvSpPr/>
          <p:nvPr/>
        </p:nvSpPr>
        <p:spPr>
          <a:xfrm>
            <a:off x="548640" y="1380744"/>
            <a:ext cx="8046720" cy="98755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If a water molecule were the size of a marble, a single drop of water would be as tall as Mount Everest. That is how truly tiny particles are — and why we need models to understand them at all.</a:t>
            </a:r>
            <a:endParaRPr lang="en-US" sz="1500" dirty="0"/>
          </a:p>
        </p:txBody>
      </p:sp>
      <p:sp>
        <p:nvSpPr>
          <p:cNvPr id="8" name="Text 6"/>
          <p:cNvSpPr/>
          <p:nvPr/>
        </p:nvSpPr>
        <p:spPr>
          <a:xfrm>
            <a:off x="457200" y="2514600"/>
            <a:ext cx="8229600" cy="256032"/>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Extension Questions:</a:t>
            </a:r>
            <a:endParaRPr lang="en-US" sz="1200" dirty="0"/>
          </a:p>
        </p:txBody>
      </p:sp>
      <p:sp>
        <p:nvSpPr>
          <p:cNvPr id="9" name="Shape 7"/>
          <p:cNvSpPr/>
          <p:nvPr/>
        </p:nvSpPr>
        <p:spPr>
          <a:xfrm>
            <a:off x="457200" y="2834640"/>
            <a:ext cx="3931920" cy="1325880"/>
          </a:xfrm>
          <a:prstGeom prst="rect">
            <a:avLst/>
          </a:prstGeom>
          <a:solidFill>
            <a:srgbClr val="2C4A6E"/>
          </a:solidFill>
          <a:ln w="12700">
            <a:solidFill>
              <a:srgbClr val="2C4A6E"/>
            </a:solidFill>
            <a:prstDash val="solid"/>
          </a:ln>
        </p:spPr>
      </p:sp>
      <p:sp>
        <p:nvSpPr>
          <p:cNvPr id="10" name="Text 8"/>
          <p:cNvSpPr/>
          <p:nvPr/>
        </p:nvSpPr>
        <p:spPr>
          <a:xfrm>
            <a:off x="548640" y="2889504"/>
            <a:ext cx="3749040" cy="12161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Scientists use particle models even though they know the models are not perfect. Why is an imperfect model still better than no model at all?</a:t>
            </a:r>
            <a:endParaRPr lang="en-US" sz="1300" dirty="0"/>
          </a:p>
        </p:txBody>
      </p:sp>
      <p:sp>
        <p:nvSpPr>
          <p:cNvPr id="11" name="Shape 9"/>
          <p:cNvSpPr/>
          <p:nvPr/>
        </p:nvSpPr>
        <p:spPr>
          <a:xfrm>
            <a:off x="4754880" y="2834640"/>
            <a:ext cx="3931920" cy="1325880"/>
          </a:xfrm>
          <a:prstGeom prst="rect">
            <a:avLst/>
          </a:prstGeom>
          <a:solidFill>
            <a:srgbClr val="2C4A6E"/>
          </a:solidFill>
          <a:ln w="12700">
            <a:solidFill>
              <a:srgbClr val="2C4A6E"/>
            </a:solidFill>
            <a:prstDash val="solid"/>
          </a:ln>
        </p:spPr>
      </p:sp>
      <p:sp>
        <p:nvSpPr>
          <p:cNvPr id="12" name="Text 10"/>
          <p:cNvSpPr/>
          <p:nvPr/>
        </p:nvSpPr>
        <p:spPr>
          <a:xfrm>
            <a:off x="4846320" y="2889504"/>
            <a:ext cx="3749040" cy="12161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would a model of ice melting into water look like? Draw or describe how the particle arrangement would change during melting.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457200" y="228600"/>
            <a:ext cx="1673352" cy="274320"/>
          </a:xfrm>
          <a:prstGeom prst="rect">
            <a:avLst/>
          </a:prstGeom>
          <a:solidFill>
            <a:srgbClr val="1A3A5C"/>
          </a:solidFill>
          <a:ln w="12700">
            <a:solidFill>
              <a:srgbClr val="1A3A5C"/>
            </a:solidFill>
            <a:prstDash val="solid"/>
          </a:ln>
        </p:spPr>
      </p:sp>
      <p:sp>
        <p:nvSpPr>
          <p:cNvPr id="4" name="Text 2"/>
          <p:cNvSpPr/>
          <p:nvPr/>
        </p:nvSpPr>
        <p:spPr>
          <a:xfrm>
            <a:off x="457200" y="228600"/>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5" name="Text 3"/>
          <p:cNvSpPr/>
          <p:nvPr/>
        </p:nvSpPr>
        <p:spPr>
          <a:xfrm>
            <a:off x="457200" y="594360"/>
            <a:ext cx="8229600" cy="411480"/>
          </a:xfrm>
          <a:prstGeom prst="rect">
            <a:avLst/>
          </a:prstGeom>
          <a:noFill/>
          <a:ln/>
        </p:spPr>
        <p:txBody>
          <a:bodyPr wrap="square" rtlCol="0" anchor="ctr"/>
          <a:lstStyle/>
          <a:p>
            <a:pPr indent="0" marL="0">
              <a:buNone/>
            </a:pPr>
            <a:r>
              <a:rPr lang="en-US" sz="2400" b="1" dirty="0">
                <a:solidFill>
                  <a:srgbClr val="1A3A5C"/>
                </a:solidFill>
                <a:latin typeface="Cambria" pitchFamily="34" charset="0"/>
                <a:ea typeface="Cambria" pitchFamily="34" charset="-122"/>
                <a:cs typeface="Cambria" pitchFamily="34" charset="-120"/>
              </a:rPr>
              <a:t>Your Assignment — Parts A &amp; B</a:t>
            </a:r>
            <a:endParaRPr lang="en-US" sz="2400" dirty="0"/>
          </a:p>
        </p:txBody>
      </p:sp>
      <p:sp>
        <p:nvSpPr>
          <p:cNvPr id="6" name="Shape 4"/>
          <p:cNvSpPr/>
          <p:nvPr/>
        </p:nvSpPr>
        <p:spPr>
          <a:xfrm>
            <a:off x="457200" y="1115568"/>
            <a:ext cx="4023360" cy="3520440"/>
          </a:xfrm>
          <a:prstGeom prst="rect">
            <a:avLst/>
          </a:prstGeom>
          <a:solidFill>
            <a:srgbClr val="FFFFFF"/>
          </a:solidFill>
          <a:ln w="12700">
            <a:solidFill>
              <a:srgbClr val="FFFFFF"/>
            </a:solidFill>
            <a:prstDash val="solid"/>
          </a:ln>
        </p:spPr>
      </p:sp>
      <p:sp>
        <p:nvSpPr>
          <p:cNvPr id="7" name="Shape 5"/>
          <p:cNvSpPr/>
          <p:nvPr/>
        </p:nvSpPr>
        <p:spPr>
          <a:xfrm>
            <a:off x="457200" y="1115568"/>
            <a:ext cx="4023360" cy="384048"/>
          </a:xfrm>
          <a:prstGeom prst="rect">
            <a:avLst/>
          </a:prstGeom>
          <a:solidFill>
            <a:srgbClr val="2E86AB"/>
          </a:solidFill>
          <a:ln w="12700">
            <a:solidFill>
              <a:srgbClr val="2E86AB"/>
            </a:solidFill>
            <a:prstDash val="solid"/>
          </a:ln>
        </p:spPr>
      </p:sp>
      <p:sp>
        <p:nvSpPr>
          <p:cNvPr id="8" name="Text 6"/>
          <p:cNvSpPr/>
          <p:nvPr/>
        </p:nvSpPr>
        <p:spPr>
          <a:xfrm>
            <a:off x="548640" y="1115568"/>
            <a:ext cx="384048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Part A — Three Labeled Sketches</a:t>
            </a:r>
            <a:endParaRPr lang="en-US" sz="1300" dirty="0"/>
          </a:p>
        </p:txBody>
      </p:sp>
      <p:sp>
        <p:nvSpPr>
          <p:cNvPr id="9" name="Text 7"/>
          <p:cNvSpPr/>
          <p:nvPr/>
        </p:nvSpPr>
        <p:spPr>
          <a:xfrm>
            <a:off x="548640" y="1554480"/>
            <a:ext cx="3840480" cy="299923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Sketch all three particle models — solid, liquid, gas.</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For each sketch:</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Label the state name</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Show the particle arrangement with dots</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Write one sentence describing what the arrangement shows</a:t>
            </a:r>
            <a:endParaRPr lang="en-US" sz="1300" dirty="0"/>
          </a:p>
        </p:txBody>
      </p:sp>
      <p:sp>
        <p:nvSpPr>
          <p:cNvPr id="10" name="Shape 8"/>
          <p:cNvSpPr/>
          <p:nvPr/>
        </p:nvSpPr>
        <p:spPr>
          <a:xfrm>
            <a:off x="4663440" y="1115568"/>
            <a:ext cx="4023360" cy="3520440"/>
          </a:xfrm>
          <a:prstGeom prst="rect">
            <a:avLst/>
          </a:prstGeom>
          <a:solidFill>
            <a:srgbClr val="FFFFFF"/>
          </a:solidFill>
          <a:ln w="12700">
            <a:solidFill>
              <a:srgbClr val="FFFFFF"/>
            </a:solidFill>
            <a:prstDash val="solid"/>
          </a:ln>
        </p:spPr>
      </p:sp>
      <p:sp>
        <p:nvSpPr>
          <p:cNvPr id="11" name="Shape 9"/>
          <p:cNvSpPr/>
          <p:nvPr/>
        </p:nvSpPr>
        <p:spPr>
          <a:xfrm>
            <a:off x="4663440" y="1115568"/>
            <a:ext cx="4023360" cy="384048"/>
          </a:xfrm>
          <a:prstGeom prst="rect">
            <a:avLst/>
          </a:prstGeom>
          <a:solidFill>
            <a:srgbClr val="0E7C7B"/>
          </a:solidFill>
          <a:ln w="12700">
            <a:solidFill>
              <a:srgbClr val="0E7C7B"/>
            </a:solidFill>
            <a:prstDash val="solid"/>
          </a:ln>
        </p:spPr>
      </p:sp>
      <p:sp>
        <p:nvSpPr>
          <p:cNvPr id="12" name="Text 10"/>
          <p:cNvSpPr/>
          <p:nvPr/>
        </p:nvSpPr>
        <p:spPr>
          <a:xfrm>
            <a:off x="4754880" y="1115568"/>
            <a:ext cx="384048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Part B — Shows vs. Does Not Show</a:t>
            </a:r>
            <a:endParaRPr lang="en-US" sz="1300" dirty="0"/>
          </a:p>
        </p:txBody>
      </p:sp>
      <p:sp>
        <p:nvSpPr>
          <p:cNvPr id="13" name="Text 11"/>
          <p:cNvSpPr/>
          <p:nvPr/>
        </p:nvSpPr>
        <p:spPr>
          <a:xfrm>
            <a:off x="4754880" y="1554480"/>
            <a:ext cx="3840480" cy="299923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1. Pick one of your models. What does it show accurately?</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2. What is one thing your model does NOT show? Why not?</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3. Why is a model still useful even with limitations?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457200" y="228600"/>
            <a:ext cx="1673352" cy="274320"/>
          </a:xfrm>
          <a:prstGeom prst="rect">
            <a:avLst/>
          </a:prstGeom>
          <a:solidFill>
            <a:srgbClr val="1A3A5C"/>
          </a:solidFill>
          <a:ln w="12700">
            <a:solidFill>
              <a:srgbClr val="1A3A5C"/>
            </a:solidFill>
            <a:prstDash val="solid"/>
          </a:ln>
        </p:spPr>
      </p:sp>
      <p:sp>
        <p:nvSpPr>
          <p:cNvPr id="4" name="Text 2"/>
          <p:cNvSpPr/>
          <p:nvPr/>
        </p:nvSpPr>
        <p:spPr>
          <a:xfrm>
            <a:off x="457200" y="228600"/>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5" name="Text 3"/>
          <p:cNvSpPr/>
          <p:nvPr/>
        </p:nvSpPr>
        <p:spPr>
          <a:xfrm>
            <a:off x="457200" y="594360"/>
            <a:ext cx="8229600" cy="411480"/>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Your Assignment — Part C (CER Response)</a:t>
            </a:r>
            <a:endParaRPr lang="en-US" sz="2200" dirty="0"/>
          </a:p>
        </p:txBody>
      </p:sp>
      <p:sp>
        <p:nvSpPr>
          <p:cNvPr id="6" name="Shape 4"/>
          <p:cNvSpPr/>
          <p:nvPr/>
        </p:nvSpPr>
        <p:spPr>
          <a:xfrm>
            <a:off x="457200" y="1115568"/>
            <a:ext cx="8229600" cy="475488"/>
          </a:xfrm>
          <a:prstGeom prst="rect">
            <a:avLst/>
          </a:prstGeom>
          <a:solidFill>
            <a:srgbClr val="1A3A5C"/>
          </a:solidFill>
          <a:ln w="12700">
            <a:solidFill>
              <a:srgbClr val="1A3A5C"/>
            </a:solidFill>
            <a:prstDash val="solid"/>
          </a:ln>
        </p:spPr>
      </p:sp>
      <p:sp>
        <p:nvSpPr>
          <p:cNvPr id="7" name="Text 5"/>
          <p:cNvSpPr/>
          <p:nvPr/>
        </p:nvSpPr>
        <p:spPr>
          <a:xfrm>
            <a:off x="548640" y="1170432"/>
            <a:ext cx="804672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Question: How does your particle model explain how perfume traveled from one side of the room to your nose?  Write 4-6 sentences.</a:t>
            </a:r>
            <a:endParaRPr lang="en-US" sz="1300" dirty="0"/>
          </a:p>
        </p:txBody>
      </p:sp>
      <p:sp>
        <p:nvSpPr>
          <p:cNvPr id="8" name="Shape 6"/>
          <p:cNvSpPr/>
          <p:nvPr/>
        </p:nvSpPr>
        <p:spPr>
          <a:xfrm>
            <a:off x="457200" y="1682496"/>
            <a:ext cx="8229600" cy="749808"/>
          </a:xfrm>
          <a:prstGeom prst="rect">
            <a:avLst/>
          </a:prstGeom>
          <a:solidFill>
            <a:srgbClr val="EBF5FB"/>
          </a:solidFill>
          <a:ln w="12700">
            <a:solidFill>
              <a:srgbClr val="EBF5FB"/>
            </a:solidFill>
            <a:prstDash val="solid"/>
          </a:ln>
        </p:spPr>
      </p:sp>
      <p:sp>
        <p:nvSpPr>
          <p:cNvPr id="9" name="Shape 7"/>
          <p:cNvSpPr/>
          <p:nvPr/>
        </p:nvSpPr>
        <p:spPr>
          <a:xfrm>
            <a:off x="548640" y="1746504"/>
            <a:ext cx="662940" cy="274320"/>
          </a:xfrm>
          <a:prstGeom prst="rect">
            <a:avLst/>
          </a:prstGeom>
          <a:solidFill>
            <a:srgbClr val="2E86AB"/>
          </a:solidFill>
          <a:ln w="12700">
            <a:solidFill>
              <a:srgbClr val="2E86AB"/>
            </a:solidFill>
            <a:prstDash val="solid"/>
          </a:ln>
        </p:spPr>
      </p:sp>
      <p:sp>
        <p:nvSpPr>
          <p:cNvPr id="10" name="Text 8"/>
          <p:cNvSpPr/>
          <p:nvPr/>
        </p:nvSpPr>
        <p:spPr>
          <a:xfrm>
            <a:off x="548640" y="1746504"/>
            <a:ext cx="6629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CLAIM</a:t>
            </a:r>
            <a:endParaRPr lang="en-US" sz="1000" dirty="0"/>
          </a:p>
        </p:txBody>
      </p:sp>
      <p:sp>
        <p:nvSpPr>
          <p:cNvPr id="11" name="Text 9"/>
          <p:cNvSpPr/>
          <p:nvPr/>
        </p:nvSpPr>
        <p:spPr>
          <a:xfrm>
            <a:off x="548640" y="2029968"/>
            <a:ext cx="7955280" cy="320040"/>
          </a:xfrm>
          <a:prstGeom prst="rect">
            <a:avLst/>
          </a:prstGeom>
          <a:noFill/>
          <a:ln/>
        </p:spPr>
        <p:txBody>
          <a:bodyPr wrap="square" rtlCol="0" anchor="ctr"/>
          <a:lstStyle/>
          <a:p>
            <a:pPr indent="0" marL="0">
              <a:buNone/>
            </a:pPr>
            <a:r>
              <a:rPr lang="en-US" sz="1300" dirty="0">
                <a:solidFill>
                  <a:srgbClr val="2C4A6E"/>
                </a:solidFill>
                <a:latin typeface="Calibri" pitchFamily="34" charset="0"/>
                <a:ea typeface="Calibri" pitchFamily="34" charset="-122"/>
                <a:cs typeface="Calibri" pitchFamily="34" charset="-120"/>
              </a:rPr>
              <a:t>"My particle model shows that perfume particles spread from the bottle to my nose because…"</a:t>
            </a:r>
            <a:endParaRPr lang="en-US" sz="1300" dirty="0"/>
          </a:p>
        </p:txBody>
      </p:sp>
      <p:sp>
        <p:nvSpPr>
          <p:cNvPr id="12" name="Shape 10"/>
          <p:cNvSpPr/>
          <p:nvPr/>
        </p:nvSpPr>
        <p:spPr>
          <a:xfrm>
            <a:off x="457200" y="2505456"/>
            <a:ext cx="8229600" cy="749808"/>
          </a:xfrm>
          <a:prstGeom prst="rect">
            <a:avLst/>
          </a:prstGeom>
          <a:solidFill>
            <a:srgbClr val="E8F8F5"/>
          </a:solidFill>
          <a:ln w="12700">
            <a:solidFill>
              <a:srgbClr val="E8F8F5"/>
            </a:solidFill>
            <a:prstDash val="solid"/>
          </a:ln>
        </p:spPr>
      </p:sp>
      <p:sp>
        <p:nvSpPr>
          <p:cNvPr id="13" name="Shape 11"/>
          <p:cNvSpPr/>
          <p:nvPr/>
        </p:nvSpPr>
        <p:spPr>
          <a:xfrm>
            <a:off x="548640" y="2569464"/>
            <a:ext cx="896112" cy="274320"/>
          </a:xfrm>
          <a:prstGeom prst="rect">
            <a:avLst/>
          </a:prstGeom>
          <a:solidFill>
            <a:srgbClr val="0E7C7B"/>
          </a:solidFill>
          <a:ln w="12700">
            <a:solidFill>
              <a:srgbClr val="0E7C7B"/>
            </a:solidFill>
            <a:prstDash val="solid"/>
          </a:ln>
        </p:spPr>
      </p:sp>
      <p:sp>
        <p:nvSpPr>
          <p:cNvPr id="14" name="Text 12"/>
          <p:cNvSpPr/>
          <p:nvPr/>
        </p:nvSpPr>
        <p:spPr>
          <a:xfrm>
            <a:off x="548640" y="2569464"/>
            <a:ext cx="8961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EVIDENCE</a:t>
            </a:r>
            <a:endParaRPr lang="en-US" sz="1000" dirty="0"/>
          </a:p>
        </p:txBody>
      </p:sp>
      <p:sp>
        <p:nvSpPr>
          <p:cNvPr id="15" name="Text 13"/>
          <p:cNvSpPr/>
          <p:nvPr/>
        </p:nvSpPr>
        <p:spPr>
          <a:xfrm>
            <a:off x="548640" y="2843784"/>
            <a:ext cx="7955280" cy="320040"/>
          </a:xfrm>
          <a:prstGeom prst="rect">
            <a:avLst/>
          </a:prstGeom>
          <a:noFill/>
          <a:ln/>
        </p:spPr>
        <p:txBody>
          <a:bodyPr wrap="square" rtlCol="0" anchor="ctr"/>
          <a:lstStyle/>
          <a:p>
            <a:pPr indent="0" marL="0">
              <a:buNone/>
            </a:pPr>
            <a:r>
              <a:rPr lang="en-US" sz="1300" dirty="0">
                <a:solidFill>
                  <a:srgbClr val="2C4A6E"/>
                </a:solidFill>
                <a:latin typeface="Calibri" pitchFamily="34" charset="0"/>
                <a:ea typeface="Calibri" pitchFamily="34" charset="-122"/>
                <a:cs typeface="Calibri" pitchFamily="34" charset="-120"/>
              </a:rPr>
              <a:t>"In my gas model, the particles were spread far apart and scattered across a large area…"</a:t>
            </a:r>
            <a:endParaRPr lang="en-US" sz="1300" dirty="0"/>
          </a:p>
        </p:txBody>
      </p:sp>
      <p:sp>
        <p:nvSpPr>
          <p:cNvPr id="16" name="Shape 14"/>
          <p:cNvSpPr/>
          <p:nvPr/>
        </p:nvSpPr>
        <p:spPr>
          <a:xfrm>
            <a:off x="457200" y="3328416"/>
            <a:ext cx="8229600" cy="749808"/>
          </a:xfrm>
          <a:prstGeom prst="rect">
            <a:avLst/>
          </a:prstGeom>
          <a:solidFill>
            <a:srgbClr val="EAF9EA"/>
          </a:solidFill>
          <a:ln w="12700">
            <a:solidFill>
              <a:srgbClr val="EAF9EA"/>
            </a:solidFill>
            <a:prstDash val="solid"/>
          </a:ln>
        </p:spPr>
      </p:sp>
      <p:sp>
        <p:nvSpPr>
          <p:cNvPr id="17" name="Shape 15"/>
          <p:cNvSpPr/>
          <p:nvPr/>
        </p:nvSpPr>
        <p:spPr>
          <a:xfrm>
            <a:off x="548640" y="3392424"/>
            <a:ext cx="973836" cy="274320"/>
          </a:xfrm>
          <a:prstGeom prst="rect">
            <a:avLst/>
          </a:prstGeom>
          <a:solidFill>
            <a:srgbClr val="2A7A4B"/>
          </a:solidFill>
          <a:ln w="12700">
            <a:solidFill>
              <a:srgbClr val="2A7A4B"/>
            </a:solidFill>
            <a:prstDash val="solid"/>
          </a:ln>
        </p:spPr>
      </p:sp>
      <p:sp>
        <p:nvSpPr>
          <p:cNvPr id="18" name="Text 16"/>
          <p:cNvSpPr/>
          <p:nvPr/>
        </p:nvSpPr>
        <p:spPr>
          <a:xfrm>
            <a:off x="548640" y="3392424"/>
            <a:ext cx="97383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REASONING</a:t>
            </a:r>
            <a:endParaRPr lang="en-US" sz="1000" dirty="0"/>
          </a:p>
        </p:txBody>
      </p:sp>
      <p:sp>
        <p:nvSpPr>
          <p:cNvPr id="19" name="Text 17"/>
          <p:cNvSpPr/>
          <p:nvPr/>
        </p:nvSpPr>
        <p:spPr>
          <a:xfrm>
            <a:off x="548640" y="3666744"/>
            <a:ext cx="7955280" cy="320040"/>
          </a:xfrm>
          <a:prstGeom prst="rect">
            <a:avLst/>
          </a:prstGeom>
          <a:noFill/>
          <a:ln/>
        </p:spPr>
        <p:txBody>
          <a:bodyPr wrap="square" rtlCol="0" anchor="ctr"/>
          <a:lstStyle/>
          <a:p>
            <a:pPr indent="0" marL="0">
              <a:buNone/>
            </a:pPr>
            <a:r>
              <a:rPr lang="en-US" sz="1300" dirty="0">
                <a:solidFill>
                  <a:srgbClr val="2C4A6E"/>
                </a:solidFill>
                <a:latin typeface="Calibri" pitchFamily="34" charset="0"/>
                <a:ea typeface="Calibri" pitchFamily="34" charset="-122"/>
                <a:cs typeface="Calibri" pitchFamily="34" charset="-120"/>
              </a:rPr>
              <a:t>"This explains the perfume smell because gas particles [move freely / spread out / fill any space], which means…"</a:t>
            </a:r>
            <a:endParaRPr lang="en-US" sz="1300" dirty="0"/>
          </a:p>
        </p:txBody>
      </p:sp>
      <p:sp>
        <p:nvSpPr>
          <p:cNvPr id="20" name="Shape 18"/>
          <p:cNvSpPr/>
          <p:nvPr/>
        </p:nvSpPr>
        <p:spPr>
          <a:xfrm>
            <a:off x="457200" y="4151376"/>
            <a:ext cx="8229600" cy="384048"/>
          </a:xfrm>
          <a:prstGeom prst="rect">
            <a:avLst/>
          </a:prstGeom>
          <a:solidFill>
            <a:srgbClr val="2C4A6E"/>
          </a:solidFill>
          <a:ln w="12700">
            <a:solidFill>
              <a:srgbClr val="2C4A6E"/>
            </a:solidFill>
            <a:prstDash val="solid"/>
          </a:ln>
        </p:spPr>
      </p:sp>
      <p:sp>
        <p:nvSpPr>
          <p:cNvPr id="21" name="Text 19"/>
          <p:cNvSpPr/>
          <p:nvPr/>
        </p:nvSpPr>
        <p:spPr>
          <a:xfrm>
            <a:off x="548640" y="4206240"/>
            <a:ext cx="8046720" cy="27432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Write your full CER response in your notebook. 4-6 complete sentences.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7C7B"/>
          </a:solidFill>
          <a:ln w="12700">
            <a:solidFill>
              <a:srgbClr val="0E7C7B"/>
            </a:solidFill>
            <a:prstDash val="solid"/>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Revise Your Thinking</a:t>
            </a:r>
            <a:endParaRPr lang="en-US" sz="2800" dirty="0"/>
          </a:p>
        </p:txBody>
      </p:sp>
      <p:sp>
        <p:nvSpPr>
          <p:cNvPr id="4" name="Shape 2"/>
          <p:cNvSpPr/>
          <p:nvPr/>
        </p:nvSpPr>
        <p:spPr>
          <a:xfrm>
            <a:off x="457200" y="777240"/>
            <a:ext cx="8229600" cy="411480"/>
          </a:xfrm>
          <a:prstGeom prst="rect">
            <a:avLst/>
          </a:prstGeom>
          <a:solidFill>
            <a:srgbClr val="075F5F"/>
          </a:solidFill>
          <a:ln w="12700">
            <a:solidFill>
              <a:srgbClr val="075F5F"/>
            </a:solidFill>
            <a:prstDash val="solid"/>
          </a:ln>
        </p:spPr>
      </p:sp>
      <p:sp>
        <p:nvSpPr>
          <p:cNvPr id="5" name="Text 3"/>
          <p:cNvSpPr/>
          <p:nvPr/>
        </p:nvSpPr>
        <p:spPr>
          <a:xfrm>
            <a:off x="548640" y="832104"/>
            <a:ext cx="8046720" cy="30175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Look back at your prediction sketch from the beginning. How accurate was your idea about gas particles?</a:t>
            </a:r>
            <a:endParaRPr lang="en-US" sz="1400" dirty="0"/>
          </a:p>
        </p:txBody>
      </p:sp>
      <p:sp>
        <p:nvSpPr>
          <p:cNvPr id="6" name="Shape 4"/>
          <p:cNvSpPr/>
          <p:nvPr/>
        </p:nvSpPr>
        <p:spPr>
          <a:xfrm>
            <a:off x="457200" y="1325880"/>
            <a:ext cx="411480" cy="411480"/>
          </a:xfrm>
          <a:prstGeom prst="rect">
            <a:avLst/>
          </a:prstGeom>
          <a:solidFill>
            <a:srgbClr val="1A3A5C"/>
          </a:solidFill>
          <a:ln w="12700">
            <a:solidFill>
              <a:srgbClr val="1A3A5C"/>
            </a:solidFill>
            <a:prstDash val="solid"/>
          </a:ln>
        </p:spPr>
      </p:sp>
      <p:sp>
        <p:nvSpPr>
          <p:cNvPr id="7" name="Text 5"/>
          <p:cNvSpPr/>
          <p:nvPr/>
        </p:nvSpPr>
        <p:spPr>
          <a:xfrm>
            <a:off x="548640" y="1380744"/>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Shape 6"/>
          <p:cNvSpPr/>
          <p:nvPr/>
        </p:nvSpPr>
        <p:spPr>
          <a:xfrm>
            <a:off x="1005840" y="1325880"/>
            <a:ext cx="7680960" cy="987552"/>
          </a:xfrm>
          <a:prstGeom prst="rect">
            <a:avLst/>
          </a:prstGeom>
          <a:solidFill>
            <a:srgbClr val="075F5F"/>
          </a:solidFill>
          <a:ln w="12700">
            <a:solidFill>
              <a:srgbClr val="075F5F"/>
            </a:solidFill>
            <a:prstDash val="solid"/>
          </a:ln>
        </p:spPr>
      </p:sp>
      <p:sp>
        <p:nvSpPr>
          <p:cNvPr id="9" name="Text 7"/>
          <p:cNvSpPr/>
          <p:nvPr/>
        </p:nvSpPr>
        <p:spPr>
          <a:xfrm>
            <a:off x="1097280" y="1380744"/>
            <a:ext cx="7498080"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At the start, I drew gas particles as… but now I know the model shows…</a:t>
            </a:r>
            <a:endParaRPr lang="en-US" sz="1400" dirty="0"/>
          </a:p>
        </p:txBody>
      </p:sp>
      <p:sp>
        <p:nvSpPr>
          <p:cNvPr id="10" name="Shape 8"/>
          <p:cNvSpPr/>
          <p:nvPr/>
        </p:nvSpPr>
        <p:spPr>
          <a:xfrm>
            <a:off x="457200" y="2496312"/>
            <a:ext cx="411480" cy="411480"/>
          </a:xfrm>
          <a:prstGeom prst="rect">
            <a:avLst/>
          </a:prstGeom>
          <a:solidFill>
            <a:srgbClr val="1A3A5C"/>
          </a:solidFill>
          <a:ln w="12700">
            <a:solidFill>
              <a:srgbClr val="1A3A5C"/>
            </a:solidFill>
            <a:prstDash val="solid"/>
          </a:ln>
        </p:spPr>
      </p:sp>
      <p:sp>
        <p:nvSpPr>
          <p:cNvPr id="11" name="Text 9"/>
          <p:cNvSpPr/>
          <p:nvPr/>
        </p:nvSpPr>
        <p:spPr>
          <a:xfrm>
            <a:off x="548640" y="2551176"/>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1005840" y="2496312"/>
            <a:ext cx="7680960" cy="987552"/>
          </a:xfrm>
          <a:prstGeom prst="rect">
            <a:avLst/>
          </a:prstGeom>
          <a:solidFill>
            <a:srgbClr val="075F5F"/>
          </a:solidFill>
          <a:ln w="12700">
            <a:solidFill>
              <a:srgbClr val="075F5F"/>
            </a:solidFill>
            <a:prstDash val="solid"/>
          </a:ln>
        </p:spPr>
      </p:sp>
      <p:sp>
        <p:nvSpPr>
          <p:cNvPr id="13" name="Text 11"/>
          <p:cNvSpPr/>
          <p:nvPr/>
        </p:nvSpPr>
        <p:spPr>
          <a:xfrm>
            <a:off x="1097280" y="2551176"/>
            <a:ext cx="7498080"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The most important thing I learned about particle models is…</a:t>
            </a:r>
            <a:endParaRPr lang="en-US" sz="1400" dirty="0"/>
          </a:p>
        </p:txBody>
      </p:sp>
      <p:sp>
        <p:nvSpPr>
          <p:cNvPr id="14" name="Shape 12"/>
          <p:cNvSpPr/>
          <p:nvPr/>
        </p:nvSpPr>
        <p:spPr>
          <a:xfrm>
            <a:off x="457200" y="3666744"/>
            <a:ext cx="411480" cy="411480"/>
          </a:xfrm>
          <a:prstGeom prst="rect">
            <a:avLst/>
          </a:prstGeom>
          <a:solidFill>
            <a:srgbClr val="1A3A5C"/>
          </a:solidFill>
          <a:ln w="12700">
            <a:solidFill>
              <a:srgbClr val="1A3A5C"/>
            </a:solidFill>
            <a:prstDash val="solid"/>
          </a:ln>
        </p:spPr>
      </p:sp>
      <p:sp>
        <p:nvSpPr>
          <p:cNvPr id="15" name="Text 13"/>
          <p:cNvSpPr/>
          <p:nvPr/>
        </p:nvSpPr>
        <p:spPr>
          <a:xfrm>
            <a:off x="548640" y="3721608"/>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Shape 14"/>
          <p:cNvSpPr/>
          <p:nvPr/>
        </p:nvSpPr>
        <p:spPr>
          <a:xfrm>
            <a:off x="1005840" y="3666744"/>
            <a:ext cx="7680960" cy="987552"/>
          </a:xfrm>
          <a:prstGeom prst="rect">
            <a:avLst/>
          </a:prstGeom>
          <a:solidFill>
            <a:srgbClr val="075F5F"/>
          </a:solidFill>
          <a:ln w="12700">
            <a:solidFill>
              <a:srgbClr val="075F5F"/>
            </a:solidFill>
            <a:prstDash val="solid"/>
          </a:ln>
        </p:spPr>
      </p:sp>
      <p:sp>
        <p:nvSpPr>
          <p:cNvPr id="17" name="Text 15"/>
          <p:cNvSpPr/>
          <p:nvPr/>
        </p:nvSpPr>
        <p:spPr>
          <a:xfrm>
            <a:off x="1097280" y="3721608"/>
            <a:ext cx="7498080"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One thing that surprised me about how particles are arranged is…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28600"/>
            <a:ext cx="1595628" cy="274320"/>
          </a:xfrm>
          <a:prstGeom prst="rect">
            <a:avLst/>
          </a:prstGeom>
          <a:solidFill>
            <a:srgbClr val="F6C90E"/>
          </a:solidFill>
          <a:ln w="12700">
            <a:solidFill>
              <a:srgbClr val="F6C90E"/>
            </a:solidFill>
            <a:prstDash val="solid"/>
          </a:ln>
        </p:spPr>
      </p:sp>
      <p:sp>
        <p:nvSpPr>
          <p:cNvPr id="4" name="Text 2"/>
          <p:cNvSpPr/>
          <p:nvPr/>
        </p:nvSpPr>
        <p:spPr>
          <a:xfrm>
            <a:off x="457200" y="22860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5" name="Text 3"/>
          <p:cNvSpPr/>
          <p:nvPr/>
        </p:nvSpPr>
        <p:spPr>
          <a:xfrm>
            <a:off x="457200" y="640080"/>
            <a:ext cx="8229600" cy="4114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Submission Checklist</a:t>
            </a:r>
            <a:endParaRPr lang="en-US" sz="2600" dirty="0"/>
          </a:p>
        </p:txBody>
      </p:sp>
      <p:sp>
        <p:nvSpPr>
          <p:cNvPr id="6" name="Shape 4"/>
          <p:cNvSpPr/>
          <p:nvPr/>
        </p:nvSpPr>
        <p:spPr>
          <a:xfrm>
            <a:off x="457200" y="1170432"/>
            <a:ext cx="8229600" cy="566928"/>
          </a:xfrm>
          <a:prstGeom prst="rect">
            <a:avLst/>
          </a:prstGeom>
          <a:solidFill>
            <a:srgbClr val="2C4A6E"/>
          </a:solidFill>
          <a:ln w="12700">
            <a:solidFill>
              <a:srgbClr val="2C4A6E"/>
            </a:solidFill>
            <a:prstDash val="solid"/>
          </a:ln>
        </p:spPr>
      </p:sp>
      <p:sp>
        <p:nvSpPr>
          <p:cNvPr id="7" name="Text 5"/>
          <p:cNvSpPr/>
          <p:nvPr/>
        </p:nvSpPr>
        <p:spPr>
          <a:xfrm>
            <a:off x="548640" y="1225296"/>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Three sketches — Part A: solid, liquid, and gas models all labeled with state name and particle arrangement.</a:t>
            </a:r>
            <a:endParaRPr lang="en-US" sz="1300" dirty="0"/>
          </a:p>
        </p:txBody>
      </p:sp>
      <p:sp>
        <p:nvSpPr>
          <p:cNvPr id="8" name="Shape 6"/>
          <p:cNvSpPr/>
          <p:nvPr/>
        </p:nvSpPr>
        <p:spPr>
          <a:xfrm>
            <a:off x="457200" y="1828800"/>
            <a:ext cx="8229600" cy="566928"/>
          </a:xfrm>
          <a:prstGeom prst="rect">
            <a:avLst/>
          </a:prstGeom>
          <a:solidFill>
            <a:srgbClr val="2C4A6E"/>
          </a:solidFill>
          <a:ln w="12700">
            <a:solidFill>
              <a:srgbClr val="2C4A6E"/>
            </a:solidFill>
            <a:prstDash val="solid"/>
          </a:ln>
        </p:spPr>
      </p:sp>
      <p:sp>
        <p:nvSpPr>
          <p:cNvPr id="9" name="Text 7"/>
          <p:cNvSpPr/>
          <p:nvPr/>
        </p:nvSpPr>
        <p:spPr>
          <a:xfrm>
            <a:off x="548640" y="1883664"/>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B — questions answered about what model shows and does not show.</a:t>
            </a:r>
            <a:endParaRPr lang="en-US" sz="1300" dirty="0"/>
          </a:p>
        </p:txBody>
      </p:sp>
      <p:sp>
        <p:nvSpPr>
          <p:cNvPr id="10" name="Shape 8"/>
          <p:cNvSpPr/>
          <p:nvPr/>
        </p:nvSpPr>
        <p:spPr>
          <a:xfrm>
            <a:off x="457200" y="2487168"/>
            <a:ext cx="8229600" cy="566928"/>
          </a:xfrm>
          <a:prstGeom prst="rect">
            <a:avLst/>
          </a:prstGeom>
          <a:solidFill>
            <a:srgbClr val="2C4A6E"/>
          </a:solidFill>
          <a:ln w="12700">
            <a:solidFill>
              <a:srgbClr val="2C4A6E"/>
            </a:solidFill>
            <a:prstDash val="solid"/>
          </a:ln>
        </p:spPr>
      </p:sp>
      <p:sp>
        <p:nvSpPr>
          <p:cNvPr id="11" name="Text 9"/>
          <p:cNvSpPr/>
          <p:nvPr/>
        </p:nvSpPr>
        <p:spPr>
          <a:xfrm>
            <a:off x="548640" y="2542032"/>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CER response — Part C: claim, evidence, reasoning about the perfume phenomenon, 4-6 sentences.</a:t>
            </a:r>
            <a:endParaRPr lang="en-US" sz="1300" dirty="0"/>
          </a:p>
        </p:txBody>
      </p:sp>
      <p:sp>
        <p:nvSpPr>
          <p:cNvPr id="12" name="Shape 10"/>
          <p:cNvSpPr/>
          <p:nvPr/>
        </p:nvSpPr>
        <p:spPr>
          <a:xfrm>
            <a:off x="457200" y="3145536"/>
            <a:ext cx="8229600" cy="566928"/>
          </a:xfrm>
          <a:prstGeom prst="rect">
            <a:avLst/>
          </a:prstGeom>
          <a:solidFill>
            <a:srgbClr val="2C4A6E"/>
          </a:solidFill>
          <a:ln w="12700">
            <a:solidFill>
              <a:srgbClr val="2C4A6E"/>
            </a:solidFill>
            <a:prstDash val="solid"/>
          </a:ln>
        </p:spPr>
      </p:sp>
      <p:sp>
        <p:nvSpPr>
          <p:cNvPr id="13" name="Text 11"/>
          <p:cNvSpPr/>
          <p:nvPr/>
        </p:nvSpPr>
        <p:spPr>
          <a:xfrm>
            <a:off x="548640" y="3200400"/>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Revise Your Thinking — all three reflection prompts completed.</a:t>
            </a:r>
            <a:endParaRPr lang="en-US" sz="1300" dirty="0"/>
          </a:p>
        </p:txBody>
      </p:sp>
      <p:sp>
        <p:nvSpPr>
          <p:cNvPr id="14" name="Shape 12"/>
          <p:cNvSpPr/>
          <p:nvPr/>
        </p:nvSpPr>
        <p:spPr>
          <a:xfrm>
            <a:off x="457200" y="3803904"/>
            <a:ext cx="8229600" cy="566928"/>
          </a:xfrm>
          <a:prstGeom prst="rect">
            <a:avLst/>
          </a:prstGeom>
          <a:solidFill>
            <a:srgbClr val="2C4A6E"/>
          </a:solidFill>
          <a:ln w="12700">
            <a:solidFill>
              <a:srgbClr val="2C4A6E"/>
            </a:solidFill>
            <a:prstDash val="solid"/>
          </a:ln>
        </p:spPr>
      </p:sp>
      <p:sp>
        <p:nvSpPr>
          <p:cNvPr id="15" name="Text 13"/>
          <p:cNvSpPr/>
          <p:nvPr/>
        </p:nvSpPr>
        <p:spPr>
          <a:xfrm>
            <a:off x="548640" y="3858768"/>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Vocabulary check — can you define model, particle, and explain one limitation of your model?</a:t>
            </a:r>
            <a:endParaRPr lang="en-US" sz="1300" dirty="0"/>
          </a:p>
        </p:txBody>
      </p:sp>
      <p:sp>
        <p:nvSpPr>
          <p:cNvPr id="16" name="Shape 14"/>
          <p:cNvSpPr/>
          <p:nvPr/>
        </p:nvSpPr>
        <p:spPr>
          <a:xfrm>
            <a:off x="457200" y="4553712"/>
            <a:ext cx="8229600" cy="347472"/>
          </a:xfrm>
          <a:prstGeom prst="rect">
            <a:avLst/>
          </a:prstGeom>
          <a:solidFill>
            <a:srgbClr val="0E7C7B"/>
          </a:solidFill>
          <a:ln w="12700">
            <a:solidFill>
              <a:srgbClr val="0E7C7B"/>
            </a:solidFill>
            <a:prstDash val="solid"/>
          </a:ln>
        </p:spPr>
      </p:sp>
      <p:sp>
        <p:nvSpPr>
          <p:cNvPr id="17" name="Text 15"/>
          <p:cNvSpPr/>
          <p:nvPr/>
        </p:nvSpPr>
        <p:spPr>
          <a:xfrm>
            <a:off x="548640" y="4608576"/>
            <a:ext cx="8046720" cy="237744"/>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Next up: Lesson 4.01 — How Do Solids, Liquids, and Gases Compare?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2026-07-16T18:48:55Z</dcterms:created>
  <dcterms:modified xsi:type="dcterms:W3CDTF">2026-07-16T18:48:55Z</dcterms:modified>
</cp:coreProperties>
</file>