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Socratic follow-ups: "What makes you say that?" / "Does anyone see it differently?" / "Who can add on?" Let 2-3 students share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Socratic follow-ups: "What makes you say that?" / "Does anyone see it differently?" / "Who can add on?" Ask students to connect their predictions to the key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gather materials before playing this slide. Remind them to observe carefully at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Socratic follow-ups: "What makes you say that?" / "Does anyone see it differently?" / "Who can add on?" / "Could someone argue the opposite? What would they say?"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students: a strong CER connects the evidence to the science concept. "I saw bubbles" alone is not reasoning -- explain WHY bubbles = new substance.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C. Wood burning produces ash and gases -- new substances with different properties. Socratic: "What makes you say that?"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Correct: B. Products are the new substances formed. Reactants go IN, products come OUT. Socratic: "Who can add on?"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9.02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 Did a New Substance Form?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Statements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384048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0662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evidence of chemical change in investigations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651760"/>
            <a:ext cx="384048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70662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physical from chemical changes using evidence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SC.5.P.9.1  |  Optima Academy Online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mix baking soda and vinegar. The mixture fizzes, bubbles, and the cup feels cold. Something is happening...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840480" cy="6400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494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194560"/>
            <a:ext cx="3840480" cy="64008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2494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wonder?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1C2E40"/>
          </a:solidFill>
          <a:ln w="12700">
            <a:solidFill>
              <a:srgbClr val="1C2E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chat: "I notice... and I wonder..."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Your Prediction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335024"/>
            <a:ext cx="71323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baking soda and vinegar are mixed together, do you think a new substance will form? What evidence would prove it?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7315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6517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prediction: 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 expect to see: 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Change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changes into a new substance with different properties. The change is usually irreversible.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384048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Change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changes in size, shape, or state but stays the same substance. Usually reversible.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840480" cy="1463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that support a conclusion. In science, we use evidence to back up claims.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3840480" cy="1463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characteristic used to describe and identify matter (color, smell, texture, reactivity).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(continued)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2926080" cy="1828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6916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substances that go INTO a chemical reaction. In our investigation: baking soda + vinegar.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2926080" cy="1828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6916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substances formed as a result of a chemical reaction. Products have different properties than reactants.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3291840"/>
            <a:ext cx="6400800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338328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In the equation Reactants -&gt; Products, what happens to matter?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Signs of a Chemical Change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0A5E5D"/>
          </a:solidFill>
          <a:ln w="12700">
            <a:solidFill>
              <a:srgbClr val="0A5E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chemical change occurs when matter is transformed into new substances with different properties. Evidence includes: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Gas produced (bubbles, fizzing)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Temperature change (heat released or absorbed)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Color change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Precipitate (solid forming from liquids)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Irreversibility (cannot easily undo)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11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Think: Which signs did you observe in the baking soda + vinegar reaction?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vs. Chemical Change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Change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60020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Matter stays the same substance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Change in size, shape, or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Usually reversible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Examples: cutting paper, melting ice, dissolving salt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Particles rearrange but same 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114800" cy="3474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Change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0020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substance(s) formed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Different properties than original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Usually irreversible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Examples: burning, rusting, cooking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Atoms rearrange into new molecules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Chemical Reaction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560320" cy="3200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152144"/>
            <a:ext cx="23774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REACTANTS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Soda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Vinegar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2103120"/>
            <a:ext cx="1371600" cy="109728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2157984"/>
            <a:ext cx="1188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2560320" cy="3200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152144"/>
            <a:ext cx="23774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Acetate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2286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286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315200" y="1097280"/>
            <a:ext cx="1371600" cy="320040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1152144"/>
            <a:ext cx="118872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Drop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Fizzing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 Did a New Substance Form?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0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234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materials separately — record color, texture, and smell of baking soda and vinegar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57200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0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965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1 teaspoon baking soda into 2 tablespoons of vinegar in a cup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57200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697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immediately — record ALL changes you see, hear, or feel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457200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83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429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reaction slows, compare the remaining substance to the originals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457200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1148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160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observations in your data table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Observations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0116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11887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18872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11887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Soda (Before)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1887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Vinegar (Before)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18872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11887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(After)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87452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18745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31720" y="1874520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77440" y="18745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1874520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18745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1874520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18745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560320"/>
            <a:ext cx="2011680" cy="658368"/>
          </a:xfrm>
          <a:prstGeom prst="rect">
            <a:avLst/>
          </a:prstGeom>
          <a:solidFill>
            <a:srgbClr val="D6E8F5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25603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31720" y="2560320"/>
            <a:ext cx="2103120" cy="658368"/>
          </a:xfrm>
          <a:prstGeom prst="rect">
            <a:avLst/>
          </a:prstGeom>
          <a:solidFill>
            <a:srgbClr val="D6E8F5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77440" y="25603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2560320"/>
            <a:ext cx="2103120" cy="658368"/>
          </a:xfrm>
          <a:prstGeom prst="rect">
            <a:avLst/>
          </a:prstGeom>
          <a:solidFill>
            <a:srgbClr val="D6E8F5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26280" y="25603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2560320"/>
            <a:ext cx="2103120" cy="658368"/>
          </a:xfrm>
          <a:prstGeom prst="rect">
            <a:avLst/>
          </a:prstGeom>
          <a:solidFill>
            <a:srgbClr val="D6E8F5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25603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24612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0040" y="32461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Texture/Feel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31720" y="3246120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377440" y="32461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80560" y="3246120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26280" y="32461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0" y="3246120"/>
            <a:ext cx="2103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29400" y="32461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3931920"/>
            <a:ext cx="2011680" cy="658368"/>
          </a:xfrm>
          <a:prstGeom prst="rect">
            <a:avLst/>
          </a:prstGeom>
          <a:solidFill>
            <a:srgbClr val="D6E8F5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0040" y="393192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Observations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331720" y="3931920"/>
            <a:ext cx="2103120" cy="658368"/>
          </a:xfrm>
          <a:prstGeom prst="rect">
            <a:avLst/>
          </a:prstGeom>
          <a:solidFill>
            <a:srgbClr val="D6E8F5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377440" y="39319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80560" y="3931920"/>
            <a:ext cx="2103120" cy="658368"/>
          </a:xfrm>
          <a:prstGeom prst="rect">
            <a:avLst/>
          </a:prstGeom>
          <a:solidFill>
            <a:srgbClr val="D6E8F5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26280" y="39319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83680" y="3931920"/>
            <a:ext cx="2103120" cy="658368"/>
          </a:xfrm>
          <a:prstGeom prst="rect">
            <a:avLst/>
          </a:prstGeom>
          <a:solidFill>
            <a:srgbClr val="D6E8F5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629400" y="39319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 on Your Investigation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1188720"/>
            <a:ext cx="7955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23444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did you observe during the reaction? List at least 3 specific observations.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45720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423160"/>
            <a:ext cx="7955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46888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 new substance formed? How do you know? Use your observations as evidence.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5720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3657600"/>
            <a:ext cx="7955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8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70332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physical or chemical change? Explain why using the evidence you collected.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51790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Science Discussion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43584"/>
            <a:ext cx="8046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know a new substance was formed — not just a change in appearance?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86584"/>
            <a:ext cx="8046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"un-mix" the baking soda and vinegar, would you get the same substances back? What does this tell you?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a new substance formed because... / I disagree because... / The evidence that changed my thinking was...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- Evidence - Reasoning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651760" cy="3474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64592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substance (was / was not) formed because...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1188720"/>
            <a:ext cx="2651760" cy="3474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64592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observed... which shows... The data in my table indicates...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188720"/>
            <a:ext cx="2651760" cy="34747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64592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evidence of a chemical change because... Scientists know that when...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observation is the BEST evidence of a chemical change?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73152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74650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Ice melting into water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441448"/>
            <a:ext cx="73152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49631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Paper being torn into pieces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191256"/>
            <a:ext cx="7315200" cy="64008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24612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Wood burning and turning to ash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941064"/>
            <a:ext cx="73152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99592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Salt dissolving in water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PRODUCTS in a chemical reaction?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73152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74650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 starting substances that go into the reaction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441448"/>
            <a:ext cx="7315200" cy="64008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496312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New substances formed as a result of the reaction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191256"/>
            <a:ext cx="73152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246120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 heat or light energy released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941064"/>
            <a:ext cx="73152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995928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The bubbles produced during the reaction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human cell performs over 37 BILLION chemical reactions every second just to keep you alive!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931920" cy="2194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40864"/>
            <a:ext cx="37490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Q1: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baking soda + vinegar is a chemical change, why do bakers still use them separately? What does "mixing" in cooking really mean?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286000"/>
            <a:ext cx="3931920" cy="2194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340864"/>
            <a:ext cx="37490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Q2: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use the signs of chemical change to detect a fake diamond? What would you test?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Assignment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64592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at least 3 observations from your investigation that provide evidence a chemical reaction occurred.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4592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you can tell the difference between a physical change and a chemical change using specific evidence from your investigation.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75107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- PART C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 Writing Response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15214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Write a complete CER response: Was a new substance formed during the investigation? Use evidence from your data to support your claim.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2651760" cy="2377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" y="2249424"/>
            <a:ext cx="24688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STARTER: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new substance (was / was not) formed because..."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2194560"/>
            <a:ext cx="2651760" cy="2377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2249424"/>
            <a:ext cx="24688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STARTER: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observed... which indicates that a new substance formed because..."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194560"/>
            <a:ext cx="2651760" cy="237744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2249424"/>
            <a:ext cx="246888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STARTER: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evidence of a chemical change because scientists know that..."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1188720"/>
            <a:ext cx="7680960" cy="1005840"/>
          </a:xfrm>
          <a:prstGeom prst="rect">
            <a:avLst/>
          </a:prstGeom>
          <a:solidFill>
            <a:srgbClr val="0A5E5D"/>
          </a:solidFill>
          <a:ln w="12700">
            <a:solidFill>
              <a:srgbClr val="0A5E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12344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prediction from the beginning. Was it correct? What evidence supports or contradicts it?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377440"/>
            <a:ext cx="7680960" cy="1005840"/>
          </a:xfrm>
          <a:prstGeom prst="rect">
            <a:avLst/>
          </a:prstGeom>
          <a:solidFill>
            <a:srgbClr val="0A5E5D"/>
          </a:solidFill>
          <a:ln w="12700">
            <a:solidFill>
              <a:srgbClr val="0A5E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4231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most surprising observation during the investigation? Why did it surprise you?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3566160"/>
            <a:ext cx="7680960" cy="1005840"/>
          </a:xfrm>
          <a:prstGeom prst="rect">
            <a:avLst/>
          </a:prstGeom>
          <a:solidFill>
            <a:srgbClr val="0A5E5D"/>
          </a:solidFill>
          <a:ln w="12700">
            <a:solidFill>
              <a:srgbClr val="0A5E5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6118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your understanding of chemical vs. physical change grown? What do you understand now that you did not before?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82880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18288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&amp; Next Steps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280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 is complete with observations for each property and time point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0574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pieces of evidence are listed in Part 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8346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explains the difference between physical and chemical change using YOUR investigation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6118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CER includes a clear Claim, Evidence from your data, and Reasoning connecting to science concepts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Lesson 10.01 - What Are Basic Forms of Energy?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2026-08-28T16:32:22Z</dcterms:created>
  <dcterms:modified xsi:type="dcterms:W3CDTF">2026-08-28T16:32:22Z</dcterms:modified>
</cp:coreProperties>
</file>