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have you experienced? Ask a student to describe what they noticed. Bridge to: Today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2-3 min to write. Ask 2-3 students to share. Do NOT confirm or correct. Say: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follow-up: Ask students to put the concept in their own words. Then ask for a real-life example. Do not move on until two students can state the big idea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2 min to think. Cold-call one student per question. Follow-up: What evidence supports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check: Use at least TWO of: force, push, pull, gravity, motion, contact. If student writes only one sentence, ask: What does your evidence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751076" cy="274320"/>
          </a:xfrm>
          <a:prstGeom prst="rect">
            <a:avLst/>
          </a:prstGeom>
          <a:solidFill>
            <a:srgbClr val="0E7C7B"/>
          </a:solidFill>
          <a:ln w="12700">
            <a:solidFill>
              <a:srgbClr val="0E7C7B"/>
            </a:solidFill>
            <a:prstDash val="solid"/>
          </a:ln>
        </p:spPr>
      </p:sp>
      <p:sp>
        <p:nvSpPr>
          <p:cNvPr id="3" name="Text 1"/>
          <p:cNvSpPr/>
          <p:nvPr/>
        </p:nvSpPr>
        <p:spPr>
          <a:xfrm>
            <a:off x="365760" y="20116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  UNIT 3  WEEK 14</a:t>
            </a:r>
            <a:endParaRPr lang="en-US" sz="1000" dirty="0"/>
          </a:p>
        </p:txBody>
      </p:sp>
      <p:sp>
        <p:nvSpPr>
          <p:cNvPr id="4" name="Text 2"/>
          <p:cNvSpPr/>
          <p:nvPr/>
        </p:nvSpPr>
        <p:spPr>
          <a:xfrm>
            <a:off x="365760" y="566928"/>
            <a:ext cx="5943600" cy="1737360"/>
          </a:xfrm>
          <a:prstGeom prst="rect">
            <a:avLst/>
          </a:prstGeom>
          <a:noFill/>
          <a:ln/>
        </p:spPr>
        <p:txBody>
          <a:bodyPr wrap="square"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What Forces Cause Objects to Move?</a:t>
            </a:r>
            <a:endParaRPr lang="en-US" sz="3000" dirty="0"/>
          </a:p>
        </p:txBody>
      </p:sp>
      <p:sp>
        <p:nvSpPr>
          <p:cNvPr id="5" name="Text 3"/>
          <p:cNvSpPr/>
          <p:nvPr/>
        </p:nvSpPr>
        <p:spPr>
          <a:xfrm>
            <a:off x="365760" y="2377440"/>
            <a:ext cx="5943600" cy="310896"/>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Lesson 14.01  |  5-PS2-1 / SC.5.P.13.1</a:t>
            </a:r>
            <a:endParaRPr lang="en-US" sz="1200" dirty="0"/>
          </a:p>
        </p:txBody>
      </p:sp>
      <p:sp>
        <p:nvSpPr>
          <p:cNvPr id="6" name="Shape 4"/>
          <p:cNvSpPr/>
          <p:nvPr/>
        </p:nvSpPr>
        <p:spPr>
          <a:xfrm>
            <a:off x="365760" y="2788920"/>
            <a:ext cx="5943600" cy="329184"/>
          </a:xfrm>
          <a:prstGeom prst="rect">
            <a:avLst/>
          </a:prstGeom>
          <a:solidFill>
            <a:srgbClr val="2E86AB"/>
          </a:solidFill>
          <a:ln w="12700">
            <a:solidFill>
              <a:srgbClr val="2E86AB"/>
            </a:solidFill>
            <a:prstDash val="solid"/>
          </a:ln>
        </p:spPr>
      </p:sp>
      <p:sp>
        <p:nvSpPr>
          <p:cNvPr id="7" name="Text 5"/>
          <p:cNvSpPr/>
          <p:nvPr/>
        </p:nvSpPr>
        <p:spPr>
          <a:xfrm>
            <a:off x="475488" y="2852928"/>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Identify pushes, pulls, and gravity as forces.</a:t>
            </a:r>
            <a:endParaRPr lang="en-US" sz="1100" dirty="0"/>
          </a:p>
        </p:txBody>
      </p:sp>
      <p:sp>
        <p:nvSpPr>
          <p:cNvPr id="8" name="Shape 6"/>
          <p:cNvSpPr/>
          <p:nvPr/>
        </p:nvSpPr>
        <p:spPr>
          <a:xfrm>
            <a:off x="365760" y="3172968"/>
            <a:ext cx="5943600" cy="329184"/>
          </a:xfrm>
          <a:prstGeom prst="rect">
            <a:avLst/>
          </a:prstGeom>
          <a:solidFill>
            <a:srgbClr val="2E86AB"/>
          </a:solidFill>
          <a:ln w="12700">
            <a:solidFill>
              <a:srgbClr val="2E86AB"/>
            </a:solidFill>
            <a:prstDash val="solid"/>
          </a:ln>
        </p:spPr>
      </p:sp>
      <p:sp>
        <p:nvSpPr>
          <p:cNvPr id="9" name="Text 7"/>
          <p:cNvSpPr/>
          <p:nvPr/>
        </p:nvSpPr>
        <p:spPr>
          <a:xfrm>
            <a:off x="475488" y="3236976"/>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Explain that forces cause objects to start, stop, or change direction.</a:t>
            </a:r>
            <a:endParaRPr lang="en-US" sz="1100" dirty="0"/>
          </a:p>
        </p:txBody>
      </p:sp>
      <p:sp>
        <p:nvSpPr>
          <p:cNvPr id="10" name="Shape 8"/>
          <p:cNvSpPr/>
          <p:nvPr/>
        </p:nvSpPr>
        <p:spPr>
          <a:xfrm>
            <a:off x="365760" y="3557016"/>
            <a:ext cx="5943600" cy="329184"/>
          </a:xfrm>
          <a:prstGeom prst="rect">
            <a:avLst/>
          </a:prstGeom>
          <a:solidFill>
            <a:srgbClr val="2E86AB"/>
          </a:solidFill>
          <a:ln w="12700">
            <a:solidFill>
              <a:srgbClr val="2E86AB"/>
            </a:solidFill>
            <a:prstDash val="solid"/>
          </a:ln>
        </p:spPr>
      </p:sp>
      <p:sp>
        <p:nvSpPr>
          <p:cNvPr id="11" name="Text 9"/>
          <p:cNvSpPr/>
          <p:nvPr/>
        </p:nvSpPr>
        <p:spPr>
          <a:xfrm>
            <a:off x="475488" y="3621024"/>
            <a:ext cx="5724144" cy="20116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Describe gravity as a force that pulls everything toward Earth.</a:t>
            </a:r>
            <a:endParaRPr lang="en-US" sz="1100" dirty="0"/>
          </a:p>
        </p:txBody>
      </p:sp>
      <p:sp>
        <p:nvSpPr>
          <p:cNvPr id="12" name="Shape 10"/>
          <p:cNvSpPr/>
          <p:nvPr/>
        </p:nvSpPr>
        <p:spPr>
          <a:xfrm>
            <a:off x="6492240" y="365760"/>
            <a:ext cx="2286000" cy="4389120"/>
          </a:xfrm>
          <a:prstGeom prst="rect">
            <a:avLst/>
          </a:prstGeom>
          <a:solidFill>
            <a:srgbClr val="0E7C7B"/>
          </a:solidFill>
          <a:ln w="12700">
            <a:solidFill>
              <a:srgbClr val="0E7C7B"/>
            </a:solidFill>
            <a:prstDash val="solid"/>
          </a:ln>
        </p:spPr>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Optima Academy Online  |  5th Grade Science  |  Lesson 14.01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0E7C7B"/>
          </a:solidFill>
          <a:ln w="12700">
            <a:solidFill>
              <a:srgbClr val="0E7C7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566928"/>
            <a:ext cx="8412480" cy="45720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Something Always Causes the Motion</a:t>
            </a:r>
            <a:endParaRPr lang="en-US" sz="2000" dirty="0"/>
          </a:p>
        </p:txBody>
      </p:sp>
      <p:sp>
        <p:nvSpPr>
          <p:cNvPr id="5" name="Shape 3"/>
          <p:cNvSpPr/>
          <p:nvPr/>
        </p:nvSpPr>
        <p:spPr>
          <a:xfrm>
            <a:off x="365760" y="1097280"/>
            <a:ext cx="8046720" cy="1005840"/>
          </a:xfrm>
          <a:prstGeom prst="rect">
            <a:avLst/>
          </a:prstGeom>
          <a:solidFill>
            <a:srgbClr val="1E3A5C"/>
          </a:solidFill>
          <a:ln w="12700">
            <a:solidFill>
              <a:srgbClr val="1E3A5C"/>
            </a:solidFill>
            <a:prstDash val="solid"/>
          </a:ln>
        </p:spPr>
      </p:sp>
      <p:sp>
        <p:nvSpPr>
          <p:cNvPr id="6" name="Text 4"/>
          <p:cNvSpPr/>
          <p:nvPr/>
        </p:nvSpPr>
        <p:spPr>
          <a:xfrm>
            <a:off x="475488" y="1161288"/>
            <a:ext cx="7827264"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 push a swing and watch it go higher. You pull a wagon up a hill. You let go of a ball and it falls. In each one, something CAUSED the motion. Scientists call the cause of motion a force.</a:t>
            </a:r>
            <a:endParaRPr lang="en-US" sz="1300" dirty="0"/>
          </a:p>
        </p:txBody>
      </p:sp>
      <p:sp>
        <p:nvSpPr>
          <p:cNvPr id="7" name="Shape 5"/>
          <p:cNvSpPr/>
          <p:nvPr/>
        </p:nvSpPr>
        <p:spPr>
          <a:xfrm>
            <a:off x="365760" y="2249424"/>
            <a:ext cx="1645920" cy="274320"/>
          </a:xfrm>
          <a:prstGeom prst="rect">
            <a:avLst/>
          </a:prstGeom>
          <a:solidFill>
            <a:srgbClr val="F6C90E"/>
          </a:solidFill>
          <a:ln w="12700">
            <a:solidFill>
              <a:srgbClr val="F6C90E"/>
            </a:solidFill>
            <a:prstDash val="solid"/>
          </a:ln>
        </p:spPr>
      </p:sp>
      <p:sp>
        <p:nvSpPr>
          <p:cNvPr id="8" name="Text 6"/>
          <p:cNvSpPr/>
          <p:nvPr/>
        </p:nvSpPr>
        <p:spPr>
          <a:xfrm>
            <a:off x="36576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a:t>
            </a:r>
            <a:endParaRPr lang="en-US" sz="1000" dirty="0"/>
          </a:p>
        </p:txBody>
      </p:sp>
      <p:sp>
        <p:nvSpPr>
          <p:cNvPr id="9" name="Shape 7"/>
          <p:cNvSpPr/>
          <p:nvPr/>
        </p:nvSpPr>
        <p:spPr>
          <a:xfrm>
            <a:off x="365760" y="2596896"/>
            <a:ext cx="4023360" cy="914400"/>
          </a:xfrm>
          <a:prstGeom prst="rect">
            <a:avLst/>
          </a:prstGeom>
          <a:solidFill>
            <a:srgbClr val="1E3A5C"/>
          </a:solidFill>
          <a:ln w="12700">
            <a:solidFill>
              <a:srgbClr val="1E3A5C"/>
            </a:solidFill>
            <a:prstDash val="solid"/>
          </a:ln>
        </p:spPr>
      </p:sp>
      <p:sp>
        <p:nvSpPr>
          <p:cNvPr id="10" name="Text 8"/>
          <p:cNvSpPr/>
          <p:nvPr/>
        </p:nvSpPr>
        <p:spPr>
          <a:xfrm>
            <a:off x="475488" y="2660904"/>
            <a:ext cx="380390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What force is at work when a leaf falls from a tree? What about when you kick a ball?</a:t>
            </a:r>
            <a:endParaRPr lang="en-US" sz="1200" dirty="0"/>
          </a:p>
        </p:txBody>
      </p:sp>
      <p:sp>
        <p:nvSpPr>
          <p:cNvPr id="11" name="Shape 9"/>
          <p:cNvSpPr/>
          <p:nvPr/>
        </p:nvSpPr>
        <p:spPr>
          <a:xfrm>
            <a:off x="4572000" y="2249424"/>
            <a:ext cx="1645920" cy="274320"/>
          </a:xfrm>
          <a:prstGeom prst="rect">
            <a:avLst/>
          </a:prstGeom>
          <a:solidFill>
            <a:srgbClr val="F6C90E"/>
          </a:solidFill>
          <a:ln w="12700">
            <a:solidFill>
              <a:srgbClr val="F6C90E"/>
            </a:solidFill>
            <a:prstDash val="solid"/>
          </a:ln>
        </p:spPr>
      </p:sp>
      <p:sp>
        <p:nvSpPr>
          <p:cNvPr id="12" name="Text 10"/>
          <p:cNvSpPr/>
          <p:nvPr/>
        </p:nvSpPr>
        <p:spPr>
          <a:xfrm>
            <a:off x="4572000" y="2249424"/>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WONDER</a:t>
            </a:r>
            <a:endParaRPr lang="en-US" sz="1000" dirty="0"/>
          </a:p>
        </p:txBody>
      </p:sp>
      <p:sp>
        <p:nvSpPr>
          <p:cNvPr id="13" name="Shape 11"/>
          <p:cNvSpPr/>
          <p:nvPr/>
        </p:nvSpPr>
        <p:spPr>
          <a:xfrm>
            <a:off x="4572000" y="2596896"/>
            <a:ext cx="4206240" cy="914400"/>
          </a:xfrm>
          <a:prstGeom prst="rect">
            <a:avLst/>
          </a:prstGeom>
          <a:solidFill>
            <a:srgbClr val="1E3A5C"/>
          </a:solidFill>
          <a:ln w="12700">
            <a:solidFill>
              <a:srgbClr val="1E3A5C"/>
            </a:solidFill>
            <a:prstDash val="solid"/>
          </a:ln>
        </p:spPr>
      </p:sp>
      <p:sp>
        <p:nvSpPr>
          <p:cNvPr id="14" name="Text 12"/>
          <p:cNvSpPr/>
          <p:nvPr/>
        </p:nvSpPr>
        <p:spPr>
          <a:xfrm>
            <a:off x="4681728" y="2660904"/>
            <a:ext cx="3986784"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Can a force act without touching? Can gravity pull on something far away?</a:t>
            </a:r>
            <a:endParaRPr lang="en-US" sz="12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Engage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07D35"/>
          </a:solidFill>
          <a:ln w="12700">
            <a:solidFill>
              <a:srgbClr val="F07D35"/>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1A1A2E"/>
                </a:solidFill>
                <a:latin typeface="Cambria" pitchFamily="34" charset="0"/>
                <a:ea typeface="Cambria" pitchFamily="34" charset="-122"/>
                <a:cs typeface="Cambria" pitchFamily="34" charset="-120"/>
              </a:rPr>
              <a:t>Before We Start -- Write Your Prediction</a:t>
            </a:r>
            <a:endParaRPr lang="en-US" sz="2000" dirty="0"/>
          </a:p>
        </p:txBody>
      </p:sp>
      <p:sp>
        <p:nvSpPr>
          <p:cNvPr id="5" name="Shape 3"/>
          <p:cNvSpPr/>
          <p:nvPr/>
        </p:nvSpPr>
        <p:spPr>
          <a:xfrm>
            <a:off x="365760" y="1051560"/>
            <a:ext cx="8046720" cy="804672"/>
          </a:xfrm>
          <a:prstGeom prst="rect">
            <a:avLst/>
          </a:prstGeom>
          <a:solidFill>
            <a:srgbClr val="D6EAF8"/>
          </a:solidFill>
          <a:ln w="12700">
            <a:solidFill>
              <a:srgbClr val="D6EAF8"/>
            </a:solidFill>
            <a:prstDash val="solid"/>
          </a:ln>
        </p:spPr>
      </p:sp>
      <p:sp>
        <p:nvSpPr>
          <p:cNvPr id="6" name="Text 4"/>
          <p:cNvSpPr/>
          <p:nvPr/>
        </p:nvSpPr>
        <p:spPr>
          <a:xfrm>
            <a:off x="475488" y="1115568"/>
            <a:ext cx="7827264" cy="676656"/>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Think of three things moving near you right now -- or things you saw today. For each one, what do you think CAUSED it to move? Write at least two sentences.</a:t>
            </a:r>
            <a:endParaRPr lang="en-US" sz="1300" dirty="0"/>
          </a:p>
        </p:txBody>
      </p:sp>
      <p:sp>
        <p:nvSpPr>
          <p:cNvPr id="7" name="Text 5"/>
          <p:cNvSpPr/>
          <p:nvPr/>
        </p:nvSpPr>
        <p:spPr>
          <a:xfrm>
            <a:off x="365760" y="1920240"/>
            <a:ext cx="8046720" cy="310896"/>
          </a:xfrm>
          <a:prstGeom prst="rect">
            <a:avLst/>
          </a:prstGeom>
          <a:noFill/>
          <a:ln/>
        </p:spPr>
        <p:txBody>
          <a:bodyPr wrap="square" rtlCol="0" anchor="ctr"/>
          <a:lstStyle/>
          <a:p>
            <a:pPr algn="l" indent="0" marL="0">
              <a:buNone/>
            </a:pPr>
            <a:r>
              <a:rPr lang="en-US" sz="1300" b="1" dirty="0">
                <a:solidFill>
                  <a:srgbClr val="2C4A6E"/>
                </a:solidFill>
                <a:latin typeface="Calibri" pitchFamily="34" charset="0"/>
                <a:ea typeface="Calibri" pitchFamily="34" charset="-122"/>
                <a:cs typeface="Calibri" pitchFamily="34" charset="-120"/>
              </a:rPr>
              <a:t>Your Prediction:</a:t>
            </a:r>
            <a:endParaRPr lang="en-US" sz="1300" dirty="0"/>
          </a:p>
        </p:txBody>
      </p:sp>
      <p:sp>
        <p:nvSpPr>
          <p:cNvPr id="8" name="Shape 6"/>
          <p:cNvSpPr/>
          <p:nvPr/>
        </p:nvSpPr>
        <p:spPr>
          <a:xfrm>
            <a:off x="365760" y="2286000"/>
            <a:ext cx="8046720" cy="1737360"/>
          </a:xfrm>
          <a:prstGeom prst="rect">
            <a:avLst/>
          </a:prstGeom>
          <a:solidFill>
            <a:srgbClr val="FFFFFF"/>
          </a:solidFill>
          <a:ln w="12700">
            <a:solidFill>
              <a:srgbClr val="FFFFFF"/>
            </a:solidFill>
            <a:prstDash val="solid"/>
          </a:ln>
        </p:spPr>
      </p:sp>
      <p:sp>
        <p:nvSpPr>
          <p:cNvPr id="9" name="Text 7"/>
          <p:cNvSpPr/>
          <p:nvPr/>
        </p:nvSpPr>
        <p:spPr>
          <a:xfrm>
            <a:off x="475488" y="2350008"/>
            <a:ext cx="7827264" cy="1609344"/>
          </a:xfrm>
          <a:prstGeom prst="rect">
            <a:avLst/>
          </a:prstGeom>
          <a:noFill/>
          <a:ln/>
        </p:spPr>
        <p:txBody>
          <a:bodyPr wrap="square" lIns="0" tIns="0" rIns="0" bIns="0" rtlCol="0" anchor="ctr"/>
          <a:lstStyle/>
          <a:p>
            <a:pPr algn="l" indent="0" marL="0">
              <a:buNone/>
            </a:pPr>
            <a:r>
              <a:rPr lang="en-US" sz="1200" dirty="0">
                <a:solidFill>
                  <a:srgbClr val="5E7B9A"/>
                </a:solidFill>
                <a:latin typeface="Calibri" pitchFamily="34" charset="0"/>
                <a:ea typeface="Calibri" pitchFamily="34" charset="-122"/>
                <a:cs typeface="Calibri" pitchFamily="34" charset="-120"/>
              </a:rPr>
              <a:t>Write in your science notebook. You will return to this at the end.</a:t>
            </a:r>
            <a:endParaRPr lang="en-US" sz="1200" dirty="0"/>
          </a:p>
        </p:txBody>
      </p:sp>
      <p:sp>
        <p:nvSpPr>
          <p:cNvPr id="10" name="Shape 8"/>
          <p:cNvSpPr/>
          <p:nvPr/>
        </p:nvSpPr>
        <p:spPr>
          <a:xfrm>
            <a:off x="0" y="4896612"/>
            <a:ext cx="9144000" cy="246888"/>
          </a:xfrm>
          <a:prstGeom prst="rect">
            <a:avLst/>
          </a:prstGeom>
          <a:solidFill>
            <a:srgbClr val="F6C90E"/>
          </a:solidFill>
          <a:ln w="12700">
            <a:solidFill>
              <a:srgbClr val="F6C90E"/>
            </a:solidFill>
            <a:prstDash val="solid"/>
          </a:ln>
        </p:spPr>
      </p:sp>
      <p:sp>
        <p:nvSpPr>
          <p:cNvPr id="11" name="Text 9"/>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Prediction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force</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push or a pull. Forces cause objects to start, stop, speed up, slow down, or change direction.</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push</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force that moves an object AWAY from you. Pressing a swing, pressing a button.</a:t>
            </a:r>
            <a:endParaRPr lang="en-US" sz="1200" dirty="0"/>
          </a:p>
        </p:txBody>
      </p:sp>
      <p:sp>
        <p:nvSpPr>
          <p:cNvPr id="11" name="Shape 9"/>
          <p:cNvSpPr/>
          <p:nvPr/>
        </p:nvSpPr>
        <p:spPr>
          <a:xfrm>
            <a:off x="365760" y="2834640"/>
            <a:ext cx="4114800" cy="1645920"/>
          </a:xfrm>
          <a:prstGeom prst="rect">
            <a:avLst/>
          </a:prstGeom>
          <a:solidFill>
            <a:srgbClr val="2E86AB"/>
          </a:solidFill>
          <a:ln w="12700">
            <a:solidFill>
              <a:srgbClr val="2E86AB"/>
            </a:solidFill>
            <a:prstDash val="solid"/>
          </a:ln>
        </p:spPr>
      </p:sp>
      <p:sp>
        <p:nvSpPr>
          <p:cNvPr id="12" name="Text 10"/>
          <p:cNvSpPr/>
          <p:nvPr/>
        </p:nvSpPr>
        <p:spPr>
          <a:xfrm>
            <a:off x="47548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pull</a:t>
            </a:r>
            <a:endParaRPr lang="en-US" sz="1400" dirty="0"/>
          </a:p>
        </p:txBody>
      </p:sp>
      <p:sp>
        <p:nvSpPr>
          <p:cNvPr id="13" name="Text 11"/>
          <p:cNvSpPr/>
          <p:nvPr/>
        </p:nvSpPr>
        <p:spPr>
          <a:xfrm>
            <a:off x="47548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A force that moves an object TOWARD you. Pulling a wagon, dragging a backpack.</a:t>
            </a:r>
            <a:endParaRPr lang="en-US" sz="1200" dirty="0"/>
          </a:p>
        </p:txBody>
      </p:sp>
      <p:sp>
        <p:nvSpPr>
          <p:cNvPr id="14" name="Shape 12"/>
          <p:cNvSpPr/>
          <p:nvPr/>
        </p:nvSpPr>
        <p:spPr>
          <a:xfrm>
            <a:off x="4663440" y="2834640"/>
            <a:ext cx="4114800" cy="1645920"/>
          </a:xfrm>
          <a:prstGeom prst="rect">
            <a:avLst/>
          </a:prstGeom>
          <a:solidFill>
            <a:srgbClr val="2E86AB"/>
          </a:solidFill>
          <a:ln w="12700">
            <a:solidFill>
              <a:srgbClr val="2E86AB"/>
            </a:solidFill>
            <a:prstDash val="solid"/>
          </a:ln>
        </p:spPr>
      </p:sp>
      <p:sp>
        <p:nvSpPr>
          <p:cNvPr id="15" name="Text 13"/>
          <p:cNvSpPr/>
          <p:nvPr/>
        </p:nvSpPr>
        <p:spPr>
          <a:xfrm>
            <a:off x="4773168" y="2880360"/>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gravity</a:t>
            </a:r>
            <a:endParaRPr lang="en-US" sz="1400" dirty="0"/>
          </a:p>
        </p:txBody>
      </p:sp>
      <p:sp>
        <p:nvSpPr>
          <p:cNvPr id="16" name="Text 14"/>
          <p:cNvSpPr/>
          <p:nvPr/>
        </p:nvSpPr>
        <p:spPr>
          <a:xfrm>
            <a:off x="4773168" y="3291840"/>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The force that pulls all objects toward Earth. Gravity is why things fall down.</a:t>
            </a:r>
            <a:endParaRPr lang="en-US" sz="1200" dirty="0"/>
          </a:p>
        </p:txBody>
      </p:sp>
      <p:sp>
        <p:nvSpPr>
          <p:cNvPr id="17" name="Shape 15"/>
          <p:cNvSpPr/>
          <p:nvPr/>
        </p:nvSpPr>
        <p:spPr>
          <a:xfrm>
            <a:off x="0" y="4896612"/>
            <a:ext cx="9144000" cy="246888"/>
          </a:xfrm>
          <a:prstGeom prst="rect">
            <a:avLst/>
          </a:prstGeom>
          <a:solidFill>
            <a:srgbClr val="F6C90E"/>
          </a:solidFill>
          <a:ln w="12700">
            <a:solidFill>
              <a:srgbClr val="F6C90E"/>
            </a:solidFill>
            <a:prstDash val="solid"/>
          </a:ln>
        </p:spPr>
      </p:sp>
      <p:sp>
        <p:nvSpPr>
          <p:cNvPr id="18" name="Text 1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Vocabulary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Key Words (cont.)</a:t>
            </a:r>
            <a:endParaRPr lang="en-US" sz="1900" dirty="0"/>
          </a:p>
        </p:txBody>
      </p:sp>
      <p:sp>
        <p:nvSpPr>
          <p:cNvPr id="5" name="Shape 3"/>
          <p:cNvSpPr/>
          <p:nvPr/>
        </p:nvSpPr>
        <p:spPr>
          <a:xfrm>
            <a:off x="365760" y="987552"/>
            <a:ext cx="4114800" cy="1645920"/>
          </a:xfrm>
          <a:prstGeom prst="rect">
            <a:avLst/>
          </a:prstGeom>
          <a:solidFill>
            <a:srgbClr val="2E86AB"/>
          </a:solidFill>
          <a:ln w="12700">
            <a:solidFill>
              <a:srgbClr val="2E86AB"/>
            </a:solidFill>
            <a:prstDash val="solid"/>
          </a:ln>
        </p:spPr>
      </p:sp>
      <p:sp>
        <p:nvSpPr>
          <p:cNvPr id="6" name="Text 4"/>
          <p:cNvSpPr/>
          <p:nvPr/>
        </p:nvSpPr>
        <p:spPr>
          <a:xfrm>
            <a:off x="47548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motion</a:t>
            </a:r>
            <a:endParaRPr lang="en-US" sz="1400" dirty="0"/>
          </a:p>
        </p:txBody>
      </p:sp>
      <p:sp>
        <p:nvSpPr>
          <p:cNvPr id="7" name="Text 5"/>
          <p:cNvSpPr/>
          <p:nvPr/>
        </p:nvSpPr>
        <p:spPr>
          <a:xfrm>
            <a:off x="47548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When something moves from one place to another. A force causes motion or stops it.</a:t>
            </a:r>
            <a:endParaRPr lang="en-US" sz="1200" dirty="0"/>
          </a:p>
        </p:txBody>
      </p:sp>
      <p:sp>
        <p:nvSpPr>
          <p:cNvPr id="8" name="Shape 6"/>
          <p:cNvSpPr/>
          <p:nvPr/>
        </p:nvSpPr>
        <p:spPr>
          <a:xfrm>
            <a:off x="4663440" y="987552"/>
            <a:ext cx="4114800" cy="1645920"/>
          </a:xfrm>
          <a:prstGeom prst="rect">
            <a:avLst/>
          </a:prstGeom>
          <a:solidFill>
            <a:srgbClr val="2E86AB"/>
          </a:solidFill>
          <a:ln w="12700">
            <a:solidFill>
              <a:srgbClr val="2E86AB"/>
            </a:solidFill>
            <a:prstDash val="solid"/>
          </a:ln>
        </p:spPr>
      </p:sp>
      <p:sp>
        <p:nvSpPr>
          <p:cNvPr id="9" name="Text 7"/>
          <p:cNvSpPr/>
          <p:nvPr/>
        </p:nvSpPr>
        <p:spPr>
          <a:xfrm>
            <a:off x="4773168" y="1033272"/>
            <a:ext cx="3895344" cy="365760"/>
          </a:xfrm>
          <a:prstGeom prst="rect">
            <a:avLst/>
          </a:prstGeom>
          <a:noFill/>
          <a:ln/>
        </p:spPr>
        <p:txBody>
          <a:bodyPr wrap="square"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contact</a:t>
            </a:r>
            <a:endParaRPr lang="en-US" sz="1400" dirty="0"/>
          </a:p>
        </p:txBody>
      </p:sp>
      <p:sp>
        <p:nvSpPr>
          <p:cNvPr id="10" name="Text 8"/>
          <p:cNvSpPr/>
          <p:nvPr/>
        </p:nvSpPr>
        <p:spPr>
          <a:xfrm>
            <a:off x="4773168" y="1444752"/>
            <a:ext cx="3895344" cy="1097280"/>
          </a:xfrm>
          <a:prstGeom prst="rect">
            <a:avLst/>
          </a:prstGeom>
          <a:noFill/>
          <a:ln/>
        </p:spPr>
        <p:txBody>
          <a:bodyPr wrap="square"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Touching. Most pushes and pulls happen by contact. Gravity does NOT need contact.</a:t>
            </a:r>
            <a:endParaRPr lang="en-US" sz="1200" dirty="0"/>
          </a:p>
        </p:txBody>
      </p:sp>
      <p:sp>
        <p:nvSpPr>
          <p:cNvPr id="11" name="Shape 9"/>
          <p:cNvSpPr/>
          <p:nvPr/>
        </p:nvSpPr>
        <p:spPr>
          <a:xfrm>
            <a:off x="365760" y="2834640"/>
            <a:ext cx="8412480" cy="1645920"/>
          </a:xfrm>
          <a:prstGeom prst="rect">
            <a:avLst/>
          </a:prstGeom>
          <a:solidFill>
            <a:srgbClr val="0A2240"/>
          </a:solidFill>
          <a:ln w="12700">
            <a:solidFill>
              <a:srgbClr val="0A2240"/>
            </a:solidFill>
            <a:prstDash val="solid"/>
          </a:ln>
        </p:spPr>
      </p:sp>
      <p:sp>
        <p:nvSpPr>
          <p:cNvPr id="12" name="Text 10"/>
          <p:cNvSpPr/>
          <p:nvPr/>
        </p:nvSpPr>
        <p:spPr>
          <a:xfrm>
            <a:off x="475488" y="2898648"/>
            <a:ext cx="8193024" cy="1517904"/>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REVIEW RULE:</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Opposite charges attract. Like charges repel.</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More force = more change in motion.</a:t>
            </a:r>
            <a:endParaRPr lang="en-US" sz="1400" dirty="0"/>
          </a:p>
          <a:p>
            <a:pPr algn="l" indent="0" marL="0">
              <a:buNone/>
            </a:pPr>
            <a:r>
              <a:rPr lang="en-US" sz="1400" b="1" dirty="0">
                <a:solidFill>
                  <a:srgbClr val="F6C90E"/>
                </a:solidFill>
                <a:latin typeface="Calibri" pitchFamily="34" charset="0"/>
                <a:ea typeface="Calibri" pitchFamily="34" charset="-122"/>
                <a:cs typeface="Calibri" pitchFamily="34" charset="-120"/>
              </a:rPr>
              <a:t>Balanced forces = no motion.</a:t>
            </a:r>
            <a:endParaRPr lang="en-US" sz="14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Vocabulary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1A3A5C"/>
          </a:solidFill>
          <a:ln w="12700">
            <a:solidFill>
              <a:srgbClr val="1A3A5C"/>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The Big Idea</a:t>
            </a:r>
            <a:endParaRPr lang="en-US" sz="2100" dirty="0"/>
          </a:p>
        </p:txBody>
      </p:sp>
      <p:sp>
        <p:nvSpPr>
          <p:cNvPr id="5" name="Shape 3"/>
          <p:cNvSpPr/>
          <p:nvPr/>
        </p:nvSpPr>
        <p:spPr>
          <a:xfrm>
            <a:off x="365760" y="1051560"/>
            <a:ext cx="8412480" cy="1005840"/>
          </a:xfrm>
          <a:prstGeom prst="rect">
            <a:avLst/>
          </a:prstGeom>
          <a:solidFill>
            <a:srgbClr val="085E5D"/>
          </a:solidFill>
          <a:ln w="12700">
            <a:solidFill>
              <a:srgbClr val="085E5D"/>
            </a:solidFill>
            <a:prstDash val="solid"/>
          </a:ln>
        </p:spPr>
      </p:sp>
      <p:sp>
        <p:nvSpPr>
          <p:cNvPr id="6" name="Text 4"/>
          <p:cNvSpPr/>
          <p:nvPr/>
        </p:nvSpPr>
        <p:spPr>
          <a:xfrm>
            <a:off x="475488" y="1115568"/>
            <a:ext cx="8193024" cy="877824"/>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A force is a push or a pull. Pushes and pulls usually need contact (touching), but gravity is a pull that works without touching. Forces cause objects to start, stop, or change direction.</a:t>
            </a:r>
            <a:endParaRPr lang="en-US" sz="1400" dirty="0"/>
          </a:p>
        </p:txBody>
      </p:sp>
      <p:sp>
        <p:nvSpPr>
          <p:cNvPr id="7" name="Text 5"/>
          <p:cNvSpPr/>
          <p:nvPr/>
        </p:nvSpPr>
        <p:spPr>
          <a:xfrm>
            <a:off x="365760" y="2194560"/>
            <a:ext cx="8412480" cy="292608"/>
          </a:xfrm>
          <a:prstGeom prst="rect">
            <a:avLst/>
          </a:prstGeom>
          <a:noFill/>
          <a:ln/>
        </p:spPr>
        <p:txBody>
          <a:bodyPr wrap="square" rtlCol="0" anchor="ctr"/>
          <a:lstStyle/>
          <a:p>
            <a:pPr algn="l" indent="0" marL="0">
              <a:buNone/>
            </a:pPr>
            <a:r>
              <a:rPr lang="en-US" sz="1100" b="1" dirty="0">
                <a:solidFill>
                  <a:srgbClr val="F6C90E"/>
                </a:solidFill>
                <a:latin typeface="Calibri" pitchFamily="34" charset="0"/>
                <a:ea typeface="Calibri" pitchFamily="34" charset="-122"/>
                <a:cs typeface="Calibri" pitchFamily="34" charset="-120"/>
              </a:rPr>
              <a:t>STOP AND THINK</a:t>
            </a:r>
            <a:endParaRPr lang="en-US" sz="1100" dirty="0"/>
          </a:p>
        </p:txBody>
      </p:sp>
      <p:sp>
        <p:nvSpPr>
          <p:cNvPr id="8" name="Shape 6"/>
          <p:cNvSpPr/>
          <p:nvPr/>
        </p:nvSpPr>
        <p:spPr>
          <a:xfrm>
            <a:off x="365760" y="2542032"/>
            <a:ext cx="4114800" cy="1463040"/>
          </a:xfrm>
          <a:prstGeom prst="rect">
            <a:avLst/>
          </a:prstGeom>
          <a:solidFill>
            <a:srgbClr val="085E5D"/>
          </a:solidFill>
          <a:ln w="12700">
            <a:solidFill>
              <a:srgbClr val="085E5D"/>
            </a:solidFill>
            <a:prstDash val="solid"/>
          </a:ln>
        </p:spPr>
      </p:sp>
      <p:sp>
        <p:nvSpPr>
          <p:cNvPr id="9" name="Text 7"/>
          <p:cNvSpPr/>
          <p:nvPr/>
        </p:nvSpPr>
        <p:spPr>
          <a:xfrm>
            <a:off x="47548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"Pick one motion happening near you right now. What force is causing it? Is it a push, a pull, or gravity?"</a:t>
            </a:r>
            <a:endParaRPr lang="en-US" sz="1300" dirty="0"/>
          </a:p>
        </p:txBody>
      </p:sp>
      <p:sp>
        <p:nvSpPr>
          <p:cNvPr id="10" name="Shape 8"/>
          <p:cNvSpPr/>
          <p:nvPr/>
        </p:nvSpPr>
        <p:spPr>
          <a:xfrm>
            <a:off x="4663440" y="2542032"/>
            <a:ext cx="4114800" cy="1463040"/>
          </a:xfrm>
          <a:prstGeom prst="rect">
            <a:avLst/>
          </a:prstGeom>
          <a:solidFill>
            <a:srgbClr val="085E5D"/>
          </a:solidFill>
          <a:ln w="12700">
            <a:solidFill>
              <a:srgbClr val="085E5D"/>
            </a:solidFill>
            <a:prstDash val="solid"/>
          </a:ln>
        </p:spPr>
      </p:sp>
      <p:sp>
        <p:nvSpPr>
          <p:cNvPr id="11" name="Text 9"/>
          <p:cNvSpPr/>
          <p:nvPr/>
        </p:nvSpPr>
        <p:spPr>
          <a:xfrm>
            <a:off x="4773168" y="2606040"/>
            <a:ext cx="3895344" cy="13350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"You are pulling a wagon up a hill. What if you let go? What force takes over?"</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Key Concept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What Is a Force?</a:t>
            </a:r>
            <a:endParaRPr lang="en-US" sz="1700" dirty="0"/>
          </a:p>
        </p:txBody>
      </p:sp>
      <p:sp>
        <p:nvSpPr>
          <p:cNvPr id="3" name="Shape 1"/>
          <p:cNvSpPr/>
          <p:nvPr/>
        </p:nvSpPr>
        <p:spPr>
          <a:xfrm>
            <a:off x="365760" y="548640"/>
            <a:ext cx="8412480" cy="1170432"/>
          </a:xfrm>
          <a:prstGeom prst="rect">
            <a:avLst/>
          </a:prstGeom>
          <a:solidFill>
            <a:srgbClr val="D6EAF8"/>
          </a:solidFill>
          <a:ln w="12700">
            <a:solidFill>
              <a:srgbClr val="D6EAF8"/>
            </a:solidFill>
            <a:prstDash val="solid"/>
          </a:ln>
        </p:spPr>
      </p:sp>
      <p:sp>
        <p:nvSpPr>
          <p:cNvPr id="4" name="Text 2"/>
          <p:cNvSpPr/>
          <p:nvPr/>
        </p:nvSpPr>
        <p:spPr>
          <a:xfrm>
            <a:off x="475488" y="612648"/>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A force is a push or a pull. Forces cause things to move, stop, speed up, slow down, or change direction. Every time you see something change its motion, a force was involved. Forces can be strong or gentle.</a:t>
            </a:r>
            <a:endParaRPr lang="en-US" sz="1200" dirty="0"/>
          </a:p>
        </p:txBody>
      </p:sp>
      <p:sp>
        <p:nvSpPr>
          <p:cNvPr id="5" name="Text 3"/>
          <p:cNvSpPr/>
          <p:nvPr/>
        </p:nvSpPr>
        <p:spPr>
          <a:xfrm>
            <a:off x="365760" y="1792224"/>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Pushes and Pulls</a:t>
            </a:r>
            <a:endParaRPr lang="en-US" sz="1700" dirty="0"/>
          </a:p>
        </p:txBody>
      </p:sp>
      <p:sp>
        <p:nvSpPr>
          <p:cNvPr id="6" name="Shape 4"/>
          <p:cNvSpPr/>
          <p:nvPr/>
        </p:nvSpPr>
        <p:spPr>
          <a:xfrm>
            <a:off x="365760" y="2176272"/>
            <a:ext cx="8412480" cy="1170432"/>
          </a:xfrm>
          <a:prstGeom prst="rect">
            <a:avLst/>
          </a:prstGeom>
          <a:solidFill>
            <a:srgbClr val="D6EAF8"/>
          </a:solidFill>
          <a:ln w="12700">
            <a:solidFill>
              <a:srgbClr val="D6EAF8"/>
            </a:solidFill>
            <a:prstDash val="solid"/>
          </a:ln>
        </p:spPr>
      </p:sp>
      <p:sp>
        <p:nvSpPr>
          <p:cNvPr id="7" name="Text 5"/>
          <p:cNvSpPr/>
          <p:nvPr/>
        </p:nvSpPr>
        <p:spPr>
          <a:xfrm>
            <a:off x="475488" y="2240280"/>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A push moves an object AWAY from you. A pull moves an object TOWARD you. Pressing a swing is a push. Pulling a sled is a pull. Most pushes and pulls need contact -- your hand or body touching the object.</a:t>
            </a:r>
            <a:endParaRPr lang="en-US" sz="1200" dirty="0"/>
          </a:p>
        </p:txBody>
      </p:sp>
      <p:sp>
        <p:nvSpPr>
          <p:cNvPr id="8" name="Text 6"/>
          <p:cNvSpPr/>
          <p:nvPr/>
        </p:nvSpPr>
        <p:spPr>
          <a:xfrm>
            <a:off x="365760" y="3419856"/>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Gravity -- The Force That Always Pulls Down</a:t>
            </a:r>
            <a:endParaRPr lang="en-US" sz="1700" dirty="0"/>
          </a:p>
        </p:txBody>
      </p:sp>
      <p:sp>
        <p:nvSpPr>
          <p:cNvPr id="9" name="Shape 7"/>
          <p:cNvSpPr/>
          <p:nvPr/>
        </p:nvSpPr>
        <p:spPr>
          <a:xfrm>
            <a:off x="365760" y="3803904"/>
            <a:ext cx="8412480" cy="1170432"/>
          </a:xfrm>
          <a:prstGeom prst="rect">
            <a:avLst/>
          </a:prstGeom>
          <a:solidFill>
            <a:srgbClr val="D6EAF8"/>
          </a:solidFill>
          <a:ln w="12700">
            <a:solidFill>
              <a:srgbClr val="D6EAF8"/>
            </a:solidFill>
            <a:prstDash val="solid"/>
          </a:ln>
        </p:spPr>
      </p:sp>
      <p:sp>
        <p:nvSpPr>
          <p:cNvPr id="10" name="Text 8"/>
          <p:cNvSpPr/>
          <p:nvPr/>
        </p:nvSpPr>
        <p:spPr>
          <a:xfrm>
            <a:off x="475488" y="3867912"/>
            <a:ext cx="8193024" cy="1042416"/>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Gravity is the pull Earth has on EVERY object without touching them. Drop a pencil and gravity pulls it down. Throw a ball up and gravity pulls it back. Gravity is why things fall DOWN and not sideways.</a:t>
            </a:r>
            <a:endParaRPr lang="en-US" sz="1200" dirty="0"/>
          </a:p>
        </p:txBody>
      </p:sp>
      <p:sp>
        <p:nvSpPr>
          <p:cNvPr id="11" name="Shape 9"/>
          <p:cNvSpPr/>
          <p:nvPr/>
        </p:nvSpPr>
        <p:spPr>
          <a:xfrm>
            <a:off x="0" y="4896612"/>
            <a:ext cx="9144000" cy="246888"/>
          </a:xfrm>
          <a:prstGeom prst="rect">
            <a:avLst/>
          </a:prstGeom>
          <a:solidFill>
            <a:srgbClr val="F6C90E"/>
          </a:solidFill>
          <a:ln w="12700">
            <a:solidFill>
              <a:srgbClr val="F6C90E"/>
            </a:solidFill>
            <a:prstDash val="solid"/>
          </a:ln>
        </p:spPr>
      </p:sp>
      <p:sp>
        <p:nvSpPr>
          <p:cNvPr id="12" name="Text 10"/>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Content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800" b="1" dirty="0">
                <a:solidFill>
                  <a:srgbClr val="1A3A5C"/>
                </a:solidFill>
                <a:latin typeface="Cambria" pitchFamily="34" charset="0"/>
                <a:ea typeface="Cambria" pitchFamily="34" charset="-122"/>
                <a:cs typeface="Cambria" pitchFamily="34" charset="-120"/>
              </a:rPr>
              <a:t>How It Works -- Visual Overview</a:t>
            </a:r>
            <a:endParaRPr lang="en-US" sz="1800" dirty="0"/>
          </a:p>
        </p:txBody>
      </p:sp>
      <p:sp>
        <p:nvSpPr>
          <p:cNvPr id="3" name="Shape 1"/>
          <p:cNvSpPr/>
          <p:nvPr/>
        </p:nvSpPr>
        <p:spPr>
          <a:xfrm>
            <a:off x="365760" y="621792"/>
            <a:ext cx="2807208" cy="4206240"/>
          </a:xfrm>
          <a:prstGeom prst="rect">
            <a:avLst/>
          </a:prstGeom>
          <a:solidFill>
            <a:srgbClr val="D6EAF8"/>
          </a:solidFill>
          <a:ln w="12700">
            <a:solidFill>
              <a:srgbClr val="D6EAF8"/>
            </a:solidFill>
            <a:prstDash val="solid"/>
          </a:ln>
        </p:spPr>
      </p:sp>
      <p:sp>
        <p:nvSpPr>
          <p:cNvPr id="4" name="Text 2"/>
          <p:cNvSpPr/>
          <p:nvPr/>
        </p:nvSpPr>
        <p:spPr>
          <a:xfrm>
            <a:off x="365760"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PUSH</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Away From You</a:t>
            </a:r>
            <a:endParaRPr lang="en-US" sz="1200" dirty="0"/>
          </a:p>
        </p:txBody>
      </p:sp>
      <p:sp>
        <p:nvSpPr>
          <p:cNvPr id="5" name="Text 3"/>
          <p:cNvSpPr/>
          <p:nvPr/>
        </p:nvSpPr>
        <p:spPr>
          <a:xfrm>
            <a:off x="457200"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Forces that move objects away.</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Examples: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Pressing a swing forward</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Kicking a soccer ball</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Pressing a doorbell</a:t>
            </a:r>
            <a:endParaRPr lang="en-US" sz="1100" dirty="0"/>
          </a:p>
        </p:txBody>
      </p:sp>
      <p:sp>
        <p:nvSpPr>
          <p:cNvPr id="6" name="Shape 4"/>
          <p:cNvSpPr/>
          <p:nvPr/>
        </p:nvSpPr>
        <p:spPr>
          <a:xfrm>
            <a:off x="3172968" y="621792"/>
            <a:ext cx="2807208" cy="4206240"/>
          </a:xfrm>
          <a:prstGeom prst="rect">
            <a:avLst/>
          </a:prstGeom>
          <a:solidFill>
            <a:srgbClr val="D6EAF8"/>
          </a:solidFill>
          <a:ln w="12700">
            <a:solidFill>
              <a:srgbClr val="D6EAF8"/>
            </a:solidFill>
            <a:prstDash val="solid"/>
          </a:ln>
        </p:spPr>
      </p:sp>
      <p:sp>
        <p:nvSpPr>
          <p:cNvPr id="7" name="Text 5"/>
          <p:cNvSpPr/>
          <p:nvPr/>
        </p:nvSpPr>
        <p:spPr>
          <a:xfrm>
            <a:off x="3172968"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PULL</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Toward You</a:t>
            </a:r>
            <a:endParaRPr lang="en-US" sz="1200" dirty="0"/>
          </a:p>
        </p:txBody>
      </p:sp>
      <p:sp>
        <p:nvSpPr>
          <p:cNvPr id="8" name="Text 6"/>
          <p:cNvSpPr/>
          <p:nvPr/>
        </p:nvSpPr>
        <p:spPr>
          <a:xfrm>
            <a:off x="3264408"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Forces that bring objects closer.</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Examples: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Pulling a sled with a rope</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Tugging a wagon up a hill</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Opening a drawer</a:t>
            </a:r>
            <a:endParaRPr lang="en-US" sz="1100" dirty="0"/>
          </a:p>
        </p:txBody>
      </p:sp>
      <p:sp>
        <p:nvSpPr>
          <p:cNvPr id="9" name="Shape 7"/>
          <p:cNvSpPr/>
          <p:nvPr/>
        </p:nvSpPr>
        <p:spPr>
          <a:xfrm>
            <a:off x="5980176" y="621792"/>
            <a:ext cx="2807208" cy="4206240"/>
          </a:xfrm>
          <a:prstGeom prst="rect">
            <a:avLst/>
          </a:prstGeom>
          <a:solidFill>
            <a:srgbClr val="D6EAF8"/>
          </a:solidFill>
          <a:ln w="12700">
            <a:solidFill>
              <a:srgbClr val="D6EAF8"/>
            </a:solidFill>
            <a:prstDash val="solid"/>
          </a:ln>
        </p:spPr>
      </p:sp>
      <p:sp>
        <p:nvSpPr>
          <p:cNvPr id="10" name="Text 8"/>
          <p:cNvSpPr/>
          <p:nvPr/>
        </p:nvSpPr>
        <p:spPr>
          <a:xfrm>
            <a:off x="5980176" y="658368"/>
            <a:ext cx="2807208" cy="347472"/>
          </a:xfrm>
          <a:prstGeom prst="rect">
            <a:avLst/>
          </a:prstGeom>
          <a:noFill/>
          <a:ln/>
        </p:spPr>
        <p:txBody>
          <a:bodyPr wrap="square" rtlCol="0" anchor="ctr"/>
          <a:lstStyle/>
          <a:p>
            <a:pPr algn="ctr" indent="0" marL="0">
              <a:buNone/>
            </a:pPr>
            <a:r>
              <a:rPr lang="en-US" sz="1200" b="1" dirty="0">
                <a:solidFill>
                  <a:srgbClr val="1A3A5C"/>
                </a:solidFill>
                <a:latin typeface="Calibri" pitchFamily="34" charset="0"/>
                <a:ea typeface="Calibri" pitchFamily="34" charset="-122"/>
                <a:cs typeface="Calibri" pitchFamily="34" charset="-120"/>
              </a:rPr>
              <a:t>GRAVITY</a:t>
            </a:r>
            <a:endParaRPr lang="en-US" sz="1200" dirty="0"/>
          </a:p>
          <a:p>
            <a:pPr algn="ctr" indent="0" marL="0">
              <a:buNone/>
            </a:pPr>
            <a:r>
              <a:rPr lang="en-US" sz="1200" b="1" dirty="0">
                <a:solidFill>
                  <a:srgbClr val="1A3A5C"/>
                </a:solidFill>
                <a:latin typeface="Calibri" pitchFamily="34" charset="0"/>
                <a:ea typeface="Calibri" pitchFamily="34" charset="-122"/>
                <a:cs typeface="Calibri" pitchFamily="34" charset="-120"/>
              </a:rPr>
              <a:t>No Contact Needed</a:t>
            </a:r>
            <a:endParaRPr lang="en-US" sz="1200" dirty="0"/>
          </a:p>
        </p:txBody>
      </p:sp>
      <p:sp>
        <p:nvSpPr>
          <p:cNvPr id="11" name="Text 9"/>
          <p:cNvSpPr/>
          <p:nvPr/>
        </p:nvSpPr>
        <p:spPr>
          <a:xfrm>
            <a:off x="6071616" y="1078992"/>
            <a:ext cx="2624328" cy="3566160"/>
          </a:xfrm>
          <a:prstGeom prst="rect">
            <a:avLst/>
          </a:prstGeom>
          <a:noFill/>
          <a:ln/>
        </p:spPr>
        <p:txBody>
          <a:bodyPr wrap="square" rtlCol="0" anchor="t"/>
          <a:lstStyle/>
          <a:p>
            <a:pPr algn="ctr" indent="0" marL="0">
              <a:buNone/>
            </a:pPr>
            <a:r>
              <a:rPr lang="en-US" sz="1100" dirty="0">
                <a:solidFill>
                  <a:srgbClr val="1A1A2E"/>
                </a:solidFill>
                <a:latin typeface="Calibri" pitchFamily="34" charset="0"/>
                <a:ea typeface="Calibri" pitchFamily="34" charset="-122"/>
                <a:cs typeface="Calibri" pitchFamily="34" charset="-120"/>
              </a:rPr>
              <a:t>Earth pulls everything downward without touching.</a:t>
            </a:r>
            <a:endParaRPr lang="en-US" sz="1100" dirty="0"/>
          </a:p>
          <a:p>
            <a:pPr algn="ctr" indent="0" marL="0">
              <a:buNone/>
            </a:pP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Examples:</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Leaf falling from tree</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Ball coming back down</a:t>
            </a:r>
            <a:endParaRPr lang="en-US" sz="1100" dirty="0"/>
          </a:p>
          <a:p>
            <a:pPr algn="ctr" indent="0" marL="0">
              <a:buNone/>
            </a:pPr>
            <a:r>
              <a:rPr lang="en-US" sz="1100" dirty="0">
                <a:solidFill>
                  <a:srgbClr val="1A1A2E"/>
                </a:solidFill>
                <a:latin typeface="Calibri" pitchFamily="34" charset="0"/>
                <a:ea typeface="Calibri" pitchFamily="34" charset="-122"/>
                <a:cs typeface="Calibri" pitchFamily="34" charset="-120"/>
              </a:rPr>
              <a:t>- Rain falling to ground</a:t>
            </a:r>
            <a:endParaRPr lang="en-US" sz="11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Diagram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A7A4B"/>
          </a:solidFill>
          <a:ln w="12700">
            <a:solidFill>
              <a:srgbClr val="2A7A4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Spot the Force -- Three Scenes</a:t>
            </a:r>
            <a:endParaRPr lang="en-US" sz="2000" dirty="0"/>
          </a:p>
        </p:txBody>
      </p:sp>
      <p:sp>
        <p:nvSpPr>
          <p:cNvPr id="5" name="Text 3"/>
          <p:cNvSpPr/>
          <p:nvPr/>
        </p:nvSpPr>
        <p:spPr>
          <a:xfrm>
            <a:off x="365760" y="1051560"/>
            <a:ext cx="8412480" cy="292608"/>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For each scene: identify the force as PUSH, PULL, or GRAVITY -- then note one clue you used.</a:t>
            </a:r>
            <a:endParaRPr lang="en-US" sz="1200" dirty="0"/>
          </a:p>
        </p:txBody>
      </p:sp>
      <p:sp>
        <p:nvSpPr>
          <p:cNvPr id="6" name="Shape 4"/>
          <p:cNvSpPr/>
          <p:nvPr/>
        </p:nvSpPr>
        <p:spPr>
          <a:xfrm>
            <a:off x="365760" y="1408176"/>
            <a:ext cx="8412480" cy="914400"/>
          </a:xfrm>
          <a:prstGeom prst="rect">
            <a:avLst/>
          </a:prstGeom>
          <a:solidFill>
            <a:srgbClr val="1E3A5C"/>
          </a:solidFill>
          <a:ln w="12700">
            <a:solidFill>
              <a:srgbClr val="1E3A5C"/>
            </a:solidFill>
            <a:prstDash val="solid"/>
          </a:ln>
        </p:spPr>
      </p:sp>
      <p:sp>
        <p:nvSpPr>
          <p:cNvPr id="7" name="Text 5"/>
          <p:cNvSpPr/>
          <p:nvPr/>
        </p:nvSpPr>
        <p:spPr>
          <a:xfrm>
            <a:off x="475488" y="1472184"/>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Scene A: A kid is on a swing. A parent steps behind and presses on the kid's back. The swing moves forward.</a:t>
            </a:r>
            <a:endParaRPr lang="en-US" sz="1300" dirty="0"/>
          </a:p>
        </p:txBody>
      </p:sp>
      <p:sp>
        <p:nvSpPr>
          <p:cNvPr id="8" name="Shape 6"/>
          <p:cNvSpPr/>
          <p:nvPr/>
        </p:nvSpPr>
        <p:spPr>
          <a:xfrm>
            <a:off x="365760" y="2432304"/>
            <a:ext cx="8412480" cy="914400"/>
          </a:xfrm>
          <a:prstGeom prst="rect">
            <a:avLst/>
          </a:prstGeom>
          <a:solidFill>
            <a:srgbClr val="1E3A5C"/>
          </a:solidFill>
          <a:ln w="12700">
            <a:solidFill>
              <a:srgbClr val="1E3A5C"/>
            </a:solidFill>
            <a:prstDash val="solid"/>
          </a:ln>
        </p:spPr>
      </p:sp>
      <p:sp>
        <p:nvSpPr>
          <p:cNvPr id="9" name="Text 7"/>
          <p:cNvSpPr/>
          <p:nvPr/>
        </p:nvSpPr>
        <p:spPr>
          <a:xfrm>
            <a:off x="475488" y="2496312"/>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Scene B: A book sits on a shelf. You knock it off the edge. It falls straight down to the floor. Nothing else touched it.</a:t>
            </a:r>
            <a:endParaRPr lang="en-US" sz="1300" dirty="0"/>
          </a:p>
        </p:txBody>
      </p:sp>
      <p:sp>
        <p:nvSpPr>
          <p:cNvPr id="10" name="Shape 8"/>
          <p:cNvSpPr/>
          <p:nvPr/>
        </p:nvSpPr>
        <p:spPr>
          <a:xfrm>
            <a:off x="365760" y="3456432"/>
            <a:ext cx="8412480" cy="914400"/>
          </a:xfrm>
          <a:prstGeom prst="rect">
            <a:avLst/>
          </a:prstGeom>
          <a:solidFill>
            <a:srgbClr val="1E3A5C"/>
          </a:solidFill>
          <a:ln w="12700">
            <a:solidFill>
              <a:srgbClr val="1E3A5C"/>
            </a:solidFill>
            <a:prstDash val="solid"/>
          </a:ln>
        </p:spPr>
      </p:sp>
      <p:sp>
        <p:nvSpPr>
          <p:cNvPr id="11" name="Text 9"/>
          <p:cNvSpPr/>
          <p:nvPr/>
        </p:nvSpPr>
        <p:spPr>
          <a:xfrm>
            <a:off x="475488" y="3520440"/>
            <a:ext cx="8193024" cy="7863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Scene C: A kid tugs on a wagon's handle. The wagon rolls behind them across the grass.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Investigate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1700" b="1" dirty="0">
                <a:solidFill>
                  <a:srgbClr val="1A3A5C"/>
                </a:solidFill>
                <a:latin typeface="Cambria" pitchFamily="34" charset="0"/>
                <a:ea typeface="Cambria" pitchFamily="34" charset="-122"/>
                <a:cs typeface="Cambria" pitchFamily="34" charset="-120"/>
              </a:rPr>
              <a:t>Data Table -- Copy Into Your Notebook</a:t>
            </a:r>
            <a:endParaRPr lang="en-US" sz="1700" dirty="0"/>
          </a:p>
        </p:txBody>
      </p:sp>
      <p:sp>
        <p:nvSpPr>
          <p:cNvPr id="3" name="Shape 1"/>
          <p:cNvSpPr/>
          <p:nvPr/>
        </p:nvSpPr>
        <p:spPr>
          <a:xfrm>
            <a:off x="365760" y="621792"/>
            <a:ext cx="2011680" cy="347472"/>
          </a:xfrm>
          <a:prstGeom prst="rect">
            <a:avLst/>
          </a:prstGeom>
          <a:solidFill>
            <a:srgbClr val="1A3A5C"/>
          </a:solidFill>
          <a:ln w="12700">
            <a:solidFill>
              <a:srgbClr val="1A3A5C"/>
            </a:solidFill>
            <a:prstDash val="solid"/>
          </a:ln>
        </p:spPr>
      </p:sp>
      <p:sp>
        <p:nvSpPr>
          <p:cNvPr id="4" name="Text 2"/>
          <p:cNvSpPr/>
          <p:nvPr/>
        </p:nvSpPr>
        <p:spPr>
          <a:xfrm>
            <a:off x="411480" y="621792"/>
            <a:ext cx="192024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Scene</a:t>
            </a:r>
            <a:endParaRPr lang="en-US" sz="1000" dirty="0"/>
          </a:p>
        </p:txBody>
      </p:sp>
      <p:sp>
        <p:nvSpPr>
          <p:cNvPr id="5" name="Shape 3"/>
          <p:cNvSpPr/>
          <p:nvPr/>
        </p:nvSpPr>
        <p:spPr>
          <a:xfrm>
            <a:off x="2377440" y="621792"/>
            <a:ext cx="1828800" cy="347472"/>
          </a:xfrm>
          <a:prstGeom prst="rect">
            <a:avLst/>
          </a:prstGeom>
          <a:solidFill>
            <a:srgbClr val="1A3A5C"/>
          </a:solidFill>
          <a:ln w="12700">
            <a:solidFill>
              <a:srgbClr val="1A3A5C"/>
            </a:solidFill>
            <a:prstDash val="solid"/>
          </a:ln>
        </p:spPr>
      </p:sp>
      <p:sp>
        <p:nvSpPr>
          <p:cNvPr id="6" name="Text 4"/>
          <p:cNvSpPr/>
          <p:nvPr/>
        </p:nvSpPr>
        <p:spPr>
          <a:xfrm>
            <a:off x="2423160" y="62179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Force (push/pull/gravity)</a:t>
            </a:r>
            <a:endParaRPr lang="en-US" sz="1000" dirty="0"/>
          </a:p>
        </p:txBody>
      </p:sp>
      <p:sp>
        <p:nvSpPr>
          <p:cNvPr id="7" name="Shape 5"/>
          <p:cNvSpPr/>
          <p:nvPr/>
        </p:nvSpPr>
        <p:spPr>
          <a:xfrm>
            <a:off x="4206240" y="621792"/>
            <a:ext cx="5120640" cy="347472"/>
          </a:xfrm>
          <a:prstGeom prst="rect">
            <a:avLst/>
          </a:prstGeom>
          <a:solidFill>
            <a:srgbClr val="1A3A5C"/>
          </a:solidFill>
          <a:ln w="12700">
            <a:solidFill>
              <a:srgbClr val="1A3A5C"/>
            </a:solidFill>
            <a:prstDash val="solid"/>
          </a:ln>
        </p:spPr>
      </p:sp>
      <p:sp>
        <p:nvSpPr>
          <p:cNvPr id="8" name="Text 6"/>
          <p:cNvSpPr/>
          <p:nvPr/>
        </p:nvSpPr>
        <p:spPr>
          <a:xfrm>
            <a:off x="4251960" y="621792"/>
            <a:ext cx="50292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clue helped?</a:t>
            </a:r>
            <a:endParaRPr lang="en-US" sz="1000" dirty="0"/>
          </a:p>
        </p:txBody>
      </p:sp>
      <p:sp>
        <p:nvSpPr>
          <p:cNvPr id="9" name="Shape 7"/>
          <p:cNvSpPr/>
          <p:nvPr/>
        </p:nvSpPr>
        <p:spPr>
          <a:xfrm>
            <a:off x="365760" y="1005840"/>
            <a:ext cx="2011680" cy="914400"/>
          </a:xfrm>
          <a:prstGeom prst="rect">
            <a:avLst/>
          </a:prstGeom>
          <a:solidFill>
            <a:srgbClr val="D6EAF8"/>
          </a:solidFill>
          <a:ln w="12700">
            <a:solidFill>
              <a:srgbClr val="BDD7EE"/>
            </a:solidFill>
            <a:prstDash val="solid"/>
          </a:ln>
        </p:spPr>
      </p:sp>
      <p:sp>
        <p:nvSpPr>
          <p:cNvPr id="10" name="Text 8"/>
          <p:cNvSpPr/>
          <p:nvPr/>
        </p:nvSpPr>
        <p:spPr>
          <a:xfrm>
            <a:off x="420624" y="10058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A. Swing being pushed</a:t>
            </a:r>
            <a:endParaRPr lang="en-US" sz="1000" dirty="0"/>
          </a:p>
        </p:txBody>
      </p:sp>
      <p:sp>
        <p:nvSpPr>
          <p:cNvPr id="11" name="Shape 9"/>
          <p:cNvSpPr/>
          <p:nvPr/>
        </p:nvSpPr>
        <p:spPr>
          <a:xfrm>
            <a:off x="2377440" y="1005840"/>
            <a:ext cx="1828800" cy="914400"/>
          </a:xfrm>
          <a:prstGeom prst="rect">
            <a:avLst/>
          </a:prstGeom>
          <a:solidFill>
            <a:srgbClr val="D6EAF8"/>
          </a:solidFill>
          <a:ln w="12700">
            <a:solidFill>
              <a:srgbClr val="BDD7EE"/>
            </a:solidFill>
            <a:prstDash val="solid"/>
          </a:ln>
        </p:spPr>
      </p:sp>
      <p:sp>
        <p:nvSpPr>
          <p:cNvPr id="12" name="Text 10"/>
          <p:cNvSpPr/>
          <p:nvPr/>
        </p:nvSpPr>
        <p:spPr>
          <a:xfrm>
            <a:off x="2432304" y="10058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PUSH</a:t>
            </a:r>
            <a:endParaRPr lang="en-US" sz="1000" dirty="0"/>
          </a:p>
        </p:txBody>
      </p:sp>
      <p:sp>
        <p:nvSpPr>
          <p:cNvPr id="13" name="Shape 11"/>
          <p:cNvSpPr/>
          <p:nvPr/>
        </p:nvSpPr>
        <p:spPr>
          <a:xfrm>
            <a:off x="4206240" y="1005840"/>
            <a:ext cx="5120640" cy="914400"/>
          </a:xfrm>
          <a:prstGeom prst="rect">
            <a:avLst/>
          </a:prstGeom>
          <a:solidFill>
            <a:srgbClr val="D6EAF8"/>
          </a:solidFill>
          <a:ln w="12700">
            <a:solidFill>
              <a:srgbClr val="BDD7EE"/>
            </a:solidFill>
            <a:prstDash val="solid"/>
          </a:ln>
        </p:spPr>
      </p:sp>
      <p:sp>
        <p:nvSpPr>
          <p:cNvPr id="14" name="Text 12"/>
          <p:cNvSpPr/>
          <p:nvPr/>
        </p:nvSpPr>
        <p:spPr>
          <a:xfrm>
            <a:off x="4261104" y="10058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Parent's hand is in contact with the back -- contact force pushing forward</a:t>
            </a:r>
            <a:endParaRPr lang="en-US" sz="1000" dirty="0"/>
          </a:p>
        </p:txBody>
      </p:sp>
      <p:sp>
        <p:nvSpPr>
          <p:cNvPr id="15" name="Shape 13"/>
          <p:cNvSpPr/>
          <p:nvPr/>
        </p:nvSpPr>
        <p:spPr>
          <a:xfrm>
            <a:off x="365760" y="1920240"/>
            <a:ext cx="2011680" cy="914400"/>
          </a:xfrm>
          <a:prstGeom prst="rect">
            <a:avLst/>
          </a:prstGeom>
          <a:solidFill>
            <a:srgbClr val="FFFFFF"/>
          </a:solidFill>
          <a:ln w="12700">
            <a:solidFill>
              <a:srgbClr val="BDD7EE"/>
            </a:solidFill>
            <a:prstDash val="solid"/>
          </a:ln>
        </p:spPr>
      </p:sp>
      <p:sp>
        <p:nvSpPr>
          <p:cNvPr id="16" name="Text 14"/>
          <p:cNvSpPr/>
          <p:nvPr/>
        </p:nvSpPr>
        <p:spPr>
          <a:xfrm>
            <a:off x="420624" y="19202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B. Book falling off shelf</a:t>
            </a:r>
            <a:endParaRPr lang="en-US" sz="1000" dirty="0"/>
          </a:p>
        </p:txBody>
      </p:sp>
      <p:sp>
        <p:nvSpPr>
          <p:cNvPr id="17" name="Shape 15"/>
          <p:cNvSpPr/>
          <p:nvPr/>
        </p:nvSpPr>
        <p:spPr>
          <a:xfrm>
            <a:off x="2377440" y="1920240"/>
            <a:ext cx="1828800" cy="914400"/>
          </a:xfrm>
          <a:prstGeom prst="rect">
            <a:avLst/>
          </a:prstGeom>
          <a:solidFill>
            <a:srgbClr val="FFFFFF"/>
          </a:solidFill>
          <a:ln w="12700">
            <a:solidFill>
              <a:srgbClr val="BDD7EE"/>
            </a:solidFill>
            <a:prstDash val="solid"/>
          </a:ln>
        </p:spPr>
      </p:sp>
      <p:sp>
        <p:nvSpPr>
          <p:cNvPr id="18" name="Text 16"/>
          <p:cNvSpPr/>
          <p:nvPr/>
        </p:nvSpPr>
        <p:spPr>
          <a:xfrm>
            <a:off x="2432304" y="19202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GRAVITY</a:t>
            </a:r>
            <a:endParaRPr lang="en-US" sz="1000" dirty="0"/>
          </a:p>
        </p:txBody>
      </p:sp>
      <p:sp>
        <p:nvSpPr>
          <p:cNvPr id="19" name="Shape 17"/>
          <p:cNvSpPr/>
          <p:nvPr/>
        </p:nvSpPr>
        <p:spPr>
          <a:xfrm>
            <a:off x="4206240" y="1920240"/>
            <a:ext cx="5120640" cy="914400"/>
          </a:xfrm>
          <a:prstGeom prst="rect">
            <a:avLst/>
          </a:prstGeom>
          <a:solidFill>
            <a:srgbClr val="FFFFFF"/>
          </a:solidFill>
          <a:ln w="12700">
            <a:solidFill>
              <a:srgbClr val="BDD7EE"/>
            </a:solidFill>
            <a:prstDash val="solid"/>
          </a:ln>
        </p:spPr>
      </p:sp>
      <p:sp>
        <p:nvSpPr>
          <p:cNvPr id="20" name="Text 18"/>
          <p:cNvSpPr/>
          <p:nvPr/>
        </p:nvSpPr>
        <p:spPr>
          <a:xfrm>
            <a:off x="4261104" y="19202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Nothing touched the book after it fell -- no contact, but it still fell DOWN</a:t>
            </a:r>
            <a:endParaRPr lang="en-US" sz="1000" dirty="0"/>
          </a:p>
        </p:txBody>
      </p:sp>
      <p:sp>
        <p:nvSpPr>
          <p:cNvPr id="21" name="Shape 19"/>
          <p:cNvSpPr/>
          <p:nvPr/>
        </p:nvSpPr>
        <p:spPr>
          <a:xfrm>
            <a:off x="365760" y="2834640"/>
            <a:ext cx="2011680" cy="914400"/>
          </a:xfrm>
          <a:prstGeom prst="rect">
            <a:avLst/>
          </a:prstGeom>
          <a:solidFill>
            <a:srgbClr val="D6EAF8"/>
          </a:solidFill>
          <a:ln w="12700">
            <a:solidFill>
              <a:srgbClr val="BDD7EE"/>
            </a:solidFill>
            <a:prstDash val="solid"/>
          </a:ln>
        </p:spPr>
      </p:sp>
      <p:sp>
        <p:nvSpPr>
          <p:cNvPr id="22" name="Text 20"/>
          <p:cNvSpPr/>
          <p:nvPr/>
        </p:nvSpPr>
        <p:spPr>
          <a:xfrm>
            <a:off x="420624" y="2834640"/>
            <a:ext cx="190195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C. Kid pulling a wagon</a:t>
            </a:r>
            <a:endParaRPr lang="en-US" sz="1000" dirty="0"/>
          </a:p>
        </p:txBody>
      </p:sp>
      <p:sp>
        <p:nvSpPr>
          <p:cNvPr id="23" name="Shape 21"/>
          <p:cNvSpPr/>
          <p:nvPr/>
        </p:nvSpPr>
        <p:spPr>
          <a:xfrm>
            <a:off x="2377440" y="2834640"/>
            <a:ext cx="1828800" cy="914400"/>
          </a:xfrm>
          <a:prstGeom prst="rect">
            <a:avLst/>
          </a:prstGeom>
          <a:solidFill>
            <a:srgbClr val="D6EAF8"/>
          </a:solidFill>
          <a:ln w="12700">
            <a:solidFill>
              <a:srgbClr val="BDD7EE"/>
            </a:solidFill>
            <a:prstDash val="solid"/>
          </a:ln>
        </p:spPr>
      </p:sp>
      <p:sp>
        <p:nvSpPr>
          <p:cNvPr id="24" name="Text 22"/>
          <p:cNvSpPr/>
          <p:nvPr/>
        </p:nvSpPr>
        <p:spPr>
          <a:xfrm>
            <a:off x="2432304" y="2834640"/>
            <a:ext cx="171907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PULL</a:t>
            </a:r>
            <a:endParaRPr lang="en-US" sz="1000" dirty="0"/>
          </a:p>
        </p:txBody>
      </p:sp>
      <p:sp>
        <p:nvSpPr>
          <p:cNvPr id="25" name="Shape 23"/>
          <p:cNvSpPr/>
          <p:nvPr/>
        </p:nvSpPr>
        <p:spPr>
          <a:xfrm>
            <a:off x="4206240" y="2834640"/>
            <a:ext cx="5120640" cy="914400"/>
          </a:xfrm>
          <a:prstGeom prst="rect">
            <a:avLst/>
          </a:prstGeom>
          <a:solidFill>
            <a:srgbClr val="D6EAF8"/>
          </a:solidFill>
          <a:ln w="12700">
            <a:solidFill>
              <a:srgbClr val="BDD7EE"/>
            </a:solidFill>
            <a:prstDash val="solid"/>
          </a:ln>
        </p:spPr>
      </p:sp>
      <p:sp>
        <p:nvSpPr>
          <p:cNvPr id="26" name="Text 24"/>
          <p:cNvSpPr/>
          <p:nvPr/>
        </p:nvSpPr>
        <p:spPr>
          <a:xfrm>
            <a:off x="4261104" y="2834640"/>
            <a:ext cx="5010912" cy="914400"/>
          </a:xfrm>
          <a:prstGeom prst="rect">
            <a:avLst/>
          </a:prstGeom>
          <a:noFill/>
          <a:ln/>
        </p:spPr>
        <p:txBody>
          <a:bodyPr wrap="square" rtlCol="0" anchor="ctr"/>
          <a:lstStyle/>
          <a:p>
            <a:pPr algn="l" indent="0" marL="0">
              <a:buNone/>
            </a:pPr>
            <a:r>
              <a:rPr lang="en-US" sz="1000" dirty="0">
                <a:solidFill>
                  <a:srgbClr val="1A1A2E"/>
                </a:solidFill>
                <a:latin typeface="Calibri" pitchFamily="34" charset="0"/>
                <a:ea typeface="Calibri" pitchFamily="34" charset="-122"/>
                <a:cs typeface="Calibri" pitchFamily="34" charset="-120"/>
              </a:rPr>
              <a:t>The kid is pulling the handle -- contact force bringing wagon closer</a:t>
            </a:r>
            <a:endParaRPr lang="en-US" sz="1000" dirty="0"/>
          </a:p>
        </p:txBody>
      </p:sp>
      <p:sp>
        <p:nvSpPr>
          <p:cNvPr id="27" name="Shape 25"/>
          <p:cNvSpPr/>
          <p:nvPr/>
        </p:nvSpPr>
        <p:spPr>
          <a:xfrm>
            <a:off x="0" y="4896612"/>
            <a:ext cx="9144000" cy="246888"/>
          </a:xfrm>
          <a:prstGeom prst="rect">
            <a:avLst/>
          </a:prstGeom>
          <a:solidFill>
            <a:srgbClr val="F6C90E"/>
          </a:solidFill>
          <a:ln w="12700">
            <a:solidFill>
              <a:srgbClr val="F6C90E"/>
            </a:solidFill>
            <a:prstDash val="solid"/>
          </a:ln>
        </p:spPr>
      </p:sp>
      <p:sp>
        <p:nvSpPr>
          <p:cNvPr id="28" name="Text 26"/>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Data Table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rtlCol="0" anchor="ctr"/>
          <a:lstStyle/>
          <a:p>
            <a:pPr algn="l" indent="0" marL="0">
              <a:buNone/>
            </a:pPr>
            <a:r>
              <a:rPr lang="en-US" sz="2000" b="1" dirty="0">
                <a:solidFill>
                  <a:srgbClr val="1A3A5C"/>
                </a:solidFill>
                <a:latin typeface="Cambria" pitchFamily="34" charset="0"/>
                <a:ea typeface="Cambria" pitchFamily="34" charset="-122"/>
                <a:cs typeface="Cambria" pitchFamily="34" charset="-120"/>
              </a:rPr>
              <a:t>Record Your Thinking</a:t>
            </a:r>
            <a:endParaRPr lang="en-US" sz="2000" dirty="0"/>
          </a:p>
        </p:txBody>
      </p:sp>
      <p:sp>
        <p:nvSpPr>
          <p:cNvPr id="3" name="Text 1"/>
          <p:cNvSpPr/>
          <p:nvPr/>
        </p:nvSpPr>
        <p:spPr>
          <a:xfrm>
            <a:off x="365760" y="566928"/>
            <a:ext cx="8412480" cy="274320"/>
          </a:xfrm>
          <a:prstGeom prst="rect">
            <a:avLst/>
          </a:prstGeom>
          <a:noFill/>
          <a:ln/>
        </p:spPr>
        <p:txBody>
          <a:bodyPr wrap="square" rtlCol="0" anchor="ctr"/>
          <a:lstStyle/>
          <a:p>
            <a:pPr algn="l" indent="0" marL="0">
              <a:buNone/>
            </a:pPr>
            <a:r>
              <a:rPr lang="en-US" sz="1200" dirty="0">
                <a:solidFill>
                  <a:srgbClr val="2C4A6E"/>
                </a:solidFill>
                <a:latin typeface="Calibri" pitchFamily="34" charset="0"/>
                <a:ea typeface="Calibri" pitchFamily="34" charset="-122"/>
                <a:cs typeface="Calibri" pitchFamily="34" charset="-120"/>
              </a:rPr>
              <a:t>Answer in complete sentences. Use vocabulary words.</a:t>
            </a:r>
            <a:endParaRPr lang="en-US" sz="1200" dirty="0"/>
          </a:p>
        </p:txBody>
      </p:sp>
      <p:sp>
        <p:nvSpPr>
          <p:cNvPr id="4" name="Shape 2"/>
          <p:cNvSpPr/>
          <p:nvPr/>
        </p:nvSpPr>
        <p:spPr>
          <a:xfrm>
            <a:off x="365760" y="914400"/>
            <a:ext cx="292608" cy="292608"/>
          </a:xfrm>
          <a:prstGeom prst="rect">
            <a:avLst/>
          </a:prstGeom>
          <a:solidFill>
            <a:srgbClr val="0E7C7B"/>
          </a:solidFill>
          <a:ln w="12700">
            <a:solidFill>
              <a:srgbClr val="0E7C7B"/>
            </a:solidFill>
            <a:prstDash val="solid"/>
          </a:ln>
        </p:spPr>
      </p:sp>
      <p:sp>
        <p:nvSpPr>
          <p:cNvPr id="5" name="Text 3"/>
          <p:cNvSpPr/>
          <p:nvPr/>
        </p:nvSpPr>
        <p:spPr>
          <a:xfrm>
            <a:off x="365760" y="9144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768096" y="914400"/>
            <a:ext cx="8010144" cy="1207008"/>
          </a:xfrm>
          <a:prstGeom prst="rect">
            <a:avLst/>
          </a:prstGeom>
          <a:solidFill>
            <a:srgbClr val="D6EAF8"/>
          </a:solidFill>
          <a:ln w="12700">
            <a:solidFill>
              <a:srgbClr val="D6EAF8"/>
            </a:solidFill>
            <a:prstDash val="solid"/>
          </a:ln>
        </p:spPr>
      </p:sp>
      <p:sp>
        <p:nvSpPr>
          <p:cNvPr id="7" name="Text 5"/>
          <p:cNvSpPr/>
          <p:nvPr/>
        </p:nvSpPr>
        <p:spPr>
          <a:xfrm>
            <a:off x="877824" y="9784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Scene A (swing), what force is causing the swing to move? Is it a contact force? How can you tell?</a:t>
            </a:r>
            <a:endParaRPr lang="en-US" sz="1200" dirty="0"/>
          </a:p>
        </p:txBody>
      </p:sp>
      <p:sp>
        <p:nvSpPr>
          <p:cNvPr id="8" name="Shape 6"/>
          <p:cNvSpPr/>
          <p:nvPr/>
        </p:nvSpPr>
        <p:spPr>
          <a:xfrm>
            <a:off x="365760" y="2286000"/>
            <a:ext cx="292608" cy="292608"/>
          </a:xfrm>
          <a:prstGeom prst="rect">
            <a:avLst/>
          </a:prstGeom>
          <a:solidFill>
            <a:srgbClr val="0E7C7B"/>
          </a:solidFill>
          <a:ln w="12700">
            <a:solidFill>
              <a:srgbClr val="0E7C7B"/>
            </a:solidFill>
            <a:prstDash val="solid"/>
          </a:ln>
        </p:spPr>
      </p:sp>
      <p:sp>
        <p:nvSpPr>
          <p:cNvPr id="9" name="Text 7"/>
          <p:cNvSpPr/>
          <p:nvPr/>
        </p:nvSpPr>
        <p:spPr>
          <a:xfrm>
            <a:off x="365760" y="2286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768096" y="2286000"/>
            <a:ext cx="8010144" cy="1207008"/>
          </a:xfrm>
          <a:prstGeom prst="rect">
            <a:avLst/>
          </a:prstGeom>
          <a:solidFill>
            <a:srgbClr val="D6EAF8"/>
          </a:solidFill>
          <a:ln w="12700">
            <a:solidFill>
              <a:srgbClr val="D6EAF8"/>
            </a:solidFill>
            <a:prstDash val="solid"/>
          </a:ln>
        </p:spPr>
      </p:sp>
      <p:sp>
        <p:nvSpPr>
          <p:cNvPr id="11" name="Text 9"/>
          <p:cNvSpPr/>
          <p:nvPr/>
        </p:nvSpPr>
        <p:spPr>
          <a:xfrm>
            <a:off x="877824" y="23500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Scene B (falling book), what force is causing the book to fall? Use the word gravity and explain why it does not need contact.</a:t>
            </a:r>
            <a:endParaRPr lang="en-US" sz="1200" dirty="0"/>
          </a:p>
        </p:txBody>
      </p:sp>
      <p:sp>
        <p:nvSpPr>
          <p:cNvPr id="12" name="Shape 10"/>
          <p:cNvSpPr/>
          <p:nvPr/>
        </p:nvSpPr>
        <p:spPr>
          <a:xfrm>
            <a:off x="365760" y="3657600"/>
            <a:ext cx="292608" cy="292608"/>
          </a:xfrm>
          <a:prstGeom prst="rect">
            <a:avLst/>
          </a:prstGeom>
          <a:solidFill>
            <a:srgbClr val="0E7C7B"/>
          </a:solidFill>
          <a:ln w="12700">
            <a:solidFill>
              <a:srgbClr val="0E7C7B"/>
            </a:solidFill>
            <a:prstDash val="solid"/>
          </a:ln>
        </p:spPr>
      </p:sp>
      <p:sp>
        <p:nvSpPr>
          <p:cNvPr id="13" name="Text 11"/>
          <p:cNvSpPr/>
          <p:nvPr/>
        </p:nvSpPr>
        <p:spPr>
          <a:xfrm>
            <a:off x="365760"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768096" y="3657600"/>
            <a:ext cx="8010144" cy="1207008"/>
          </a:xfrm>
          <a:prstGeom prst="rect">
            <a:avLst/>
          </a:prstGeom>
          <a:solidFill>
            <a:srgbClr val="D6EAF8"/>
          </a:solidFill>
          <a:ln w="12700">
            <a:solidFill>
              <a:srgbClr val="D6EAF8"/>
            </a:solidFill>
            <a:prstDash val="solid"/>
          </a:ln>
        </p:spPr>
      </p:sp>
      <p:sp>
        <p:nvSpPr>
          <p:cNvPr id="15" name="Text 13"/>
          <p:cNvSpPr/>
          <p:nvPr/>
        </p:nvSpPr>
        <p:spPr>
          <a:xfrm>
            <a:off x="877824" y="3721608"/>
            <a:ext cx="7790688" cy="1078992"/>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For Scene C (wagon), is the kid pushing or pulling? How do you know? What would happen if they let go?</a:t>
            </a:r>
            <a:endParaRPr lang="en-US" sz="12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Record Your Thinking</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2E86AB"/>
          </a:solidFill>
          <a:ln w="12700">
            <a:solidFill>
              <a:srgbClr val="2E86AB"/>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Defend Your Thinking with Evidence</a:t>
            </a:r>
            <a:endParaRPr lang="en-US" sz="2000" dirty="0"/>
          </a:p>
        </p:txBody>
      </p:sp>
      <p:sp>
        <p:nvSpPr>
          <p:cNvPr id="5" name="Shape 3"/>
          <p:cNvSpPr/>
          <p:nvPr/>
        </p:nvSpPr>
        <p:spPr>
          <a:xfrm>
            <a:off x="365760" y="1051560"/>
            <a:ext cx="8412480" cy="1051560"/>
          </a:xfrm>
          <a:prstGeom prst="rect">
            <a:avLst/>
          </a:prstGeom>
          <a:solidFill>
            <a:srgbClr val="1E3A5C"/>
          </a:solidFill>
          <a:ln w="12700">
            <a:solidFill>
              <a:srgbClr val="1E3A5C"/>
            </a:solidFill>
            <a:prstDash val="solid"/>
          </a:ln>
        </p:spPr>
      </p:sp>
      <p:sp>
        <p:nvSpPr>
          <p:cNvPr id="6" name="Text 4"/>
          <p:cNvSpPr/>
          <p:nvPr/>
        </p:nvSpPr>
        <p:spPr>
          <a:xfrm>
            <a:off x="475488" y="1115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classmate says: when a ball is sitting still on the grass, no forces are acting on it. Do you agree? What about gravity?"</a:t>
            </a:r>
            <a:endParaRPr lang="en-US" sz="1300" dirty="0"/>
          </a:p>
        </p:txBody>
      </p:sp>
      <p:sp>
        <p:nvSpPr>
          <p:cNvPr id="7" name="Shape 5"/>
          <p:cNvSpPr/>
          <p:nvPr/>
        </p:nvSpPr>
        <p:spPr>
          <a:xfrm>
            <a:off x="365760" y="2194560"/>
            <a:ext cx="8412480" cy="1051560"/>
          </a:xfrm>
          <a:prstGeom prst="rect">
            <a:avLst/>
          </a:prstGeom>
          <a:solidFill>
            <a:srgbClr val="1E3A5C"/>
          </a:solidFill>
          <a:ln w="12700">
            <a:solidFill>
              <a:srgbClr val="1E3A5C"/>
            </a:solidFill>
            <a:prstDash val="solid"/>
          </a:ln>
        </p:spPr>
      </p:sp>
      <p:sp>
        <p:nvSpPr>
          <p:cNvPr id="8" name="Text 6"/>
          <p:cNvSpPr/>
          <p:nvPr/>
        </p:nvSpPr>
        <p:spPr>
          <a:xfrm>
            <a:off x="475488" y="2258568"/>
            <a:ext cx="8193024" cy="92354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"If gravity suddenly turned off for 10 seconds, what would happen in the room you are sitting in right now?"</a:t>
            </a:r>
            <a:endParaRPr lang="en-US" sz="1300" dirty="0"/>
          </a:p>
        </p:txBody>
      </p:sp>
      <p:sp>
        <p:nvSpPr>
          <p:cNvPr id="9" name="Text 7"/>
          <p:cNvSpPr/>
          <p:nvPr/>
        </p:nvSpPr>
        <p:spPr>
          <a:xfrm>
            <a:off x="365760" y="338328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Sentence Starters:</a:t>
            </a:r>
            <a:endParaRPr lang="en-US" sz="1200" dirty="0"/>
          </a:p>
        </p:txBody>
      </p:sp>
      <p:sp>
        <p:nvSpPr>
          <p:cNvPr id="10" name="Shape 8"/>
          <p:cNvSpPr/>
          <p:nvPr/>
        </p:nvSpPr>
        <p:spPr>
          <a:xfrm>
            <a:off x="365760" y="3712464"/>
            <a:ext cx="4114800" cy="640080"/>
          </a:xfrm>
          <a:prstGeom prst="rect">
            <a:avLst/>
          </a:prstGeom>
          <a:solidFill>
            <a:srgbClr val="1A3A5C"/>
          </a:solidFill>
          <a:ln w="12700">
            <a:solidFill>
              <a:srgbClr val="1A3A5C"/>
            </a:solidFill>
            <a:prstDash val="solid"/>
          </a:ln>
        </p:spPr>
      </p:sp>
      <p:sp>
        <p:nvSpPr>
          <p:cNvPr id="11" name="Text 9"/>
          <p:cNvSpPr/>
          <p:nvPr/>
        </p:nvSpPr>
        <p:spPr>
          <a:xfrm>
            <a:off x="47548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 disagree because gravity is always acting on objects, even when they are sitting still, which means..."</a:t>
            </a:r>
            <a:endParaRPr lang="en-US" sz="1100" dirty="0"/>
          </a:p>
        </p:txBody>
      </p:sp>
      <p:sp>
        <p:nvSpPr>
          <p:cNvPr id="12" name="Shape 10"/>
          <p:cNvSpPr/>
          <p:nvPr/>
        </p:nvSpPr>
        <p:spPr>
          <a:xfrm>
            <a:off x="4663440" y="3712464"/>
            <a:ext cx="4114800" cy="640080"/>
          </a:xfrm>
          <a:prstGeom prst="rect">
            <a:avLst/>
          </a:prstGeom>
          <a:solidFill>
            <a:srgbClr val="1A3A5C"/>
          </a:solidFill>
          <a:ln w="12700">
            <a:solidFill>
              <a:srgbClr val="1A3A5C"/>
            </a:solidFill>
            <a:prstDash val="solid"/>
          </a:ln>
        </p:spPr>
      </p:sp>
      <p:sp>
        <p:nvSpPr>
          <p:cNvPr id="13" name="Text 11"/>
          <p:cNvSpPr/>
          <p:nvPr/>
        </p:nvSpPr>
        <p:spPr>
          <a:xfrm>
            <a:off x="4773168" y="3776472"/>
            <a:ext cx="3895344" cy="512064"/>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"If gravity turned off, everything not supported would..."</a:t>
            </a:r>
            <a:endParaRPr lang="en-US" sz="1100" dirty="0"/>
          </a:p>
        </p:txBody>
      </p:sp>
      <p:sp>
        <p:nvSpPr>
          <p:cNvPr id="14" name="Shape 12"/>
          <p:cNvSpPr/>
          <p:nvPr/>
        </p:nvSpPr>
        <p:spPr>
          <a:xfrm>
            <a:off x="0" y="4896612"/>
            <a:ext cx="9144000" cy="246888"/>
          </a:xfrm>
          <a:prstGeom prst="rect">
            <a:avLst/>
          </a:prstGeom>
          <a:solidFill>
            <a:srgbClr val="F6C90E"/>
          </a:solidFill>
          <a:ln w="12700">
            <a:solidFill>
              <a:srgbClr val="F6C90E"/>
            </a:solidFill>
            <a:prstDash val="solid"/>
          </a:ln>
        </p:spPr>
      </p:sp>
      <p:sp>
        <p:nvSpPr>
          <p:cNvPr id="15" name="Text 13"/>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Discuss &amp; Defend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Claim  |  Evidence  |  Reasoning</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Aim for 4-6 sentences total. Use 2+ lesson vocab words.</a:t>
            </a:r>
            <a:endParaRPr lang="en-US" sz="1200" dirty="0"/>
          </a:p>
        </p:txBody>
      </p:sp>
      <p:sp>
        <p:nvSpPr>
          <p:cNvPr id="6" name="Shape 4"/>
          <p:cNvSpPr/>
          <p:nvPr/>
        </p:nvSpPr>
        <p:spPr>
          <a:xfrm>
            <a:off x="365760" y="1389888"/>
            <a:ext cx="8412480" cy="877824"/>
          </a:xfrm>
          <a:prstGeom prst="rect">
            <a:avLst/>
          </a:prstGeom>
          <a:solidFill>
            <a:srgbClr val="2E86AB"/>
          </a:solidFill>
          <a:ln w="12700">
            <a:solidFill>
              <a:srgbClr val="2E86AB"/>
            </a:solidFill>
            <a:prstDash val="solid"/>
          </a:ln>
        </p:spPr>
      </p:sp>
      <p:sp>
        <p:nvSpPr>
          <p:cNvPr id="7" name="Text 5"/>
          <p:cNvSpPr/>
          <p:nvPr/>
        </p:nvSpPr>
        <p:spPr>
          <a:xfrm>
            <a:off x="475488" y="1453896"/>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CLAIM -- Which scene shows gravity? Write one clear sentence. No starter.</a:t>
            </a:r>
            <a:endParaRPr lang="en-US" sz="1300" dirty="0"/>
          </a:p>
        </p:txBody>
      </p:sp>
      <p:sp>
        <p:nvSpPr>
          <p:cNvPr id="8" name="Shape 6"/>
          <p:cNvSpPr/>
          <p:nvPr/>
        </p:nvSpPr>
        <p:spPr>
          <a:xfrm>
            <a:off x="365760" y="2340864"/>
            <a:ext cx="8412480" cy="877824"/>
          </a:xfrm>
          <a:prstGeom prst="rect">
            <a:avLst/>
          </a:prstGeom>
          <a:solidFill>
            <a:srgbClr val="2A7A4B"/>
          </a:solidFill>
          <a:ln w="12700">
            <a:solidFill>
              <a:srgbClr val="2A7A4B"/>
            </a:solidFill>
            <a:prstDash val="solid"/>
          </a:ln>
        </p:spPr>
      </p:sp>
      <p:sp>
        <p:nvSpPr>
          <p:cNvPr id="9" name="Text 7"/>
          <p:cNvSpPr/>
          <p:nvPr/>
        </p:nvSpPr>
        <p:spPr>
          <a:xfrm>
            <a:off x="475488" y="2404872"/>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EVIDENCE -- What clues helped you identify each force? At least two pieces from your scenes.</a:t>
            </a:r>
            <a:endParaRPr lang="en-US" sz="1300" dirty="0"/>
          </a:p>
        </p:txBody>
      </p:sp>
      <p:sp>
        <p:nvSpPr>
          <p:cNvPr id="10" name="Shape 8"/>
          <p:cNvSpPr/>
          <p:nvPr/>
        </p:nvSpPr>
        <p:spPr>
          <a:xfrm>
            <a:off x="365760" y="3291840"/>
            <a:ext cx="8412480" cy="877824"/>
          </a:xfrm>
          <a:prstGeom prst="rect">
            <a:avLst/>
          </a:prstGeom>
          <a:solidFill>
            <a:srgbClr val="0E7C7B"/>
          </a:solidFill>
          <a:ln w="12700">
            <a:solidFill>
              <a:srgbClr val="0E7C7B"/>
            </a:solidFill>
            <a:prstDash val="solid"/>
          </a:ln>
        </p:spPr>
      </p:sp>
      <p:sp>
        <p:nvSpPr>
          <p:cNvPr id="11" name="Text 9"/>
          <p:cNvSpPr/>
          <p:nvPr/>
        </p:nvSpPr>
        <p:spPr>
          <a:xfrm>
            <a:off x="475488" y="3355848"/>
            <a:ext cx="8193024" cy="74980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REASONING -- Why does this fit what we know?</a:t>
            </a: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Starter: "This makes sense because gravity always pulls without touching, which means..."</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CER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Q1</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What is a force?</a:t>
            </a:r>
            <a:endParaRPr lang="en-US" sz="1800" dirty="0"/>
          </a:p>
        </p:txBody>
      </p:sp>
      <p:sp>
        <p:nvSpPr>
          <p:cNvPr id="5" name="Shape 3"/>
          <p:cNvSpPr/>
          <p:nvPr/>
        </p:nvSpPr>
        <p:spPr>
          <a:xfrm>
            <a:off x="365760" y="1298448"/>
            <a:ext cx="8412480" cy="694944"/>
          </a:xfrm>
          <a:prstGeom prst="rect">
            <a:avLst/>
          </a:prstGeom>
          <a:solidFill>
            <a:srgbClr val="1E3A5C"/>
          </a:solidFill>
          <a:ln w="12700">
            <a:solidFill>
              <a:srgbClr val="1E3A5C"/>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A kind of energy</a:t>
            </a:r>
            <a:endParaRPr lang="en-US" sz="1300" dirty="0"/>
          </a:p>
        </p:txBody>
      </p:sp>
      <p:sp>
        <p:nvSpPr>
          <p:cNvPr id="7" name="Shape 5"/>
          <p:cNvSpPr/>
          <p:nvPr/>
        </p:nvSpPr>
        <p:spPr>
          <a:xfrm>
            <a:off x="365760" y="2066544"/>
            <a:ext cx="8412480" cy="694944"/>
          </a:xfrm>
          <a:prstGeom prst="rect">
            <a:avLst/>
          </a:prstGeom>
          <a:solidFill>
            <a:srgbClr val="2A7A4B"/>
          </a:solidFill>
          <a:ln w="12700">
            <a:solidFill>
              <a:srgbClr val="2A7A4B"/>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B.  A push or a pull     CORRECT</a:t>
            </a:r>
            <a:endParaRPr lang="en-US" sz="1300" dirty="0"/>
          </a:p>
        </p:txBody>
      </p:sp>
      <p:sp>
        <p:nvSpPr>
          <p:cNvPr id="9" name="Shape 7"/>
          <p:cNvSpPr/>
          <p:nvPr/>
        </p:nvSpPr>
        <p:spPr>
          <a:xfrm>
            <a:off x="365760" y="2834640"/>
            <a:ext cx="8412480" cy="694944"/>
          </a:xfrm>
          <a:prstGeom prst="rect">
            <a:avLst/>
          </a:prstGeom>
          <a:solidFill>
            <a:srgbClr val="1E3A5C"/>
          </a:solidFill>
          <a:ln w="12700">
            <a:solidFill>
              <a:srgbClr val="1E3A5C"/>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  The motion of an object</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A force is a push or a pull. Forces cause objects to start, stop, or change direction. Energy and motion are related to forces but they are not the definition.</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Self-Check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  Q2</a:t>
            </a:r>
            <a:endParaRPr lang="en-US" sz="1000" dirty="0"/>
          </a:p>
        </p:txBody>
      </p:sp>
      <p:sp>
        <p:nvSpPr>
          <p:cNvPr id="4" name="Text 2"/>
          <p:cNvSpPr/>
          <p:nvPr/>
        </p:nvSpPr>
        <p:spPr>
          <a:xfrm>
            <a:off x="365760" y="566928"/>
            <a:ext cx="8412480" cy="621792"/>
          </a:xfrm>
          <a:prstGeom prst="rect">
            <a:avLst/>
          </a:prstGeom>
          <a:noFill/>
          <a:ln/>
        </p:spPr>
        <p:txBody>
          <a:bodyPr wrap="square"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A leaf falls from a tree. What force is making it fall?</a:t>
            </a:r>
            <a:endParaRPr lang="en-US" sz="1800" dirty="0"/>
          </a:p>
        </p:txBody>
      </p:sp>
      <p:sp>
        <p:nvSpPr>
          <p:cNvPr id="5" name="Shape 3"/>
          <p:cNvSpPr/>
          <p:nvPr/>
        </p:nvSpPr>
        <p:spPr>
          <a:xfrm>
            <a:off x="365760" y="1298448"/>
            <a:ext cx="8412480" cy="694944"/>
          </a:xfrm>
          <a:prstGeom prst="rect">
            <a:avLst/>
          </a:prstGeom>
          <a:solidFill>
            <a:srgbClr val="1E3A5C"/>
          </a:solidFill>
          <a:ln w="12700">
            <a:solidFill>
              <a:srgbClr val="1E3A5C"/>
            </a:solidFill>
            <a:prstDash val="solid"/>
          </a:ln>
        </p:spPr>
      </p:sp>
      <p:sp>
        <p:nvSpPr>
          <p:cNvPr id="6" name="Text 4"/>
          <p:cNvSpPr/>
          <p:nvPr/>
        </p:nvSpPr>
        <p:spPr>
          <a:xfrm>
            <a:off x="475488" y="1362456"/>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  A push from the tree</a:t>
            </a:r>
            <a:endParaRPr lang="en-US" sz="1300" dirty="0"/>
          </a:p>
        </p:txBody>
      </p:sp>
      <p:sp>
        <p:nvSpPr>
          <p:cNvPr id="7" name="Shape 5"/>
          <p:cNvSpPr/>
          <p:nvPr/>
        </p:nvSpPr>
        <p:spPr>
          <a:xfrm>
            <a:off x="365760" y="2066544"/>
            <a:ext cx="8412480" cy="694944"/>
          </a:xfrm>
          <a:prstGeom prst="rect">
            <a:avLst/>
          </a:prstGeom>
          <a:solidFill>
            <a:srgbClr val="1E3A5C"/>
          </a:solidFill>
          <a:ln w="12700">
            <a:solidFill>
              <a:srgbClr val="1E3A5C"/>
            </a:solidFill>
            <a:prstDash val="solid"/>
          </a:ln>
        </p:spPr>
      </p:sp>
      <p:sp>
        <p:nvSpPr>
          <p:cNvPr id="8" name="Text 6"/>
          <p:cNvSpPr/>
          <p:nvPr/>
        </p:nvSpPr>
        <p:spPr>
          <a:xfrm>
            <a:off x="475488" y="2130552"/>
            <a:ext cx="8193024"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B.  A pull from the ground</a:t>
            </a:r>
            <a:endParaRPr lang="en-US" sz="1300" dirty="0"/>
          </a:p>
        </p:txBody>
      </p:sp>
      <p:sp>
        <p:nvSpPr>
          <p:cNvPr id="9" name="Shape 7"/>
          <p:cNvSpPr/>
          <p:nvPr/>
        </p:nvSpPr>
        <p:spPr>
          <a:xfrm>
            <a:off x="365760" y="2834640"/>
            <a:ext cx="8412480" cy="694944"/>
          </a:xfrm>
          <a:prstGeom prst="rect">
            <a:avLst/>
          </a:prstGeom>
          <a:solidFill>
            <a:srgbClr val="2A7A4B"/>
          </a:solidFill>
          <a:ln w="12700">
            <a:solidFill>
              <a:srgbClr val="2A7A4B"/>
            </a:solidFill>
            <a:prstDash val="solid"/>
          </a:ln>
        </p:spPr>
      </p:sp>
      <p:sp>
        <p:nvSpPr>
          <p:cNvPr id="10" name="Text 8"/>
          <p:cNvSpPr/>
          <p:nvPr/>
        </p:nvSpPr>
        <p:spPr>
          <a:xfrm>
            <a:off x="475488" y="2898648"/>
            <a:ext cx="8193024" cy="566928"/>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C.  Gravity     CORRECT</a:t>
            </a:r>
            <a:endParaRPr lang="en-US" sz="1300" dirty="0"/>
          </a:p>
        </p:txBody>
      </p:sp>
      <p:sp>
        <p:nvSpPr>
          <p:cNvPr id="11" name="Shape 9"/>
          <p:cNvSpPr/>
          <p:nvPr/>
        </p:nvSpPr>
        <p:spPr>
          <a:xfrm>
            <a:off x="365760" y="3822192"/>
            <a:ext cx="8412480" cy="713232"/>
          </a:xfrm>
          <a:prstGeom prst="rect">
            <a:avLst/>
          </a:prstGeom>
          <a:solidFill>
            <a:srgbClr val="1A3A5C"/>
          </a:solidFill>
          <a:ln w="12700">
            <a:solidFill>
              <a:srgbClr val="1A3A5C"/>
            </a:solidFill>
            <a:prstDash val="solid"/>
          </a:ln>
        </p:spPr>
      </p:sp>
      <p:sp>
        <p:nvSpPr>
          <p:cNvPr id="12" name="Text 10"/>
          <p:cNvSpPr/>
          <p:nvPr/>
        </p:nvSpPr>
        <p:spPr>
          <a:xfrm>
            <a:off x="475488" y="3886200"/>
            <a:ext cx="8193024" cy="585216"/>
          </a:xfrm>
          <a:prstGeom prst="rect">
            <a:avLst/>
          </a:prstGeom>
          <a:noFill/>
          <a:ln/>
        </p:spPr>
        <p:txBody>
          <a:bodyPr wrap="square" lIns="0" tIns="0" rIns="0" bIns="0" rtlCol="0" anchor="ctr"/>
          <a:lstStyle/>
          <a:p>
            <a:pPr algn="l" indent="0" marL="0">
              <a:buNone/>
            </a:pPr>
            <a:r>
              <a:rPr lang="en-US" sz="1100" dirty="0">
                <a:solidFill>
                  <a:srgbClr val="F6C90E"/>
                </a:solidFill>
                <a:latin typeface="Calibri" pitchFamily="34" charset="0"/>
                <a:ea typeface="Calibri" pitchFamily="34" charset="-122"/>
                <a:cs typeface="Calibri" pitchFamily="34" charset="-120"/>
              </a:rPr>
              <a:t>Gravity is the pull of Earth on every object. It works without anything touching the object -- which is why the leaf falls all by itself.</a:t>
            </a:r>
            <a:endParaRPr lang="en-US" sz="1100" dirty="0"/>
          </a:p>
        </p:txBody>
      </p:sp>
      <p:sp>
        <p:nvSpPr>
          <p:cNvPr id="13" name="Shape 11"/>
          <p:cNvSpPr/>
          <p:nvPr/>
        </p:nvSpPr>
        <p:spPr>
          <a:xfrm>
            <a:off x="0" y="4896612"/>
            <a:ext cx="9144000" cy="246888"/>
          </a:xfrm>
          <a:prstGeom prst="rect">
            <a:avLst/>
          </a:prstGeom>
          <a:solidFill>
            <a:srgbClr val="F6C90E"/>
          </a:solidFill>
          <a:ln w="12700">
            <a:solidFill>
              <a:srgbClr val="F6C90E"/>
            </a:solidFill>
            <a:prstDash val="solid"/>
          </a:ln>
        </p:spPr>
      </p:sp>
      <p:sp>
        <p:nvSpPr>
          <p:cNvPr id="14" name="Text 12"/>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Self-Check</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Incredible -- Beyond the Lesson</a:t>
            </a:r>
            <a:endParaRPr lang="en-US" sz="2000" dirty="0"/>
          </a:p>
        </p:txBody>
      </p:sp>
      <p:sp>
        <p:nvSpPr>
          <p:cNvPr id="5" name="Shape 3"/>
          <p:cNvSpPr/>
          <p:nvPr/>
        </p:nvSpPr>
        <p:spPr>
          <a:xfrm>
            <a:off x="365760" y="1051560"/>
            <a:ext cx="8412480" cy="1234440"/>
          </a:xfrm>
          <a:prstGeom prst="rect">
            <a:avLst/>
          </a:prstGeom>
          <a:solidFill>
            <a:srgbClr val="1E3A5C"/>
          </a:solidFill>
          <a:ln w="12700">
            <a:solidFill>
              <a:srgbClr val="1E3A5C"/>
            </a:solidFill>
            <a:prstDash val="solid"/>
          </a:ln>
        </p:spPr>
      </p:sp>
      <p:sp>
        <p:nvSpPr>
          <p:cNvPr id="6" name="Text 4"/>
          <p:cNvSpPr/>
          <p:nvPr/>
        </p:nvSpPr>
        <p:spPr>
          <a:xfrm>
            <a:off x="475488" y="1115568"/>
            <a:ext cx="8193024" cy="11064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If you weigh 80 pounds on Earth, you would weigh only about 13 pounds on the Moon. The Moon is much smaller than Earth, so its gravity is much weaker. Your mass does not change -- but your weight (how hard gravity pulls you) does.</a:t>
            </a:r>
            <a:endParaRPr lang="en-US" sz="1300" dirty="0"/>
          </a:p>
        </p:txBody>
      </p:sp>
      <p:sp>
        <p:nvSpPr>
          <p:cNvPr id="7" name="Text 5"/>
          <p:cNvSpPr/>
          <p:nvPr/>
        </p:nvSpPr>
        <p:spPr>
          <a:xfrm>
            <a:off x="365760" y="2423160"/>
            <a:ext cx="8412480" cy="274320"/>
          </a:xfrm>
          <a:prstGeom prst="rect">
            <a:avLst/>
          </a:prstGeom>
          <a:noFill/>
          <a:ln/>
        </p:spPr>
        <p:txBody>
          <a:bodyPr wrap="square" rtlCol="0" anchor="ctr"/>
          <a:lstStyle/>
          <a:p>
            <a:pPr algn="l" indent="0" marL="0">
              <a:buNone/>
            </a:pPr>
            <a:r>
              <a:rPr lang="en-US" sz="1200" b="1" dirty="0">
                <a:solidFill>
                  <a:srgbClr val="F6C90E"/>
                </a:solidFill>
                <a:latin typeface="Calibri" pitchFamily="34" charset="0"/>
                <a:ea typeface="Calibri" pitchFamily="34" charset="-122"/>
                <a:cs typeface="Calibri" pitchFamily="34" charset="-120"/>
              </a:rPr>
              <a:t>Go Deeper:</a:t>
            </a:r>
            <a:endParaRPr lang="en-US" sz="1200" dirty="0"/>
          </a:p>
        </p:txBody>
      </p:sp>
      <p:sp>
        <p:nvSpPr>
          <p:cNvPr id="8" name="Shape 6"/>
          <p:cNvSpPr/>
          <p:nvPr/>
        </p:nvSpPr>
        <p:spPr>
          <a:xfrm>
            <a:off x="365760" y="2761488"/>
            <a:ext cx="4114800" cy="1417320"/>
          </a:xfrm>
          <a:prstGeom prst="rect">
            <a:avLst/>
          </a:prstGeom>
          <a:solidFill>
            <a:srgbClr val="1A3A5C"/>
          </a:solidFill>
          <a:ln w="12700">
            <a:solidFill>
              <a:srgbClr val="1A3A5C"/>
            </a:solidFill>
            <a:prstDash val="solid"/>
          </a:ln>
        </p:spPr>
      </p:sp>
      <p:sp>
        <p:nvSpPr>
          <p:cNvPr id="9" name="Text 7"/>
          <p:cNvSpPr/>
          <p:nvPr/>
        </p:nvSpPr>
        <p:spPr>
          <a:xfrm>
            <a:off x="47548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Astronauts in space stations feel much less gravity. How do you think that changes their daily life -- eating, sleeping, moving around?</a:t>
            </a:r>
            <a:endParaRPr lang="en-US" sz="1300" dirty="0"/>
          </a:p>
        </p:txBody>
      </p:sp>
      <p:sp>
        <p:nvSpPr>
          <p:cNvPr id="10" name="Shape 8"/>
          <p:cNvSpPr/>
          <p:nvPr/>
        </p:nvSpPr>
        <p:spPr>
          <a:xfrm>
            <a:off x="4663440" y="2761488"/>
            <a:ext cx="4114800" cy="1417320"/>
          </a:xfrm>
          <a:prstGeom prst="rect">
            <a:avLst/>
          </a:prstGeom>
          <a:solidFill>
            <a:srgbClr val="1A3A5C"/>
          </a:solidFill>
          <a:ln w="12700">
            <a:solidFill>
              <a:srgbClr val="1A3A5C"/>
            </a:solidFill>
            <a:prstDash val="solid"/>
          </a:ln>
        </p:spPr>
      </p:sp>
      <p:sp>
        <p:nvSpPr>
          <p:cNvPr id="11" name="Text 9"/>
          <p:cNvSpPr/>
          <p:nvPr/>
        </p:nvSpPr>
        <p:spPr>
          <a:xfrm>
            <a:off x="4773168" y="2825496"/>
            <a:ext cx="3895344" cy="128930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Friction is a force too -- it opposes motion. How does friction help your shoes grip the floor? How does it help brakes stop a bike?</a:t>
            </a:r>
            <a:endParaRPr lang="en-US" sz="1300" dirty="0"/>
          </a:p>
        </p:txBody>
      </p:sp>
      <p:sp>
        <p:nvSpPr>
          <p:cNvPr id="12" name="Shape 10"/>
          <p:cNvSpPr/>
          <p:nvPr/>
        </p:nvSpPr>
        <p:spPr>
          <a:xfrm>
            <a:off x="0" y="4896612"/>
            <a:ext cx="9144000" cy="246888"/>
          </a:xfrm>
          <a:prstGeom prst="rect">
            <a:avLst/>
          </a:prstGeom>
          <a:solidFill>
            <a:srgbClr val="F6C90E"/>
          </a:solidFill>
          <a:ln w="12700">
            <a:solidFill>
              <a:srgbClr val="F6C90E"/>
            </a:solidFill>
            <a:prstDash val="solid"/>
          </a:ln>
        </p:spPr>
      </p:sp>
      <p:sp>
        <p:nvSpPr>
          <p:cNvPr id="13" name="Text 11"/>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Elaborate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Parts A and B</a:t>
            </a:r>
            <a:endParaRPr lang="en-US" sz="1900" dirty="0"/>
          </a:p>
        </p:txBody>
      </p:sp>
      <p:sp>
        <p:nvSpPr>
          <p:cNvPr id="5" name="Shape 3"/>
          <p:cNvSpPr/>
          <p:nvPr/>
        </p:nvSpPr>
        <p:spPr>
          <a:xfrm>
            <a:off x="365760" y="987552"/>
            <a:ext cx="8412480" cy="1234440"/>
          </a:xfrm>
          <a:prstGeom prst="rect">
            <a:avLst/>
          </a:prstGeom>
          <a:solidFill>
            <a:srgbClr val="D6EAF8"/>
          </a:solidFill>
          <a:ln w="12700">
            <a:solidFill>
              <a:srgbClr val="D6EAF8"/>
            </a:solidFill>
            <a:prstDash val="solid"/>
          </a:ln>
        </p:spPr>
      </p:sp>
      <p:sp>
        <p:nvSpPr>
          <p:cNvPr id="6" name="Text 4"/>
          <p:cNvSpPr/>
          <p:nvPr/>
        </p:nvSpPr>
        <p:spPr>
          <a:xfrm>
            <a:off x="475488" y="1051560"/>
            <a:ext cx="8193024" cy="110642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A -- Home Force Hunt: Walk around your home for 5 minutes. Find TWO examples of each: 2 pushes, 2 pulls, and 2 examples of gravity. For each, describe what is being moved.</a:t>
            </a:r>
            <a:endParaRPr lang="en-US" sz="1200" dirty="0"/>
          </a:p>
        </p:txBody>
      </p:sp>
      <p:sp>
        <p:nvSpPr>
          <p:cNvPr id="7" name="Shape 5"/>
          <p:cNvSpPr/>
          <p:nvPr/>
        </p:nvSpPr>
        <p:spPr>
          <a:xfrm>
            <a:off x="365760" y="2286000"/>
            <a:ext cx="8412480" cy="2103120"/>
          </a:xfrm>
          <a:prstGeom prst="rect">
            <a:avLst/>
          </a:prstGeom>
          <a:solidFill>
            <a:srgbClr val="D6EAF8"/>
          </a:solidFill>
          <a:ln w="12700">
            <a:solidFill>
              <a:srgbClr val="D6EAF8"/>
            </a:solidFill>
            <a:prstDash val="solid"/>
          </a:ln>
        </p:spPr>
      </p:sp>
      <p:sp>
        <p:nvSpPr>
          <p:cNvPr id="8" name="Text 6"/>
          <p:cNvSpPr/>
          <p:nvPr/>
        </p:nvSpPr>
        <p:spPr>
          <a:xfrm>
            <a:off x="475488" y="2350008"/>
            <a:ext cx="8193024" cy="197510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PART B -- Evidence Questions</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1. Scenes A and C both involve a person's body causing motion. What do they have in common that Scene B does not?</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2. In Scene B, nothing touched the book after it fell. What force caused it to fall? Could that force have been a push?</a:t>
            </a:r>
            <a:endParaRPr lang="en-US" sz="1200" dirty="0"/>
          </a:p>
          <a:p>
            <a:pPr algn="l" indent="0" marL="0">
              <a:buNone/>
            </a:pPr>
            <a:r>
              <a:rPr lang="en-US" sz="1200" dirty="0">
                <a:solidFill>
                  <a:srgbClr val="1A1A2E"/>
                </a:solidFill>
                <a:latin typeface="Calibri" pitchFamily="34" charset="0"/>
                <a:ea typeface="Calibri" pitchFamily="34" charset="-122"/>
                <a:cs typeface="Calibri" pitchFamily="34" charset="-120"/>
              </a:rPr>
              <a:t>3. If you dropped a book and a feather from the same height, which would hit the ground first? Why?</a:t>
            </a:r>
            <a:endParaRPr lang="en-US" sz="1200" dirty="0"/>
          </a:p>
        </p:txBody>
      </p:sp>
      <p:sp>
        <p:nvSpPr>
          <p:cNvPr id="9" name="Shape 7"/>
          <p:cNvSpPr/>
          <p:nvPr/>
        </p:nvSpPr>
        <p:spPr>
          <a:xfrm>
            <a:off x="0" y="4896612"/>
            <a:ext cx="9144000" cy="246888"/>
          </a:xfrm>
          <a:prstGeom prst="rect">
            <a:avLst/>
          </a:prstGeom>
          <a:solidFill>
            <a:srgbClr val="F6C90E"/>
          </a:solidFill>
          <a:ln w="12700">
            <a:solidFill>
              <a:srgbClr val="F6C90E"/>
            </a:solidFill>
            <a:prstDash val="solid"/>
          </a:ln>
        </p:spPr>
      </p:sp>
      <p:sp>
        <p:nvSpPr>
          <p:cNvPr id="10" name="Text 8"/>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Assignment A &amp; B</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201168"/>
            <a:ext cx="1673352" cy="274320"/>
          </a:xfrm>
          <a:prstGeom prst="rect">
            <a:avLst/>
          </a:prstGeom>
          <a:solidFill>
            <a:srgbClr val="1A3A5C"/>
          </a:solidFill>
          <a:ln w="12700">
            <a:solidFill>
              <a:srgbClr val="1A3A5C"/>
            </a:solidFill>
            <a:prstDash val="solid"/>
          </a:ln>
        </p:spPr>
      </p:sp>
      <p:sp>
        <p:nvSpPr>
          <p:cNvPr id="3" name="Text 1"/>
          <p:cNvSpPr/>
          <p:nvPr/>
        </p:nvSpPr>
        <p:spPr>
          <a:xfrm>
            <a:off x="365760" y="20116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566928"/>
            <a:ext cx="8412480" cy="347472"/>
          </a:xfrm>
          <a:prstGeom prst="rect">
            <a:avLst/>
          </a:prstGeom>
          <a:noFill/>
          <a:ln/>
        </p:spPr>
        <p:txBody>
          <a:bodyPr wrap="square" rtlCol="0" anchor="ctr"/>
          <a:lstStyle/>
          <a:p>
            <a:pPr algn="l" indent="0" marL="0">
              <a:buNone/>
            </a:pPr>
            <a:r>
              <a:rPr lang="en-US" sz="1900" b="1" dirty="0">
                <a:solidFill>
                  <a:srgbClr val="1A1A2E"/>
                </a:solidFill>
                <a:latin typeface="Cambria" pitchFamily="34" charset="0"/>
                <a:ea typeface="Cambria" pitchFamily="34" charset="-122"/>
                <a:cs typeface="Cambria" pitchFamily="34" charset="-120"/>
              </a:rPr>
              <a:t>Assignment -- Part C (CER)</a:t>
            </a:r>
            <a:endParaRPr lang="en-US" sz="1900" dirty="0"/>
          </a:p>
        </p:txBody>
      </p:sp>
      <p:sp>
        <p:nvSpPr>
          <p:cNvPr id="5" name="Shape 3"/>
          <p:cNvSpPr/>
          <p:nvPr/>
        </p:nvSpPr>
        <p:spPr>
          <a:xfrm>
            <a:off x="365760" y="987552"/>
            <a:ext cx="8412480" cy="566928"/>
          </a:xfrm>
          <a:prstGeom prst="rect">
            <a:avLst/>
          </a:prstGeom>
          <a:solidFill>
            <a:srgbClr val="D6EAF8"/>
          </a:solidFill>
          <a:ln w="12700">
            <a:solidFill>
              <a:srgbClr val="D6EAF8"/>
            </a:solidFill>
            <a:prstDash val="solid"/>
          </a:ln>
        </p:spPr>
      </p:sp>
      <p:sp>
        <p:nvSpPr>
          <p:cNvPr id="6" name="Text 4"/>
          <p:cNvSpPr/>
          <p:nvPr/>
        </p:nvSpPr>
        <p:spPr>
          <a:xfrm>
            <a:off x="475488" y="1051560"/>
            <a:ext cx="8193024" cy="43891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PART C: Which scene shows gravity? Use evidence from your three scenes to defend your answer.</a:t>
            </a:r>
            <a:endParaRPr lang="en-US" sz="1300" dirty="0"/>
          </a:p>
        </p:txBody>
      </p:sp>
      <p:sp>
        <p:nvSpPr>
          <p:cNvPr id="7" name="Shape 5"/>
          <p:cNvSpPr/>
          <p:nvPr/>
        </p:nvSpPr>
        <p:spPr>
          <a:xfrm>
            <a:off x="365760" y="1627632"/>
            <a:ext cx="8412480" cy="640080"/>
          </a:xfrm>
          <a:prstGeom prst="rect">
            <a:avLst/>
          </a:prstGeom>
          <a:solidFill>
            <a:srgbClr val="E8F5E9"/>
          </a:solidFill>
          <a:ln w="12700">
            <a:solidFill>
              <a:srgbClr val="E8F5E9"/>
            </a:solidFill>
            <a:prstDash val="solid"/>
          </a:ln>
        </p:spPr>
      </p:sp>
      <p:sp>
        <p:nvSpPr>
          <p:cNvPr id="8" name="Text 6"/>
          <p:cNvSpPr/>
          <p:nvPr/>
        </p:nvSpPr>
        <p:spPr>
          <a:xfrm>
            <a:off x="475488" y="1691640"/>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CLAIM: CLAIM -- Which scene shows gravity? Write one clear sentence. No starter.</a:t>
            </a:r>
            <a:endParaRPr lang="en-US" sz="1200" dirty="0"/>
          </a:p>
        </p:txBody>
      </p:sp>
      <p:sp>
        <p:nvSpPr>
          <p:cNvPr id="9" name="Shape 7"/>
          <p:cNvSpPr/>
          <p:nvPr/>
        </p:nvSpPr>
        <p:spPr>
          <a:xfrm>
            <a:off x="365760" y="2340864"/>
            <a:ext cx="8412480" cy="640080"/>
          </a:xfrm>
          <a:prstGeom prst="rect">
            <a:avLst/>
          </a:prstGeom>
          <a:solidFill>
            <a:srgbClr val="E8F5E9"/>
          </a:solidFill>
          <a:ln w="12700">
            <a:solidFill>
              <a:srgbClr val="E8F5E9"/>
            </a:solidFill>
            <a:prstDash val="solid"/>
          </a:ln>
        </p:spPr>
      </p:sp>
      <p:sp>
        <p:nvSpPr>
          <p:cNvPr id="10" name="Text 8"/>
          <p:cNvSpPr/>
          <p:nvPr/>
        </p:nvSpPr>
        <p:spPr>
          <a:xfrm>
            <a:off x="475488" y="2404872"/>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EVIDENCE: EVIDENCE -- What clues helped you identify each force? At least two pieces from your scenes.</a:t>
            </a:r>
            <a:endParaRPr lang="en-US" sz="1200" dirty="0"/>
          </a:p>
        </p:txBody>
      </p:sp>
      <p:sp>
        <p:nvSpPr>
          <p:cNvPr id="11" name="Shape 9"/>
          <p:cNvSpPr/>
          <p:nvPr/>
        </p:nvSpPr>
        <p:spPr>
          <a:xfrm>
            <a:off x="365760" y="3054096"/>
            <a:ext cx="8412480" cy="640080"/>
          </a:xfrm>
          <a:prstGeom prst="rect">
            <a:avLst/>
          </a:prstGeom>
          <a:solidFill>
            <a:srgbClr val="E8F5E9"/>
          </a:solidFill>
          <a:ln w="12700">
            <a:solidFill>
              <a:srgbClr val="E8F5E9"/>
            </a:solidFill>
            <a:prstDash val="solid"/>
          </a:ln>
        </p:spPr>
      </p:sp>
      <p:sp>
        <p:nvSpPr>
          <p:cNvPr id="12" name="Text 10"/>
          <p:cNvSpPr/>
          <p:nvPr/>
        </p:nvSpPr>
        <p:spPr>
          <a:xfrm>
            <a:off x="475488" y="3118104"/>
            <a:ext cx="8193024" cy="512064"/>
          </a:xfrm>
          <a:prstGeom prst="rect">
            <a:avLst/>
          </a:prstGeom>
          <a:noFill/>
          <a:ln/>
        </p:spPr>
        <p:txBody>
          <a:bodyPr wrap="square" lIns="0" tIns="0" rIns="0" bIns="0" rtlCol="0" anchor="ctr"/>
          <a:lstStyle/>
          <a:p>
            <a:pPr algn="l" indent="0" marL="0">
              <a:buNone/>
            </a:pPr>
            <a:r>
              <a:rPr lang="en-US" sz="1200" dirty="0">
                <a:solidFill>
                  <a:srgbClr val="1A1A2E"/>
                </a:solidFill>
                <a:latin typeface="Calibri" pitchFamily="34" charset="0"/>
                <a:ea typeface="Calibri" pitchFamily="34" charset="-122"/>
                <a:cs typeface="Calibri" pitchFamily="34" charset="-120"/>
              </a:rPr>
              <a:t>REASONING: This makes sense because gravity always pulls without touching, which means...</a:t>
            </a:r>
            <a:endParaRPr lang="en-US" sz="1200" dirty="0"/>
          </a:p>
        </p:txBody>
      </p:sp>
      <p:sp>
        <p:nvSpPr>
          <p:cNvPr id="13" name="Shape 11"/>
          <p:cNvSpPr/>
          <p:nvPr/>
        </p:nvSpPr>
        <p:spPr>
          <a:xfrm>
            <a:off x="365760" y="3767328"/>
            <a:ext cx="8412480" cy="530352"/>
          </a:xfrm>
          <a:prstGeom prst="rect">
            <a:avLst/>
          </a:prstGeom>
          <a:solidFill>
            <a:srgbClr val="FFF8E1"/>
          </a:solidFill>
          <a:ln w="12700">
            <a:solidFill>
              <a:srgbClr val="FFF8E1"/>
            </a:solidFill>
            <a:prstDash val="solid"/>
          </a:ln>
        </p:spPr>
      </p:sp>
      <p:sp>
        <p:nvSpPr>
          <p:cNvPr id="14" name="Text 12"/>
          <p:cNvSpPr/>
          <p:nvPr/>
        </p:nvSpPr>
        <p:spPr>
          <a:xfrm>
            <a:off x="475488" y="3831336"/>
            <a:ext cx="8193024" cy="402336"/>
          </a:xfrm>
          <a:prstGeom prst="rect">
            <a:avLst/>
          </a:prstGeom>
          <a:noFill/>
          <a:ln/>
        </p:spPr>
        <p:txBody>
          <a:bodyPr wrap="square" lIns="0" tIns="0" rIns="0" bIns="0" rtlCol="0" anchor="ctr"/>
          <a:lstStyle/>
          <a:p>
            <a:pPr algn="l" indent="0" marL="0">
              <a:buNone/>
            </a:pPr>
            <a:r>
              <a:rPr lang="en-US" sz="1100" dirty="0">
                <a:solidFill>
                  <a:srgbClr val="1A1A2E"/>
                </a:solidFill>
                <a:latin typeface="Calibri" pitchFamily="34" charset="0"/>
                <a:ea typeface="Calibri" pitchFamily="34" charset="-122"/>
                <a:cs typeface="Calibri" pitchFamily="34" charset="-120"/>
              </a:rPr>
              <a:t>Vocab Check: Use at least TWO of: force, push, pull, gravity, motion, contact</a:t>
            </a:r>
            <a:endParaRPr lang="en-US" sz="1100" dirty="0"/>
          </a:p>
        </p:txBody>
      </p:sp>
      <p:sp>
        <p:nvSpPr>
          <p:cNvPr id="15" name="Shape 13"/>
          <p:cNvSpPr/>
          <p:nvPr/>
        </p:nvSpPr>
        <p:spPr>
          <a:xfrm>
            <a:off x="0" y="4896612"/>
            <a:ext cx="9144000" cy="246888"/>
          </a:xfrm>
          <a:prstGeom prst="rect">
            <a:avLst/>
          </a:prstGeom>
          <a:solidFill>
            <a:srgbClr val="F6C90E"/>
          </a:solidFill>
          <a:ln w="12700">
            <a:solidFill>
              <a:srgbClr val="F6C90E"/>
            </a:solidFill>
            <a:prstDash val="solid"/>
          </a:ln>
        </p:spPr>
      </p:sp>
      <p:sp>
        <p:nvSpPr>
          <p:cNvPr id="16" name="Text 14"/>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Assignment C</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201168"/>
            <a:ext cx="1828800" cy="274320"/>
          </a:xfrm>
          <a:prstGeom prst="rect">
            <a:avLst/>
          </a:prstGeom>
          <a:solidFill>
            <a:srgbClr val="1A3A5C"/>
          </a:solidFill>
          <a:ln w="12700">
            <a:solidFill>
              <a:srgbClr val="1A3A5C"/>
            </a:solidFill>
            <a:prstDash val="solid"/>
          </a:ln>
        </p:spPr>
      </p:sp>
      <p:sp>
        <p:nvSpPr>
          <p:cNvPr id="3" name="Text 1"/>
          <p:cNvSpPr/>
          <p:nvPr/>
        </p:nvSpPr>
        <p:spPr>
          <a:xfrm>
            <a:off x="365760" y="20116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How Did Your Thinking Change?</a:t>
            </a:r>
            <a:endParaRPr lang="en-US" sz="2000" dirty="0"/>
          </a:p>
        </p:txBody>
      </p:sp>
      <p:sp>
        <p:nvSpPr>
          <p:cNvPr id="5" name="Text 3"/>
          <p:cNvSpPr/>
          <p:nvPr/>
        </p:nvSpPr>
        <p:spPr>
          <a:xfrm>
            <a:off x="365760" y="1042416"/>
            <a:ext cx="8412480" cy="274320"/>
          </a:xfrm>
          <a:prstGeom prst="rect">
            <a:avLst/>
          </a:prstGeom>
          <a:noFill/>
          <a:ln/>
        </p:spPr>
        <p:txBody>
          <a:bodyPr wrap="square" rtlCol="0" anchor="ctr"/>
          <a:lstStyle/>
          <a:p>
            <a:pPr algn="l" indent="0" marL="0">
              <a:buNone/>
            </a:pPr>
            <a:r>
              <a:rPr lang="en-US" sz="1200" dirty="0">
                <a:solidFill>
                  <a:srgbClr val="F6C90E"/>
                </a:solidFill>
                <a:latin typeface="Calibri" pitchFamily="34" charset="0"/>
                <a:ea typeface="Calibri" pitchFamily="34" charset="-122"/>
                <a:cs typeface="Calibri" pitchFamily="34" charset="-120"/>
              </a:rPr>
              <a:t>Look back at your prediction. Write 3-4 sentences answering these:</a:t>
            </a:r>
            <a:endParaRPr lang="en-US" sz="1200" dirty="0"/>
          </a:p>
        </p:txBody>
      </p:sp>
      <p:sp>
        <p:nvSpPr>
          <p:cNvPr id="6" name="Shape 4"/>
          <p:cNvSpPr/>
          <p:nvPr/>
        </p:nvSpPr>
        <p:spPr>
          <a:xfrm>
            <a:off x="365760" y="1389888"/>
            <a:ext cx="292608" cy="292608"/>
          </a:xfrm>
          <a:prstGeom prst="rect">
            <a:avLst/>
          </a:prstGeom>
          <a:solidFill>
            <a:srgbClr val="1A3A5C"/>
          </a:solidFill>
          <a:ln w="12700">
            <a:solidFill>
              <a:srgbClr val="1A3A5C"/>
            </a:solidFill>
            <a:prstDash val="solid"/>
          </a:ln>
        </p:spPr>
      </p:sp>
      <p:sp>
        <p:nvSpPr>
          <p:cNvPr id="7" name="Text 5"/>
          <p:cNvSpPr/>
          <p:nvPr/>
        </p:nvSpPr>
        <p:spPr>
          <a:xfrm>
            <a:off x="365760" y="13898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Shape 6"/>
          <p:cNvSpPr/>
          <p:nvPr/>
        </p:nvSpPr>
        <p:spPr>
          <a:xfrm>
            <a:off x="768096" y="1389888"/>
            <a:ext cx="8010144" cy="1005840"/>
          </a:xfrm>
          <a:prstGeom prst="rect">
            <a:avLst/>
          </a:prstGeom>
          <a:solidFill>
            <a:srgbClr val="085E5D"/>
          </a:solidFill>
          <a:ln w="12700">
            <a:solidFill>
              <a:srgbClr val="085E5D"/>
            </a:solidFill>
            <a:prstDash val="solid"/>
          </a:ln>
        </p:spPr>
      </p:sp>
      <p:sp>
        <p:nvSpPr>
          <p:cNvPr id="9" name="Text 7"/>
          <p:cNvSpPr/>
          <p:nvPr/>
        </p:nvSpPr>
        <p:spPr>
          <a:xfrm>
            <a:off x="877824" y="1453896"/>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did you predict caused the motions you saw today?</a:t>
            </a:r>
            <a:endParaRPr lang="en-US" sz="1300" dirty="0"/>
          </a:p>
        </p:txBody>
      </p:sp>
      <p:sp>
        <p:nvSpPr>
          <p:cNvPr id="10" name="Shape 8"/>
          <p:cNvSpPr/>
          <p:nvPr/>
        </p:nvSpPr>
        <p:spPr>
          <a:xfrm>
            <a:off x="365760" y="2560320"/>
            <a:ext cx="292608" cy="292608"/>
          </a:xfrm>
          <a:prstGeom prst="rect">
            <a:avLst/>
          </a:prstGeom>
          <a:solidFill>
            <a:srgbClr val="1A3A5C"/>
          </a:solidFill>
          <a:ln w="12700">
            <a:solidFill>
              <a:srgbClr val="1A3A5C"/>
            </a:solidFill>
            <a:prstDash val="solid"/>
          </a:ln>
        </p:spPr>
      </p:sp>
      <p:sp>
        <p:nvSpPr>
          <p:cNvPr id="11" name="Text 9"/>
          <p:cNvSpPr/>
          <p:nvPr/>
        </p:nvSpPr>
        <p:spPr>
          <a:xfrm>
            <a:off x="365760" y="2560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768096" y="2560320"/>
            <a:ext cx="8010144" cy="1005840"/>
          </a:xfrm>
          <a:prstGeom prst="rect">
            <a:avLst/>
          </a:prstGeom>
          <a:solidFill>
            <a:srgbClr val="085E5D"/>
          </a:solidFill>
          <a:ln w="12700">
            <a:solidFill>
              <a:srgbClr val="085E5D"/>
            </a:solidFill>
            <a:prstDash val="solid"/>
          </a:ln>
        </p:spPr>
      </p:sp>
      <p:sp>
        <p:nvSpPr>
          <p:cNvPr id="13" name="Text 11"/>
          <p:cNvSpPr/>
          <p:nvPr/>
        </p:nvSpPr>
        <p:spPr>
          <a:xfrm>
            <a:off x="877824" y="2624328"/>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How does today's lesson confirm or change your prediction?</a:t>
            </a:r>
            <a:endParaRPr lang="en-US" sz="1300" dirty="0"/>
          </a:p>
        </p:txBody>
      </p:sp>
      <p:sp>
        <p:nvSpPr>
          <p:cNvPr id="14" name="Shape 12"/>
          <p:cNvSpPr/>
          <p:nvPr/>
        </p:nvSpPr>
        <p:spPr>
          <a:xfrm>
            <a:off x="365760" y="3730752"/>
            <a:ext cx="292608" cy="292608"/>
          </a:xfrm>
          <a:prstGeom prst="rect">
            <a:avLst/>
          </a:prstGeom>
          <a:solidFill>
            <a:srgbClr val="1A3A5C"/>
          </a:solidFill>
          <a:ln w="12700">
            <a:solidFill>
              <a:srgbClr val="1A3A5C"/>
            </a:solidFill>
            <a:prstDash val="solid"/>
          </a:ln>
        </p:spPr>
      </p:sp>
      <p:sp>
        <p:nvSpPr>
          <p:cNvPr id="15" name="Text 13"/>
          <p:cNvSpPr/>
          <p:nvPr/>
        </p:nvSpPr>
        <p:spPr>
          <a:xfrm>
            <a:off x="365760" y="373075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Shape 14"/>
          <p:cNvSpPr/>
          <p:nvPr/>
        </p:nvSpPr>
        <p:spPr>
          <a:xfrm>
            <a:off x="768096" y="3730752"/>
            <a:ext cx="8010144" cy="1005840"/>
          </a:xfrm>
          <a:prstGeom prst="rect">
            <a:avLst/>
          </a:prstGeom>
          <a:solidFill>
            <a:srgbClr val="085E5D"/>
          </a:solidFill>
          <a:ln w="12700">
            <a:solidFill>
              <a:srgbClr val="085E5D"/>
            </a:solidFill>
            <a:prstDash val="solid"/>
          </a:ln>
        </p:spPr>
      </p:sp>
      <p:sp>
        <p:nvSpPr>
          <p:cNvPr id="17" name="Text 15"/>
          <p:cNvSpPr/>
          <p:nvPr/>
        </p:nvSpPr>
        <p:spPr>
          <a:xfrm>
            <a:off x="877824" y="3794760"/>
            <a:ext cx="7790688" cy="87782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What is the biggest new idea about forces you would add now?</a:t>
            </a:r>
            <a:endParaRPr lang="en-US" sz="1300" dirty="0"/>
          </a:p>
        </p:txBody>
      </p:sp>
      <p:sp>
        <p:nvSpPr>
          <p:cNvPr id="18" name="Shape 16"/>
          <p:cNvSpPr/>
          <p:nvPr/>
        </p:nvSpPr>
        <p:spPr>
          <a:xfrm>
            <a:off x="0" y="4896612"/>
            <a:ext cx="9144000" cy="246888"/>
          </a:xfrm>
          <a:prstGeom prst="rect">
            <a:avLst/>
          </a:prstGeom>
          <a:solidFill>
            <a:srgbClr val="F6C90E"/>
          </a:solidFill>
          <a:ln w="12700">
            <a:solidFill>
              <a:srgbClr val="F6C90E"/>
            </a:solidFill>
            <a:prstDash val="solid"/>
          </a:ln>
        </p:spPr>
      </p:sp>
      <p:sp>
        <p:nvSpPr>
          <p:cNvPr id="19" name="Text 17"/>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Revise Your Thinking</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201168"/>
            <a:ext cx="1645920" cy="274320"/>
          </a:xfrm>
          <a:prstGeom prst="rect">
            <a:avLst/>
          </a:prstGeom>
          <a:solidFill>
            <a:srgbClr val="F6C90E"/>
          </a:solidFill>
          <a:ln w="12700">
            <a:solidFill>
              <a:srgbClr val="F6C90E"/>
            </a:solidFill>
            <a:prstDash val="solid"/>
          </a:ln>
        </p:spPr>
      </p:sp>
      <p:sp>
        <p:nvSpPr>
          <p:cNvPr id="3" name="Text 1"/>
          <p:cNvSpPr/>
          <p:nvPr/>
        </p:nvSpPr>
        <p:spPr>
          <a:xfrm>
            <a:off x="365760" y="201168"/>
            <a:ext cx="1645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566928"/>
            <a:ext cx="8412480" cy="411480"/>
          </a:xfrm>
          <a:prstGeom prst="rect">
            <a:avLst/>
          </a:prstGeom>
          <a:noFill/>
          <a:ln/>
        </p:spPr>
        <p:txBody>
          <a:bodyPr wrap="square"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Submission Checklist</a:t>
            </a:r>
            <a:endParaRPr lang="en-US" sz="2100" dirty="0"/>
          </a:p>
        </p:txBody>
      </p:sp>
      <p:sp>
        <p:nvSpPr>
          <p:cNvPr id="5" name="Shape 3"/>
          <p:cNvSpPr/>
          <p:nvPr/>
        </p:nvSpPr>
        <p:spPr>
          <a:xfrm>
            <a:off x="365760" y="1078992"/>
            <a:ext cx="8412480" cy="658368"/>
          </a:xfrm>
          <a:prstGeom prst="rect">
            <a:avLst/>
          </a:prstGeom>
          <a:solidFill>
            <a:srgbClr val="2E86AB"/>
          </a:solidFill>
          <a:ln w="12700">
            <a:solidFill>
              <a:srgbClr val="2E86AB"/>
            </a:solidFill>
            <a:prstDash val="solid"/>
          </a:ln>
        </p:spPr>
      </p:sp>
      <p:sp>
        <p:nvSpPr>
          <p:cNvPr id="6" name="Text 4"/>
          <p:cNvSpPr/>
          <p:nvPr/>
        </p:nvSpPr>
        <p:spPr>
          <a:xfrm>
            <a:off x="475488" y="1143000"/>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A: Six force examples from home -- two of each type</a:t>
            </a:r>
            <a:endParaRPr lang="en-US" sz="1200" dirty="0"/>
          </a:p>
        </p:txBody>
      </p:sp>
      <p:sp>
        <p:nvSpPr>
          <p:cNvPr id="7" name="Shape 5"/>
          <p:cNvSpPr/>
          <p:nvPr/>
        </p:nvSpPr>
        <p:spPr>
          <a:xfrm>
            <a:off x="365760" y="1828800"/>
            <a:ext cx="8412480" cy="658368"/>
          </a:xfrm>
          <a:prstGeom prst="rect">
            <a:avLst/>
          </a:prstGeom>
          <a:solidFill>
            <a:srgbClr val="2E86AB"/>
          </a:solidFill>
          <a:ln w="12700">
            <a:solidFill>
              <a:srgbClr val="2E86AB"/>
            </a:solidFill>
            <a:prstDash val="solid"/>
          </a:ln>
        </p:spPr>
      </p:sp>
      <p:sp>
        <p:nvSpPr>
          <p:cNvPr id="8" name="Text 6"/>
          <p:cNvSpPr/>
          <p:nvPr/>
        </p:nvSpPr>
        <p:spPr>
          <a:xfrm>
            <a:off x="475488" y="1892808"/>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B: All three evidence questions answered using the scenes</a:t>
            </a:r>
            <a:endParaRPr lang="en-US" sz="1200" dirty="0"/>
          </a:p>
        </p:txBody>
      </p:sp>
      <p:sp>
        <p:nvSpPr>
          <p:cNvPr id="9" name="Shape 7"/>
          <p:cNvSpPr/>
          <p:nvPr/>
        </p:nvSpPr>
        <p:spPr>
          <a:xfrm>
            <a:off x="365760" y="2578608"/>
            <a:ext cx="8412480" cy="658368"/>
          </a:xfrm>
          <a:prstGeom prst="rect">
            <a:avLst/>
          </a:prstGeom>
          <a:solidFill>
            <a:srgbClr val="2E86AB"/>
          </a:solidFill>
          <a:ln w="12700">
            <a:solidFill>
              <a:srgbClr val="2E86AB"/>
            </a:solidFill>
            <a:prstDash val="solid"/>
          </a:ln>
        </p:spPr>
      </p:sp>
      <p:sp>
        <p:nvSpPr>
          <p:cNvPr id="10" name="Text 8"/>
          <p:cNvSpPr/>
          <p:nvPr/>
        </p:nvSpPr>
        <p:spPr>
          <a:xfrm>
            <a:off x="475488" y="2642616"/>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Part C: Claim, evidence, and reasoning -- 4-6 sentences total</a:t>
            </a:r>
            <a:endParaRPr lang="en-US" sz="1200" dirty="0"/>
          </a:p>
        </p:txBody>
      </p:sp>
      <p:sp>
        <p:nvSpPr>
          <p:cNvPr id="11" name="Shape 9"/>
          <p:cNvSpPr/>
          <p:nvPr/>
        </p:nvSpPr>
        <p:spPr>
          <a:xfrm>
            <a:off x="365760" y="3328416"/>
            <a:ext cx="8412480" cy="658368"/>
          </a:xfrm>
          <a:prstGeom prst="rect">
            <a:avLst/>
          </a:prstGeom>
          <a:solidFill>
            <a:srgbClr val="2E86AB"/>
          </a:solidFill>
          <a:ln w="12700">
            <a:solidFill>
              <a:srgbClr val="2E86AB"/>
            </a:solidFill>
            <a:prstDash val="solid"/>
          </a:ln>
        </p:spPr>
      </p:sp>
      <p:sp>
        <p:nvSpPr>
          <p:cNvPr id="12" name="Text 10"/>
          <p:cNvSpPr/>
          <p:nvPr/>
        </p:nvSpPr>
        <p:spPr>
          <a:xfrm>
            <a:off x="475488" y="3392424"/>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Revise Your Thinking: 3-4 sentences on how your thinking changed</a:t>
            </a:r>
            <a:endParaRPr lang="en-US" sz="1200" dirty="0"/>
          </a:p>
        </p:txBody>
      </p:sp>
      <p:sp>
        <p:nvSpPr>
          <p:cNvPr id="13" name="Shape 11"/>
          <p:cNvSpPr/>
          <p:nvPr/>
        </p:nvSpPr>
        <p:spPr>
          <a:xfrm>
            <a:off x="365760" y="4078224"/>
            <a:ext cx="8412480" cy="658368"/>
          </a:xfrm>
          <a:prstGeom prst="rect">
            <a:avLst/>
          </a:prstGeom>
          <a:solidFill>
            <a:srgbClr val="2E86AB"/>
          </a:solidFill>
          <a:ln w="12700">
            <a:solidFill>
              <a:srgbClr val="2E86AB"/>
            </a:solidFill>
            <a:prstDash val="solid"/>
          </a:ln>
        </p:spPr>
      </p:sp>
      <p:sp>
        <p:nvSpPr>
          <p:cNvPr id="14" name="Text 12"/>
          <p:cNvSpPr/>
          <p:nvPr/>
        </p:nvSpPr>
        <p:spPr>
          <a:xfrm>
            <a:off x="475488" y="4142232"/>
            <a:ext cx="8193024" cy="53035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Vocab Check: At least TWO lesson words used accurately</a:t>
            </a:r>
            <a:endParaRPr lang="en-US" sz="1200" dirty="0"/>
          </a:p>
        </p:txBody>
      </p:sp>
      <p:sp>
        <p:nvSpPr>
          <p:cNvPr id="15" name="Text 13"/>
          <p:cNvSpPr/>
          <p:nvPr/>
        </p:nvSpPr>
        <p:spPr>
          <a:xfrm>
            <a:off x="365760" y="4617720"/>
            <a:ext cx="8412480" cy="274320"/>
          </a:xfrm>
          <a:prstGeom prst="rect">
            <a:avLst/>
          </a:prstGeom>
          <a:noFill/>
          <a:ln/>
        </p:spPr>
        <p:txBody>
          <a:bodyPr wrap="square" rtlCol="0" anchor="ctr"/>
          <a:lstStyle/>
          <a:p>
            <a:pPr algn="ctr" indent="0" marL="0">
              <a:buNone/>
            </a:pPr>
            <a:r>
              <a:rPr lang="en-US" sz="1100" dirty="0">
                <a:solidFill>
                  <a:srgbClr val="F6C90E"/>
                </a:solidFill>
                <a:latin typeface="Calibri" pitchFamily="34" charset="0"/>
                <a:ea typeface="Calibri" pitchFamily="34" charset="-122"/>
                <a:cs typeface="Calibri" pitchFamily="34" charset="-120"/>
              </a:rPr>
              <a:t>Turn in via Canvas: copy text, photo your notebook, or record a video.</a:t>
            </a:r>
            <a:endParaRPr lang="en-US" sz="1100" dirty="0"/>
          </a:p>
        </p:txBody>
      </p:sp>
      <p:sp>
        <p:nvSpPr>
          <p:cNvPr id="16" name="Shape 14"/>
          <p:cNvSpPr/>
          <p:nvPr/>
        </p:nvSpPr>
        <p:spPr>
          <a:xfrm>
            <a:off x="0" y="4896612"/>
            <a:ext cx="9144000" cy="246888"/>
          </a:xfrm>
          <a:prstGeom prst="rect">
            <a:avLst/>
          </a:prstGeom>
          <a:solidFill>
            <a:srgbClr val="F6C90E"/>
          </a:solidFill>
          <a:ln w="12700">
            <a:solidFill>
              <a:srgbClr val="F6C90E"/>
            </a:solidFill>
            <a:prstDash val="solid"/>
          </a:ln>
        </p:spPr>
      </p:sp>
      <p:sp>
        <p:nvSpPr>
          <p:cNvPr id="17" name="Text 15"/>
          <p:cNvSpPr/>
          <p:nvPr/>
        </p:nvSpPr>
        <p:spPr>
          <a:xfrm>
            <a:off x="182880" y="4896612"/>
            <a:ext cx="8778240" cy="246888"/>
          </a:xfrm>
          <a:prstGeom prst="rect">
            <a:avLst/>
          </a:prstGeom>
          <a:noFill/>
          <a:ln/>
        </p:spPr>
        <p:txBody>
          <a:bodyPr wrap="square" lIns="0" tIns="0" rIns="0" bIns="0" rtlCol="0" anchor="ctr"/>
          <a:lstStyle/>
          <a:p>
            <a:pPr algn="l" indent="0" marL="0">
              <a:buNone/>
            </a:pPr>
            <a:r>
              <a:rPr lang="en-US" sz="900" dirty="0">
                <a:solidFill>
                  <a:srgbClr val="1A3A5C"/>
                </a:solidFill>
                <a:latin typeface="Calibri" pitchFamily="34" charset="0"/>
                <a:ea typeface="Calibri" pitchFamily="34" charset="-122"/>
                <a:cs typeface="Calibri" pitchFamily="34" charset="-120"/>
              </a:rPr>
              <a:t>Lesson 14.01  |  Optima Academy Online  |  5-PS2-1 / SC.5.P.13.1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2026-08-28T17:40:06Z</dcterms:created>
  <dcterms:modified xsi:type="dcterms:W3CDTF">2026-08-28T17:40:06Z</dcterms:modified>
</cp:coreProperties>
</file>