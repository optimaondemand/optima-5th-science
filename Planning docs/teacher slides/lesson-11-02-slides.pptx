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Welcome. Investigation lesson: observe three household devices and collect evidence of energy transformations. Preview vocab: electrical energy, transformation, device, observation, motion, evidence. Safety: never touch outlets, get parent permission.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1 min. Ask what ALL three have in common: they all start with electricity. Wonder: how does electricity become something else?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Students write before observing. Common: predicting only main output without waste heat. Let this surface.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 sec per word. Electrical energy: where does it come from at home? Transformation: CHANGE in form. Device: examples around you?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Observation: senses only. Motion: what does the fan create? Evidence: everything you observe today IS your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Key: many devices transform into MORE than one form. A lamp makes light AND heat. Stop and Think: circuits can be damaged if moved while running.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Flashlight = light source. Phone speakers = sound. Phone charger getting warm = heat transformation. No special equipment needed.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top to bottom. Key: electrical energy is the INPUT for all three. The DESIGN determines the output. Ask: if you rebuilt the fan to glow instead of spin, what would it become?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Allow 20 min. For home students: select devices, record in notebook. DATA TABLE is their evidence -- every cell must be filled before Record Your Thinking.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 Observed = student own words. Energy and Evidence columns have hints. Students confirm with real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become Part B. Key for Q3: waste energy = energy a device was not designed to produce.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Q1: bulb glowing IS the transformation. Q2: no single right answer. Award best reasoning.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CLAIM = conclusion from ALL three devices. EVIDENCE = specific observations. REASONING = energy changes form, it does not disappear.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C (motion): lamps have no moving parts. A (sound): lamps do not vibrate. D (chemical): lamps use electrical energy, not chemical.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B. Chain: electrical to vibrating cone (motion) to air waves to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Ask: if engineers redesigned a lamp to produce less waste heat, what would change inside? LED bulbs do exactly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A needs typed summary AND photo. B1: energy changes form. B2: efficient devices minimize waste. B3: heat, light, possibly sound.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credit: all three C-E-R parts with evidence from all three devices and at least two vocab words.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Metacognitive -- award credit for honesty and specificity, not for having made the right prediction.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checklist. Common omission: forgetting to upload the photo.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46320"/>
            <a:ext cx="914400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256032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25603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11.02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640080"/>
            <a:ext cx="338328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400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UNIT 3  ENERGY, ELECTRICITY &amp; MOTION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65760" y="960120"/>
            <a:ext cx="54864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Investigation: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Electrical Energy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Transformations</a:t>
            </a:r>
            <a:endParaRPr lang="en-US" sz="3400" dirty="0"/>
          </a:p>
        </p:txBody>
      </p:sp>
      <p:sp>
        <p:nvSpPr>
          <p:cNvPr id="10" name="Shape 8"/>
          <p:cNvSpPr/>
          <p:nvPr/>
        </p:nvSpPr>
        <p:spPr>
          <a:xfrm>
            <a:off x="365760" y="2816352"/>
            <a:ext cx="2743200" cy="25603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816352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SC.5.P.10.4  Electrical to Other Forms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" y="3163824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Can...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38144"/>
            <a:ext cx="5303520" cy="365760"/>
          </a:xfrm>
          <a:prstGeom prst="rect">
            <a:avLst/>
          </a:prstGeom>
          <a:solidFill>
            <a:srgbClr val="264A6E"/>
          </a:solidFill>
          <a:ln w="12700">
            <a:solidFill>
              <a:srgbClr val="264A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" y="3438144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Measure mass with a scale before and after an energy transformation.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858768"/>
            <a:ext cx="5303520" cy="365760"/>
          </a:xfrm>
          <a:prstGeom prst="rect">
            <a:avLst/>
          </a:prstGeom>
          <a:solidFill>
            <a:srgbClr val="264A6E"/>
          </a:solidFill>
          <a:ln w="12700">
            <a:solidFill>
              <a:srgbClr val="264A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" y="3858768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Record my data and graph it in a simple chart.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279392"/>
            <a:ext cx="5303520" cy="365760"/>
          </a:xfrm>
          <a:prstGeom prst="rect">
            <a:avLst/>
          </a:prstGeom>
          <a:solidFill>
            <a:srgbClr val="264A6E"/>
          </a:solidFill>
          <a:ln w="12700">
            <a:solidFill>
              <a:srgbClr val="264A6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" y="4279392"/>
            <a:ext cx="50840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Use evidence to argue that energy caused a visible result.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035040" y="960120"/>
            <a:ext cx="2743200" cy="2651760"/>
          </a:xfrm>
          <a:prstGeom prst="rect">
            <a:avLst/>
          </a:prstGeom>
          <a:solidFill>
            <a:srgbClr val="1E4A70"/>
          </a:solidFill>
          <a:ln w="12700">
            <a:solidFill>
              <a:srgbClr val="2E6A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80760" y="1005840"/>
            <a:ext cx="2651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Becomes...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080760" y="1371600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LIGHT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080760" y="19385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SOUND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6080760" y="2505456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MOTION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137160" y="4846320"/>
            <a:ext cx="8869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 Academy Online  5th Grade Science  Week 11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44018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4401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&amp; WONDER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Devices. One Pattern.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170432"/>
            <a:ext cx="2633472" cy="1691640"/>
          </a:xfrm>
          <a:prstGeom prst="rect">
            <a:avLst/>
          </a:prstGeom>
          <a:solidFill>
            <a:srgbClr val="1A2E40"/>
          </a:solidFill>
          <a:ln w="25400">
            <a:solidFill>
              <a:srgbClr val="F6C9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207008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20040" y="17007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switch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4360" y="1993392"/>
            <a:ext cx="2084832" cy="43891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99339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LIGHT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154680" y="1170432"/>
            <a:ext cx="2633472" cy="1691640"/>
          </a:xfrm>
          <a:prstGeom prst="rect">
            <a:avLst/>
          </a:prstGeom>
          <a:solidFill>
            <a:srgbClr val="1A2E40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54680" y="1207008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154680" y="17007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speaker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429000" y="1993392"/>
            <a:ext cx="2084832" cy="43891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29000" y="199339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SOUND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989320" y="1170432"/>
            <a:ext cx="2633472" cy="1691640"/>
          </a:xfrm>
          <a:prstGeom prst="rect">
            <a:avLst/>
          </a:prstGeom>
          <a:solidFill>
            <a:srgbClr val="1A2E40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207008"/>
            <a:ext cx="263347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989320" y="1700784"/>
            <a:ext cx="26334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on fan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63640" y="1993392"/>
            <a:ext cx="2084832" cy="43891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1993392"/>
            <a:ext cx="208483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MOTION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65760" y="299923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 these three devices have in common? What makes each one different?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3456432"/>
            <a:ext cx="8412480" cy="420624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5488" y="3474720"/>
            <a:ext cx="8193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What do you NOTICE about what each device produces?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65760" y="3950208"/>
            <a:ext cx="8412480" cy="420624"/>
          </a:xfrm>
          <a:prstGeom prst="rect">
            <a:avLst/>
          </a:prstGeom>
          <a:solidFill>
            <a:srgbClr val="1E3A50"/>
          </a:solidFill>
          <a:ln w="12700">
            <a:solidFill>
              <a:srgbClr val="1E3A5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" y="3968496"/>
            <a:ext cx="81930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 What do you WONDER about how electricity becomes light, sound, or motion?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Before You Begin -- Make a Prediction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8412480" cy="768096"/>
          </a:xfrm>
          <a:prstGeom prst="rect">
            <a:avLst/>
          </a:prstGeom>
          <a:solidFill>
            <a:srgbClr val="FFF3E0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078992"/>
            <a:ext cx="822960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F07D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each device, what forms of energy do you predict electricity will transform into? Which device will produce the MOST energy forms?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65760" y="1938528"/>
            <a:ext cx="2633472" cy="310896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93852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  Light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267712"/>
            <a:ext cx="263347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2304288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 predict: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 expect: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938528"/>
            <a:ext cx="2633472" cy="310896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0" y="193852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  Speaker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0" y="2267712"/>
            <a:ext cx="263347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73552" y="2304288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 predict: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 expect: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989320" y="1938528"/>
            <a:ext cx="2633472" cy="310896"/>
          </a:xfrm>
          <a:prstGeom prst="rect">
            <a:avLst/>
          </a:prstGeom>
          <a:solidFill>
            <a:srgbClr val="F07D35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1938528"/>
            <a:ext cx="2633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  Fan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267712"/>
            <a:ext cx="2633472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F07D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062472" y="2304288"/>
            <a:ext cx="2487168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Forms I predict: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 expect: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338328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at least two sentences. Predict what each device will produce and explain your thinking.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803904"/>
            <a:ext cx="8412480" cy="512064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" y="3840480"/>
            <a:ext cx="82296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7D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Think: What do you already know about energy and devices that helps you predict?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-- Part 1 of 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2688336" cy="3749040"/>
          </a:xfrm>
          <a:prstGeom prst="rect">
            <a:avLst/>
          </a:prstGeom>
          <a:solidFill>
            <a:srgbClr val="1E3A5C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60704"/>
            <a:ext cx="2688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56032" y="1581912"/>
            <a:ext cx="2688336" cy="310896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581912"/>
            <a:ext cx="2688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energy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938528"/>
            <a:ext cx="250545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that flows through wires from a battery or outlet. It can be transformed into many forms.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" y="3310128"/>
            <a:ext cx="2542032" cy="987552"/>
          </a:xfrm>
          <a:prstGeom prst="rect">
            <a:avLst/>
          </a:prstGeom>
          <a:solidFill>
            <a:srgbClr val="0E284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337560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54787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lamp uses electrical energy from the outlet to produce light.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36392" y="1024128"/>
            <a:ext cx="2688336" cy="3749040"/>
          </a:xfrm>
          <a:prstGeom prst="rect">
            <a:avLst/>
          </a:prstGeom>
          <a:solidFill>
            <a:srgbClr val="1E3A5C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060704"/>
            <a:ext cx="2688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136392" y="1581912"/>
            <a:ext cx="2688336" cy="310896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1581912"/>
            <a:ext cx="2688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27832" y="1938528"/>
            <a:ext cx="250545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energy changes from one form into another. Electricity to light is one common transformation.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9544" y="3310128"/>
            <a:ext cx="2542032" cy="987552"/>
          </a:xfrm>
          <a:prstGeom prst="rect">
            <a:avLst/>
          </a:prstGeom>
          <a:solidFill>
            <a:srgbClr val="0E284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3337560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64408" y="354787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transformation from electricity to sound happens inside a speaker.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16752" y="1024128"/>
            <a:ext cx="2688336" cy="3749040"/>
          </a:xfrm>
          <a:prstGeom prst="rect">
            <a:avLst/>
          </a:prstGeom>
          <a:solidFill>
            <a:srgbClr val="1E3A5C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1060704"/>
            <a:ext cx="2688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🔌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6016752" y="1581912"/>
            <a:ext cx="2688336" cy="310896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1581912"/>
            <a:ext cx="2688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08192" y="1938528"/>
            <a:ext cx="250545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machine that uses energy to do a job. Lamps, fans, and speakers are all devices.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9904" y="3310128"/>
            <a:ext cx="2542032" cy="987552"/>
          </a:xfrm>
          <a:prstGeom prst="rect">
            <a:avLst/>
          </a:prstGeom>
          <a:solidFill>
            <a:srgbClr val="0E284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337560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44768" y="354787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is engineered to produce a specific type of energy output.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Words -- Part 2 of 2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024128"/>
            <a:ext cx="2688336" cy="3749040"/>
          </a:xfrm>
          <a:prstGeom prst="rect">
            <a:avLst/>
          </a:prstGeom>
          <a:solidFill>
            <a:srgbClr val="1E3A5C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6032" y="1060704"/>
            <a:ext cx="2688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256032" y="1581912"/>
            <a:ext cx="2688336" cy="310896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6032" y="1581912"/>
            <a:ext cx="2688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" y="1938528"/>
            <a:ext cx="250545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Something you see, hear, smell, or feel and write down. Observations are the base of scientific evidence.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" y="3310128"/>
            <a:ext cx="2542032" cy="987552"/>
          </a:xfrm>
          <a:prstGeom prst="rect">
            <a:avLst/>
          </a:prstGeom>
          <a:solidFill>
            <a:srgbClr val="0E284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3337560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84048" y="354787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bulb glowed and felt warm" is a strong scientific observation.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136392" y="1024128"/>
            <a:ext cx="2688336" cy="3749040"/>
          </a:xfrm>
          <a:prstGeom prst="rect">
            <a:avLst/>
          </a:prstGeom>
          <a:solidFill>
            <a:srgbClr val="1E3A5C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36392" y="1060704"/>
            <a:ext cx="2688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136392" y="1581912"/>
            <a:ext cx="2688336" cy="310896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36392" y="1581912"/>
            <a:ext cx="2688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3227832" y="1938528"/>
            <a:ext cx="250545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Movement from one place to another. Fans, motors, and blenders transform electricity into motion.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9544" y="3310128"/>
            <a:ext cx="2542032" cy="987552"/>
          </a:xfrm>
          <a:prstGeom prst="rect">
            <a:avLst/>
          </a:prstGeom>
          <a:solidFill>
            <a:srgbClr val="0E284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64408" y="3337560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64408" y="354787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fan blades spinning is evidence of a motion transformation.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16752" y="1024128"/>
            <a:ext cx="2688336" cy="3749040"/>
          </a:xfrm>
          <a:prstGeom prst="rect">
            <a:avLst/>
          </a:prstGeom>
          <a:solidFill>
            <a:srgbClr val="1E3A5C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16752" y="1060704"/>
            <a:ext cx="26883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6016752" y="1581912"/>
            <a:ext cx="2688336" cy="310896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16752" y="1581912"/>
            <a:ext cx="268833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108192" y="1938528"/>
            <a:ext cx="2505456" cy="1325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 that support a claim. Glow, warmth, sound, or motion are all evidence of transformation.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089904" y="3310128"/>
            <a:ext cx="2542032" cy="987552"/>
          </a:xfrm>
          <a:prstGeom prst="rect">
            <a:avLst/>
          </a:prstGeom>
          <a:solidFill>
            <a:srgbClr val="0E284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3337560"/>
            <a:ext cx="239572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144768" y="3547872"/>
            <a:ext cx="2395728" cy="7132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vibration I felt on the speaker is evidence of a sound transformation.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CONCEPT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Prove Electricity Transformed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1042416"/>
            <a:ext cx="8412480" cy="877824"/>
          </a:xfrm>
          <a:prstGeom prst="rect">
            <a:avLst/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1078992"/>
            <a:ext cx="822960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prove electricity transformed, look at the device when it is ON. Glow = Light.  Warmth = Heat.  Sound = Sound energy.  Movement = Motion.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" y="2084832"/>
            <a:ext cx="2011680" cy="1664208"/>
          </a:xfrm>
          <a:prstGeom prst="rect">
            <a:avLst/>
          </a:prstGeom>
          <a:solidFill>
            <a:srgbClr val="0D6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121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320040" y="2505456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25054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energy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93192" y="27889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light produced -- electricity became light energy.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68880" y="2084832"/>
            <a:ext cx="2011680" cy="1664208"/>
          </a:xfrm>
          <a:prstGeom prst="rect">
            <a:avLst/>
          </a:prstGeom>
          <a:solidFill>
            <a:srgbClr val="0D6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68880" y="2121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2468880" y="2505456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5054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Heat energy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42032" y="27889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feels warmer -- normal side effect of most transformations.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617720" y="2084832"/>
            <a:ext cx="2011680" cy="1664208"/>
          </a:xfrm>
          <a:prstGeom prst="rect">
            <a:avLst/>
          </a:prstGeom>
          <a:solidFill>
            <a:srgbClr val="0D6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17720" y="2121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🎵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4617720" y="2505456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17720" y="25054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energy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90872" y="27889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hear it or feel vibrations -- electricity made something physically move.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766560" y="2084832"/>
            <a:ext cx="2011680" cy="1664208"/>
          </a:xfrm>
          <a:prstGeom prst="rect">
            <a:avLst/>
          </a:prstGeom>
          <a:solidFill>
            <a:srgbClr val="0D6B6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66560" y="2121408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766560" y="2505456"/>
            <a:ext cx="2011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66560" y="250545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energy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39712" y="2788920"/>
            <a:ext cx="1865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Blades spin or parts turn -- electricity became kinetic energy.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3877056"/>
            <a:ext cx="8412480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3904488"/>
            <a:ext cx="822960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and Think: "Why should you ask a parent before unplugging or moving a device, even if it seems safe?"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72C"/>
          </a:solidFill>
          <a:ln w="12700">
            <a:solidFill>
              <a:srgbClr val="D47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595628" cy="274320"/>
          </a:xfrm>
          <a:prstGeom prst="rect">
            <a:avLst/>
          </a:prstGeom>
          <a:solidFill>
            <a:srgbClr val="D4772C"/>
          </a:solidFill>
          <a:ln w="12700">
            <a:solidFill>
              <a:srgbClr val="D47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 DEVICES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Observation Plan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56032" y="1005840"/>
            <a:ext cx="2688336" cy="3749040"/>
          </a:xfrm>
          <a:prstGeom prst="rect">
            <a:avLst/>
          </a:prstGeom>
          <a:solidFill>
            <a:srgbClr val="FFFDE7"/>
          </a:solidFill>
          <a:ln w="25400">
            <a:solidFill>
              <a:srgbClr val="F6C90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" y="1005840"/>
            <a:ext cx="2688336" cy="36576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" y="10058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Device A  A Light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47472" y="140817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47472" y="15910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Lamp, flashlight, or phone screen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47472" y="1883664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47472" y="2084832"/>
            <a:ext cx="250545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Dim the room.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Turn light 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Watch for glow.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Hold hand near bulb after 1 min.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9184" y="3182112"/>
            <a:ext cx="2542032" cy="36576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2004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 Electricity -&gt; LIGHT (+ little heat)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" y="3602736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device? Swap for something similar.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136392" y="1005840"/>
            <a:ext cx="2688336" cy="3749040"/>
          </a:xfrm>
          <a:prstGeom prst="rect">
            <a:avLst/>
          </a:prstGeom>
          <a:solidFill>
            <a:srgbClr val="E3F2FD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36392" y="1005840"/>
            <a:ext cx="2688336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9544" y="10058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 Device B  A Speaker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227832" y="140817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27832" y="15910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TV, radio, phone, or Bluetooth speaker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27832" y="1883664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27832" y="2084832"/>
            <a:ext cx="250545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Turn on, play music.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Hand gently on speaker.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Listen and feel for vibrations.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9544" y="3182112"/>
            <a:ext cx="2542032" cy="36576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46120" y="32004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 Electricity -&gt; SOUND (feel vibrations)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9544" y="3602736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device? Swap for something similar.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016752" y="1005840"/>
            <a:ext cx="2688336" cy="3749040"/>
          </a:xfrm>
          <a:prstGeom prst="rect">
            <a:avLst/>
          </a:prstGeom>
          <a:solidFill>
            <a:srgbClr val="E0F7F7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016752" y="1005840"/>
            <a:ext cx="2688336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089904" y="1005840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 Device C  Fan/Motor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108192" y="1408176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108192" y="1591056"/>
            <a:ext cx="2505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 fan, hair dryer (no heat), blender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108192" y="1883664"/>
            <a:ext cx="250545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Steps: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108192" y="2084832"/>
            <a:ext cx="2505456" cy="10607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Turn it 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Watch blades move.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Listen for hum.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Feel moving air.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089904" y="3182112"/>
            <a:ext cx="2542032" cy="36576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126480" y="3200400"/>
            <a:ext cx="2468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Expect: Electricity -&gt; MOTION (+ sound + maybe heat)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089904" y="3602736"/>
            <a:ext cx="254203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device? Swap for something similar.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Transformation Chain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456432" y="987552"/>
            <a:ext cx="2231136" cy="585216"/>
          </a:xfrm>
          <a:prstGeom prst="rect">
            <a:avLst/>
          </a:prstGeom>
          <a:solidFill>
            <a:srgbClr val="1A3A5C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987552"/>
            <a:ext cx="2231136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ELECTRICAL ENERGY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26280" y="1591056"/>
            <a:ext cx="91440" cy="292608"/>
          </a:xfrm>
          <a:prstGeom prst="rect">
            <a:avLst/>
          </a:prstGeom>
          <a:solidFill>
            <a:srgbClr val="2C4A6E"/>
          </a:solidFill>
          <a:ln w="12700">
            <a:solidFill>
              <a:srgbClr val="2C4A6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883664"/>
            <a:ext cx="7040880" cy="73152"/>
          </a:xfrm>
          <a:prstGeom prst="rect">
            <a:avLst/>
          </a:prstGeom>
          <a:solidFill>
            <a:srgbClr val="5E7B9A"/>
          </a:solidFill>
          <a:ln w="12700">
            <a:solidFill>
              <a:srgbClr val="5E7B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463040" y="1883664"/>
            <a:ext cx="91440" cy="438912"/>
          </a:xfrm>
          <a:prstGeom prst="rect">
            <a:avLst/>
          </a:prstGeom>
          <a:solidFill>
            <a:srgbClr val="5E7B9A"/>
          </a:solidFill>
          <a:ln w="12700">
            <a:solidFill>
              <a:srgbClr val="5E7B9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340864"/>
            <a:ext cx="2194560" cy="347472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3408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LAMP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11480" y="2706624"/>
            <a:ext cx="2194560" cy="987552"/>
          </a:xfrm>
          <a:prstGeom prst="rect">
            <a:avLst/>
          </a:prstGeom>
          <a:solidFill>
            <a:srgbClr val="DDEEF8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4632" y="2752344"/>
            <a:ext cx="204825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-&gt; Light (main)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Heat (side effect)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80560" y="1883664"/>
            <a:ext cx="91440" cy="438912"/>
          </a:xfrm>
          <a:prstGeom prst="rect">
            <a:avLst/>
          </a:prstGeom>
          <a:solidFill>
            <a:srgbClr val="5E7B9A"/>
          </a:solidFill>
          <a:ln w="12700">
            <a:solidFill>
              <a:srgbClr val="5E7B9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29000" y="2340864"/>
            <a:ext cx="2194560" cy="347472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29000" y="23408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SPEAKER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29000" y="2706624"/>
            <a:ext cx="2194560" cy="987552"/>
          </a:xfrm>
          <a:prstGeom prst="rect">
            <a:avLst/>
          </a:prstGeom>
          <a:solidFill>
            <a:srgbClr val="DDEEF8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2152" y="2752344"/>
            <a:ext cx="204825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-&gt; Motion (vibration)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Sound (air waves)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452360" y="1883664"/>
            <a:ext cx="91440" cy="438912"/>
          </a:xfrm>
          <a:prstGeom prst="rect">
            <a:avLst/>
          </a:prstGeom>
          <a:solidFill>
            <a:srgbClr val="5E7B9A"/>
          </a:solidFill>
          <a:ln w="12700">
            <a:solidFill>
              <a:srgbClr val="5E7B9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340864"/>
            <a:ext cx="2194560" cy="3474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340864"/>
            <a:ext cx="2194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FAN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0" y="2706624"/>
            <a:ext cx="2194560" cy="987552"/>
          </a:xfrm>
          <a:prstGeom prst="rect">
            <a:avLst/>
          </a:prstGeom>
          <a:solidFill>
            <a:srgbClr val="DDEEF8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73952" y="2752344"/>
            <a:ext cx="2048256" cy="8961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Electricity -&gt; Motion (spin)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Sound + small Heat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3822192"/>
            <a:ext cx="8503920" cy="58521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38912" y="3849624"/>
            <a:ext cx="8266176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Idea: Same electrical energy. Three different devices. Three different outputs. The DESIGN decides what comes out.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Device Observations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2560320" cy="3547872"/>
          </a:xfrm>
          <a:prstGeom prst="rect">
            <a:avLst/>
          </a:prstGeom>
          <a:solidFill>
            <a:srgbClr val="1A2E20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2560320" cy="31089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05840"/>
            <a:ext cx="25603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NEED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75488" y="135331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📓 Science notebook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" y="176479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✏️ Pencil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" y="217627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Light source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75488" y="258775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🔊 Sound source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75488" y="299923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💨 Fan or motor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" y="3410712"/>
            <a:ext cx="23408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👁 Your senses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090672" y="1024128"/>
            <a:ext cx="565099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A7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Steps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090672" y="1353312"/>
            <a:ext cx="329184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090672" y="1353312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38144" y="1353312"/>
            <a:ext cx="5321808" cy="402336"/>
          </a:xfrm>
          <a:prstGeom prst="rect">
            <a:avLst/>
          </a:prstGeom>
          <a:solidFill>
            <a:srgbClr val="1A2E20"/>
          </a:solidFill>
          <a:ln w="12700">
            <a:solidFill>
              <a:srgbClr val="2A4E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9584" y="1371600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your three devices -- one light, one speaker, one fan or motor.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090672" y="1883664"/>
            <a:ext cx="329184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090672" y="1883664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38144" y="1883664"/>
            <a:ext cx="5321808" cy="402336"/>
          </a:xfrm>
          <a:prstGeom prst="rect">
            <a:avLst/>
          </a:prstGeom>
          <a:solidFill>
            <a:srgbClr val="1A2E20"/>
          </a:solidFill>
          <a:ln w="12700">
            <a:solidFill>
              <a:srgbClr val="2A4E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9584" y="1901952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parent permission before unplugging or moving any device.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090672" y="2414016"/>
            <a:ext cx="329184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90672" y="2414016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38144" y="2414016"/>
            <a:ext cx="5321808" cy="402336"/>
          </a:xfrm>
          <a:prstGeom prst="rect">
            <a:avLst/>
          </a:prstGeom>
          <a:solidFill>
            <a:srgbClr val="1A2E20"/>
          </a:solidFill>
          <a:ln w="12700">
            <a:solidFill>
              <a:srgbClr val="2A4E3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29584" y="2432304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 each device on. Observe for 1-2 min. Write what you see, hear, and feel.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090672" y="2944368"/>
            <a:ext cx="329184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90672" y="2944368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438144" y="2944368"/>
            <a:ext cx="5321808" cy="402336"/>
          </a:xfrm>
          <a:prstGeom prst="rect">
            <a:avLst/>
          </a:prstGeom>
          <a:solidFill>
            <a:srgbClr val="1A2E20"/>
          </a:solidFill>
          <a:ln w="12700">
            <a:solidFill>
              <a:srgbClr val="2A4E3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29584" y="2962656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 in one row of your observation table for each device.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090672" y="3474720"/>
            <a:ext cx="329184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090672" y="3474720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438144" y="3474720"/>
            <a:ext cx="5321808" cy="402336"/>
          </a:xfrm>
          <a:prstGeom prst="rect">
            <a:avLst/>
          </a:prstGeom>
          <a:solidFill>
            <a:srgbClr val="1A2E20"/>
          </a:solidFill>
          <a:ln w="12700">
            <a:solidFill>
              <a:srgbClr val="2A4E3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29584" y="3493008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each device with arrows showing what energy forms come out.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090672" y="4005072"/>
            <a:ext cx="329184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90672" y="4005072"/>
            <a:ext cx="329184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438144" y="4005072"/>
            <a:ext cx="5321808" cy="402336"/>
          </a:xfrm>
          <a:prstGeom prst="rect">
            <a:avLst/>
          </a:prstGeom>
          <a:solidFill>
            <a:srgbClr val="1A2E20"/>
          </a:solidFill>
          <a:ln w="12700">
            <a:solidFill>
              <a:srgbClr val="2A4E3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29584" y="4023360"/>
            <a:ext cx="5138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all three: write one sentence about the pattern you noticed.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090672" y="4663440"/>
            <a:ext cx="5669280" cy="237744"/>
          </a:xfrm>
          <a:prstGeom prst="rect">
            <a:avLst/>
          </a:prstGeom>
          <a:solidFill>
            <a:srgbClr val="3A1010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145536" y="4663440"/>
            <a:ext cx="55595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Safety: Never stick anything into an outlet. Do not touch hot parts. Ask a parent first.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TABLE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Record Your Observations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162763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" y="987552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965960" y="987552"/>
            <a:ext cx="235915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002536" y="98755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Observed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987552"/>
            <a:ext cx="208483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79976" y="9875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Form(s) of Energy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46520" y="987552"/>
            <a:ext cx="2542032" cy="347472"/>
          </a:xfrm>
          <a:prstGeom prst="rect">
            <a:avLst/>
          </a:prstGeom>
          <a:solidFill>
            <a:srgbClr val="1A3A5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83096" y="987552"/>
            <a:ext cx="2468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(Sense Used)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353312"/>
            <a:ext cx="1627632" cy="950976"/>
          </a:xfrm>
          <a:prstGeom prst="rect">
            <a:avLst/>
          </a:prstGeom>
          <a:solidFill>
            <a:srgbClr val="FFFDE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65960" y="1353312"/>
            <a:ext cx="235915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43400" y="1353312"/>
            <a:ext cx="20848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46520" y="1353312"/>
            <a:ext cx="25420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389888"/>
            <a:ext cx="15361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 (Light)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39112" y="1682496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389120" y="1389888"/>
            <a:ext cx="19933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/ Heat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1389888"/>
            <a:ext cx="24505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(glow), Hand (warmth)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377440"/>
            <a:ext cx="1627632" cy="950976"/>
          </a:xfrm>
          <a:prstGeom prst="rect">
            <a:avLst/>
          </a:prstGeom>
          <a:solidFill>
            <a:srgbClr val="E3F2FD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65960" y="2377440"/>
            <a:ext cx="235915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43400" y="2377440"/>
            <a:ext cx="20848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46520" y="2377440"/>
            <a:ext cx="25420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2414016"/>
            <a:ext cx="15361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 (Speaker)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039112" y="2706624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389120" y="2414016"/>
            <a:ext cx="19933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/ Heat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92240" y="2414016"/>
            <a:ext cx="24505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Ears (sound), Hand (vibration)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401568"/>
            <a:ext cx="1627632" cy="950976"/>
          </a:xfrm>
          <a:prstGeom prst="rect">
            <a:avLst/>
          </a:prstGeom>
          <a:solidFill>
            <a:srgbClr val="E0F7F7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965960" y="3401568"/>
            <a:ext cx="235915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43400" y="3401568"/>
            <a:ext cx="20848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446520" y="3401568"/>
            <a:ext cx="2542032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438144"/>
            <a:ext cx="15361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 (Fan/Motor)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039112" y="3730752"/>
            <a:ext cx="221284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389120" y="3438144"/>
            <a:ext cx="19933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/ Sound / Heat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3438144"/>
            <a:ext cx="2450592" cy="8778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Eyes (movement), Ears (hum), Hand (air)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20040" y="4462272"/>
            <a:ext cx="8503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Sketch each device in your notebook: arrows for motion, sun-rays for light, wavy lines for heat, curved waves for sound.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YOUR THINKING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3035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Did You Find?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50976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in complete sentences using your real data.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80160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280160"/>
            <a:ext cx="111556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280160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 -- Light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481328" y="1316736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Device A (the light), what forms of energy did electricity transform into? List every form you spotted -- do not forget heat.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1901952"/>
            <a:ext cx="8229600" cy="237744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1920240"/>
            <a:ext cx="8083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light source transformed electricity into...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450592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450592"/>
            <a:ext cx="111556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450592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B -- Speaker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2487168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Device B (the speaker), when you touched it while music played, what did you feel? What does that tell you about how sound is made?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072384"/>
            <a:ext cx="8229600" cy="237744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0352" y="3090672"/>
            <a:ext cx="8083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 touched my speaker, I felt... This tells me sound is made by...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3621024"/>
            <a:ext cx="8503920" cy="1078992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" y="3621024"/>
            <a:ext cx="1115568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20040" y="3621024"/>
            <a:ext cx="11155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C -- Fan/Motor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481328" y="36576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Device C (the fan or motor), what forms of energy did you observe besides motion? Use the word waste in your answer.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4242816"/>
            <a:ext cx="8229600" cy="237744"/>
          </a:xfrm>
          <a:prstGeom prst="rect">
            <a:avLst/>
          </a:prstGeom>
          <a:solidFill>
            <a:srgbClr val="F0F8FF"/>
          </a:solidFill>
          <a:ln w="12700">
            <a:solidFill>
              <a:srgbClr val="F0F8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" y="4261104"/>
            <a:ext cx="8083296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Besides motion, my fan also produced... This extra energy is called waste because...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517904" cy="274320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5179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 &amp; DEFEND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Your Evidence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1572768"/>
          </a:xfrm>
          <a:prstGeom prst="rect">
            <a:avLst/>
          </a:prstGeom>
          <a:solidFill>
            <a:srgbClr val="1E3A5C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005840"/>
            <a:ext cx="8412480" cy="292608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00584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1 -- Defend Your Thinking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1335024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friend says: "A lamp does not transform anything -- the bulb just glows because that is what bulbs do." Disagree using evidence from your observation.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" y="1993392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"I disagree because my evidence shows..."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2724912"/>
            <a:ext cx="8412480" cy="1572768"/>
          </a:xfrm>
          <a:prstGeom prst="rect">
            <a:avLst/>
          </a:prstGeom>
          <a:solidFill>
            <a:srgbClr val="1E3A5C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724912"/>
            <a:ext cx="8412480" cy="292608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2491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2 -- Compare the Evidence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054096"/>
            <a:ext cx="81381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your three devices was the most EFFICIENT -- meaning it wasted the least energy as side effects like extra heat or sound?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3712464"/>
            <a:ext cx="8138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"I think [Device X] was most efficient because my observation showed..."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 TALK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 Evidence  Reasoning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69264"/>
            <a:ext cx="8412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investigation prove electrical energy transforms? Use C-E-R to answer.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389888"/>
            <a:ext cx="2688336" cy="3383280"/>
          </a:xfrm>
          <a:prstGeom prst="rect">
            <a:avLst/>
          </a:prstGeom>
          <a:solidFill>
            <a:srgbClr val="1E3A5C"/>
          </a:solidFill>
          <a:ln w="25400">
            <a:solidFill>
              <a:srgbClr val="F6C90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389888"/>
            <a:ext cx="2688336" cy="32918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389888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93192" y="175564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all three devices show?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93192" y="2084832"/>
            <a:ext cx="2542032" cy="1353312"/>
          </a:xfrm>
          <a:prstGeom prst="rect">
            <a:avLst/>
          </a:prstGeom>
          <a:solidFill>
            <a:srgbClr val="0E2840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38912" y="212140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evidence shows that electrical energy IS transformed into other forms of energy by each device.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93192" y="347472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bold sentence. State your conclusion directly.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3200400" y="1389888"/>
            <a:ext cx="2688336" cy="3383280"/>
          </a:xfrm>
          <a:prstGeom prst="rect">
            <a:avLst/>
          </a:prstGeom>
          <a:solidFill>
            <a:srgbClr val="1E3A5C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00400" y="1389888"/>
            <a:ext cx="2688336" cy="32918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0" y="1389888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273552" y="175564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observe in each device?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73552" y="2084832"/>
            <a:ext cx="2542032" cy="1353312"/>
          </a:xfrm>
          <a:prstGeom prst="rect">
            <a:avLst/>
          </a:prstGeom>
          <a:solidFill>
            <a:srgbClr val="0E2840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319272" y="212140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A (light) produced ___; Device B (speaker) produced ___; Device C (fan) produced ___ -- all from electrical energy.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73552" y="347472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each device with specific sense observations.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6080760" y="1389888"/>
            <a:ext cx="2688336" cy="3383280"/>
          </a:xfrm>
          <a:prstGeom prst="rect">
            <a:avLst/>
          </a:prstGeom>
          <a:solidFill>
            <a:srgbClr val="1E3A5C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80760" y="1389888"/>
            <a:ext cx="2688336" cy="329184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80760" y="1389888"/>
            <a:ext cx="268833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53912" y="1755648"/>
            <a:ext cx="2542032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this fit what we know?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153912" y="2084832"/>
            <a:ext cx="2542032" cy="1353312"/>
          </a:xfrm>
          <a:prstGeom prst="rect">
            <a:avLst/>
          </a:prstGeom>
          <a:solidFill>
            <a:srgbClr val="0E284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99632" y="2121408"/>
            <a:ext cx="242316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sense because each device is designed to channel electrical energy into a specific job: glowing, vibrating, or spinning.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53912" y="3474720"/>
            <a:ext cx="254203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observations to the science of energy transformation.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20040" y="4828032"/>
            <a:ext cx="8503920" cy="219456"/>
          </a:xfrm>
          <a:prstGeom prst="rect">
            <a:avLst/>
          </a:prstGeom>
          <a:solidFill>
            <a:srgbClr val="1E3A5C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11480" y="4828032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check: use at least 2 -- electrical  transformation  device  observation  evidence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2372868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2372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QUESTION 1 OF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your observation, what form(s) did the lamp's electricity transform into?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640080"/>
          </a:xfrm>
          <a:prstGeom prst="rect">
            <a:avLst/>
          </a:prstGeom>
          <a:solidFill>
            <a:srgbClr val="1E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98448"/>
            <a:ext cx="402336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98448"/>
            <a:ext cx="402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371600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energy -- the lamp makes noise when it runs.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48256"/>
            <a:ext cx="8412480" cy="64008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48256"/>
            <a:ext cx="402336" cy="640080"/>
          </a:xfrm>
          <a:prstGeom prst="rect">
            <a:avLst/>
          </a:prstGeom>
          <a:solidFill>
            <a:srgbClr val="1E6B3C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48256"/>
            <a:ext cx="402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121408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light energy, plus a little heat near the bulb.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73568" y="2194560"/>
            <a:ext cx="694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8412480" cy="640080"/>
          </a:xfrm>
          <a:prstGeom prst="rect">
            <a:avLst/>
          </a:prstGeom>
          <a:solidFill>
            <a:srgbClr val="1E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98064"/>
            <a:ext cx="402336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98064"/>
            <a:ext cx="402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energy -- the lamp's parts spin to make light.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8412480" cy="640080"/>
          </a:xfrm>
          <a:prstGeom prst="rect">
            <a:avLst/>
          </a:prstGeom>
          <a:solidFill>
            <a:srgbClr val="1E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47872"/>
            <a:ext cx="402336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47872"/>
            <a:ext cx="402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621024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Chemical energy stored inside the glass bulb itself.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352544"/>
            <a:ext cx="8412480" cy="402336"/>
          </a:xfrm>
          <a:prstGeom prst="rect">
            <a:avLst/>
          </a:prstGeom>
          <a:solidFill>
            <a:srgbClr val="1E4A1E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 -- A lamp's main job is to make light. Some electrical energy also becomes heat.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2372868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23728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  QUESTION 2 OF 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66928"/>
            <a:ext cx="8412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you touched a speaker playing music, you could feel it vibrating. What does that prove?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1298448"/>
            <a:ext cx="8412480" cy="640080"/>
          </a:xfrm>
          <a:prstGeom prst="rect">
            <a:avLst/>
          </a:prstGeom>
          <a:solidFill>
            <a:srgbClr val="1E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298448"/>
            <a:ext cx="402336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98448"/>
            <a:ext cx="402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1371600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Sound is just air moving on its own -- the speaker does not cause it.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048256"/>
            <a:ext cx="8412480" cy="640080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" y="2048256"/>
            <a:ext cx="402336" cy="640080"/>
          </a:xfrm>
          <a:prstGeom prst="rect">
            <a:avLst/>
          </a:prstGeom>
          <a:solidFill>
            <a:srgbClr val="1E6B3C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048256"/>
            <a:ext cx="402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2121408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speaker makes sound by physically vibrating -- a transformation from electricity to motion to sound.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973568" y="2194560"/>
            <a:ext cx="694944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Correct!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2798064"/>
            <a:ext cx="8412480" cy="640080"/>
          </a:xfrm>
          <a:prstGeom prst="rect">
            <a:avLst/>
          </a:prstGeom>
          <a:solidFill>
            <a:srgbClr val="1E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65760" y="2798064"/>
            <a:ext cx="402336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798064"/>
            <a:ext cx="402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2960" y="2871216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 are powered by chemical energy stored in the speaker cone.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3547872"/>
            <a:ext cx="8412480" cy="640080"/>
          </a:xfrm>
          <a:prstGeom prst="rect">
            <a:avLst/>
          </a:prstGeom>
          <a:solidFill>
            <a:srgbClr val="1E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65760" y="3547872"/>
            <a:ext cx="402336" cy="640080"/>
          </a:xfrm>
          <a:prstGeom prst="rect">
            <a:avLst/>
          </a:prstGeom>
          <a:solidFill>
            <a:srgbClr val="1A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3547872"/>
            <a:ext cx="40233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22960" y="3621024"/>
            <a:ext cx="786384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vibration proves the speaker is broken -- working speakers do not vibrate.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65760" y="4352544"/>
            <a:ext cx="8412480" cy="402336"/>
          </a:xfrm>
          <a:prstGeom prst="rect">
            <a:avLst/>
          </a:prstGeom>
          <a:solidFill>
            <a:srgbClr val="1E4A1E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370832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FF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B -- Electrical energy makes the cone vibrate (motion). Vibrations push the air. Your ear picks them up as sound.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MIND-BLOWING FACT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Going Deeper...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65760" y="950976"/>
            <a:ext cx="8412480" cy="1188720"/>
          </a:xfrm>
          <a:prstGeom prst="rect">
            <a:avLst/>
          </a:prstGeom>
          <a:solidFill>
            <a:srgbClr val="1E2E10"/>
          </a:solidFill>
          <a:ln w="25400">
            <a:solidFill>
              <a:srgbClr val="F6C90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987552"/>
            <a:ext cx="8229600" cy="11155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Bluetooth speaker can transform electrical energy into about 20,000 different sound vibrations per second. Your ear picks up every one. Your brain sorts them into voices, drums, and melody -- instantly. All from a thin paper cone shaking inside a plastic box.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67712"/>
            <a:ext cx="4005072" cy="2377440"/>
          </a:xfrm>
          <a:prstGeom prst="rect">
            <a:avLst/>
          </a:prstGeom>
          <a:solidFill>
            <a:srgbClr val="0E2230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2267712"/>
            <a:ext cx="4005072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" y="2267712"/>
            <a:ext cx="3858768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Deeper -- Why does a lamp not make loud sound?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15184"/>
            <a:ext cx="3822192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device is built to transform energy in one specific way. A lamp has a bulb designed to glow -- not to vibrate. A speaker has a cone designed to vibrate. If you rebuilt a lamp with speaker parts, the same plug could produce sound instead of light. The inside decides what comes out.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26864" y="2267712"/>
            <a:ext cx="4133088" cy="2377440"/>
          </a:xfrm>
          <a:prstGeom prst="rect">
            <a:avLst/>
          </a:prstGeom>
          <a:solidFill>
            <a:srgbClr val="0E2230"/>
          </a:solidFill>
          <a:ln w="12700">
            <a:solidFill>
              <a:srgbClr val="D4772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26864" y="2267712"/>
            <a:ext cx="4133088" cy="310896"/>
          </a:xfrm>
          <a:prstGeom prst="rect">
            <a:avLst/>
          </a:prstGeom>
          <a:solidFill>
            <a:srgbClr val="D4772C"/>
          </a:solidFill>
          <a:ln w="12700">
            <a:solidFill>
              <a:srgbClr val="D4772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00016" y="2267712"/>
            <a:ext cx="3986784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Connection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718304" y="2615184"/>
            <a:ext cx="3950208" cy="19568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engineers design an appliance, they test it exactly as you did: turn it on, watch carefully, listen, feel for heat, take notes. Then they ask: is the device doing its main job efficiently, wasting as little energy as possible?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772C"/>
          </a:solidFill>
          <a:ln w="12700">
            <a:solidFill>
              <a:srgbClr val="D4772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solidFill>
            <a:srgbClr val="D4772C"/>
          </a:solidFill>
          <a:ln w="12700">
            <a:solidFill>
              <a:srgbClr val="D4772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Parts A and B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987552"/>
            <a:ext cx="8503920" cy="1792224"/>
          </a:xfrm>
          <a:prstGeom prst="rect">
            <a:avLst/>
          </a:prstGeom>
          <a:solidFill>
            <a:srgbClr val="FFFFFF"/>
          </a:solidFill>
          <a:ln w="25400">
            <a:solidFill>
              <a:srgbClr val="D4772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0040" y="987552"/>
            <a:ext cx="8503920" cy="310896"/>
          </a:xfrm>
          <a:prstGeom prst="rect">
            <a:avLst/>
          </a:prstGeom>
          <a:solidFill>
            <a:srgbClr val="D4772C"/>
          </a:solidFill>
          <a:ln w="12700">
            <a:solidFill>
              <a:srgbClr val="D4772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87552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-- Data Table and Sketches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1335024"/>
            <a:ext cx="8229600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 a clear photo of your completed observation table AND your three device sketches from your notebook.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38912" y="1883664"/>
            <a:ext cx="8229600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your summary: Device A (Light): electricity transformed into [forms]. Device B (Speaker): electricity transformed into [forms]. Device C (Fan): electricity transformed into [forms].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852928"/>
            <a:ext cx="8503920" cy="1901952"/>
          </a:xfrm>
          <a:prstGeom prst="rect">
            <a:avLst/>
          </a:prstGeom>
          <a:solidFill>
            <a:srgbClr val="FFFFFF"/>
          </a:solidFill>
          <a:ln w="25400">
            <a:solidFill>
              <a:srgbClr val="2E86A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852928"/>
            <a:ext cx="8503920" cy="31089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852928"/>
            <a:ext cx="8321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-- Evidence Questions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38912" y="320040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B1. Your three devices all started with electricity. What does that tell you about what energy does?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" y="365760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B2. If one device seemed to produce only its main output with no noticeable side effects, what might explain that?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38912" y="4114800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B3. Imagine testing a toaster the same way. What forms of energy would you predict it transforms electricity into?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EBF4FA"/>
          </a:solidFill>
          <a:ln w="12700">
            <a:solidFill>
              <a:srgbClr val="EBF4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673352" cy="274320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673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 PART 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Claim  Evidence  Reasoning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969264"/>
            <a:ext cx="8503920" cy="621792"/>
          </a:xfrm>
          <a:prstGeom prst="rect">
            <a:avLst/>
          </a:prstGeom>
          <a:solidFill>
            <a:srgbClr val="E0F4F4"/>
          </a:solidFill>
          <a:ln w="25400">
            <a:solidFill>
              <a:srgbClr val="0E7C7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005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your investigation prove that electrical energy transforms? Defend your answer using evidence from all three devices. Aim for 4-6 sentences.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0040" y="1664208"/>
            <a:ext cx="8503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664208"/>
            <a:ext cx="1078992" cy="859536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664208"/>
            <a:ext cx="10789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444752" y="1700784"/>
            <a:ext cx="724204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evidence shows that electrical energy IS transformed into other forms of energy by each device.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444752" y="1883664"/>
            <a:ext cx="72420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sentence. Direct, confident, based on all three observations.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20040" y="2615184"/>
            <a:ext cx="8503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615184"/>
            <a:ext cx="1078992" cy="859536"/>
          </a:xfrm>
          <a:prstGeom prst="rect">
            <a:avLst/>
          </a:prstGeom>
          <a:solidFill>
            <a:srgbClr val="2E86AB"/>
          </a:solidFill>
          <a:ln w="12700">
            <a:solidFill>
              <a:srgbClr val="2E86A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2615184"/>
            <a:ext cx="10789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444752" y="2651760"/>
            <a:ext cx="724204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my three observations, Device A produced ___; Device B produced ___; Device C produced ___ -- all starting from electrical energy.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444752" y="2834640"/>
            <a:ext cx="72420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observations per device. Use your senses: saw, heard, felt.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20040" y="3566160"/>
            <a:ext cx="8503920" cy="859536"/>
          </a:xfrm>
          <a:prstGeom prst="rect">
            <a:avLst/>
          </a:prstGeom>
          <a:solidFill>
            <a:srgbClr val="FFFFFF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566160"/>
            <a:ext cx="1078992" cy="85953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3566160"/>
            <a:ext cx="1078992" cy="8595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444752" y="3602736"/>
            <a:ext cx="7242048" cy="5120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2C4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makes sense because each device is designed to channel electrical energy into a specific job. The design of the device determines what form the energy becomes.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444752" y="3785616"/>
            <a:ext cx="7242048" cy="2560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this is expected. Connect to energy transformation.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20040" y="4663440"/>
            <a:ext cx="8503920" cy="256032"/>
          </a:xfrm>
          <a:prstGeom prst="rect">
            <a:avLst/>
          </a:prstGeom>
          <a:solidFill>
            <a:srgbClr val="D0EDE8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66344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7C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at least 2 vocab words: electrical  transformation  device  observation  evidence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Look Back at Your Prediction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9692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back to the prediction you wrote at the beginning. Read it. Answer these three prompts in 3-4 sentences total.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8503920" cy="950976"/>
          </a:xfrm>
          <a:prstGeom prst="rect">
            <a:avLst/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0040" y="1444752"/>
            <a:ext cx="402336" cy="9509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1444752"/>
            <a:ext cx="40233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786384" y="1490472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did you predict for each device -- which form(s) of energy did you think electricity would transform into?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86384" y="1920240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the lab, I predicted that Device A would produce ___, Device B would produce ___, and Device C would produce ___.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20040" y="2487168"/>
            <a:ext cx="8503920" cy="950976"/>
          </a:xfrm>
          <a:prstGeom prst="rect">
            <a:avLst/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20040" y="2487168"/>
            <a:ext cx="402336" cy="9509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2487168"/>
            <a:ext cx="40233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6384" y="2532888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your real observations match your predictions? What was the same, and what surprised you?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86384" y="2962656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observations matched my prediction for ___, but I was surprised that ___ because I did not expect...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529584"/>
            <a:ext cx="8503920" cy="950976"/>
          </a:xfrm>
          <a:prstGeom prst="rect">
            <a:avLst/>
          </a:prstGeom>
          <a:solidFill>
            <a:srgbClr val="0A5C5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529584"/>
            <a:ext cx="402336" cy="950976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3529584"/>
            <a:ext cx="402336" cy="9509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6C9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786384" y="3575304"/>
            <a:ext cx="7955280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most convincing piece of evidence you collected today? Why does it convince you?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86384" y="4005072"/>
            <a:ext cx="7955280" cy="438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C8E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convincing evidence I collected was ___ because it directly showed that electricity transformed into...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64592"/>
            <a:ext cx="1595628" cy="274320"/>
          </a:xfrm>
          <a:prstGeom prst="rect">
            <a:avLst/>
          </a:prstGeom>
          <a:solidFill>
            <a:srgbClr val="F6C90E"/>
          </a:solidFill>
          <a:ln w="12700">
            <a:solidFill>
              <a:srgbClr val="F6C90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64592"/>
            <a:ext cx="15956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YOU SUBMIT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65760" y="54864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Submission Checklist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1005840"/>
            <a:ext cx="8412480" cy="603504"/>
          </a:xfrm>
          <a:prstGeom prst="rect">
            <a:avLst/>
          </a:prstGeom>
          <a:solidFill>
            <a:srgbClr val="1E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84048" y="1106424"/>
            <a:ext cx="384048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1106424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41248" y="1042416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 -- Data Table and Sketches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41248" y="131673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devices recorded. Photo of notebook uploaded to Canvas.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" y="1700784"/>
            <a:ext cx="8412480" cy="603504"/>
          </a:xfrm>
          <a:prstGeom prst="rect">
            <a:avLst/>
          </a:prstGeom>
          <a:solidFill>
            <a:srgbClr val="1E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" y="1801368"/>
            <a:ext cx="384048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1801368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841248" y="173736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 -- Evidence Questions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41248" y="201168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questions answered in complete sentences using your real data.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395728"/>
            <a:ext cx="8412480" cy="603504"/>
          </a:xfrm>
          <a:prstGeom prst="rect">
            <a:avLst/>
          </a:prstGeom>
          <a:solidFill>
            <a:srgbClr val="1E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84048" y="2496312"/>
            <a:ext cx="384048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4048" y="2496312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41248" y="24323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C -- CER Written Response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41248" y="2706624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Claim, evidence from all three devices, and reasoning. 4-6 sentences.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65760" y="3090672"/>
            <a:ext cx="8412480" cy="603504"/>
          </a:xfrm>
          <a:prstGeom prst="rect">
            <a:avLst/>
          </a:prstGeom>
          <a:solidFill>
            <a:srgbClr val="1E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048" y="3191256"/>
            <a:ext cx="384048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3191256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41248" y="3127248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 Your Thinking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41248" y="3401568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3-4 sentences comparing your predictions to your real observations.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65760" y="3785616"/>
            <a:ext cx="8412480" cy="603504"/>
          </a:xfrm>
          <a:prstGeom prst="rect">
            <a:avLst/>
          </a:prstGeom>
          <a:solidFill>
            <a:srgbClr val="1E3A5C"/>
          </a:solidFill>
          <a:ln w="12700">
            <a:solidFill>
              <a:srgbClr val="2E5A8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" y="3886200"/>
            <a:ext cx="384048" cy="402336"/>
          </a:xfrm>
          <a:prstGeom prst="rect">
            <a:avLst/>
          </a:prstGeom>
          <a:solidFill>
            <a:srgbClr val="2A7A4B"/>
          </a:solidFill>
          <a:ln w="12700">
            <a:solidFill>
              <a:srgbClr val="2A7A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3886200"/>
            <a:ext cx="384048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41248" y="3822192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 Check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41248" y="4096512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E7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two vocabulary words used accurately in your writing.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828032"/>
            <a:ext cx="9144000" cy="310896"/>
          </a:xfrm>
          <a:prstGeom prst="rect">
            <a:avLst/>
          </a:prstGeom>
          <a:solidFill>
            <a:srgbClr val="0E7C7B"/>
          </a:solidFill>
          <a:ln w="12700">
            <a:solidFill>
              <a:srgbClr val="0E7C7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82880" y="4828032"/>
            <a:ext cx="8778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work today!     Next up: Lesson 12.01     Optima Academy Online     5th Grade Science     SC.5.P.10.4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Optima Academy Online</dc:creator>
  <cp:lastModifiedBy>Optima Academy Online</cp:lastModifiedBy>
  <cp:revision>1</cp:revision>
  <dcterms:created xsi:type="dcterms:W3CDTF">2026-08-28T17:05:48Z</dcterms:created>
  <dcterms:modified xsi:type="dcterms:W3CDTF">2026-08-28T17:05:48Z</dcterms:modified>
</cp:coreProperties>
</file>