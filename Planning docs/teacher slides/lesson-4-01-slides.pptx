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Engage. Students should connect to Lesson 3.02 particle arrangement.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Prediction.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Key Concept. Pour milk scenario is key — volume stays fixed (liquid), only shape changes.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Discuss &amp; Defend.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Scientist Talk (CER).
Follow-up moves: "What makes you say that?" / "Can you say more?" / "Does anyone see it differently?" / "Who can add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Self-Check Q1.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Self-Check Q2.
Follow-up moves: "What makes you say that?" / "Can you say more?" / "Does anyone see it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Text 1"/>
          <p:cNvSpPr/>
          <p:nvPr/>
        </p:nvSpPr>
        <p:spPr>
          <a:xfrm>
            <a:off x="457200" y="365760"/>
            <a:ext cx="8229600" cy="411480"/>
          </a:xfrm>
          <a:prstGeom prst="rect">
            <a:avLst/>
          </a:prstGeom>
          <a:noFill/>
          <a:ln/>
        </p:spPr>
        <p:txBody>
          <a:bodyPr wrap="square" rtlCol="0" anchor="ctr"/>
          <a:lstStyle/>
          <a:p>
            <a:pPr indent="0" marL="0">
              <a:buNone/>
            </a:pPr>
            <a:r>
              <a:rPr lang="en-US" sz="1600" b="1" dirty="0">
                <a:solidFill>
                  <a:srgbClr val="F6C90E"/>
                </a:solidFill>
                <a:latin typeface="Calibri" pitchFamily="34" charset="0"/>
                <a:ea typeface="Calibri" pitchFamily="34" charset="-122"/>
                <a:cs typeface="Calibri" pitchFamily="34" charset="-120"/>
              </a:rPr>
              <a:t>Lesson 4.01</a:t>
            </a:r>
            <a:endParaRPr lang="en-US" sz="1600" dirty="0"/>
          </a:p>
        </p:txBody>
      </p:sp>
      <p:sp>
        <p:nvSpPr>
          <p:cNvPr id="4" name="Text 2"/>
          <p:cNvSpPr/>
          <p:nvPr/>
        </p:nvSpPr>
        <p:spPr>
          <a:xfrm>
            <a:off x="457200" y="822960"/>
            <a:ext cx="8229600" cy="841248"/>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Do Solids, Liquids, and Gases Compare?</a:t>
            </a:r>
            <a:endParaRPr lang="en-US" sz="3400" dirty="0"/>
          </a:p>
        </p:txBody>
      </p:sp>
      <p:sp>
        <p:nvSpPr>
          <p:cNvPr id="5" name="Shape 3"/>
          <p:cNvSpPr/>
          <p:nvPr/>
        </p:nvSpPr>
        <p:spPr>
          <a:xfrm>
            <a:off x="457200" y="1792224"/>
            <a:ext cx="8229600" cy="320040"/>
          </a:xfrm>
          <a:prstGeom prst="rect">
            <a:avLst/>
          </a:prstGeom>
          <a:solidFill>
            <a:srgbClr val="2C4A6E"/>
          </a:solidFill>
          <a:ln w="12700">
            <a:solidFill>
              <a:srgbClr val="2C4A6E"/>
            </a:solidFill>
            <a:prstDash val="solid"/>
          </a:ln>
        </p:spPr>
      </p:sp>
      <p:sp>
        <p:nvSpPr>
          <p:cNvPr id="6" name="Text 4"/>
          <p:cNvSpPr/>
          <p:nvPr/>
        </p:nvSpPr>
        <p:spPr>
          <a:xfrm>
            <a:off x="548640" y="1847088"/>
            <a:ext cx="8046720" cy="21031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Q1 · Unit 2 — Matter  |  Week 4  |  SC.5.P.8.1</a:t>
            </a:r>
            <a:endParaRPr lang="en-US" sz="1200" dirty="0"/>
          </a:p>
        </p:txBody>
      </p:sp>
      <p:sp>
        <p:nvSpPr>
          <p:cNvPr id="7" name="Text 5"/>
          <p:cNvSpPr/>
          <p:nvPr/>
        </p:nvSpPr>
        <p:spPr>
          <a:xfrm>
            <a:off x="457200" y="2249424"/>
            <a:ext cx="18288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I Can…</a:t>
            </a:r>
            <a:endParaRPr lang="en-US" sz="1200" dirty="0"/>
          </a:p>
        </p:txBody>
      </p:sp>
      <p:sp>
        <p:nvSpPr>
          <p:cNvPr id="8" name="Shape 6"/>
          <p:cNvSpPr/>
          <p:nvPr/>
        </p:nvSpPr>
        <p:spPr>
          <a:xfrm>
            <a:off x="457200" y="2560320"/>
            <a:ext cx="8229600" cy="438912"/>
          </a:xfrm>
          <a:prstGeom prst="rect">
            <a:avLst/>
          </a:prstGeom>
          <a:solidFill>
            <a:srgbClr val="2C4A6E"/>
          </a:solidFill>
          <a:ln w="12700">
            <a:solidFill>
              <a:srgbClr val="2C4A6E"/>
            </a:solidFill>
            <a:prstDash val="solid"/>
          </a:ln>
        </p:spPr>
      </p:sp>
      <p:sp>
        <p:nvSpPr>
          <p:cNvPr id="9" name="Text 7"/>
          <p:cNvSpPr/>
          <p:nvPr/>
        </p:nvSpPr>
        <p:spPr>
          <a:xfrm>
            <a:off x="548640" y="2615184"/>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1.  Name the three common states of matter and give an example of each.</a:t>
            </a:r>
            <a:endParaRPr lang="en-US" sz="1300" dirty="0"/>
          </a:p>
        </p:txBody>
      </p:sp>
      <p:sp>
        <p:nvSpPr>
          <p:cNvPr id="10" name="Shape 8"/>
          <p:cNvSpPr/>
          <p:nvPr/>
        </p:nvSpPr>
        <p:spPr>
          <a:xfrm>
            <a:off x="457200" y="3035808"/>
            <a:ext cx="8229600" cy="438912"/>
          </a:xfrm>
          <a:prstGeom prst="rect">
            <a:avLst/>
          </a:prstGeom>
          <a:solidFill>
            <a:srgbClr val="2C4A6E"/>
          </a:solidFill>
          <a:ln w="12700">
            <a:solidFill>
              <a:srgbClr val="2C4A6E"/>
            </a:solidFill>
            <a:prstDash val="solid"/>
          </a:ln>
        </p:spPr>
      </p:sp>
      <p:sp>
        <p:nvSpPr>
          <p:cNvPr id="11" name="Text 9"/>
          <p:cNvSpPr/>
          <p:nvPr/>
        </p:nvSpPr>
        <p:spPr>
          <a:xfrm>
            <a:off x="548640" y="3090672"/>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2.  Compare states using shape, volume, and how they flow.</a:t>
            </a:r>
            <a:endParaRPr lang="en-US" sz="1300" dirty="0"/>
          </a:p>
        </p:txBody>
      </p:sp>
      <p:sp>
        <p:nvSpPr>
          <p:cNvPr id="12" name="Shape 10"/>
          <p:cNvSpPr/>
          <p:nvPr/>
        </p:nvSpPr>
        <p:spPr>
          <a:xfrm>
            <a:off x="457200" y="3511296"/>
            <a:ext cx="8229600" cy="438912"/>
          </a:xfrm>
          <a:prstGeom prst="rect">
            <a:avLst/>
          </a:prstGeom>
          <a:solidFill>
            <a:srgbClr val="2C4A6E"/>
          </a:solidFill>
          <a:ln w="12700">
            <a:solidFill>
              <a:srgbClr val="2C4A6E"/>
            </a:solidFill>
            <a:prstDash val="solid"/>
          </a:ln>
        </p:spPr>
      </p:sp>
      <p:sp>
        <p:nvSpPr>
          <p:cNvPr id="13" name="Text 11"/>
          <p:cNvSpPr/>
          <p:nvPr/>
        </p:nvSpPr>
        <p:spPr>
          <a:xfrm>
            <a:off x="548640" y="3566160"/>
            <a:ext cx="804672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3.  Use properties as evidence to identify a mystery sample.</a:t>
            </a:r>
            <a:endParaRPr lang="en-US" sz="1300" dirty="0"/>
          </a:p>
        </p:txBody>
      </p:sp>
      <p:sp>
        <p:nvSpPr>
          <p:cNvPr id="14" name="Shape 12"/>
          <p:cNvSpPr/>
          <p:nvPr/>
        </p:nvSpPr>
        <p:spPr>
          <a:xfrm>
            <a:off x="0" y="4800600"/>
            <a:ext cx="9144000" cy="347472"/>
          </a:xfrm>
          <a:prstGeom prst="rect">
            <a:avLst/>
          </a:prstGeom>
          <a:solidFill>
            <a:srgbClr val="F07D35"/>
          </a:solidFill>
          <a:ln w="12700">
            <a:solidFill>
              <a:srgbClr val="F07D35"/>
            </a:solidFill>
            <a:prstDash val="solid"/>
          </a:ln>
        </p:spPr>
      </p:sp>
      <p:sp>
        <p:nvSpPr>
          <p:cNvPr id="15" name="Text 13"/>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Optima Academy Online  ·  5th Grade Science  ·  Week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440180" cy="274320"/>
          </a:xfrm>
          <a:prstGeom prst="rect">
            <a:avLst/>
          </a:prstGeom>
          <a:solidFill>
            <a:srgbClr val="0E7C7B"/>
          </a:solidFill>
          <a:ln w="12700">
            <a:solidFill>
              <a:srgbClr val="0E7C7B"/>
            </a:solidFill>
            <a:prstDash val="solid"/>
          </a:ln>
        </p:spPr>
      </p:sp>
      <p:sp>
        <p:nvSpPr>
          <p:cNvPr id="4" name="Text 2"/>
          <p:cNvSpPr/>
          <p:nvPr/>
        </p:nvSpPr>
        <p:spPr>
          <a:xfrm>
            <a:off x="457200" y="274320"/>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5" name="Text 3"/>
          <p:cNvSpPr/>
          <p:nvPr/>
        </p:nvSpPr>
        <p:spPr>
          <a:xfrm>
            <a:off x="457200" y="68580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Same Particles — Three Different Forms</a:t>
            </a:r>
            <a:endParaRPr lang="en-US" sz="2800" dirty="0"/>
          </a:p>
        </p:txBody>
      </p:sp>
      <p:sp>
        <p:nvSpPr>
          <p:cNvPr id="6" name="Shape 4"/>
          <p:cNvSpPr/>
          <p:nvPr/>
        </p:nvSpPr>
        <p:spPr>
          <a:xfrm>
            <a:off x="457200" y="1389888"/>
            <a:ext cx="8229600" cy="1005840"/>
          </a:xfrm>
          <a:prstGeom prst="rect">
            <a:avLst/>
          </a:prstGeom>
          <a:solidFill>
            <a:srgbClr val="2C4A6E"/>
          </a:solidFill>
          <a:ln w="12700">
            <a:solidFill>
              <a:srgbClr val="2C4A6E"/>
            </a:solidFill>
            <a:prstDash val="solid"/>
          </a:ln>
        </p:spPr>
      </p:sp>
      <p:sp>
        <p:nvSpPr>
          <p:cNvPr id="7" name="Text 5"/>
          <p:cNvSpPr/>
          <p:nvPr/>
        </p:nvSpPr>
        <p:spPr>
          <a:xfrm>
            <a:off x="548640" y="1444752"/>
            <a:ext cx="8046720" cy="896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An ice cube, a glass of water, and steam rising from a kettle. All three are made of exactly the same water particles. Yet you cannot hold steam, you can pour water but not ice, and you can pick up ice but not steam or water.</a:t>
            </a:r>
            <a:endParaRPr lang="en-US" sz="1400" dirty="0"/>
          </a:p>
        </p:txBody>
      </p:sp>
      <p:sp>
        <p:nvSpPr>
          <p:cNvPr id="8" name="Shape 6"/>
          <p:cNvSpPr/>
          <p:nvPr/>
        </p:nvSpPr>
        <p:spPr>
          <a:xfrm>
            <a:off x="457200" y="2514600"/>
            <a:ext cx="8229600" cy="749808"/>
          </a:xfrm>
          <a:prstGeom prst="rect">
            <a:avLst/>
          </a:prstGeom>
          <a:solidFill>
            <a:srgbClr val="1A3A5C"/>
          </a:solidFill>
          <a:ln w="12700">
            <a:solidFill>
              <a:srgbClr val="1A3A5C"/>
            </a:solidFill>
            <a:prstDash val="solid"/>
          </a:ln>
        </p:spPr>
      </p:sp>
      <p:sp>
        <p:nvSpPr>
          <p:cNvPr id="9" name="Text 7"/>
          <p:cNvSpPr/>
          <p:nvPr/>
        </p:nvSpPr>
        <p:spPr>
          <a:xfrm>
            <a:off x="548640" y="2569464"/>
            <a:ext cx="8046720" cy="6400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Prediction: What makes ice, water, and steam behave so differently — when they are all made of the same kind of matter? Use what you know about particles to explain.</a:t>
            </a:r>
            <a:endParaRPr lang="en-US" sz="1400" dirty="0"/>
          </a:p>
        </p:txBody>
      </p:sp>
      <p:sp>
        <p:nvSpPr>
          <p:cNvPr id="10" name="Text 8"/>
          <p:cNvSpPr/>
          <p:nvPr/>
        </p:nvSpPr>
        <p:spPr>
          <a:xfrm>
            <a:off x="457200" y="3383280"/>
            <a:ext cx="8229600" cy="256032"/>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Sentence starter:</a:t>
            </a:r>
            <a:endParaRPr lang="en-US" sz="1200" dirty="0"/>
          </a:p>
        </p:txBody>
      </p:sp>
      <p:sp>
        <p:nvSpPr>
          <p:cNvPr id="11" name="Shape 9"/>
          <p:cNvSpPr/>
          <p:nvPr/>
        </p:nvSpPr>
        <p:spPr>
          <a:xfrm>
            <a:off x="457200" y="3657600"/>
            <a:ext cx="8229600" cy="457200"/>
          </a:xfrm>
          <a:prstGeom prst="rect">
            <a:avLst/>
          </a:prstGeom>
          <a:solidFill>
            <a:srgbClr val="2C4A6E"/>
          </a:solidFill>
          <a:ln w="12700">
            <a:solidFill>
              <a:srgbClr val="2C4A6E"/>
            </a:solidFill>
            <a:prstDash val="solid"/>
          </a:ln>
        </p:spPr>
      </p:sp>
      <p:sp>
        <p:nvSpPr>
          <p:cNvPr id="12" name="Text 10"/>
          <p:cNvSpPr/>
          <p:nvPr/>
        </p:nvSpPr>
        <p:spPr>
          <a:xfrm>
            <a:off x="548640" y="3712464"/>
            <a:ext cx="8046720" cy="34747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"Ice, water, and steam behave differently because their particles are…"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74320"/>
            <a:ext cx="818388" cy="274320"/>
          </a:xfrm>
          <a:prstGeom prst="rect">
            <a:avLst/>
          </a:prstGeom>
          <a:solidFill>
            <a:srgbClr val="F07D35"/>
          </a:solidFill>
          <a:ln w="12700">
            <a:solidFill>
              <a:srgbClr val="F07D35"/>
            </a:solidFill>
            <a:prstDash val="solid"/>
          </a:ln>
        </p:spPr>
      </p:sp>
      <p:sp>
        <p:nvSpPr>
          <p:cNvPr id="4" name="Text 2"/>
          <p:cNvSpPr/>
          <p:nvPr/>
        </p:nvSpPr>
        <p:spPr>
          <a:xfrm>
            <a:off x="457200" y="274320"/>
            <a:ext cx="81838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5" name="Text 3"/>
          <p:cNvSpPr/>
          <p:nvPr/>
        </p:nvSpPr>
        <p:spPr>
          <a:xfrm>
            <a:off x="457200" y="658368"/>
            <a:ext cx="8229600" cy="457200"/>
          </a:xfrm>
          <a:prstGeom prst="rect">
            <a:avLst/>
          </a:prstGeom>
          <a:noFill/>
          <a:ln/>
        </p:spPr>
        <p:txBody>
          <a:bodyPr wrap="square" rtlCol="0" anchor="ctr"/>
          <a:lstStyle/>
          <a:p>
            <a:pPr indent="0" marL="0">
              <a:buNone/>
            </a:pPr>
            <a:r>
              <a:rPr lang="en-US" sz="2600" b="1" dirty="0">
                <a:solidFill>
                  <a:srgbClr val="1A1A2E"/>
                </a:solidFill>
                <a:latin typeface="Cambria" pitchFamily="34" charset="0"/>
                <a:ea typeface="Cambria" pitchFamily="34" charset="-122"/>
                <a:cs typeface="Cambria" pitchFamily="34" charset="-120"/>
              </a:rPr>
              <a:t>Why Can't You Hold Steam?</a:t>
            </a:r>
            <a:endParaRPr lang="en-US" sz="2600" dirty="0"/>
          </a:p>
        </p:txBody>
      </p:sp>
      <p:sp>
        <p:nvSpPr>
          <p:cNvPr id="6" name="Shape 4"/>
          <p:cNvSpPr/>
          <p:nvPr/>
        </p:nvSpPr>
        <p:spPr>
          <a:xfrm>
            <a:off x="457200" y="1234440"/>
            <a:ext cx="8229600" cy="594360"/>
          </a:xfrm>
          <a:prstGeom prst="rect">
            <a:avLst/>
          </a:prstGeom>
          <a:solidFill>
            <a:srgbClr val="FFFFFF"/>
          </a:solidFill>
          <a:ln w="12700">
            <a:solidFill>
              <a:srgbClr val="FFFFFF"/>
            </a:solidFill>
            <a:prstDash val="solid"/>
          </a:ln>
        </p:spPr>
      </p:sp>
      <p:sp>
        <p:nvSpPr>
          <p:cNvPr id="7" name="Text 5"/>
          <p:cNvSpPr/>
          <p:nvPr/>
        </p:nvSpPr>
        <p:spPr>
          <a:xfrm>
            <a:off x="548640" y="1289304"/>
            <a:ext cx="8046720" cy="48463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Write in your notebook: What makes the ice, water, and steam behave so differently? Use the words particle arrangement in your answer.</a:t>
            </a:r>
            <a:endParaRPr lang="en-US" sz="1400" dirty="0"/>
          </a:p>
        </p:txBody>
      </p:sp>
      <p:sp>
        <p:nvSpPr>
          <p:cNvPr id="8" name="Text 6"/>
          <p:cNvSpPr/>
          <p:nvPr/>
        </p:nvSpPr>
        <p:spPr>
          <a:xfrm>
            <a:off x="457200" y="1938528"/>
            <a:ext cx="8229600" cy="274320"/>
          </a:xfrm>
          <a:prstGeom prst="rect">
            <a:avLst/>
          </a:prstGeom>
          <a:noFill/>
          <a:ln/>
        </p:spPr>
        <p:txBody>
          <a:bodyPr wrap="square" rtlCol="0" anchor="ctr"/>
          <a:lstStyle/>
          <a:p>
            <a:pPr indent="0" marL="0">
              <a:buNone/>
            </a:pPr>
            <a:r>
              <a:rPr lang="en-US" sz="1200" b="1" dirty="0">
                <a:solidFill>
                  <a:srgbClr val="2C4A6E"/>
                </a:solidFill>
                <a:latin typeface="Calibri" pitchFamily="34" charset="0"/>
                <a:ea typeface="Calibri" pitchFamily="34" charset="-122"/>
                <a:cs typeface="Calibri" pitchFamily="34" charset="-120"/>
              </a:rPr>
              <a:t>Think about:</a:t>
            </a:r>
            <a:endParaRPr lang="en-US" sz="1200" dirty="0"/>
          </a:p>
        </p:txBody>
      </p:sp>
      <p:sp>
        <p:nvSpPr>
          <p:cNvPr id="9" name="Shape 7"/>
          <p:cNvSpPr/>
          <p:nvPr/>
        </p:nvSpPr>
        <p:spPr>
          <a:xfrm>
            <a:off x="457200" y="2267712"/>
            <a:ext cx="2560320" cy="685800"/>
          </a:xfrm>
          <a:prstGeom prst="rect">
            <a:avLst/>
          </a:prstGeom>
          <a:solidFill>
            <a:srgbClr val="D6EAF8"/>
          </a:solidFill>
          <a:ln w="12700">
            <a:solidFill>
              <a:srgbClr val="D6EAF8"/>
            </a:solidFill>
            <a:prstDash val="solid"/>
          </a:ln>
        </p:spPr>
      </p:sp>
      <p:sp>
        <p:nvSpPr>
          <p:cNvPr id="10" name="Text 8"/>
          <p:cNvSpPr/>
          <p:nvPr/>
        </p:nvSpPr>
        <p:spPr>
          <a:xfrm>
            <a:off x="548640" y="2322576"/>
            <a:ext cx="2377440" cy="5760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ICE</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Can you hold it?</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Does it keep its shape?</a:t>
            </a:r>
            <a:endParaRPr lang="en-US" sz="1300" dirty="0"/>
          </a:p>
        </p:txBody>
      </p:sp>
      <p:sp>
        <p:nvSpPr>
          <p:cNvPr id="11" name="Shape 9"/>
          <p:cNvSpPr/>
          <p:nvPr/>
        </p:nvSpPr>
        <p:spPr>
          <a:xfrm>
            <a:off x="3291840" y="2267712"/>
            <a:ext cx="2560320" cy="685800"/>
          </a:xfrm>
          <a:prstGeom prst="rect">
            <a:avLst/>
          </a:prstGeom>
          <a:solidFill>
            <a:srgbClr val="D6EAF8"/>
          </a:solidFill>
          <a:ln w="12700">
            <a:solidFill>
              <a:srgbClr val="D6EAF8"/>
            </a:solidFill>
            <a:prstDash val="solid"/>
          </a:ln>
        </p:spPr>
      </p:sp>
      <p:sp>
        <p:nvSpPr>
          <p:cNvPr id="12" name="Text 10"/>
          <p:cNvSpPr/>
          <p:nvPr/>
        </p:nvSpPr>
        <p:spPr>
          <a:xfrm>
            <a:off x="3383280" y="2322576"/>
            <a:ext cx="2377440" cy="5760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WATER</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Can you pour it?</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Does it keep its shape?</a:t>
            </a:r>
            <a:endParaRPr lang="en-US" sz="1300" dirty="0"/>
          </a:p>
        </p:txBody>
      </p:sp>
      <p:sp>
        <p:nvSpPr>
          <p:cNvPr id="13" name="Shape 11"/>
          <p:cNvSpPr/>
          <p:nvPr/>
        </p:nvSpPr>
        <p:spPr>
          <a:xfrm>
            <a:off x="6126480" y="2267712"/>
            <a:ext cx="2560320" cy="685800"/>
          </a:xfrm>
          <a:prstGeom prst="rect">
            <a:avLst/>
          </a:prstGeom>
          <a:solidFill>
            <a:srgbClr val="D6EAF8"/>
          </a:solidFill>
          <a:ln w="12700">
            <a:solidFill>
              <a:srgbClr val="D6EAF8"/>
            </a:solidFill>
            <a:prstDash val="solid"/>
          </a:ln>
        </p:spPr>
      </p:sp>
      <p:sp>
        <p:nvSpPr>
          <p:cNvPr id="14" name="Text 12"/>
          <p:cNvSpPr/>
          <p:nvPr/>
        </p:nvSpPr>
        <p:spPr>
          <a:xfrm>
            <a:off x="6217920" y="2322576"/>
            <a:ext cx="2377440" cy="57607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STEAM</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Can you hold it?</a:t>
            </a: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Does it stay in one place?</a:t>
            </a:r>
            <a:endParaRPr lang="en-US" sz="1300" dirty="0"/>
          </a:p>
        </p:txBody>
      </p:sp>
      <p:sp>
        <p:nvSpPr>
          <p:cNvPr id="15" name="Shape 13"/>
          <p:cNvSpPr/>
          <p:nvPr/>
        </p:nvSpPr>
        <p:spPr>
          <a:xfrm>
            <a:off x="457200" y="3063240"/>
            <a:ext cx="8229600" cy="594360"/>
          </a:xfrm>
          <a:prstGeom prst="rect">
            <a:avLst/>
          </a:prstGeom>
          <a:solidFill>
            <a:srgbClr val="1A3A5C"/>
          </a:solidFill>
          <a:ln w="12700">
            <a:solidFill>
              <a:srgbClr val="1A3A5C"/>
            </a:solidFill>
            <a:prstDash val="solid"/>
          </a:ln>
        </p:spPr>
      </p:sp>
      <p:sp>
        <p:nvSpPr>
          <p:cNvPr id="16" name="Text 14"/>
          <p:cNvSpPr/>
          <p:nvPr/>
        </p:nvSpPr>
        <p:spPr>
          <a:xfrm>
            <a:off x="548640" y="3118104"/>
            <a:ext cx="8046720" cy="48463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Write your prediction using particle arrangement vocabulary. You will come back to it at the end.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Key Words</a:t>
            </a:r>
            <a:endParaRPr lang="en-US" sz="2400" dirty="0"/>
          </a:p>
        </p:txBody>
      </p:sp>
      <p:sp>
        <p:nvSpPr>
          <p:cNvPr id="6" name="Shape 4"/>
          <p:cNvSpPr/>
          <p:nvPr/>
        </p:nvSpPr>
        <p:spPr>
          <a:xfrm>
            <a:off x="365760" y="1170432"/>
            <a:ext cx="4114800" cy="1417320"/>
          </a:xfrm>
          <a:prstGeom prst="rect">
            <a:avLst/>
          </a:prstGeom>
          <a:solidFill>
            <a:srgbClr val="2E86AB"/>
          </a:solidFill>
          <a:ln w="12700">
            <a:solidFill>
              <a:srgbClr val="2E86AB"/>
            </a:solidFill>
            <a:prstDash val="solid"/>
          </a:ln>
        </p:spPr>
      </p:sp>
      <p:sp>
        <p:nvSpPr>
          <p:cNvPr id="7" name="Text 5"/>
          <p:cNvSpPr/>
          <p:nvPr/>
        </p:nvSpPr>
        <p:spPr>
          <a:xfrm>
            <a:off x="457200" y="1261872"/>
            <a:ext cx="3931920" cy="365760"/>
          </a:xfrm>
          <a:prstGeom prst="rect">
            <a:avLst/>
          </a:prstGeom>
          <a:noFill/>
          <a:ln/>
        </p:spPr>
        <p:txBody>
          <a:bodyPr wrap="square" rtlCol="0" anchor="ctr"/>
          <a:lstStyle/>
          <a:p>
            <a:pPr indent="0" marL="0">
              <a:buNone/>
            </a:pPr>
            <a:r>
              <a:rPr lang="en-US" sz="2000" b="1" dirty="0">
                <a:solidFill>
                  <a:srgbClr val="F6C90E"/>
                </a:solidFill>
                <a:latin typeface="Cambria" pitchFamily="34" charset="0"/>
                <a:ea typeface="Cambria" pitchFamily="34" charset="-122"/>
                <a:cs typeface="Cambria" pitchFamily="34" charset="-120"/>
              </a:rPr>
              <a:t>solid</a:t>
            </a:r>
            <a:endParaRPr lang="en-US" sz="2000" dirty="0"/>
          </a:p>
        </p:txBody>
      </p:sp>
      <p:sp>
        <p:nvSpPr>
          <p:cNvPr id="8" name="Text 6"/>
          <p:cNvSpPr/>
          <p:nvPr/>
        </p:nvSpPr>
        <p:spPr>
          <a:xfrm>
            <a:off x="457200" y="1691640"/>
            <a:ext cx="3931920" cy="8046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Keeps its own shape. Has a fixed volume. Particles tightly packed.</a:t>
            </a:r>
            <a:endParaRPr lang="en-US" sz="1300" dirty="0"/>
          </a:p>
        </p:txBody>
      </p:sp>
      <p:sp>
        <p:nvSpPr>
          <p:cNvPr id="9" name="Shape 7"/>
          <p:cNvSpPr/>
          <p:nvPr/>
        </p:nvSpPr>
        <p:spPr>
          <a:xfrm>
            <a:off x="4754880" y="1170432"/>
            <a:ext cx="4114800" cy="1417320"/>
          </a:xfrm>
          <a:prstGeom prst="rect">
            <a:avLst/>
          </a:prstGeom>
          <a:solidFill>
            <a:srgbClr val="0E7C7B"/>
          </a:solidFill>
          <a:ln w="12700">
            <a:solidFill>
              <a:srgbClr val="0E7C7B"/>
            </a:solidFill>
            <a:prstDash val="solid"/>
          </a:ln>
        </p:spPr>
      </p:sp>
      <p:sp>
        <p:nvSpPr>
          <p:cNvPr id="10" name="Text 8"/>
          <p:cNvSpPr/>
          <p:nvPr/>
        </p:nvSpPr>
        <p:spPr>
          <a:xfrm>
            <a:off x="4846320" y="1261872"/>
            <a:ext cx="3931920" cy="365760"/>
          </a:xfrm>
          <a:prstGeom prst="rect">
            <a:avLst/>
          </a:prstGeom>
          <a:noFill/>
          <a:ln/>
        </p:spPr>
        <p:txBody>
          <a:bodyPr wrap="square" rtlCol="0" anchor="ctr"/>
          <a:lstStyle/>
          <a:p>
            <a:pPr indent="0" marL="0">
              <a:buNone/>
            </a:pPr>
            <a:r>
              <a:rPr lang="en-US" sz="2000" b="1" dirty="0">
                <a:solidFill>
                  <a:srgbClr val="F6C90E"/>
                </a:solidFill>
                <a:latin typeface="Cambria" pitchFamily="34" charset="0"/>
                <a:ea typeface="Cambria" pitchFamily="34" charset="-122"/>
                <a:cs typeface="Cambria" pitchFamily="34" charset="-120"/>
              </a:rPr>
              <a:t>liquid</a:t>
            </a:r>
            <a:endParaRPr lang="en-US" sz="2000" dirty="0"/>
          </a:p>
        </p:txBody>
      </p:sp>
      <p:sp>
        <p:nvSpPr>
          <p:cNvPr id="11" name="Text 9"/>
          <p:cNvSpPr/>
          <p:nvPr/>
        </p:nvSpPr>
        <p:spPr>
          <a:xfrm>
            <a:off x="4846320" y="1691640"/>
            <a:ext cx="3931920" cy="8046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Flows and takes the shape of its container. Has a fixed volume. Particles slide.</a:t>
            </a:r>
            <a:endParaRPr lang="en-US" sz="1300" dirty="0"/>
          </a:p>
        </p:txBody>
      </p:sp>
      <p:sp>
        <p:nvSpPr>
          <p:cNvPr id="12" name="Shape 10"/>
          <p:cNvSpPr/>
          <p:nvPr/>
        </p:nvSpPr>
        <p:spPr>
          <a:xfrm>
            <a:off x="365760" y="2706624"/>
            <a:ext cx="4114800" cy="1417320"/>
          </a:xfrm>
          <a:prstGeom prst="rect">
            <a:avLst/>
          </a:prstGeom>
          <a:solidFill>
            <a:srgbClr val="2A7A4B"/>
          </a:solidFill>
          <a:ln w="12700">
            <a:solidFill>
              <a:srgbClr val="2A7A4B"/>
            </a:solidFill>
            <a:prstDash val="solid"/>
          </a:ln>
        </p:spPr>
      </p:sp>
      <p:sp>
        <p:nvSpPr>
          <p:cNvPr id="13" name="Text 11"/>
          <p:cNvSpPr/>
          <p:nvPr/>
        </p:nvSpPr>
        <p:spPr>
          <a:xfrm>
            <a:off x="457200" y="2798064"/>
            <a:ext cx="3931920" cy="365760"/>
          </a:xfrm>
          <a:prstGeom prst="rect">
            <a:avLst/>
          </a:prstGeom>
          <a:noFill/>
          <a:ln/>
        </p:spPr>
        <p:txBody>
          <a:bodyPr wrap="square" rtlCol="0" anchor="ctr"/>
          <a:lstStyle/>
          <a:p>
            <a:pPr indent="0" marL="0">
              <a:buNone/>
            </a:pPr>
            <a:r>
              <a:rPr lang="en-US" sz="2000" b="1" dirty="0">
                <a:solidFill>
                  <a:srgbClr val="F6C90E"/>
                </a:solidFill>
                <a:latin typeface="Cambria" pitchFamily="34" charset="0"/>
                <a:ea typeface="Cambria" pitchFamily="34" charset="-122"/>
                <a:cs typeface="Cambria" pitchFamily="34" charset="-120"/>
              </a:rPr>
              <a:t>gas</a:t>
            </a:r>
            <a:endParaRPr lang="en-US" sz="2000" dirty="0"/>
          </a:p>
        </p:txBody>
      </p:sp>
      <p:sp>
        <p:nvSpPr>
          <p:cNvPr id="14" name="Text 12"/>
          <p:cNvSpPr/>
          <p:nvPr/>
        </p:nvSpPr>
        <p:spPr>
          <a:xfrm>
            <a:off x="457200" y="3227832"/>
            <a:ext cx="3931920" cy="8046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Fills any container. No fixed shape or volume. Particles spread far apart.</a:t>
            </a:r>
            <a:endParaRPr lang="en-US" sz="1300" dirty="0"/>
          </a:p>
        </p:txBody>
      </p:sp>
      <p:sp>
        <p:nvSpPr>
          <p:cNvPr id="15" name="Shape 13"/>
          <p:cNvSpPr/>
          <p:nvPr/>
        </p:nvSpPr>
        <p:spPr>
          <a:xfrm>
            <a:off x="4754880" y="2706624"/>
            <a:ext cx="4114800" cy="1417320"/>
          </a:xfrm>
          <a:prstGeom prst="rect">
            <a:avLst/>
          </a:prstGeom>
          <a:solidFill>
            <a:srgbClr val="F07D35"/>
          </a:solidFill>
          <a:ln w="12700">
            <a:solidFill>
              <a:srgbClr val="F07D35"/>
            </a:solidFill>
            <a:prstDash val="solid"/>
          </a:ln>
        </p:spPr>
      </p:sp>
      <p:sp>
        <p:nvSpPr>
          <p:cNvPr id="16" name="Text 14"/>
          <p:cNvSpPr/>
          <p:nvPr/>
        </p:nvSpPr>
        <p:spPr>
          <a:xfrm>
            <a:off x="4846320" y="2798064"/>
            <a:ext cx="3931920" cy="365760"/>
          </a:xfrm>
          <a:prstGeom prst="rect">
            <a:avLst/>
          </a:prstGeom>
          <a:noFill/>
          <a:ln/>
        </p:spPr>
        <p:txBody>
          <a:bodyPr wrap="square" rtlCol="0" anchor="ctr"/>
          <a:lstStyle/>
          <a:p>
            <a:pPr indent="0" marL="0">
              <a:buNone/>
            </a:pPr>
            <a:r>
              <a:rPr lang="en-US" sz="2000" b="1" dirty="0">
                <a:solidFill>
                  <a:srgbClr val="F6C90E"/>
                </a:solidFill>
                <a:latin typeface="Cambria" pitchFamily="34" charset="0"/>
                <a:ea typeface="Cambria" pitchFamily="34" charset="-122"/>
                <a:cs typeface="Cambria" pitchFamily="34" charset="-120"/>
              </a:rPr>
              <a:t>property</a:t>
            </a:r>
            <a:endParaRPr lang="en-US" sz="2000" dirty="0"/>
          </a:p>
        </p:txBody>
      </p:sp>
      <p:sp>
        <p:nvSpPr>
          <p:cNvPr id="17" name="Text 15"/>
          <p:cNvSpPr/>
          <p:nvPr/>
        </p:nvSpPr>
        <p:spPr>
          <a:xfrm>
            <a:off x="4846320" y="3227832"/>
            <a:ext cx="3931920" cy="80467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 feature you can observe or measure — like shape, volume, or ability to flow.</a:t>
            </a:r>
            <a:endParaRPr lang="en-US" sz="1300" dirty="0"/>
          </a:p>
        </p:txBody>
      </p:sp>
      <p:sp>
        <p:nvSpPr>
          <p:cNvPr id="18" name="Shape 16"/>
          <p:cNvSpPr/>
          <p:nvPr/>
        </p:nvSpPr>
        <p:spPr>
          <a:xfrm>
            <a:off x="365760" y="4315968"/>
            <a:ext cx="8412480" cy="411480"/>
          </a:xfrm>
          <a:prstGeom prst="rect">
            <a:avLst/>
          </a:prstGeom>
          <a:solidFill>
            <a:srgbClr val="2C4A6E"/>
          </a:solidFill>
          <a:ln w="12700">
            <a:solidFill>
              <a:srgbClr val="2C4A6E"/>
            </a:solidFill>
            <a:prstDash val="solid"/>
          </a:ln>
        </p:spPr>
      </p:sp>
      <p:sp>
        <p:nvSpPr>
          <p:cNvPr id="19" name="Text 17"/>
          <p:cNvSpPr/>
          <p:nvPr/>
        </p:nvSpPr>
        <p:spPr>
          <a:xfrm>
            <a:off x="457200" y="4370832"/>
            <a:ext cx="8229600" cy="3017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Review: volume = how much space something takes up; mass = how much stuff something has</a:t>
            </a:r>
            <a:endParaRPr lang="en-US" sz="1200" dirty="0"/>
          </a:p>
        </p:txBody>
      </p:sp>
      <p:sp>
        <p:nvSpPr>
          <p:cNvPr id="20" name="Shape 18"/>
          <p:cNvSpPr/>
          <p:nvPr/>
        </p:nvSpPr>
        <p:spPr>
          <a:xfrm>
            <a:off x="0" y="4800600"/>
            <a:ext cx="9144000" cy="347472"/>
          </a:xfrm>
          <a:prstGeom prst="rect">
            <a:avLst/>
          </a:prstGeom>
          <a:solidFill>
            <a:srgbClr val="F07D35"/>
          </a:solidFill>
          <a:ln w="12700">
            <a:solidFill>
              <a:srgbClr val="F07D35"/>
            </a:solidFill>
            <a:prstDash val="solid"/>
          </a:ln>
        </p:spPr>
      </p:sp>
      <p:sp>
        <p:nvSpPr>
          <p:cNvPr id="21" name="Text 19"/>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4.01  ·  SC.5.P.8.1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051560" cy="274320"/>
          </a:xfrm>
          <a:prstGeom prst="rect">
            <a:avLst/>
          </a:prstGeom>
          <a:solidFill>
            <a:srgbClr val="F6C90E"/>
          </a:solidFill>
          <a:ln w="12700">
            <a:solidFill>
              <a:srgbClr val="F6C90E"/>
            </a:solidFill>
            <a:prstDash val="solid"/>
          </a:ln>
        </p:spPr>
      </p:sp>
      <p:sp>
        <p:nvSpPr>
          <p:cNvPr id="4" name="Text 2"/>
          <p:cNvSpPr/>
          <p:nvPr/>
        </p:nvSpPr>
        <p:spPr>
          <a:xfrm>
            <a:off x="457200" y="27432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5" name="Text 3"/>
          <p:cNvSpPr/>
          <p:nvPr/>
        </p:nvSpPr>
        <p:spPr>
          <a:xfrm>
            <a:off x="457200" y="685800"/>
            <a:ext cx="8229600" cy="38404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How the Three States Compare</a:t>
            </a:r>
            <a:endParaRPr lang="en-US" sz="2400" dirty="0"/>
          </a:p>
        </p:txBody>
      </p:sp>
      <p:sp>
        <p:nvSpPr>
          <p:cNvPr id="6" name="Shape 4"/>
          <p:cNvSpPr/>
          <p:nvPr/>
        </p:nvSpPr>
        <p:spPr>
          <a:xfrm>
            <a:off x="457200" y="1170432"/>
            <a:ext cx="8229600" cy="411480"/>
          </a:xfrm>
          <a:prstGeom prst="rect">
            <a:avLst/>
          </a:prstGeom>
          <a:solidFill>
            <a:srgbClr val="2C4A6E"/>
          </a:solidFill>
          <a:ln w="12700">
            <a:solidFill>
              <a:srgbClr val="2C4A6E"/>
            </a:solidFill>
            <a:prstDash val="solid"/>
          </a:ln>
        </p:spPr>
      </p:sp>
      <p:sp>
        <p:nvSpPr>
          <p:cNvPr id="7" name="Text 5"/>
          <p:cNvSpPr/>
          <p:nvPr/>
        </p:nvSpPr>
        <p:spPr>
          <a:xfrm>
            <a:off x="1005840" y="1170432"/>
            <a:ext cx="192024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Property</a:t>
            </a:r>
            <a:endParaRPr lang="en-US" sz="1300" dirty="0"/>
          </a:p>
        </p:txBody>
      </p:sp>
      <p:sp>
        <p:nvSpPr>
          <p:cNvPr id="8" name="Text 6"/>
          <p:cNvSpPr/>
          <p:nvPr/>
        </p:nvSpPr>
        <p:spPr>
          <a:xfrm>
            <a:off x="3017520" y="1170432"/>
            <a:ext cx="192024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SOLID</a:t>
            </a:r>
            <a:endParaRPr lang="en-US" sz="1300" dirty="0"/>
          </a:p>
        </p:txBody>
      </p:sp>
      <p:sp>
        <p:nvSpPr>
          <p:cNvPr id="9" name="Text 7"/>
          <p:cNvSpPr/>
          <p:nvPr/>
        </p:nvSpPr>
        <p:spPr>
          <a:xfrm>
            <a:off x="5394960" y="1170432"/>
            <a:ext cx="192024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LIQUID</a:t>
            </a:r>
            <a:endParaRPr lang="en-US" sz="1300" dirty="0"/>
          </a:p>
        </p:txBody>
      </p:sp>
      <p:sp>
        <p:nvSpPr>
          <p:cNvPr id="10" name="Text 8"/>
          <p:cNvSpPr/>
          <p:nvPr/>
        </p:nvSpPr>
        <p:spPr>
          <a:xfrm>
            <a:off x="7498080" y="1170432"/>
            <a:ext cx="1920240"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GAS</a:t>
            </a:r>
            <a:endParaRPr lang="en-US" sz="1300" dirty="0"/>
          </a:p>
        </p:txBody>
      </p:sp>
      <p:sp>
        <p:nvSpPr>
          <p:cNvPr id="11" name="Shape 9"/>
          <p:cNvSpPr/>
          <p:nvPr/>
        </p:nvSpPr>
        <p:spPr>
          <a:xfrm>
            <a:off x="457200" y="1627632"/>
            <a:ext cx="8229600" cy="594360"/>
          </a:xfrm>
          <a:prstGeom prst="rect">
            <a:avLst/>
          </a:prstGeom>
          <a:solidFill>
            <a:srgbClr val="1B3A5C"/>
          </a:solidFill>
          <a:ln w="12700">
            <a:solidFill>
              <a:srgbClr val="1B3A5C"/>
            </a:solidFill>
            <a:prstDash val="solid"/>
          </a:ln>
        </p:spPr>
      </p:sp>
      <p:sp>
        <p:nvSpPr>
          <p:cNvPr id="12" name="Text 10"/>
          <p:cNvSpPr/>
          <p:nvPr/>
        </p:nvSpPr>
        <p:spPr>
          <a:xfrm>
            <a:off x="1005840" y="1627632"/>
            <a:ext cx="1920240" cy="594360"/>
          </a:xfrm>
          <a:prstGeom prst="rect">
            <a:avLst/>
          </a:prstGeom>
          <a:noFill/>
          <a:ln/>
        </p:spPr>
        <p:txBody>
          <a:bodyPr wrap="square" rtlCol="0" anchor="ctr"/>
          <a:lstStyle/>
          <a:p>
            <a:pPr algn="ctr" indent="0" marL="0">
              <a:buNone/>
            </a:pPr>
            <a:r>
              <a:rPr lang="en-US" sz="1300" b="1" dirty="0">
                <a:solidFill>
                  <a:srgbClr val="F6C90E"/>
                </a:solidFill>
                <a:latin typeface="Calibri" pitchFamily="34" charset="0"/>
                <a:ea typeface="Calibri" pitchFamily="34" charset="-122"/>
                <a:cs typeface="Calibri" pitchFamily="34" charset="-120"/>
              </a:rPr>
              <a:t>Shape</a:t>
            </a:r>
            <a:endParaRPr lang="en-US" sz="1300" dirty="0"/>
          </a:p>
        </p:txBody>
      </p:sp>
      <p:sp>
        <p:nvSpPr>
          <p:cNvPr id="13" name="Text 11"/>
          <p:cNvSpPr/>
          <p:nvPr/>
        </p:nvSpPr>
        <p:spPr>
          <a:xfrm>
            <a:off x="3017520" y="1627632"/>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Own shape</a:t>
            </a:r>
            <a:endParaRPr lang="en-US" sz="1200" dirty="0"/>
          </a:p>
        </p:txBody>
      </p:sp>
      <p:sp>
        <p:nvSpPr>
          <p:cNvPr id="14" name="Text 12"/>
          <p:cNvSpPr/>
          <p:nvPr/>
        </p:nvSpPr>
        <p:spPr>
          <a:xfrm>
            <a:off x="5394960" y="1627632"/>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Container's shape</a:t>
            </a:r>
            <a:endParaRPr lang="en-US" sz="1200" dirty="0"/>
          </a:p>
        </p:txBody>
      </p:sp>
      <p:sp>
        <p:nvSpPr>
          <p:cNvPr id="15" name="Text 13"/>
          <p:cNvSpPr/>
          <p:nvPr/>
        </p:nvSpPr>
        <p:spPr>
          <a:xfrm>
            <a:off x="7498080" y="1627632"/>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Fills container</a:t>
            </a:r>
            <a:endParaRPr lang="en-US" sz="1200" dirty="0"/>
          </a:p>
        </p:txBody>
      </p:sp>
      <p:sp>
        <p:nvSpPr>
          <p:cNvPr id="16" name="Shape 14"/>
          <p:cNvSpPr/>
          <p:nvPr/>
        </p:nvSpPr>
        <p:spPr>
          <a:xfrm>
            <a:off x="457200" y="2286000"/>
            <a:ext cx="8229600" cy="594360"/>
          </a:xfrm>
          <a:prstGeom prst="rect">
            <a:avLst/>
          </a:prstGeom>
          <a:solidFill>
            <a:srgbClr val="2C4A6E"/>
          </a:solidFill>
          <a:ln w="12700">
            <a:solidFill>
              <a:srgbClr val="2C4A6E"/>
            </a:solidFill>
            <a:prstDash val="solid"/>
          </a:ln>
        </p:spPr>
      </p:sp>
      <p:sp>
        <p:nvSpPr>
          <p:cNvPr id="17" name="Text 15"/>
          <p:cNvSpPr/>
          <p:nvPr/>
        </p:nvSpPr>
        <p:spPr>
          <a:xfrm>
            <a:off x="1005840" y="2286000"/>
            <a:ext cx="1920240" cy="594360"/>
          </a:xfrm>
          <a:prstGeom prst="rect">
            <a:avLst/>
          </a:prstGeom>
          <a:noFill/>
          <a:ln/>
        </p:spPr>
        <p:txBody>
          <a:bodyPr wrap="square" rtlCol="0" anchor="ctr"/>
          <a:lstStyle/>
          <a:p>
            <a:pPr algn="ctr" indent="0" marL="0">
              <a:buNone/>
            </a:pPr>
            <a:r>
              <a:rPr lang="en-US" sz="1300" b="1" dirty="0">
                <a:solidFill>
                  <a:srgbClr val="F6C90E"/>
                </a:solidFill>
                <a:latin typeface="Calibri" pitchFamily="34" charset="0"/>
                <a:ea typeface="Calibri" pitchFamily="34" charset="-122"/>
                <a:cs typeface="Calibri" pitchFamily="34" charset="-120"/>
              </a:rPr>
              <a:t>Volume</a:t>
            </a:r>
            <a:endParaRPr lang="en-US" sz="1300" dirty="0"/>
          </a:p>
        </p:txBody>
      </p:sp>
      <p:sp>
        <p:nvSpPr>
          <p:cNvPr id="18" name="Text 16"/>
          <p:cNvSpPr/>
          <p:nvPr/>
        </p:nvSpPr>
        <p:spPr>
          <a:xfrm>
            <a:off x="3017520" y="2286000"/>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Fixed</a:t>
            </a:r>
            <a:endParaRPr lang="en-US" sz="1200" dirty="0"/>
          </a:p>
        </p:txBody>
      </p:sp>
      <p:sp>
        <p:nvSpPr>
          <p:cNvPr id="19" name="Text 17"/>
          <p:cNvSpPr/>
          <p:nvPr/>
        </p:nvSpPr>
        <p:spPr>
          <a:xfrm>
            <a:off x="5394960" y="2286000"/>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Fixed</a:t>
            </a:r>
            <a:endParaRPr lang="en-US" sz="1200" dirty="0"/>
          </a:p>
        </p:txBody>
      </p:sp>
      <p:sp>
        <p:nvSpPr>
          <p:cNvPr id="20" name="Text 18"/>
          <p:cNvSpPr/>
          <p:nvPr/>
        </p:nvSpPr>
        <p:spPr>
          <a:xfrm>
            <a:off x="7498080" y="2286000"/>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Changes</a:t>
            </a:r>
            <a:endParaRPr lang="en-US" sz="1200" dirty="0"/>
          </a:p>
        </p:txBody>
      </p:sp>
      <p:sp>
        <p:nvSpPr>
          <p:cNvPr id="21" name="Shape 19"/>
          <p:cNvSpPr/>
          <p:nvPr/>
        </p:nvSpPr>
        <p:spPr>
          <a:xfrm>
            <a:off x="457200" y="2944368"/>
            <a:ext cx="8229600" cy="594360"/>
          </a:xfrm>
          <a:prstGeom prst="rect">
            <a:avLst/>
          </a:prstGeom>
          <a:solidFill>
            <a:srgbClr val="1B3A5C"/>
          </a:solidFill>
          <a:ln w="12700">
            <a:solidFill>
              <a:srgbClr val="1B3A5C"/>
            </a:solidFill>
            <a:prstDash val="solid"/>
          </a:ln>
        </p:spPr>
      </p:sp>
      <p:sp>
        <p:nvSpPr>
          <p:cNvPr id="22" name="Text 20"/>
          <p:cNvSpPr/>
          <p:nvPr/>
        </p:nvSpPr>
        <p:spPr>
          <a:xfrm>
            <a:off x="1005840" y="2944368"/>
            <a:ext cx="1920240" cy="594360"/>
          </a:xfrm>
          <a:prstGeom prst="rect">
            <a:avLst/>
          </a:prstGeom>
          <a:noFill/>
          <a:ln/>
        </p:spPr>
        <p:txBody>
          <a:bodyPr wrap="square" rtlCol="0" anchor="ctr"/>
          <a:lstStyle/>
          <a:p>
            <a:pPr algn="ctr" indent="0" marL="0">
              <a:buNone/>
            </a:pPr>
            <a:r>
              <a:rPr lang="en-US" sz="1300" b="1" dirty="0">
                <a:solidFill>
                  <a:srgbClr val="F6C90E"/>
                </a:solidFill>
                <a:latin typeface="Calibri" pitchFamily="34" charset="0"/>
                <a:ea typeface="Calibri" pitchFamily="34" charset="-122"/>
                <a:cs typeface="Calibri" pitchFamily="34" charset="-120"/>
              </a:rPr>
              <a:t>Flows?</a:t>
            </a:r>
            <a:endParaRPr lang="en-US" sz="1300" dirty="0"/>
          </a:p>
        </p:txBody>
      </p:sp>
      <p:sp>
        <p:nvSpPr>
          <p:cNvPr id="23" name="Text 21"/>
          <p:cNvSpPr/>
          <p:nvPr/>
        </p:nvSpPr>
        <p:spPr>
          <a:xfrm>
            <a:off x="3017520" y="2944368"/>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a:t>
            </a:r>
            <a:endParaRPr lang="en-US" sz="1200" dirty="0"/>
          </a:p>
        </p:txBody>
      </p:sp>
      <p:sp>
        <p:nvSpPr>
          <p:cNvPr id="24" name="Text 22"/>
          <p:cNvSpPr/>
          <p:nvPr/>
        </p:nvSpPr>
        <p:spPr>
          <a:xfrm>
            <a:off x="5394960" y="2944368"/>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Yes</a:t>
            </a:r>
            <a:endParaRPr lang="en-US" sz="1200" dirty="0"/>
          </a:p>
        </p:txBody>
      </p:sp>
      <p:sp>
        <p:nvSpPr>
          <p:cNvPr id="25" name="Text 23"/>
          <p:cNvSpPr/>
          <p:nvPr/>
        </p:nvSpPr>
        <p:spPr>
          <a:xfrm>
            <a:off x="7498080" y="2944368"/>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Yes</a:t>
            </a:r>
            <a:endParaRPr lang="en-US" sz="1200" dirty="0"/>
          </a:p>
        </p:txBody>
      </p:sp>
      <p:sp>
        <p:nvSpPr>
          <p:cNvPr id="26" name="Shape 24"/>
          <p:cNvSpPr/>
          <p:nvPr/>
        </p:nvSpPr>
        <p:spPr>
          <a:xfrm>
            <a:off x="457200" y="3602736"/>
            <a:ext cx="8229600" cy="594360"/>
          </a:xfrm>
          <a:prstGeom prst="rect">
            <a:avLst/>
          </a:prstGeom>
          <a:solidFill>
            <a:srgbClr val="2C4A6E"/>
          </a:solidFill>
          <a:ln w="12700">
            <a:solidFill>
              <a:srgbClr val="2C4A6E"/>
            </a:solidFill>
            <a:prstDash val="solid"/>
          </a:ln>
        </p:spPr>
      </p:sp>
      <p:sp>
        <p:nvSpPr>
          <p:cNvPr id="27" name="Text 25"/>
          <p:cNvSpPr/>
          <p:nvPr/>
        </p:nvSpPr>
        <p:spPr>
          <a:xfrm>
            <a:off x="1005840" y="3602736"/>
            <a:ext cx="1920240" cy="594360"/>
          </a:xfrm>
          <a:prstGeom prst="rect">
            <a:avLst/>
          </a:prstGeom>
          <a:noFill/>
          <a:ln/>
        </p:spPr>
        <p:txBody>
          <a:bodyPr wrap="square" rtlCol="0" anchor="ctr"/>
          <a:lstStyle/>
          <a:p>
            <a:pPr algn="ctr" indent="0" marL="0">
              <a:buNone/>
            </a:pPr>
            <a:r>
              <a:rPr lang="en-US" sz="1300" b="1" dirty="0">
                <a:solidFill>
                  <a:srgbClr val="F6C90E"/>
                </a:solidFill>
                <a:latin typeface="Calibri" pitchFamily="34" charset="0"/>
                <a:ea typeface="Calibri" pitchFamily="34" charset="-122"/>
                <a:cs typeface="Calibri" pitchFamily="34" charset="-120"/>
              </a:rPr>
              <a:t>Particles</a:t>
            </a:r>
            <a:endParaRPr lang="en-US" sz="1300" dirty="0"/>
          </a:p>
        </p:txBody>
      </p:sp>
      <p:sp>
        <p:nvSpPr>
          <p:cNvPr id="28" name="Text 26"/>
          <p:cNvSpPr/>
          <p:nvPr/>
        </p:nvSpPr>
        <p:spPr>
          <a:xfrm>
            <a:off x="3017520" y="3602736"/>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Tightly packed</a:t>
            </a:r>
            <a:endParaRPr lang="en-US" sz="1200" dirty="0"/>
          </a:p>
        </p:txBody>
      </p:sp>
      <p:sp>
        <p:nvSpPr>
          <p:cNvPr id="29" name="Text 27"/>
          <p:cNvSpPr/>
          <p:nvPr/>
        </p:nvSpPr>
        <p:spPr>
          <a:xfrm>
            <a:off x="5394960" y="3602736"/>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Close, can slide</a:t>
            </a:r>
            <a:endParaRPr lang="en-US" sz="1200" dirty="0"/>
          </a:p>
        </p:txBody>
      </p:sp>
      <p:sp>
        <p:nvSpPr>
          <p:cNvPr id="30" name="Text 28"/>
          <p:cNvSpPr/>
          <p:nvPr/>
        </p:nvSpPr>
        <p:spPr>
          <a:xfrm>
            <a:off x="7498080" y="3602736"/>
            <a:ext cx="192024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Spread far apart</a:t>
            </a:r>
            <a:endParaRPr lang="en-US" sz="1200" dirty="0"/>
          </a:p>
        </p:txBody>
      </p:sp>
      <p:sp>
        <p:nvSpPr>
          <p:cNvPr id="31" name="Shape 29"/>
          <p:cNvSpPr/>
          <p:nvPr/>
        </p:nvSpPr>
        <p:spPr>
          <a:xfrm>
            <a:off x="457200" y="4279392"/>
            <a:ext cx="8229600" cy="384048"/>
          </a:xfrm>
          <a:prstGeom prst="rect">
            <a:avLst/>
          </a:prstGeom>
          <a:solidFill>
            <a:srgbClr val="2C4A6E"/>
          </a:solidFill>
          <a:ln w="12700">
            <a:solidFill>
              <a:srgbClr val="2C4A6E"/>
            </a:solidFill>
            <a:prstDash val="solid"/>
          </a:ln>
        </p:spPr>
      </p:sp>
      <p:sp>
        <p:nvSpPr>
          <p:cNvPr id="32" name="Text 30"/>
          <p:cNvSpPr/>
          <p:nvPr/>
        </p:nvSpPr>
        <p:spPr>
          <a:xfrm>
            <a:off x="548640" y="4334256"/>
            <a:ext cx="8046720" cy="2743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Copy this into your notebook: "A solid keeps its own shape. A liquid takes the shape of its container. A gas fills whatever space it is in."</a:t>
            </a:r>
            <a:endParaRPr lang="en-US" sz="1100" dirty="0"/>
          </a:p>
        </p:txBody>
      </p:sp>
      <p:sp>
        <p:nvSpPr>
          <p:cNvPr id="33" name="Shape 31"/>
          <p:cNvSpPr/>
          <p:nvPr/>
        </p:nvSpPr>
        <p:spPr>
          <a:xfrm>
            <a:off x="0" y="4800600"/>
            <a:ext cx="9144000" cy="347472"/>
          </a:xfrm>
          <a:prstGeom prst="rect">
            <a:avLst/>
          </a:prstGeom>
          <a:solidFill>
            <a:srgbClr val="F07D35"/>
          </a:solidFill>
          <a:ln w="12700">
            <a:solidFill>
              <a:srgbClr val="F07D35"/>
            </a:solidFill>
            <a:prstDash val="solid"/>
          </a:ln>
        </p:spPr>
      </p:sp>
      <p:sp>
        <p:nvSpPr>
          <p:cNvPr id="34" name="Text 32"/>
          <p:cNvSpPr/>
          <p:nvPr/>
        </p:nvSpPr>
        <p:spPr>
          <a:xfrm>
            <a:off x="0" y="4800600"/>
            <a:ext cx="914400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Lesson 4.01  ·  SC.5.P.8.1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Shape 1"/>
          <p:cNvSpPr/>
          <p:nvPr/>
        </p:nvSpPr>
        <p:spPr>
          <a:xfrm>
            <a:off x="457200" y="274320"/>
            <a:ext cx="1129284" cy="274320"/>
          </a:xfrm>
          <a:prstGeom prst="rect">
            <a:avLst/>
          </a:prstGeom>
          <a:solidFill>
            <a:srgbClr val="1A3A5C"/>
          </a:solidFill>
          <a:ln w="12700">
            <a:solidFill>
              <a:srgbClr val="1A3A5C"/>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5" name="Text 3"/>
          <p:cNvSpPr/>
          <p:nvPr/>
        </p:nvSpPr>
        <p:spPr>
          <a:xfrm>
            <a:off x="457200" y="685800"/>
            <a:ext cx="822960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Three States, Three Rules</a:t>
            </a:r>
            <a:endParaRPr lang="en-US" sz="2800" dirty="0"/>
          </a:p>
        </p:txBody>
      </p:sp>
      <p:sp>
        <p:nvSpPr>
          <p:cNvPr id="6" name="Shape 4"/>
          <p:cNvSpPr/>
          <p:nvPr/>
        </p:nvSpPr>
        <p:spPr>
          <a:xfrm>
            <a:off x="457200" y="1261872"/>
            <a:ext cx="8229600" cy="914400"/>
          </a:xfrm>
          <a:prstGeom prst="rect">
            <a:avLst/>
          </a:prstGeom>
          <a:solidFill>
            <a:srgbClr val="075F5F"/>
          </a:solidFill>
          <a:ln w="12700">
            <a:solidFill>
              <a:srgbClr val="075F5F"/>
            </a:solidFill>
            <a:prstDash val="solid"/>
          </a:ln>
        </p:spPr>
      </p:sp>
      <p:sp>
        <p:nvSpPr>
          <p:cNvPr id="7" name="Text 5"/>
          <p:cNvSpPr/>
          <p:nvPr/>
        </p:nvSpPr>
        <p:spPr>
          <a:xfrm>
            <a:off x="548640" y="1316736"/>
            <a:ext cx="8046720" cy="8046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Every state of matter has a predictable set of properties. Knowing those properties lets you identify a mystery substance — even without seeing its particles.</a:t>
            </a:r>
            <a:endParaRPr lang="en-US" sz="1500" dirty="0"/>
          </a:p>
        </p:txBody>
      </p:sp>
      <p:sp>
        <p:nvSpPr>
          <p:cNvPr id="8" name="Text 6"/>
          <p:cNvSpPr/>
          <p:nvPr/>
        </p:nvSpPr>
        <p:spPr>
          <a:xfrm>
            <a:off x="457200" y="2304288"/>
            <a:ext cx="8229600" cy="27432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Copy into your notebook:</a:t>
            </a:r>
            <a:endParaRPr lang="en-US" sz="1200" dirty="0"/>
          </a:p>
        </p:txBody>
      </p:sp>
      <p:sp>
        <p:nvSpPr>
          <p:cNvPr id="9" name="Shape 7"/>
          <p:cNvSpPr/>
          <p:nvPr/>
        </p:nvSpPr>
        <p:spPr>
          <a:xfrm>
            <a:off x="457200" y="2606040"/>
            <a:ext cx="8229600" cy="475488"/>
          </a:xfrm>
          <a:prstGeom prst="rect">
            <a:avLst/>
          </a:prstGeom>
          <a:solidFill>
            <a:srgbClr val="1A3A5C"/>
          </a:solidFill>
          <a:ln w="12700">
            <a:solidFill>
              <a:srgbClr val="1A3A5C"/>
            </a:solidFill>
            <a:prstDash val="solid"/>
          </a:ln>
        </p:spPr>
      </p:sp>
      <p:sp>
        <p:nvSpPr>
          <p:cNvPr id="10" name="Text 8"/>
          <p:cNvSpPr/>
          <p:nvPr/>
        </p:nvSpPr>
        <p:spPr>
          <a:xfrm>
            <a:off x="548640" y="2660904"/>
            <a:ext cx="804672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solid keeps its own shape. A liquid takes the shape of its container. A gas fills whatever space it is in."</a:t>
            </a:r>
            <a:endParaRPr lang="en-US" sz="1400" dirty="0"/>
          </a:p>
        </p:txBody>
      </p:sp>
      <p:sp>
        <p:nvSpPr>
          <p:cNvPr id="11" name="Shape 9"/>
          <p:cNvSpPr/>
          <p:nvPr/>
        </p:nvSpPr>
        <p:spPr>
          <a:xfrm>
            <a:off x="0" y="3200400"/>
            <a:ext cx="9144000" cy="45720"/>
          </a:xfrm>
          <a:prstGeom prst="rect">
            <a:avLst/>
          </a:prstGeom>
          <a:solidFill>
            <a:srgbClr val="F6C90E"/>
          </a:solidFill>
          <a:ln w="12700">
            <a:solidFill>
              <a:srgbClr val="F6C90E"/>
            </a:solidFill>
            <a:prstDash val="solid"/>
          </a:ln>
        </p:spPr>
      </p:sp>
      <p:sp>
        <p:nvSpPr>
          <p:cNvPr id="12" name="Text 10"/>
          <p:cNvSpPr/>
          <p:nvPr/>
        </p:nvSpPr>
        <p:spPr>
          <a:xfrm>
            <a:off x="457200" y="3337560"/>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Stop and Think:</a:t>
            </a:r>
            <a:endParaRPr lang="en-US" sz="1200" dirty="0"/>
          </a:p>
        </p:txBody>
      </p:sp>
      <p:sp>
        <p:nvSpPr>
          <p:cNvPr id="13" name="Shape 11"/>
          <p:cNvSpPr/>
          <p:nvPr/>
        </p:nvSpPr>
        <p:spPr>
          <a:xfrm>
            <a:off x="457200" y="3584448"/>
            <a:ext cx="8229600" cy="749808"/>
          </a:xfrm>
          <a:prstGeom prst="rect">
            <a:avLst/>
          </a:prstGeom>
          <a:solidFill>
            <a:srgbClr val="075F5F"/>
          </a:solidFill>
          <a:ln w="12700">
            <a:solidFill>
              <a:srgbClr val="075F5F"/>
            </a:solidFill>
            <a:prstDash val="solid"/>
          </a:ln>
        </p:spPr>
      </p:sp>
      <p:sp>
        <p:nvSpPr>
          <p:cNvPr id="14" name="Text 12"/>
          <p:cNvSpPr/>
          <p:nvPr/>
        </p:nvSpPr>
        <p:spPr>
          <a:xfrm>
            <a:off x="548640" y="3639312"/>
            <a:ext cx="8046720" cy="6400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Pour milk from a tall thin glass into a wide flat bowl. Does the AMOUNT of milk change? Does the SHAPE change? Which property changed — volume or shape?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The Three States — Properties Side by Side</a:t>
            </a:r>
            <a:endParaRPr lang="en-US" sz="2200" dirty="0"/>
          </a:p>
        </p:txBody>
      </p:sp>
      <p:sp>
        <p:nvSpPr>
          <p:cNvPr id="4" name="Shape 2"/>
          <p:cNvSpPr/>
          <p:nvPr/>
        </p:nvSpPr>
        <p:spPr>
          <a:xfrm>
            <a:off x="457200" y="621792"/>
            <a:ext cx="8229600" cy="475488"/>
          </a:xfrm>
          <a:prstGeom prst="rect">
            <a:avLst/>
          </a:prstGeom>
          <a:solidFill>
            <a:srgbClr val="FFFFFF"/>
          </a:solidFill>
          <a:ln w="12700">
            <a:solidFill>
              <a:srgbClr val="FFFFFF"/>
            </a:solidFill>
            <a:prstDash val="solid"/>
          </a:ln>
        </p:spPr>
      </p:sp>
      <p:sp>
        <p:nvSpPr>
          <p:cNvPr id="5" name="Text 3"/>
          <p:cNvSpPr/>
          <p:nvPr/>
        </p:nvSpPr>
        <p:spPr>
          <a:xfrm>
            <a:off x="548640" y="676656"/>
            <a:ext cx="8046720" cy="365760"/>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The key difference between solids, liquids, and gases comes down to two things: whether the shape is fixed, and whether the volume is fixed.</a:t>
            </a:r>
            <a:endParaRPr lang="en-US" sz="1400" dirty="0"/>
          </a:p>
        </p:txBody>
      </p:sp>
      <p:sp>
        <p:nvSpPr>
          <p:cNvPr id="6" name="Shape 4"/>
          <p:cNvSpPr/>
          <p:nvPr/>
        </p:nvSpPr>
        <p:spPr>
          <a:xfrm>
            <a:off x="274320" y="1207008"/>
            <a:ext cx="2743200" cy="3703320"/>
          </a:xfrm>
          <a:prstGeom prst="rect">
            <a:avLst/>
          </a:prstGeom>
          <a:solidFill>
            <a:srgbClr val="D6EAF8"/>
          </a:solidFill>
          <a:ln w="12700">
            <a:solidFill>
              <a:srgbClr val="D6EAF8"/>
            </a:solidFill>
            <a:prstDash val="solid"/>
          </a:ln>
        </p:spPr>
      </p:sp>
      <p:sp>
        <p:nvSpPr>
          <p:cNvPr id="7" name="Shape 5"/>
          <p:cNvSpPr/>
          <p:nvPr/>
        </p:nvSpPr>
        <p:spPr>
          <a:xfrm>
            <a:off x="274320" y="1207008"/>
            <a:ext cx="2743200" cy="384048"/>
          </a:xfrm>
          <a:prstGeom prst="rect">
            <a:avLst/>
          </a:prstGeom>
          <a:solidFill>
            <a:srgbClr val="2E86AB"/>
          </a:solidFill>
          <a:ln w="12700">
            <a:solidFill>
              <a:srgbClr val="2E86AB"/>
            </a:solidFill>
            <a:prstDash val="solid"/>
          </a:ln>
        </p:spPr>
      </p:sp>
      <p:sp>
        <p:nvSpPr>
          <p:cNvPr id="8" name="Text 6"/>
          <p:cNvSpPr/>
          <p:nvPr/>
        </p:nvSpPr>
        <p:spPr>
          <a:xfrm>
            <a:off x="274320" y="1207008"/>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SOLID</a:t>
            </a:r>
            <a:endParaRPr lang="en-US" sz="1400" dirty="0"/>
          </a:p>
        </p:txBody>
      </p:sp>
      <p:sp>
        <p:nvSpPr>
          <p:cNvPr id="9" name="Text 7"/>
          <p:cNvSpPr/>
          <p:nvPr/>
        </p:nvSpPr>
        <p:spPr>
          <a:xfrm>
            <a:off x="365760" y="1664208"/>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Keeps its own shape — always</a:t>
            </a:r>
            <a:endParaRPr lang="en-US" sz="1100" dirty="0"/>
          </a:p>
        </p:txBody>
      </p:sp>
      <p:sp>
        <p:nvSpPr>
          <p:cNvPr id="10" name="Text 8"/>
          <p:cNvSpPr/>
          <p:nvPr/>
        </p:nvSpPr>
        <p:spPr>
          <a:xfrm>
            <a:off x="365760" y="2139696"/>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Fixed volume in any container</a:t>
            </a:r>
            <a:endParaRPr lang="en-US" sz="1100" dirty="0"/>
          </a:p>
        </p:txBody>
      </p:sp>
      <p:sp>
        <p:nvSpPr>
          <p:cNvPr id="11" name="Text 9"/>
          <p:cNvSpPr/>
          <p:nvPr/>
        </p:nvSpPr>
        <p:spPr>
          <a:xfrm>
            <a:off x="365760" y="2615184"/>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Cannot be poured</a:t>
            </a:r>
            <a:endParaRPr lang="en-US" sz="1100" dirty="0"/>
          </a:p>
        </p:txBody>
      </p:sp>
      <p:sp>
        <p:nvSpPr>
          <p:cNvPr id="12" name="Text 10"/>
          <p:cNvSpPr/>
          <p:nvPr/>
        </p:nvSpPr>
        <p:spPr>
          <a:xfrm>
            <a:off x="365760" y="3090672"/>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Particles packed tightly — no room to slide</a:t>
            </a:r>
            <a:endParaRPr lang="en-US" sz="1100" dirty="0"/>
          </a:p>
        </p:txBody>
      </p:sp>
      <p:sp>
        <p:nvSpPr>
          <p:cNvPr id="13" name="Text 11"/>
          <p:cNvSpPr/>
          <p:nvPr/>
        </p:nvSpPr>
        <p:spPr>
          <a:xfrm>
            <a:off x="365760" y="3767328"/>
            <a:ext cx="2560320" cy="438912"/>
          </a:xfrm>
          <a:prstGeom prst="rect">
            <a:avLst/>
          </a:prstGeom>
          <a:noFill/>
          <a:ln/>
        </p:spPr>
        <p:txBody>
          <a:bodyPr wrap="square" rtlCol="0" anchor="ctr"/>
          <a:lstStyle/>
          <a:p>
            <a:pPr indent="0" marL="0">
              <a:buNone/>
            </a:pPr>
            <a:r>
              <a:rPr lang="en-US" sz="1100" b="1" dirty="0">
                <a:solidFill>
                  <a:srgbClr val="2E86AB"/>
                </a:solidFill>
                <a:latin typeface="Calibri" pitchFamily="34" charset="0"/>
                <a:ea typeface="Calibri" pitchFamily="34" charset="-122"/>
                <a:cs typeface="Calibri" pitchFamily="34" charset="-120"/>
              </a:rPr>
              <a:t>Examples: rocks, pencils, ice cubes, coins</a:t>
            </a:r>
            <a:endParaRPr lang="en-US" sz="1100" dirty="0"/>
          </a:p>
        </p:txBody>
      </p:sp>
      <p:sp>
        <p:nvSpPr>
          <p:cNvPr id="14" name="Shape 12"/>
          <p:cNvSpPr/>
          <p:nvPr/>
        </p:nvSpPr>
        <p:spPr>
          <a:xfrm>
            <a:off x="3200400" y="1207008"/>
            <a:ext cx="2743200" cy="3703320"/>
          </a:xfrm>
          <a:prstGeom prst="rect">
            <a:avLst/>
          </a:prstGeom>
          <a:solidFill>
            <a:srgbClr val="D1F2EB"/>
          </a:solidFill>
          <a:ln w="12700">
            <a:solidFill>
              <a:srgbClr val="D1F2EB"/>
            </a:solidFill>
            <a:prstDash val="solid"/>
          </a:ln>
        </p:spPr>
      </p:sp>
      <p:sp>
        <p:nvSpPr>
          <p:cNvPr id="15" name="Shape 13"/>
          <p:cNvSpPr/>
          <p:nvPr/>
        </p:nvSpPr>
        <p:spPr>
          <a:xfrm>
            <a:off x="3200400" y="1207008"/>
            <a:ext cx="2743200" cy="384048"/>
          </a:xfrm>
          <a:prstGeom prst="rect">
            <a:avLst/>
          </a:prstGeom>
          <a:solidFill>
            <a:srgbClr val="0E7C7B"/>
          </a:solidFill>
          <a:ln w="12700">
            <a:solidFill>
              <a:srgbClr val="0E7C7B"/>
            </a:solidFill>
            <a:prstDash val="solid"/>
          </a:ln>
        </p:spPr>
      </p:sp>
      <p:sp>
        <p:nvSpPr>
          <p:cNvPr id="16" name="Text 14"/>
          <p:cNvSpPr/>
          <p:nvPr/>
        </p:nvSpPr>
        <p:spPr>
          <a:xfrm>
            <a:off x="3200400" y="1207008"/>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LIQUID</a:t>
            </a:r>
            <a:endParaRPr lang="en-US" sz="1400" dirty="0"/>
          </a:p>
        </p:txBody>
      </p:sp>
      <p:sp>
        <p:nvSpPr>
          <p:cNvPr id="17" name="Text 15"/>
          <p:cNvSpPr/>
          <p:nvPr/>
        </p:nvSpPr>
        <p:spPr>
          <a:xfrm>
            <a:off x="3291840" y="1664208"/>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Takes the shape of its container</a:t>
            </a:r>
            <a:endParaRPr lang="en-US" sz="1100" dirty="0"/>
          </a:p>
        </p:txBody>
      </p:sp>
      <p:sp>
        <p:nvSpPr>
          <p:cNvPr id="18" name="Text 16"/>
          <p:cNvSpPr/>
          <p:nvPr/>
        </p:nvSpPr>
        <p:spPr>
          <a:xfrm>
            <a:off x="3291840" y="2139696"/>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Fixed volume — same amount of liquid everywhere</a:t>
            </a:r>
            <a:endParaRPr lang="en-US" sz="1100" dirty="0"/>
          </a:p>
        </p:txBody>
      </p:sp>
      <p:sp>
        <p:nvSpPr>
          <p:cNvPr id="19" name="Text 17"/>
          <p:cNvSpPr/>
          <p:nvPr/>
        </p:nvSpPr>
        <p:spPr>
          <a:xfrm>
            <a:off x="3291840" y="2615184"/>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Can be poured (flows)</a:t>
            </a:r>
            <a:endParaRPr lang="en-US" sz="1100" dirty="0"/>
          </a:p>
        </p:txBody>
      </p:sp>
      <p:sp>
        <p:nvSpPr>
          <p:cNvPr id="20" name="Text 18"/>
          <p:cNvSpPr/>
          <p:nvPr/>
        </p:nvSpPr>
        <p:spPr>
          <a:xfrm>
            <a:off x="3291840" y="3090672"/>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Particles close, slide past each other</a:t>
            </a:r>
            <a:endParaRPr lang="en-US" sz="1100" dirty="0"/>
          </a:p>
        </p:txBody>
      </p:sp>
      <p:sp>
        <p:nvSpPr>
          <p:cNvPr id="21" name="Text 19"/>
          <p:cNvSpPr/>
          <p:nvPr/>
        </p:nvSpPr>
        <p:spPr>
          <a:xfrm>
            <a:off x="3291840" y="3767328"/>
            <a:ext cx="2560320" cy="438912"/>
          </a:xfrm>
          <a:prstGeom prst="rect">
            <a:avLst/>
          </a:prstGeom>
          <a:noFill/>
          <a:ln/>
        </p:spPr>
        <p:txBody>
          <a:bodyPr wrap="square"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Examples: water, juice, oil, mercury</a:t>
            </a:r>
            <a:endParaRPr lang="en-US" sz="1100" dirty="0"/>
          </a:p>
        </p:txBody>
      </p:sp>
      <p:sp>
        <p:nvSpPr>
          <p:cNvPr id="22" name="Shape 20"/>
          <p:cNvSpPr/>
          <p:nvPr/>
        </p:nvSpPr>
        <p:spPr>
          <a:xfrm>
            <a:off x="6126480" y="1207008"/>
            <a:ext cx="2743200" cy="3703320"/>
          </a:xfrm>
          <a:prstGeom prst="rect">
            <a:avLst/>
          </a:prstGeom>
          <a:solidFill>
            <a:srgbClr val="D5F5E3"/>
          </a:solidFill>
          <a:ln w="12700">
            <a:solidFill>
              <a:srgbClr val="D5F5E3"/>
            </a:solidFill>
            <a:prstDash val="solid"/>
          </a:ln>
        </p:spPr>
      </p:sp>
      <p:sp>
        <p:nvSpPr>
          <p:cNvPr id="23" name="Shape 21"/>
          <p:cNvSpPr/>
          <p:nvPr/>
        </p:nvSpPr>
        <p:spPr>
          <a:xfrm>
            <a:off x="6126480" y="1207008"/>
            <a:ext cx="2743200" cy="384048"/>
          </a:xfrm>
          <a:prstGeom prst="rect">
            <a:avLst/>
          </a:prstGeom>
          <a:solidFill>
            <a:srgbClr val="2A7A4B"/>
          </a:solidFill>
          <a:ln w="12700">
            <a:solidFill>
              <a:srgbClr val="2A7A4B"/>
            </a:solidFill>
            <a:prstDash val="solid"/>
          </a:ln>
        </p:spPr>
      </p:sp>
      <p:sp>
        <p:nvSpPr>
          <p:cNvPr id="24" name="Text 22"/>
          <p:cNvSpPr/>
          <p:nvPr/>
        </p:nvSpPr>
        <p:spPr>
          <a:xfrm>
            <a:off x="6126480" y="1207008"/>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GAS</a:t>
            </a:r>
            <a:endParaRPr lang="en-US" sz="1400" dirty="0"/>
          </a:p>
        </p:txBody>
      </p:sp>
      <p:sp>
        <p:nvSpPr>
          <p:cNvPr id="25" name="Text 23"/>
          <p:cNvSpPr/>
          <p:nvPr/>
        </p:nvSpPr>
        <p:spPr>
          <a:xfrm>
            <a:off x="6217920" y="1664208"/>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Takes shape of its container — fills it completely</a:t>
            </a:r>
            <a:endParaRPr lang="en-US" sz="1100" dirty="0"/>
          </a:p>
        </p:txBody>
      </p:sp>
      <p:sp>
        <p:nvSpPr>
          <p:cNvPr id="26" name="Text 24"/>
          <p:cNvSpPr/>
          <p:nvPr/>
        </p:nvSpPr>
        <p:spPr>
          <a:xfrm>
            <a:off x="6217920" y="2139696"/>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Volume changes — expands or compresses</a:t>
            </a:r>
            <a:endParaRPr lang="en-US" sz="1100" dirty="0"/>
          </a:p>
        </p:txBody>
      </p:sp>
      <p:sp>
        <p:nvSpPr>
          <p:cNvPr id="27" name="Text 25"/>
          <p:cNvSpPr/>
          <p:nvPr/>
        </p:nvSpPr>
        <p:spPr>
          <a:xfrm>
            <a:off x="6217920" y="2615184"/>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Flows in all directions</a:t>
            </a:r>
            <a:endParaRPr lang="en-US" sz="1100" dirty="0"/>
          </a:p>
        </p:txBody>
      </p:sp>
      <p:sp>
        <p:nvSpPr>
          <p:cNvPr id="28" name="Text 26"/>
          <p:cNvSpPr/>
          <p:nvPr/>
        </p:nvSpPr>
        <p:spPr>
          <a:xfrm>
            <a:off x="6217920" y="3090672"/>
            <a:ext cx="2560320" cy="43891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Particles spread far apart, move fast</a:t>
            </a:r>
            <a:endParaRPr lang="en-US" sz="1100" dirty="0"/>
          </a:p>
        </p:txBody>
      </p:sp>
      <p:sp>
        <p:nvSpPr>
          <p:cNvPr id="29" name="Text 27"/>
          <p:cNvSpPr/>
          <p:nvPr/>
        </p:nvSpPr>
        <p:spPr>
          <a:xfrm>
            <a:off x="6217920" y="3767328"/>
            <a:ext cx="2560320" cy="438912"/>
          </a:xfrm>
          <a:prstGeom prst="rect">
            <a:avLst/>
          </a:prstGeom>
          <a:noFill/>
          <a:ln/>
        </p:spPr>
        <p:txBody>
          <a:bodyPr wrap="square" rtlCol="0" anchor="ctr"/>
          <a:lstStyle/>
          <a:p>
            <a:pPr indent="0" marL="0">
              <a:buNone/>
            </a:pPr>
            <a:r>
              <a:rPr lang="en-US" sz="1100" b="1" dirty="0">
                <a:solidFill>
                  <a:srgbClr val="2A7A4B"/>
                </a:solidFill>
                <a:latin typeface="Calibri" pitchFamily="34" charset="0"/>
                <a:ea typeface="Calibri" pitchFamily="34" charset="-122"/>
                <a:cs typeface="Calibri" pitchFamily="34" charset="-120"/>
              </a:rPr>
              <a:t>Examples: air, steam, oxygen, carbon dioxide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84048"/>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Particle Diagram — Three States</a:t>
            </a:r>
            <a:endParaRPr lang="en-US" sz="2200" dirty="0"/>
          </a:p>
        </p:txBody>
      </p:sp>
      <p:sp>
        <p:nvSpPr>
          <p:cNvPr id="4" name="Shape 2"/>
          <p:cNvSpPr/>
          <p:nvPr/>
        </p:nvSpPr>
        <p:spPr>
          <a:xfrm>
            <a:off x="274320" y="640080"/>
            <a:ext cx="2743200" cy="4114800"/>
          </a:xfrm>
          <a:prstGeom prst="rect">
            <a:avLst/>
          </a:prstGeom>
          <a:solidFill>
            <a:srgbClr val="D6EAF8"/>
          </a:solidFill>
          <a:ln w="12700">
            <a:solidFill>
              <a:srgbClr val="D6EAF8"/>
            </a:solidFill>
            <a:prstDash val="solid"/>
          </a:ln>
        </p:spPr>
      </p:sp>
      <p:sp>
        <p:nvSpPr>
          <p:cNvPr id="5" name="Shape 3"/>
          <p:cNvSpPr/>
          <p:nvPr/>
        </p:nvSpPr>
        <p:spPr>
          <a:xfrm>
            <a:off x="274320" y="640080"/>
            <a:ext cx="2743200" cy="365760"/>
          </a:xfrm>
          <a:prstGeom prst="rect">
            <a:avLst/>
          </a:prstGeom>
          <a:solidFill>
            <a:srgbClr val="2E86AB"/>
          </a:solidFill>
          <a:ln w="12700">
            <a:solidFill>
              <a:srgbClr val="2E86AB"/>
            </a:solidFill>
            <a:prstDash val="solid"/>
          </a:ln>
        </p:spPr>
      </p:sp>
      <p:sp>
        <p:nvSpPr>
          <p:cNvPr id="6" name="Text 4"/>
          <p:cNvSpPr/>
          <p:nvPr/>
        </p:nvSpPr>
        <p:spPr>
          <a:xfrm>
            <a:off x="274320" y="640080"/>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SOLID</a:t>
            </a:r>
            <a:endParaRPr lang="en-US" sz="1400" dirty="0"/>
          </a:p>
        </p:txBody>
      </p:sp>
      <p:sp>
        <p:nvSpPr>
          <p:cNvPr id="7" name="Shape 5"/>
          <p:cNvSpPr/>
          <p:nvPr/>
        </p:nvSpPr>
        <p:spPr>
          <a:xfrm>
            <a:off x="594360" y="1115568"/>
            <a:ext cx="237744" cy="237744"/>
          </a:xfrm>
          <a:prstGeom prst="rect">
            <a:avLst/>
          </a:prstGeom>
          <a:solidFill>
            <a:srgbClr val="2E86AB"/>
          </a:solidFill>
          <a:ln w="12700">
            <a:solidFill>
              <a:srgbClr val="2E86AB"/>
            </a:solidFill>
            <a:prstDash val="solid"/>
          </a:ln>
        </p:spPr>
      </p:sp>
      <p:sp>
        <p:nvSpPr>
          <p:cNvPr id="8" name="Shape 6"/>
          <p:cNvSpPr/>
          <p:nvPr/>
        </p:nvSpPr>
        <p:spPr>
          <a:xfrm>
            <a:off x="941832" y="1115568"/>
            <a:ext cx="237744" cy="237744"/>
          </a:xfrm>
          <a:prstGeom prst="rect">
            <a:avLst/>
          </a:prstGeom>
          <a:solidFill>
            <a:srgbClr val="2E86AB"/>
          </a:solidFill>
          <a:ln w="12700">
            <a:solidFill>
              <a:srgbClr val="2E86AB"/>
            </a:solidFill>
            <a:prstDash val="solid"/>
          </a:ln>
        </p:spPr>
      </p:sp>
      <p:sp>
        <p:nvSpPr>
          <p:cNvPr id="9" name="Shape 7"/>
          <p:cNvSpPr/>
          <p:nvPr/>
        </p:nvSpPr>
        <p:spPr>
          <a:xfrm>
            <a:off x="1289304" y="1115568"/>
            <a:ext cx="237744" cy="237744"/>
          </a:xfrm>
          <a:prstGeom prst="rect">
            <a:avLst/>
          </a:prstGeom>
          <a:solidFill>
            <a:srgbClr val="2E86AB"/>
          </a:solidFill>
          <a:ln w="12700">
            <a:solidFill>
              <a:srgbClr val="2E86AB"/>
            </a:solidFill>
            <a:prstDash val="solid"/>
          </a:ln>
        </p:spPr>
      </p:sp>
      <p:sp>
        <p:nvSpPr>
          <p:cNvPr id="10" name="Shape 8"/>
          <p:cNvSpPr/>
          <p:nvPr/>
        </p:nvSpPr>
        <p:spPr>
          <a:xfrm>
            <a:off x="1636776" y="1115568"/>
            <a:ext cx="237744" cy="237744"/>
          </a:xfrm>
          <a:prstGeom prst="rect">
            <a:avLst/>
          </a:prstGeom>
          <a:solidFill>
            <a:srgbClr val="2E86AB"/>
          </a:solidFill>
          <a:ln w="12700">
            <a:solidFill>
              <a:srgbClr val="2E86AB"/>
            </a:solidFill>
            <a:prstDash val="solid"/>
          </a:ln>
        </p:spPr>
      </p:sp>
      <p:sp>
        <p:nvSpPr>
          <p:cNvPr id="11" name="Shape 9"/>
          <p:cNvSpPr/>
          <p:nvPr/>
        </p:nvSpPr>
        <p:spPr>
          <a:xfrm>
            <a:off x="594360" y="1463040"/>
            <a:ext cx="237744" cy="237744"/>
          </a:xfrm>
          <a:prstGeom prst="rect">
            <a:avLst/>
          </a:prstGeom>
          <a:solidFill>
            <a:srgbClr val="2E86AB"/>
          </a:solidFill>
          <a:ln w="12700">
            <a:solidFill>
              <a:srgbClr val="2E86AB"/>
            </a:solidFill>
            <a:prstDash val="solid"/>
          </a:ln>
        </p:spPr>
      </p:sp>
      <p:sp>
        <p:nvSpPr>
          <p:cNvPr id="12" name="Shape 10"/>
          <p:cNvSpPr/>
          <p:nvPr/>
        </p:nvSpPr>
        <p:spPr>
          <a:xfrm>
            <a:off x="941832" y="1463040"/>
            <a:ext cx="237744" cy="237744"/>
          </a:xfrm>
          <a:prstGeom prst="rect">
            <a:avLst/>
          </a:prstGeom>
          <a:solidFill>
            <a:srgbClr val="2E86AB"/>
          </a:solidFill>
          <a:ln w="12700">
            <a:solidFill>
              <a:srgbClr val="2E86AB"/>
            </a:solidFill>
            <a:prstDash val="solid"/>
          </a:ln>
        </p:spPr>
      </p:sp>
      <p:sp>
        <p:nvSpPr>
          <p:cNvPr id="13" name="Shape 11"/>
          <p:cNvSpPr/>
          <p:nvPr/>
        </p:nvSpPr>
        <p:spPr>
          <a:xfrm>
            <a:off x="1289304" y="1463040"/>
            <a:ext cx="237744" cy="237744"/>
          </a:xfrm>
          <a:prstGeom prst="rect">
            <a:avLst/>
          </a:prstGeom>
          <a:solidFill>
            <a:srgbClr val="2E86AB"/>
          </a:solidFill>
          <a:ln w="12700">
            <a:solidFill>
              <a:srgbClr val="2E86AB"/>
            </a:solidFill>
            <a:prstDash val="solid"/>
          </a:ln>
        </p:spPr>
      </p:sp>
      <p:sp>
        <p:nvSpPr>
          <p:cNvPr id="14" name="Shape 12"/>
          <p:cNvSpPr/>
          <p:nvPr/>
        </p:nvSpPr>
        <p:spPr>
          <a:xfrm>
            <a:off x="1636776" y="1463040"/>
            <a:ext cx="237744" cy="237744"/>
          </a:xfrm>
          <a:prstGeom prst="rect">
            <a:avLst/>
          </a:prstGeom>
          <a:solidFill>
            <a:srgbClr val="2E86AB"/>
          </a:solidFill>
          <a:ln w="12700">
            <a:solidFill>
              <a:srgbClr val="2E86AB"/>
            </a:solidFill>
            <a:prstDash val="solid"/>
          </a:ln>
        </p:spPr>
      </p:sp>
      <p:sp>
        <p:nvSpPr>
          <p:cNvPr id="15" name="Shape 13"/>
          <p:cNvSpPr/>
          <p:nvPr/>
        </p:nvSpPr>
        <p:spPr>
          <a:xfrm>
            <a:off x="594360" y="1810512"/>
            <a:ext cx="237744" cy="237744"/>
          </a:xfrm>
          <a:prstGeom prst="rect">
            <a:avLst/>
          </a:prstGeom>
          <a:solidFill>
            <a:srgbClr val="2E86AB"/>
          </a:solidFill>
          <a:ln w="12700">
            <a:solidFill>
              <a:srgbClr val="2E86AB"/>
            </a:solidFill>
            <a:prstDash val="solid"/>
          </a:ln>
        </p:spPr>
      </p:sp>
      <p:sp>
        <p:nvSpPr>
          <p:cNvPr id="16" name="Shape 14"/>
          <p:cNvSpPr/>
          <p:nvPr/>
        </p:nvSpPr>
        <p:spPr>
          <a:xfrm>
            <a:off x="941832" y="1810512"/>
            <a:ext cx="237744" cy="237744"/>
          </a:xfrm>
          <a:prstGeom prst="rect">
            <a:avLst/>
          </a:prstGeom>
          <a:solidFill>
            <a:srgbClr val="2E86AB"/>
          </a:solidFill>
          <a:ln w="12700">
            <a:solidFill>
              <a:srgbClr val="2E86AB"/>
            </a:solidFill>
            <a:prstDash val="solid"/>
          </a:ln>
        </p:spPr>
      </p:sp>
      <p:sp>
        <p:nvSpPr>
          <p:cNvPr id="17" name="Shape 15"/>
          <p:cNvSpPr/>
          <p:nvPr/>
        </p:nvSpPr>
        <p:spPr>
          <a:xfrm>
            <a:off x="1289304" y="1810512"/>
            <a:ext cx="237744" cy="237744"/>
          </a:xfrm>
          <a:prstGeom prst="rect">
            <a:avLst/>
          </a:prstGeom>
          <a:solidFill>
            <a:srgbClr val="2E86AB"/>
          </a:solidFill>
          <a:ln w="12700">
            <a:solidFill>
              <a:srgbClr val="2E86AB"/>
            </a:solidFill>
            <a:prstDash val="solid"/>
          </a:ln>
        </p:spPr>
      </p:sp>
      <p:sp>
        <p:nvSpPr>
          <p:cNvPr id="18" name="Shape 16"/>
          <p:cNvSpPr/>
          <p:nvPr/>
        </p:nvSpPr>
        <p:spPr>
          <a:xfrm>
            <a:off x="1636776" y="1810512"/>
            <a:ext cx="237744" cy="237744"/>
          </a:xfrm>
          <a:prstGeom prst="rect">
            <a:avLst/>
          </a:prstGeom>
          <a:solidFill>
            <a:srgbClr val="2E86AB"/>
          </a:solidFill>
          <a:ln w="12700">
            <a:solidFill>
              <a:srgbClr val="2E86AB"/>
            </a:solidFill>
            <a:prstDash val="solid"/>
          </a:ln>
        </p:spPr>
      </p:sp>
      <p:sp>
        <p:nvSpPr>
          <p:cNvPr id="19" name="Shape 17"/>
          <p:cNvSpPr/>
          <p:nvPr/>
        </p:nvSpPr>
        <p:spPr>
          <a:xfrm>
            <a:off x="594360" y="2157984"/>
            <a:ext cx="237744" cy="237744"/>
          </a:xfrm>
          <a:prstGeom prst="rect">
            <a:avLst/>
          </a:prstGeom>
          <a:solidFill>
            <a:srgbClr val="2E86AB"/>
          </a:solidFill>
          <a:ln w="12700">
            <a:solidFill>
              <a:srgbClr val="2E86AB"/>
            </a:solidFill>
            <a:prstDash val="solid"/>
          </a:ln>
        </p:spPr>
      </p:sp>
      <p:sp>
        <p:nvSpPr>
          <p:cNvPr id="20" name="Shape 18"/>
          <p:cNvSpPr/>
          <p:nvPr/>
        </p:nvSpPr>
        <p:spPr>
          <a:xfrm>
            <a:off x="941832" y="2157984"/>
            <a:ext cx="237744" cy="237744"/>
          </a:xfrm>
          <a:prstGeom prst="rect">
            <a:avLst/>
          </a:prstGeom>
          <a:solidFill>
            <a:srgbClr val="2E86AB"/>
          </a:solidFill>
          <a:ln w="12700">
            <a:solidFill>
              <a:srgbClr val="2E86AB"/>
            </a:solidFill>
            <a:prstDash val="solid"/>
          </a:ln>
        </p:spPr>
      </p:sp>
      <p:sp>
        <p:nvSpPr>
          <p:cNvPr id="21" name="Shape 19"/>
          <p:cNvSpPr/>
          <p:nvPr/>
        </p:nvSpPr>
        <p:spPr>
          <a:xfrm>
            <a:off x="1289304" y="2157984"/>
            <a:ext cx="237744" cy="237744"/>
          </a:xfrm>
          <a:prstGeom prst="rect">
            <a:avLst/>
          </a:prstGeom>
          <a:solidFill>
            <a:srgbClr val="2E86AB"/>
          </a:solidFill>
          <a:ln w="12700">
            <a:solidFill>
              <a:srgbClr val="2E86AB"/>
            </a:solidFill>
            <a:prstDash val="solid"/>
          </a:ln>
        </p:spPr>
      </p:sp>
      <p:sp>
        <p:nvSpPr>
          <p:cNvPr id="22" name="Shape 20"/>
          <p:cNvSpPr/>
          <p:nvPr/>
        </p:nvSpPr>
        <p:spPr>
          <a:xfrm>
            <a:off x="1636776" y="2157984"/>
            <a:ext cx="237744" cy="237744"/>
          </a:xfrm>
          <a:prstGeom prst="rect">
            <a:avLst/>
          </a:prstGeom>
          <a:solidFill>
            <a:srgbClr val="2E86AB"/>
          </a:solidFill>
          <a:ln w="12700">
            <a:solidFill>
              <a:srgbClr val="2E86AB"/>
            </a:solidFill>
            <a:prstDash val="solid"/>
          </a:ln>
        </p:spPr>
      </p:sp>
      <p:sp>
        <p:nvSpPr>
          <p:cNvPr id="23" name="Text 21"/>
          <p:cNvSpPr/>
          <p:nvPr/>
        </p:nvSpPr>
        <p:spPr>
          <a:xfrm>
            <a:off x="365760" y="324612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Fixed shape</a:t>
            </a:r>
            <a:endParaRPr lang="en-US" sz="1100" dirty="0"/>
          </a:p>
        </p:txBody>
      </p:sp>
      <p:sp>
        <p:nvSpPr>
          <p:cNvPr id="24" name="Text 22"/>
          <p:cNvSpPr/>
          <p:nvPr/>
        </p:nvSpPr>
        <p:spPr>
          <a:xfrm>
            <a:off x="365760" y="352044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Fixed volume</a:t>
            </a:r>
            <a:endParaRPr lang="en-US" sz="1100" dirty="0"/>
          </a:p>
        </p:txBody>
      </p:sp>
      <p:sp>
        <p:nvSpPr>
          <p:cNvPr id="25" name="Text 23"/>
          <p:cNvSpPr/>
          <p:nvPr/>
        </p:nvSpPr>
        <p:spPr>
          <a:xfrm>
            <a:off x="365760" y="379476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Tightly packed</a:t>
            </a:r>
            <a:endParaRPr lang="en-US" sz="1100" dirty="0"/>
          </a:p>
        </p:txBody>
      </p:sp>
      <p:sp>
        <p:nvSpPr>
          <p:cNvPr id="26" name="Shape 24"/>
          <p:cNvSpPr/>
          <p:nvPr/>
        </p:nvSpPr>
        <p:spPr>
          <a:xfrm>
            <a:off x="3200400" y="640080"/>
            <a:ext cx="2743200" cy="4114800"/>
          </a:xfrm>
          <a:prstGeom prst="rect">
            <a:avLst/>
          </a:prstGeom>
          <a:solidFill>
            <a:srgbClr val="D1F2EB"/>
          </a:solidFill>
          <a:ln w="12700">
            <a:solidFill>
              <a:srgbClr val="D1F2EB"/>
            </a:solidFill>
            <a:prstDash val="solid"/>
          </a:ln>
        </p:spPr>
      </p:sp>
      <p:sp>
        <p:nvSpPr>
          <p:cNvPr id="27" name="Shape 25"/>
          <p:cNvSpPr/>
          <p:nvPr/>
        </p:nvSpPr>
        <p:spPr>
          <a:xfrm>
            <a:off x="3200400" y="640080"/>
            <a:ext cx="2743200" cy="365760"/>
          </a:xfrm>
          <a:prstGeom prst="rect">
            <a:avLst/>
          </a:prstGeom>
          <a:solidFill>
            <a:srgbClr val="0E7C7B"/>
          </a:solidFill>
          <a:ln w="12700">
            <a:solidFill>
              <a:srgbClr val="0E7C7B"/>
            </a:solidFill>
            <a:prstDash val="solid"/>
          </a:ln>
        </p:spPr>
      </p:sp>
      <p:sp>
        <p:nvSpPr>
          <p:cNvPr id="28" name="Text 26"/>
          <p:cNvSpPr/>
          <p:nvPr/>
        </p:nvSpPr>
        <p:spPr>
          <a:xfrm>
            <a:off x="3200400" y="640080"/>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LIQUID</a:t>
            </a:r>
            <a:endParaRPr lang="en-US" sz="1400" dirty="0"/>
          </a:p>
        </p:txBody>
      </p:sp>
      <p:sp>
        <p:nvSpPr>
          <p:cNvPr id="29" name="Shape 27"/>
          <p:cNvSpPr/>
          <p:nvPr/>
        </p:nvSpPr>
        <p:spPr>
          <a:xfrm>
            <a:off x="566928" y="1170432"/>
            <a:ext cx="219456" cy="219456"/>
          </a:xfrm>
          <a:prstGeom prst="rect">
            <a:avLst/>
          </a:prstGeom>
          <a:solidFill>
            <a:srgbClr val="0E7C7B"/>
          </a:solidFill>
          <a:ln w="12700">
            <a:solidFill>
              <a:srgbClr val="0E7C7B"/>
            </a:solidFill>
            <a:prstDash val="solid"/>
          </a:ln>
        </p:spPr>
      </p:sp>
      <p:sp>
        <p:nvSpPr>
          <p:cNvPr id="30" name="Shape 28"/>
          <p:cNvSpPr/>
          <p:nvPr/>
        </p:nvSpPr>
        <p:spPr>
          <a:xfrm>
            <a:off x="987552" y="1143000"/>
            <a:ext cx="219456" cy="219456"/>
          </a:xfrm>
          <a:prstGeom prst="rect">
            <a:avLst/>
          </a:prstGeom>
          <a:solidFill>
            <a:srgbClr val="0E7C7B"/>
          </a:solidFill>
          <a:ln w="12700">
            <a:solidFill>
              <a:srgbClr val="0E7C7B"/>
            </a:solidFill>
            <a:prstDash val="solid"/>
          </a:ln>
        </p:spPr>
      </p:sp>
      <p:sp>
        <p:nvSpPr>
          <p:cNvPr id="31" name="Shape 29"/>
          <p:cNvSpPr/>
          <p:nvPr/>
        </p:nvSpPr>
        <p:spPr>
          <a:xfrm>
            <a:off x="1389888" y="1207008"/>
            <a:ext cx="219456" cy="219456"/>
          </a:xfrm>
          <a:prstGeom prst="rect">
            <a:avLst/>
          </a:prstGeom>
          <a:solidFill>
            <a:srgbClr val="0E7C7B"/>
          </a:solidFill>
          <a:ln w="12700">
            <a:solidFill>
              <a:srgbClr val="0E7C7B"/>
            </a:solidFill>
            <a:prstDash val="solid"/>
          </a:ln>
        </p:spPr>
      </p:sp>
      <p:sp>
        <p:nvSpPr>
          <p:cNvPr id="32" name="Shape 30"/>
          <p:cNvSpPr/>
          <p:nvPr/>
        </p:nvSpPr>
        <p:spPr>
          <a:xfrm>
            <a:off x="1792224" y="1143000"/>
            <a:ext cx="219456" cy="219456"/>
          </a:xfrm>
          <a:prstGeom prst="rect">
            <a:avLst/>
          </a:prstGeom>
          <a:solidFill>
            <a:srgbClr val="0E7C7B"/>
          </a:solidFill>
          <a:ln w="12700">
            <a:solidFill>
              <a:srgbClr val="0E7C7B"/>
            </a:solidFill>
            <a:prstDash val="solid"/>
          </a:ln>
        </p:spPr>
      </p:sp>
      <p:sp>
        <p:nvSpPr>
          <p:cNvPr id="33" name="Shape 31"/>
          <p:cNvSpPr/>
          <p:nvPr/>
        </p:nvSpPr>
        <p:spPr>
          <a:xfrm>
            <a:off x="621792" y="1600200"/>
            <a:ext cx="219456" cy="219456"/>
          </a:xfrm>
          <a:prstGeom prst="rect">
            <a:avLst/>
          </a:prstGeom>
          <a:solidFill>
            <a:srgbClr val="0E7C7B"/>
          </a:solidFill>
          <a:ln w="12700">
            <a:solidFill>
              <a:srgbClr val="0E7C7B"/>
            </a:solidFill>
            <a:prstDash val="solid"/>
          </a:ln>
        </p:spPr>
      </p:sp>
      <p:sp>
        <p:nvSpPr>
          <p:cNvPr id="34" name="Shape 32"/>
          <p:cNvSpPr/>
          <p:nvPr/>
        </p:nvSpPr>
        <p:spPr>
          <a:xfrm>
            <a:off x="1051560" y="1554480"/>
            <a:ext cx="219456" cy="219456"/>
          </a:xfrm>
          <a:prstGeom prst="rect">
            <a:avLst/>
          </a:prstGeom>
          <a:solidFill>
            <a:srgbClr val="0E7C7B"/>
          </a:solidFill>
          <a:ln w="12700">
            <a:solidFill>
              <a:srgbClr val="0E7C7B"/>
            </a:solidFill>
            <a:prstDash val="solid"/>
          </a:ln>
        </p:spPr>
      </p:sp>
      <p:sp>
        <p:nvSpPr>
          <p:cNvPr id="35" name="Shape 33"/>
          <p:cNvSpPr/>
          <p:nvPr/>
        </p:nvSpPr>
        <p:spPr>
          <a:xfrm>
            <a:off x="1481328" y="1572768"/>
            <a:ext cx="219456" cy="219456"/>
          </a:xfrm>
          <a:prstGeom prst="rect">
            <a:avLst/>
          </a:prstGeom>
          <a:solidFill>
            <a:srgbClr val="0E7C7B"/>
          </a:solidFill>
          <a:ln w="12700">
            <a:solidFill>
              <a:srgbClr val="0E7C7B"/>
            </a:solidFill>
            <a:prstDash val="solid"/>
          </a:ln>
        </p:spPr>
      </p:sp>
      <p:sp>
        <p:nvSpPr>
          <p:cNvPr id="36" name="Shape 34"/>
          <p:cNvSpPr/>
          <p:nvPr/>
        </p:nvSpPr>
        <p:spPr>
          <a:xfrm>
            <a:off x="1847088" y="1627632"/>
            <a:ext cx="219456" cy="219456"/>
          </a:xfrm>
          <a:prstGeom prst="rect">
            <a:avLst/>
          </a:prstGeom>
          <a:solidFill>
            <a:srgbClr val="0E7C7B"/>
          </a:solidFill>
          <a:ln w="12700">
            <a:solidFill>
              <a:srgbClr val="0E7C7B"/>
            </a:solidFill>
            <a:prstDash val="solid"/>
          </a:ln>
        </p:spPr>
      </p:sp>
      <p:sp>
        <p:nvSpPr>
          <p:cNvPr id="37" name="Shape 35"/>
          <p:cNvSpPr/>
          <p:nvPr/>
        </p:nvSpPr>
        <p:spPr>
          <a:xfrm>
            <a:off x="530352" y="2029968"/>
            <a:ext cx="219456" cy="219456"/>
          </a:xfrm>
          <a:prstGeom prst="rect">
            <a:avLst/>
          </a:prstGeom>
          <a:solidFill>
            <a:srgbClr val="0E7C7B"/>
          </a:solidFill>
          <a:ln w="12700">
            <a:solidFill>
              <a:srgbClr val="0E7C7B"/>
            </a:solidFill>
            <a:prstDash val="solid"/>
          </a:ln>
        </p:spPr>
      </p:sp>
      <p:sp>
        <p:nvSpPr>
          <p:cNvPr id="38" name="Shape 36"/>
          <p:cNvSpPr/>
          <p:nvPr/>
        </p:nvSpPr>
        <p:spPr>
          <a:xfrm>
            <a:off x="932688" y="2057400"/>
            <a:ext cx="219456" cy="219456"/>
          </a:xfrm>
          <a:prstGeom prst="rect">
            <a:avLst/>
          </a:prstGeom>
          <a:solidFill>
            <a:srgbClr val="0E7C7B"/>
          </a:solidFill>
          <a:ln w="12700">
            <a:solidFill>
              <a:srgbClr val="0E7C7B"/>
            </a:solidFill>
            <a:prstDash val="solid"/>
          </a:ln>
        </p:spPr>
      </p:sp>
      <p:sp>
        <p:nvSpPr>
          <p:cNvPr id="39" name="Shape 37"/>
          <p:cNvSpPr/>
          <p:nvPr/>
        </p:nvSpPr>
        <p:spPr>
          <a:xfrm>
            <a:off x="1353312" y="1993392"/>
            <a:ext cx="219456" cy="219456"/>
          </a:xfrm>
          <a:prstGeom prst="rect">
            <a:avLst/>
          </a:prstGeom>
          <a:solidFill>
            <a:srgbClr val="0E7C7B"/>
          </a:solidFill>
          <a:ln w="12700">
            <a:solidFill>
              <a:srgbClr val="0E7C7B"/>
            </a:solidFill>
            <a:prstDash val="solid"/>
          </a:ln>
        </p:spPr>
      </p:sp>
      <p:sp>
        <p:nvSpPr>
          <p:cNvPr id="40" name="Shape 38"/>
          <p:cNvSpPr/>
          <p:nvPr/>
        </p:nvSpPr>
        <p:spPr>
          <a:xfrm>
            <a:off x="1783080" y="2084832"/>
            <a:ext cx="219456" cy="219456"/>
          </a:xfrm>
          <a:prstGeom prst="rect">
            <a:avLst/>
          </a:prstGeom>
          <a:solidFill>
            <a:srgbClr val="0E7C7B"/>
          </a:solidFill>
          <a:ln w="12700">
            <a:solidFill>
              <a:srgbClr val="0E7C7B"/>
            </a:solidFill>
            <a:prstDash val="solid"/>
          </a:ln>
        </p:spPr>
      </p:sp>
      <p:sp>
        <p:nvSpPr>
          <p:cNvPr id="41" name="Shape 39"/>
          <p:cNvSpPr/>
          <p:nvPr/>
        </p:nvSpPr>
        <p:spPr>
          <a:xfrm>
            <a:off x="594360" y="2487168"/>
            <a:ext cx="219456" cy="219456"/>
          </a:xfrm>
          <a:prstGeom prst="rect">
            <a:avLst/>
          </a:prstGeom>
          <a:solidFill>
            <a:srgbClr val="0E7C7B"/>
          </a:solidFill>
          <a:ln w="12700">
            <a:solidFill>
              <a:srgbClr val="0E7C7B"/>
            </a:solidFill>
            <a:prstDash val="solid"/>
          </a:ln>
        </p:spPr>
      </p:sp>
      <p:sp>
        <p:nvSpPr>
          <p:cNvPr id="42" name="Shape 40"/>
          <p:cNvSpPr/>
          <p:nvPr/>
        </p:nvSpPr>
        <p:spPr>
          <a:xfrm>
            <a:off x="1024128" y="2450592"/>
            <a:ext cx="219456" cy="219456"/>
          </a:xfrm>
          <a:prstGeom prst="rect">
            <a:avLst/>
          </a:prstGeom>
          <a:solidFill>
            <a:srgbClr val="0E7C7B"/>
          </a:solidFill>
          <a:ln w="12700">
            <a:solidFill>
              <a:srgbClr val="0E7C7B"/>
            </a:solidFill>
            <a:prstDash val="solid"/>
          </a:ln>
        </p:spPr>
      </p:sp>
      <p:sp>
        <p:nvSpPr>
          <p:cNvPr id="43" name="Shape 41"/>
          <p:cNvSpPr/>
          <p:nvPr/>
        </p:nvSpPr>
        <p:spPr>
          <a:xfrm>
            <a:off x="1463040" y="2514600"/>
            <a:ext cx="219456" cy="219456"/>
          </a:xfrm>
          <a:prstGeom prst="rect">
            <a:avLst/>
          </a:prstGeom>
          <a:solidFill>
            <a:srgbClr val="0E7C7B"/>
          </a:solidFill>
          <a:ln w="12700">
            <a:solidFill>
              <a:srgbClr val="0E7C7B"/>
            </a:solidFill>
            <a:prstDash val="solid"/>
          </a:ln>
        </p:spPr>
      </p:sp>
      <p:sp>
        <p:nvSpPr>
          <p:cNvPr id="44" name="Text 42"/>
          <p:cNvSpPr/>
          <p:nvPr/>
        </p:nvSpPr>
        <p:spPr>
          <a:xfrm>
            <a:off x="3291840" y="324612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Container shape</a:t>
            </a:r>
            <a:endParaRPr lang="en-US" sz="1100" dirty="0"/>
          </a:p>
        </p:txBody>
      </p:sp>
      <p:sp>
        <p:nvSpPr>
          <p:cNvPr id="45" name="Text 43"/>
          <p:cNvSpPr/>
          <p:nvPr/>
        </p:nvSpPr>
        <p:spPr>
          <a:xfrm>
            <a:off x="3291840" y="352044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Fixed volume</a:t>
            </a:r>
            <a:endParaRPr lang="en-US" sz="1100" dirty="0"/>
          </a:p>
        </p:txBody>
      </p:sp>
      <p:sp>
        <p:nvSpPr>
          <p:cNvPr id="46" name="Text 44"/>
          <p:cNvSpPr/>
          <p:nvPr/>
        </p:nvSpPr>
        <p:spPr>
          <a:xfrm>
            <a:off x="3291840" y="379476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Slides past</a:t>
            </a:r>
            <a:endParaRPr lang="en-US" sz="1100" dirty="0"/>
          </a:p>
        </p:txBody>
      </p:sp>
      <p:sp>
        <p:nvSpPr>
          <p:cNvPr id="47" name="Shape 45"/>
          <p:cNvSpPr/>
          <p:nvPr/>
        </p:nvSpPr>
        <p:spPr>
          <a:xfrm>
            <a:off x="6126480" y="640080"/>
            <a:ext cx="2743200" cy="4114800"/>
          </a:xfrm>
          <a:prstGeom prst="rect">
            <a:avLst/>
          </a:prstGeom>
          <a:solidFill>
            <a:srgbClr val="D5F5E3"/>
          </a:solidFill>
          <a:ln w="12700">
            <a:solidFill>
              <a:srgbClr val="D5F5E3"/>
            </a:solidFill>
            <a:prstDash val="solid"/>
          </a:ln>
        </p:spPr>
      </p:sp>
      <p:sp>
        <p:nvSpPr>
          <p:cNvPr id="48" name="Shape 46"/>
          <p:cNvSpPr/>
          <p:nvPr/>
        </p:nvSpPr>
        <p:spPr>
          <a:xfrm>
            <a:off x="6126480" y="640080"/>
            <a:ext cx="2743200" cy="365760"/>
          </a:xfrm>
          <a:prstGeom prst="rect">
            <a:avLst/>
          </a:prstGeom>
          <a:solidFill>
            <a:srgbClr val="2A7A4B"/>
          </a:solidFill>
          <a:ln w="12700">
            <a:solidFill>
              <a:srgbClr val="2A7A4B"/>
            </a:solidFill>
            <a:prstDash val="solid"/>
          </a:ln>
        </p:spPr>
      </p:sp>
      <p:sp>
        <p:nvSpPr>
          <p:cNvPr id="49" name="Text 47"/>
          <p:cNvSpPr/>
          <p:nvPr/>
        </p:nvSpPr>
        <p:spPr>
          <a:xfrm>
            <a:off x="6126480" y="640080"/>
            <a:ext cx="2743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GAS</a:t>
            </a:r>
            <a:endParaRPr lang="en-US" sz="1400" dirty="0"/>
          </a:p>
        </p:txBody>
      </p:sp>
      <p:sp>
        <p:nvSpPr>
          <p:cNvPr id="50" name="Shape 48"/>
          <p:cNvSpPr/>
          <p:nvPr/>
        </p:nvSpPr>
        <p:spPr>
          <a:xfrm>
            <a:off x="502920" y="1143000"/>
            <a:ext cx="182880" cy="182880"/>
          </a:xfrm>
          <a:prstGeom prst="rect">
            <a:avLst/>
          </a:prstGeom>
          <a:solidFill>
            <a:srgbClr val="2A7A4B"/>
          </a:solidFill>
          <a:ln w="12700">
            <a:solidFill>
              <a:srgbClr val="2A7A4B"/>
            </a:solidFill>
            <a:prstDash val="solid"/>
          </a:ln>
        </p:spPr>
      </p:sp>
      <p:sp>
        <p:nvSpPr>
          <p:cNvPr id="51" name="Shape 49"/>
          <p:cNvSpPr/>
          <p:nvPr/>
        </p:nvSpPr>
        <p:spPr>
          <a:xfrm>
            <a:off x="1371600" y="1261872"/>
            <a:ext cx="182880" cy="182880"/>
          </a:xfrm>
          <a:prstGeom prst="rect">
            <a:avLst/>
          </a:prstGeom>
          <a:solidFill>
            <a:srgbClr val="2A7A4B"/>
          </a:solidFill>
          <a:ln w="12700">
            <a:solidFill>
              <a:srgbClr val="2A7A4B"/>
            </a:solidFill>
            <a:prstDash val="solid"/>
          </a:ln>
        </p:spPr>
      </p:sp>
      <p:sp>
        <p:nvSpPr>
          <p:cNvPr id="52" name="Shape 50"/>
          <p:cNvSpPr/>
          <p:nvPr/>
        </p:nvSpPr>
        <p:spPr>
          <a:xfrm>
            <a:off x="2304288" y="1097280"/>
            <a:ext cx="182880" cy="182880"/>
          </a:xfrm>
          <a:prstGeom prst="rect">
            <a:avLst/>
          </a:prstGeom>
          <a:solidFill>
            <a:srgbClr val="2A7A4B"/>
          </a:solidFill>
          <a:ln w="12700">
            <a:solidFill>
              <a:srgbClr val="2A7A4B"/>
            </a:solidFill>
            <a:prstDash val="solid"/>
          </a:ln>
        </p:spPr>
      </p:sp>
      <p:sp>
        <p:nvSpPr>
          <p:cNvPr id="53" name="Shape 51"/>
          <p:cNvSpPr/>
          <p:nvPr/>
        </p:nvSpPr>
        <p:spPr>
          <a:xfrm>
            <a:off x="658368" y="1783080"/>
            <a:ext cx="182880" cy="182880"/>
          </a:xfrm>
          <a:prstGeom prst="rect">
            <a:avLst/>
          </a:prstGeom>
          <a:solidFill>
            <a:srgbClr val="2A7A4B"/>
          </a:solidFill>
          <a:ln w="12700">
            <a:solidFill>
              <a:srgbClr val="2A7A4B"/>
            </a:solidFill>
            <a:prstDash val="solid"/>
          </a:ln>
        </p:spPr>
      </p:sp>
      <p:sp>
        <p:nvSpPr>
          <p:cNvPr id="54" name="Shape 52"/>
          <p:cNvSpPr/>
          <p:nvPr/>
        </p:nvSpPr>
        <p:spPr>
          <a:xfrm>
            <a:off x="1920240" y="1874520"/>
            <a:ext cx="182880" cy="182880"/>
          </a:xfrm>
          <a:prstGeom prst="rect">
            <a:avLst/>
          </a:prstGeom>
          <a:solidFill>
            <a:srgbClr val="2A7A4B"/>
          </a:solidFill>
          <a:ln w="12700">
            <a:solidFill>
              <a:srgbClr val="2A7A4B"/>
            </a:solidFill>
            <a:prstDash val="solid"/>
          </a:ln>
        </p:spPr>
      </p:sp>
      <p:sp>
        <p:nvSpPr>
          <p:cNvPr id="55" name="Shape 53"/>
          <p:cNvSpPr/>
          <p:nvPr/>
        </p:nvSpPr>
        <p:spPr>
          <a:xfrm>
            <a:off x="1097280" y="2377440"/>
            <a:ext cx="182880" cy="182880"/>
          </a:xfrm>
          <a:prstGeom prst="rect">
            <a:avLst/>
          </a:prstGeom>
          <a:solidFill>
            <a:srgbClr val="2A7A4B"/>
          </a:solidFill>
          <a:ln w="12700">
            <a:solidFill>
              <a:srgbClr val="2A7A4B"/>
            </a:solidFill>
            <a:prstDash val="solid"/>
          </a:ln>
        </p:spPr>
      </p:sp>
      <p:sp>
        <p:nvSpPr>
          <p:cNvPr id="56" name="Shape 54"/>
          <p:cNvSpPr/>
          <p:nvPr/>
        </p:nvSpPr>
        <p:spPr>
          <a:xfrm>
            <a:off x="2423160" y="2267712"/>
            <a:ext cx="182880" cy="182880"/>
          </a:xfrm>
          <a:prstGeom prst="rect">
            <a:avLst/>
          </a:prstGeom>
          <a:solidFill>
            <a:srgbClr val="2A7A4B"/>
          </a:solidFill>
          <a:ln w="12700">
            <a:solidFill>
              <a:srgbClr val="2A7A4B"/>
            </a:solidFill>
            <a:prstDash val="solid"/>
          </a:ln>
        </p:spPr>
      </p:sp>
      <p:sp>
        <p:nvSpPr>
          <p:cNvPr id="57" name="Shape 55"/>
          <p:cNvSpPr/>
          <p:nvPr/>
        </p:nvSpPr>
        <p:spPr>
          <a:xfrm>
            <a:off x="457200" y="2880360"/>
            <a:ext cx="182880" cy="182880"/>
          </a:xfrm>
          <a:prstGeom prst="rect">
            <a:avLst/>
          </a:prstGeom>
          <a:solidFill>
            <a:srgbClr val="2A7A4B"/>
          </a:solidFill>
          <a:ln w="12700">
            <a:solidFill>
              <a:srgbClr val="2A7A4B"/>
            </a:solidFill>
            <a:prstDash val="solid"/>
          </a:ln>
        </p:spPr>
      </p:sp>
      <p:sp>
        <p:nvSpPr>
          <p:cNvPr id="58" name="Shape 56"/>
          <p:cNvSpPr/>
          <p:nvPr/>
        </p:nvSpPr>
        <p:spPr>
          <a:xfrm>
            <a:off x="1691640" y="2944368"/>
            <a:ext cx="182880" cy="182880"/>
          </a:xfrm>
          <a:prstGeom prst="rect">
            <a:avLst/>
          </a:prstGeom>
          <a:solidFill>
            <a:srgbClr val="2A7A4B"/>
          </a:solidFill>
          <a:ln w="12700">
            <a:solidFill>
              <a:srgbClr val="2A7A4B"/>
            </a:solidFill>
            <a:prstDash val="solid"/>
          </a:ln>
        </p:spPr>
      </p:sp>
      <p:sp>
        <p:nvSpPr>
          <p:cNvPr id="59" name="Shape 57"/>
          <p:cNvSpPr/>
          <p:nvPr/>
        </p:nvSpPr>
        <p:spPr>
          <a:xfrm>
            <a:off x="2514600" y="2743200"/>
            <a:ext cx="182880" cy="182880"/>
          </a:xfrm>
          <a:prstGeom prst="rect">
            <a:avLst/>
          </a:prstGeom>
          <a:solidFill>
            <a:srgbClr val="2A7A4B"/>
          </a:solidFill>
          <a:ln w="12700">
            <a:solidFill>
              <a:srgbClr val="2A7A4B"/>
            </a:solidFill>
            <a:prstDash val="solid"/>
          </a:ln>
        </p:spPr>
      </p:sp>
      <p:sp>
        <p:nvSpPr>
          <p:cNvPr id="60" name="Text 58"/>
          <p:cNvSpPr/>
          <p:nvPr/>
        </p:nvSpPr>
        <p:spPr>
          <a:xfrm>
            <a:off x="6217920" y="324612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Fills container</a:t>
            </a:r>
            <a:endParaRPr lang="en-US" sz="1100" dirty="0"/>
          </a:p>
        </p:txBody>
      </p:sp>
      <p:sp>
        <p:nvSpPr>
          <p:cNvPr id="61" name="Text 59"/>
          <p:cNvSpPr/>
          <p:nvPr/>
        </p:nvSpPr>
        <p:spPr>
          <a:xfrm>
            <a:off x="6217920" y="352044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No fixed volume</a:t>
            </a:r>
            <a:endParaRPr lang="en-US" sz="1100" dirty="0"/>
          </a:p>
        </p:txBody>
      </p:sp>
      <p:sp>
        <p:nvSpPr>
          <p:cNvPr id="62" name="Text 60"/>
          <p:cNvSpPr/>
          <p:nvPr/>
        </p:nvSpPr>
        <p:spPr>
          <a:xfrm>
            <a:off x="6217920" y="3794760"/>
            <a:ext cx="2560320" cy="256032"/>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 Spread far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129284" cy="274320"/>
          </a:xfrm>
          <a:prstGeom prst="rect">
            <a:avLst/>
          </a:prstGeom>
          <a:solidFill>
            <a:srgbClr val="2A7A4B"/>
          </a:solidFill>
          <a:ln w="12700">
            <a:solidFill>
              <a:srgbClr val="2A7A4B"/>
            </a:solidFill>
            <a:prstDash val="solid"/>
          </a:ln>
        </p:spPr>
      </p:sp>
      <p:sp>
        <p:nvSpPr>
          <p:cNvPr id="4" name="Text 2"/>
          <p:cNvSpPr/>
          <p:nvPr/>
        </p:nvSpPr>
        <p:spPr>
          <a:xfrm>
            <a:off x="457200" y="274320"/>
            <a:ext cx="112928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5" name="Text 3"/>
          <p:cNvSpPr/>
          <p:nvPr/>
        </p:nvSpPr>
        <p:spPr>
          <a:xfrm>
            <a:off x="457200" y="685800"/>
            <a:ext cx="8229600" cy="475488"/>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Identify Three Mystery Substances</a:t>
            </a:r>
            <a:endParaRPr lang="en-US" sz="2800" dirty="0"/>
          </a:p>
        </p:txBody>
      </p:sp>
      <p:sp>
        <p:nvSpPr>
          <p:cNvPr id="6" name="Shape 4"/>
          <p:cNvSpPr/>
          <p:nvPr/>
        </p:nvSpPr>
        <p:spPr>
          <a:xfrm>
            <a:off x="457200" y="1261872"/>
            <a:ext cx="8229600" cy="475488"/>
          </a:xfrm>
          <a:prstGeom prst="rect">
            <a:avLst/>
          </a:prstGeom>
          <a:solidFill>
            <a:srgbClr val="2C4A6E"/>
          </a:solidFill>
          <a:ln w="12700">
            <a:solidFill>
              <a:srgbClr val="2C4A6E"/>
            </a:solidFill>
            <a:prstDash val="solid"/>
          </a:ln>
        </p:spPr>
      </p:sp>
      <p:sp>
        <p:nvSpPr>
          <p:cNvPr id="7" name="Text 5"/>
          <p:cNvSpPr/>
          <p:nvPr/>
        </p:nvSpPr>
        <p:spPr>
          <a:xfrm>
            <a:off x="548640" y="1316736"/>
            <a:ext cx="80467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Read each substance description. Use property evidence — shape, volume, and flow — to identify each as solid, liquid, or gas. Write 2 evidence sentences for each.</a:t>
            </a:r>
            <a:endParaRPr lang="en-US" sz="1300" dirty="0"/>
          </a:p>
        </p:txBody>
      </p:sp>
      <p:sp>
        <p:nvSpPr>
          <p:cNvPr id="8" name="Shape 6"/>
          <p:cNvSpPr/>
          <p:nvPr/>
        </p:nvSpPr>
        <p:spPr>
          <a:xfrm>
            <a:off x="457200" y="1874520"/>
            <a:ext cx="438912" cy="502920"/>
          </a:xfrm>
          <a:prstGeom prst="rect">
            <a:avLst/>
          </a:prstGeom>
          <a:solidFill>
            <a:srgbClr val="2A7A4B"/>
          </a:solidFill>
          <a:ln w="12700">
            <a:solidFill>
              <a:srgbClr val="2A7A4B"/>
            </a:solidFill>
            <a:prstDash val="solid"/>
          </a:ln>
        </p:spPr>
      </p:sp>
      <p:sp>
        <p:nvSpPr>
          <p:cNvPr id="9" name="Text 7"/>
          <p:cNvSpPr/>
          <p:nvPr/>
        </p:nvSpPr>
        <p:spPr>
          <a:xfrm>
            <a:off x="548640" y="1929384"/>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Shape 8"/>
          <p:cNvSpPr/>
          <p:nvPr/>
        </p:nvSpPr>
        <p:spPr>
          <a:xfrm>
            <a:off x="1024128" y="1874520"/>
            <a:ext cx="7662672" cy="502920"/>
          </a:xfrm>
          <a:prstGeom prst="rect">
            <a:avLst/>
          </a:prstGeom>
          <a:solidFill>
            <a:srgbClr val="1A3A5C"/>
          </a:solidFill>
          <a:ln w="12700">
            <a:solidFill>
              <a:srgbClr val="1A3A5C"/>
            </a:solidFill>
            <a:prstDash val="solid"/>
          </a:ln>
        </p:spPr>
      </p:sp>
      <p:sp>
        <p:nvSpPr>
          <p:cNvPr id="11" name="Text 9"/>
          <p:cNvSpPr/>
          <p:nvPr/>
        </p:nvSpPr>
        <p:spPr>
          <a:xfrm>
            <a:off x="1115568" y="1929384"/>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1: Read the description of Substance A carefully. Note each property.</a:t>
            </a:r>
            <a:endParaRPr lang="en-US" sz="1300" dirty="0"/>
          </a:p>
        </p:txBody>
      </p:sp>
      <p:sp>
        <p:nvSpPr>
          <p:cNvPr id="12" name="Shape 10"/>
          <p:cNvSpPr/>
          <p:nvPr/>
        </p:nvSpPr>
        <p:spPr>
          <a:xfrm>
            <a:off x="457200" y="2532888"/>
            <a:ext cx="438912" cy="502920"/>
          </a:xfrm>
          <a:prstGeom prst="rect">
            <a:avLst/>
          </a:prstGeom>
          <a:solidFill>
            <a:srgbClr val="2A7A4B"/>
          </a:solidFill>
          <a:ln w="12700">
            <a:solidFill>
              <a:srgbClr val="2A7A4B"/>
            </a:solidFill>
            <a:prstDash val="solid"/>
          </a:ln>
        </p:spPr>
      </p:sp>
      <p:sp>
        <p:nvSpPr>
          <p:cNvPr id="13" name="Text 11"/>
          <p:cNvSpPr/>
          <p:nvPr/>
        </p:nvSpPr>
        <p:spPr>
          <a:xfrm>
            <a:off x="548640" y="2587752"/>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1024128" y="2532888"/>
            <a:ext cx="7662672" cy="502920"/>
          </a:xfrm>
          <a:prstGeom prst="rect">
            <a:avLst/>
          </a:prstGeom>
          <a:solidFill>
            <a:srgbClr val="1A3A5C"/>
          </a:solidFill>
          <a:ln w="12700">
            <a:solidFill>
              <a:srgbClr val="1A3A5C"/>
            </a:solidFill>
            <a:prstDash val="solid"/>
          </a:ln>
        </p:spPr>
      </p:sp>
      <p:sp>
        <p:nvSpPr>
          <p:cNvPr id="15" name="Text 13"/>
          <p:cNvSpPr/>
          <p:nvPr/>
        </p:nvSpPr>
        <p:spPr>
          <a:xfrm>
            <a:off x="1115568" y="2587752"/>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2: Apply the definitions: solid, liquid, or gas? Which matches all the properties?</a:t>
            </a:r>
            <a:endParaRPr lang="en-US" sz="1300" dirty="0"/>
          </a:p>
        </p:txBody>
      </p:sp>
      <p:sp>
        <p:nvSpPr>
          <p:cNvPr id="16" name="Shape 14"/>
          <p:cNvSpPr/>
          <p:nvPr/>
        </p:nvSpPr>
        <p:spPr>
          <a:xfrm>
            <a:off x="457200" y="3191256"/>
            <a:ext cx="438912" cy="502920"/>
          </a:xfrm>
          <a:prstGeom prst="rect">
            <a:avLst/>
          </a:prstGeom>
          <a:solidFill>
            <a:srgbClr val="2A7A4B"/>
          </a:solidFill>
          <a:ln w="12700">
            <a:solidFill>
              <a:srgbClr val="2A7A4B"/>
            </a:solidFill>
            <a:prstDash val="solid"/>
          </a:ln>
        </p:spPr>
      </p:sp>
      <p:sp>
        <p:nvSpPr>
          <p:cNvPr id="17" name="Text 15"/>
          <p:cNvSpPr/>
          <p:nvPr/>
        </p:nvSpPr>
        <p:spPr>
          <a:xfrm>
            <a:off x="548640" y="3246120"/>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024128" y="3191256"/>
            <a:ext cx="7662672" cy="502920"/>
          </a:xfrm>
          <a:prstGeom prst="rect">
            <a:avLst/>
          </a:prstGeom>
          <a:solidFill>
            <a:srgbClr val="1A3A5C"/>
          </a:solidFill>
          <a:ln w="12700">
            <a:solidFill>
              <a:srgbClr val="1A3A5C"/>
            </a:solidFill>
            <a:prstDash val="solid"/>
          </a:ln>
        </p:spPr>
      </p:sp>
      <p:sp>
        <p:nvSpPr>
          <p:cNvPr id="19" name="Text 17"/>
          <p:cNvSpPr/>
          <p:nvPr/>
        </p:nvSpPr>
        <p:spPr>
          <a:xfrm>
            <a:off x="1115568" y="3246120"/>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3: Write your answer and two pieces of evidence: "I know it is a [state] because…"</a:t>
            </a:r>
            <a:endParaRPr lang="en-US" sz="1300" dirty="0"/>
          </a:p>
        </p:txBody>
      </p:sp>
      <p:sp>
        <p:nvSpPr>
          <p:cNvPr id="20" name="Shape 18"/>
          <p:cNvSpPr/>
          <p:nvPr/>
        </p:nvSpPr>
        <p:spPr>
          <a:xfrm>
            <a:off x="457200" y="3849624"/>
            <a:ext cx="438912" cy="502920"/>
          </a:xfrm>
          <a:prstGeom prst="rect">
            <a:avLst/>
          </a:prstGeom>
          <a:solidFill>
            <a:srgbClr val="2A7A4B"/>
          </a:solidFill>
          <a:ln w="12700">
            <a:solidFill>
              <a:srgbClr val="2A7A4B"/>
            </a:solidFill>
            <a:prstDash val="solid"/>
          </a:ln>
        </p:spPr>
      </p:sp>
      <p:sp>
        <p:nvSpPr>
          <p:cNvPr id="21" name="Text 19"/>
          <p:cNvSpPr/>
          <p:nvPr/>
        </p:nvSpPr>
        <p:spPr>
          <a:xfrm>
            <a:off x="548640" y="3904488"/>
            <a:ext cx="256032" cy="393192"/>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Shape 20"/>
          <p:cNvSpPr/>
          <p:nvPr/>
        </p:nvSpPr>
        <p:spPr>
          <a:xfrm>
            <a:off x="1024128" y="3849624"/>
            <a:ext cx="7662672" cy="502920"/>
          </a:xfrm>
          <a:prstGeom prst="rect">
            <a:avLst/>
          </a:prstGeom>
          <a:solidFill>
            <a:srgbClr val="1A3A5C"/>
          </a:solidFill>
          <a:ln w="12700">
            <a:solidFill>
              <a:srgbClr val="1A3A5C"/>
            </a:solidFill>
            <a:prstDash val="solid"/>
          </a:ln>
        </p:spPr>
      </p:sp>
      <p:sp>
        <p:nvSpPr>
          <p:cNvPr id="23" name="Text 21"/>
          <p:cNvSpPr/>
          <p:nvPr/>
        </p:nvSpPr>
        <p:spPr>
          <a:xfrm>
            <a:off x="1115568" y="3904488"/>
            <a:ext cx="7479792"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4: Repeat for Substance B and Substance C.</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347472"/>
          </a:xfrm>
          <a:prstGeom prst="rect">
            <a:avLst/>
          </a:prstGeom>
          <a:noFill/>
          <a:ln/>
        </p:spPr>
        <p:txBody>
          <a:bodyPr wrap="square" rtlCol="0" anchor="ctr"/>
          <a:lstStyle/>
          <a:p>
            <a:pPr indent="0" marL="0">
              <a:buNone/>
            </a:pPr>
            <a:r>
              <a:rPr lang="en-US" sz="2000" b="1" dirty="0">
                <a:solidFill>
                  <a:srgbClr val="1A3A5C"/>
                </a:solidFill>
                <a:latin typeface="Cambria" pitchFamily="34" charset="0"/>
                <a:ea typeface="Cambria" pitchFamily="34" charset="-122"/>
                <a:cs typeface="Cambria" pitchFamily="34" charset="-120"/>
              </a:rPr>
              <a:t>Three Mystery Substances — Identify Them</a:t>
            </a:r>
            <a:endParaRPr lang="en-US" sz="2000" dirty="0"/>
          </a:p>
        </p:txBody>
      </p:sp>
      <p:sp>
        <p:nvSpPr>
          <p:cNvPr id="4" name="Shape 2"/>
          <p:cNvSpPr/>
          <p:nvPr/>
        </p:nvSpPr>
        <p:spPr>
          <a:xfrm>
            <a:off x="274320" y="594360"/>
            <a:ext cx="2743200" cy="4279392"/>
          </a:xfrm>
          <a:prstGeom prst="rect">
            <a:avLst/>
          </a:prstGeom>
          <a:solidFill>
            <a:srgbClr val="FFE8D5"/>
          </a:solidFill>
          <a:ln w="12700">
            <a:solidFill>
              <a:srgbClr val="FFE8D5"/>
            </a:solidFill>
            <a:prstDash val="solid"/>
          </a:ln>
        </p:spPr>
      </p:sp>
      <p:sp>
        <p:nvSpPr>
          <p:cNvPr id="5" name="Shape 3"/>
          <p:cNvSpPr/>
          <p:nvPr/>
        </p:nvSpPr>
        <p:spPr>
          <a:xfrm>
            <a:off x="274320" y="594360"/>
            <a:ext cx="2743200" cy="384048"/>
          </a:xfrm>
          <a:prstGeom prst="rect">
            <a:avLst/>
          </a:prstGeom>
          <a:solidFill>
            <a:srgbClr val="F07D35"/>
          </a:solidFill>
          <a:ln w="12700">
            <a:solidFill>
              <a:srgbClr val="F07D35"/>
            </a:solidFill>
            <a:prstDash val="solid"/>
          </a:ln>
        </p:spPr>
      </p:sp>
      <p:sp>
        <p:nvSpPr>
          <p:cNvPr id="6" name="Text 4"/>
          <p:cNvSpPr/>
          <p:nvPr/>
        </p:nvSpPr>
        <p:spPr>
          <a:xfrm>
            <a:off x="274320" y="59436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Substance A</a:t>
            </a:r>
            <a:endParaRPr lang="en-US" sz="1400" dirty="0"/>
          </a:p>
        </p:txBody>
      </p:sp>
      <p:sp>
        <p:nvSpPr>
          <p:cNvPr id="7" name="Text 5"/>
          <p:cNvSpPr/>
          <p:nvPr/>
        </p:nvSpPr>
        <p:spPr>
          <a:xfrm>
            <a:off x="365760" y="1024128"/>
            <a:ext cx="2560320" cy="137160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Keeps its shape on a table. Cannot be poured. Has the same volume in any container.</a:t>
            </a:r>
            <a:endParaRPr lang="en-US" sz="1200" dirty="0"/>
          </a:p>
        </p:txBody>
      </p:sp>
      <p:sp>
        <p:nvSpPr>
          <p:cNvPr id="8" name="Shape 6"/>
          <p:cNvSpPr/>
          <p:nvPr/>
        </p:nvSpPr>
        <p:spPr>
          <a:xfrm>
            <a:off x="274320" y="2487168"/>
            <a:ext cx="2743200" cy="292608"/>
          </a:xfrm>
          <a:prstGeom prst="rect">
            <a:avLst/>
          </a:prstGeom>
          <a:solidFill>
            <a:srgbClr val="F07D35"/>
          </a:solidFill>
          <a:ln w="12700">
            <a:solidFill>
              <a:srgbClr val="F07D35"/>
            </a:solidFill>
            <a:prstDash val="solid"/>
          </a:ln>
        </p:spPr>
      </p:sp>
      <p:sp>
        <p:nvSpPr>
          <p:cNvPr id="9" name="Text 7"/>
          <p:cNvSpPr/>
          <p:nvPr/>
        </p:nvSpPr>
        <p:spPr>
          <a:xfrm>
            <a:off x="274320" y="2487168"/>
            <a:ext cx="274320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 SOLID</a:t>
            </a:r>
            <a:endParaRPr lang="en-US" sz="1300" dirty="0"/>
          </a:p>
        </p:txBody>
      </p:sp>
      <p:sp>
        <p:nvSpPr>
          <p:cNvPr id="10" name="Text 8"/>
          <p:cNvSpPr/>
          <p:nvPr/>
        </p:nvSpPr>
        <p:spPr>
          <a:xfrm>
            <a:off x="365760" y="2834640"/>
            <a:ext cx="2560320" cy="1920240"/>
          </a:xfrm>
          <a:prstGeom prst="rect">
            <a:avLst/>
          </a:prstGeom>
          <a:noFill/>
          <a:ln/>
        </p:spPr>
        <p:txBody>
          <a:bodyPr wrap="square" rtlCol="0" anchor="t"/>
          <a:lstStyle/>
          <a:p>
            <a:pPr indent="0" marL="0">
              <a:buNone/>
            </a:pPr>
            <a:r>
              <a:rPr lang="en-US" sz="1100" dirty="0">
                <a:solidFill>
                  <a:srgbClr val="2C4A6E"/>
                </a:solidFill>
                <a:latin typeface="Calibri" pitchFamily="34" charset="0"/>
                <a:ea typeface="Calibri" pitchFamily="34" charset="-122"/>
                <a:cs typeface="Calibri" pitchFamily="34" charset="-120"/>
              </a:rPr>
              <a:t>Fixed shape + fixed volume + cannot flow = tightly packed particles.</a:t>
            </a:r>
            <a:endParaRPr lang="en-US" sz="1100" dirty="0"/>
          </a:p>
        </p:txBody>
      </p:sp>
      <p:sp>
        <p:nvSpPr>
          <p:cNvPr id="11" name="Shape 9"/>
          <p:cNvSpPr/>
          <p:nvPr/>
        </p:nvSpPr>
        <p:spPr>
          <a:xfrm>
            <a:off x="3200400" y="594360"/>
            <a:ext cx="2743200" cy="4279392"/>
          </a:xfrm>
          <a:prstGeom prst="rect">
            <a:avLst/>
          </a:prstGeom>
          <a:solidFill>
            <a:srgbClr val="D6EAF8"/>
          </a:solidFill>
          <a:ln w="12700">
            <a:solidFill>
              <a:srgbClr val="D6EAF8"/>
            </a:solidFill>
            <a:prstDash val="solid"/>
          </a:ln>
        </p:spPr>
      </p:sp>
      <p:sp>
        <p:nvSpPr>
          <p:cNvPr id="12" name="Shape 10"/>
          <p:cNvSpPr/>
          <p:nvPr/>
        </p:nvSpPr>
        <p:spPr>
          <a:xfrm>
            <a:off x="3200400" y="594360"/>
            <a:ext cx="2743200" cy="384048"/>
          </a:xfrm>
          <a:prstGeom prst="rect">
            <a:avLst/>
          </a:prstGeom>
          <a:solidFill>
            <a:srgbClr val="2E86AB"/>
          </a:solidFill>
          <a:ln w="12700">
            <a:solidFill>
              <a:srgbClr val="2E86AB"/>
            </a:solidFill>
            <a:prstDash val="solid"/>
          </a:ln>
        </p:spPr>
      </p:sp>
      <p:sp>
        <p:nvSpPr>
          <p:cNvPr id="13" name="Text 11"/>
          <p:cNvSpPr/>
          <p:nvPr/>
        </p:nvSpPr>
        <p:spPr>
          <a:xfrm>
            <a:off x="3200400" y="59436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Substance B</a:t>
            </a:r>
            <a:endParaRPr lang="en-US" sz="1400" dirty="0"/>
          </a:p>
        </p:txBody>
      </p:sp>
      <p:sp>
        <p:nvSpPr>
          <p:cNvPr id="14" name="Text 12"/>
          <p:cNvSpPr/>
          <p:nvPr/>
        </p:nvSpPr>
        <p:spPr>
          <a:xfrm>
            <a:off x="3291840" y="1024128"/>
            <a:ext cx="2560320" cy="137160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Takes the shape of its container. Can be poured easily. Always the same volume no matter where you put it.</a:t>
            </a:r>
            <a:endParaRPr lang="en-US" sz="1200" dirty="0"/>
          </a:p>
        </p:txBody>
      </p:sp>
      <p:sp>
        <p:nvSpPr>
          <p:cNvPr id="15" name="Shape 13"/>
          <p:cNvSpPr/>
          <p:nvPr/>
        </p:nvSpPr>
        <p:spPr>
          <a:xfrm>
            <a:off x="3200400" y="2487168"/>
            <a:ext cx="2743200" cy="292608"/>
          </a:xfrm>
          <a:prstGeom prst="rect">
            <a:avLst/>
          </a:prstGeom>
          <a:solidFill>
            <a:srgbClr val="2E86AB"/>
          </a:solidFill>
          <a:ln w="12700">
            <a:solidFill>
              <a:srgbClr val="2E86AB"/>
            </a:solidFill>
            <a:prstDash val="solid"/>
          </a:ln>
        </p:spPr>
      </p:sp>
      <p:sp>
        <p:nvSpPr>
          <p:cNvPr id="16" name="Text 14"/>
          <p:cNvSpPr/>
          <p:nvPr/>
        </p:nvSpPr>
        <p:spPr>
          <a:xfrm>
            <a:off x="3200400" y="2487168"/>
            <a:ext cx="274320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 LIQUID</a:t>
            </a:r>
            <a:endParaRPr lang="en-US" sz="1300" dirty="0"/>
          </a:p>
        </p:txBody>
      </p:sp>
      <p:sp>
        <p:nvSpPr>
          <p:cNvPr id="17" name="Text 15"/>
          <p:cNvSpPr/>
          <p:nvPr/>
        </p:nvSpPr>
        <p:spPr>
          <a:xfrm>
            <a:off x="3291840" y="2834640"/>
            <a:ext cx="2560320" cy="1920240"/>
          </a:xfrm>
          <a:prstGeom prst="rect">
            <a:avLst/>
          </a:prstGeom>
          <a:noFill/>
          <a:ln/>
        </p:spPr>
        <p:txBody>
          <a:bodyPr wrap="square" rtlCol="0" anchor="t"/>
          <a:lstStyle/>
          <a:p>
            <a:pPr indent="0" marL="0">
              <a:buNone/>
            </a:pPr>
            <a:r>
              <a:rPr lang="en-US" sz="1100" dirty="0">
                <a:solidFill>
                  <a:srgbClr val="2C4A6E"/>
                </a:solidFill>
                <a:latin typeface="Calibri" pitchFamily="34" charset="0"/>
                <a:ea typeface="Calibri" pitchFamily="34" charset="-122"/>
                <a:cs typeface="Calibri" pitchFamily="34" charset="-120"/>
              </a:rPr>
              <a:t>Container shape + fixed volume + flows = particles close, able to slide.</a:t>
            </a:r>
            <a:endParaRPr lang="en-US" sz="1100" dirty="0"/>
          </a:p>
        </p:txBody>
      </p:sp>
      <p:sp>
        <p:nvSpPr>
          <p:cNvPr id="18" name="Shape 16"/>
          <p:cNvSpPr/>
          <p:nvPr/>
        </p:nvSpPr>
        <p:spPr>
          <a:xfrm>
            <a:off x="6126480" y="594360"/>
            <a:ext cx="2743200" cy="4279392"/>
          </a:xfrm>
          <a:prstGeom prst="rect">
            <a:avLst/>
          </a:prstGeom>
          <a:solidFill>
            <a:srgbClr val="D5F5E3"/>
          </a:solidFill>
          <a:ln w="12700">
            <a:solidFill>
              <a:srgbClr val="D5F5E3"/>
            </a:solidFill>
            <a:prstDash val="solid"/>
          </a:ln>
        </p:spPr>
      </p:sp>
      <p:sp>
        <p:nvSpPr>
          <p:cNvPr id="19" name="Shape 17"/>
          <p:cNvSpPr/>
          <p:nvPr/>
        </p:nvSpPr>
        <p:spPr>
          <a:xfrm>
            <a:off x="6126480" y="594360"/>
            <a:ext cx="2743200" cy="384048"/>
          </a:xfrm>
          <a:prstGeom prst="rect">
            <a:avLst/>
          </a:prstGeom>
          <a:solidFill>
            <a:srgbClr val="2A7A4B"/>
          </a:solidFill>
          <a:ln w="12700">
            <a:solidFill>
              <a:srgbClr val="2A7A4B"/>
            </a:solidFill>
            <a:prstDash val="solid"/>
          </a:ln>
        </p:spPr>
      </p:sp>
      <p:sp>
        <p:nvSpPr>
          <p:cNvPr id="20" name="Text 18"/>
          <p:cNvSpPr/>
          <p:nvPr/>
        </p:nvSpPr>
        <p:spPr>
          <a:xfrm>
            <a:off x="6126480" y="594360"/>
            <a:ext cx="2743200"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Substance C</a:t>
            </a:r>
            <a:endParaRPr lang="en-US" sz="1400" dirty="0"/>
          </a:p>
        </p:txBody>
      </p:sp>
      <p:sp>
        <p:nvSpPr>
          <p:cNvPr id="21" name="Text 19"/>
          <p:cNvSpPr/>
          <p:nvPr/>
        </p:nvSpPr>
        <p:spPr>
          <a:xfrm>
            <a:off x="6217920" y="1024128"/>
            <a:ext cx="2560320" cy="1371600"/>
          </a:xfrm>
          <a:prstGeom prst="rect">
            <a:avLst/>
          </a:prstGeom>
          <a:noFill/>
          <a:ln/>
        </p:spPr>
        <p:txBody>
          <a:bodyPr wrap="square" rtlCol="0" anchor="t"/>
          <a:lstStyle/>
          <a:p>
            <a:pPr indent="0" marL="0">
              <a:buNone/>
            </a:pPr>
            <a:r>
              <a:rPr lang="en-US" sz="1200" dirty="0">
                <a:solidFill>
                  <a:srgbClr val="1A1A2E"/>
                </a:solidFill>
                <a:latin typeface="Calibri" pitchFamily="34" charset="0"/>
                <a:ea typeface="Calibri" pitchFamily="34" charset="-122"/>
                <a:cs typeface="Calibri" pitchFamily="34" charset="-120"/>
              </a:rPr>
              <a:t>Expands to completely fill any container. No fixed shape. Volume changes depending on the container size.</a:t>
            </a:r>
            <a:endParaRPr lang="en-US" sz="1200" dirty="0"/>
          </a:p>
        </p:txBody>
      </p:sp>
      <p:sp>
        <p:nvSpPr>
          <p:cNvPr id="22" name="Shape 20"/>
          <p:cNvSpPr/>
          <p:nvPr/>
        </p:nvSpPr>
        <p:spPr>
          <a:xfrm>
            <a:off x="6126480" y="2487168"/>
            <a:ext cx="2743200" cy="292608"/>
          </a:xfrm>
          <a:prstGeom prst="rect">
            <a:avLst/>
          </a:prstGeom>
          <a:solidFill>
            <a:srgbClr val="2A7A4B"/>
          </a:solidFill>
          <a:ln w="12700">
            <a:solidFill>
              <a:srgbClr val="2A7A4B"/>
            </a:solidFill>
            <a:prstDash val="solid"/>
          </a:ln>
        </p:spPr>
      </p:sp>
      <p:sp>
        <p:nvSpPr>
          <p:cNvPr id="23" name="Text 21"/>
          <p:cNvSpPr/>
          <p:nvPr/>
        </p:nvSpPr>
        <p:spPr>
          <a:xfrm>
            <a:off x="6126480" y="2487168"/>
            <a:ext cx="2743200" cy="29260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 GAS</a:t>
            </a:r>
            <a:endParaRPr lang="en-US" sz="1300" dirty="0"/>
          </a:p>
        </p:txBody>
      </p:sp>
      <p:sp>
        <p:nvSpPr>
          <p:cNvPr id="24" name="Text 22"/>
          <p:cNvSpPr/>
          <p:nvPr/>
        </p:nvSpPr>
        <p:spPr>
          <a:xfrm>
            <a:off x="6217920" y="2834640"/>
            <a:ext cx="2560320" cy="1920240"/>
          </a:xfrm>
          <a:prstGeom prst="rect">
            <a:avLst/>
          </a:prstGeom>
          <a:noFill/>
          <a:ln/>
        </p:spPr>
        <p:txBody>
          <a:bodyPr wrap="square" rtlCol="0" anchor="t"/>
          <a:lstStyle/>
          <a:p>
            <a:pPr indent="0" marL="0">
              <a:buNone/>
            </a:pPr>
            <a:r>
              <a:rPr lang="en-US" sz="1100" dirty="0">
                <a:solidFill>
                  <a:srgbClr val="2C4A6E"/>
                </a:solidFill>
                <a:latin typeface="Calibri" pitchFamily="34" charset="0"/>
                <a:ea typeface="Calibri" pitchFamily="34" charset="-122"/>
                <a:cs typeface="Calibri" pitchFamily="34" charset="-120"/>
              </a:rPr>
              <a:t>Fills container + no fixed shape + no fixed volume = particles spread far apart.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Text 1"/>
          <p:cNvSpPr/>
          <p:nvPr/>
        </p:nvSpPr>
        <p:spPr>
          <a:xfrm>
            <a:off x="457200" y="1371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Record Your Thinking</a:t>
            </a:r>
            <a:endParaRPr lang="en-US" sz="2400" dirty="0"/>
          </a:p>
        </p:txBody>
      </p:sp>
      <p:sp>
        <p:nvSpPr>
          <p:cNvPr id="4" name="Shape 2"/>
          <p:cNvSpPr/>
          <p:nvPr/>
        </p:nvSpPr>
        <p:spPr>
          <a:xfrm>
            <a:off x="457200" y="658368"/>
            <a:ext cx="411480" cy="411480"/>
          </a:xfrm>
          <a:prstGeom prst="rect">
            <a:avLst/>
          </a:prstGeom>
          <a:solidFill>
            <a:srgbClr val="0E7C7B"/>
          </a:solidFill>
          <a:ln w="12700">
            <a:solidFill>
              <a:srgbClr val="0E7C7B"/>
            </a:solidFill>
            <a:prstDash val="solid"/>
          </a:ln>
        </p:spPr>
      </p:sp>
      <p:sp>
        <p:nvSpPr>
          <p:cNvPr id="5" name="Text 3"/>
          <p:cNvSpPr/>
          <p:nvPr/>
        </p:nvSpPr>
        <p:spPr>
          <a:xfrm>
            <a:off x="548640" y="71323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Shape 4"/>
          <p:cNvSpPr/>
          <p:nvPr/>
        </p:nvSpPr>
        <p:spPr>
          <a:xfrm>
            <a:off x="1005840" y="658368"/>
            <a:ext cx="7680960" cy="1234440"/>
          </a:xfrm>
          <a:prstGeom prst="rect">
            <a:avLst/>
          </a:prstGeom>
          <a:solidFill>
            <a:srgbClr val="FFFFFF"/>
          </a:solidFill>
          <a:ln w="12700">
            <a:solidFill>
              <a:srgbClr val="FFFFFF"/>
            </a:solidFill>
            <a:prstDash val="solid"/>
          </a:ln>
        </p:spPr>
      </p:sp>
      <p:sp>
        <p:nvSpPr>
          <p:cNvPr id="7" name="Text 5"/>
          <p:cNvSpPr/>
          <p:nvPr/>
        </p:nvSpPr>
        <p:spPr>
          <a:xfrm>
            <a:off x="1097280" y="71323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What two properties did you use to identify Substance A as a solid?</a:t>
            </a:r>
            <a:endParaRPr lang="en-US" sz="1400" dirty="0"/>
          </a:p>
        </p:txBody>
      </p:sp>
      <p:sp>
        <p:nvSpPr>
          <p:cNvPr id="8" name="Shape 6"/>
          <p:cNvSpPr/>
          <p:nvPr/>
        </p:nvSpPr>
        <p:spPr>
          <a:xfrm>
            <a:off x="457200" y="2075688"/>
            <a:ext cx="411480" cy="411480"/>
          </a:xfrm>
          <a:prstGeom prst="rect">
            <a:avLst/>
          </a:prstGeom>
          <a:solidFill>
            <a:srgbClr val="0E7C7B"/>
          </a:solidFill>
          <a:ln w="12700">
            <a:solidFill>
              <a:srgbClr val="0E7C7B"/>
            </a:solidFill>
            <a:prstDash val="solid"/>
          </a:ln>
        </p:spPr>
      </p:sp>
      <p:sp>
        <p:nvSpPr>
          <p:cNvPr id="9" name="Text 7"/>
          <p:cNvSpPr/>
          <p:nvPr/>
        </p:nvSpPr>
        <p:spPr>
          <a:xfrm>
            <a:off x="548640" y="213055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1005840" y="2075688"/>
            <a:ext cx="7680960" cy="1234440"/>
          </a:xfrm>
          <a:prstGeom prst="rect">
            <a:avLst/>
          </a:prstGeom>
          <a:solidFill>
            <a:srgbClr val="FFFFFF"/>
          </a:solidFill>
          <a:ln w="12700">
            <a:solidFill>
              <a:srgbClr val="FFFFFF"/>
            </a:solidFill>
            <a:prstDash val="solid"/>
          </a:ln>
        </p:spPr>
      </p:sp>
      <p:sp>
        <p:nvSpPr>
          <p:cNvPr id="11" name="Text 9"/>
          <p:cNvSpPr/>
          <p:nvPr/>
        </p:nvSpPr>
        <p:spPr>
          <a:xfrm>
            <a:off x="1097280" y="213055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How is Substance B (liquid) different from Substance C (gas) in terms of volume?</a:t>
            </a:r>
            <a:endParaRPr lang="en-US" sz="1400" dirty="0"/>
          </a:p>
        </p:txBody>
      </p:sp>
      <p:sp>
        <p:nvSpPr>
          <p:cNvPr id="12" name="Shape 10"/>
          <p:cNvSpPr/>
          <p:nvPr/>
        </p:nvSpPr>
        <p:spPr>
          <a:xfrm>
            <a:off x="457200" y="3493008"/>
            <a:ext cx="411480" cy="411480"/>
          </a:xfrm>
          <a:prstGeom prst="rect">
            <a:avLst/>
          </a:prstGeom>
          <a:solidFill>
            <a:srgbClr val="0E7C7B"/>
          </a:solidFill>
          <a:ln w="12700">
            <a:solidFill>
              <a:srgbClr val="0E7C7B"/>
            </a:solidFill>
            <a:prstDash val="solid"/>
          </a:ln>
        </p:spPr>
      </p:sp>
      <p:sp>
        <p:nvSpPr>
          <p:cNvPr id="13" name="Text 11"/>
          <p:cNvSpPr/>
          <p:nvPr/>
        </p:nvSpPr>
        <p:spPr>
          <a:xfrm>
            <a:off x="548640" y="3547872"/>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Shape 12"/>
          <p:cNvSpPr/>
          <p:nvPr/>
        </p:nvSpPr>
        <p:spPr>
          <a:xfrm>
            <a:off x="1005840" y="3493008"/>
            <a:ext cx="7680960" cy="1234440"/>
          </a:xfrm>
          <a:prstGeom prst="rect">
            <a:avLst/>
          </a:prstGeom>
          <a:solidFill>
            <a:srgbClr val="FFFFFF"/>
          </a:solidFill>
          <a:ln w="12700">
            <a:solidFill>
              <a:srgbClr val="FFFFFF"/>
            </a:solidFill>
            <a:prstDash val="solid"/>
          </a:ln>
        </p:spPr>
      </p:sp>
      <p:sp>
        <p:nvSpPr>
          <p:cNvPr id="15" name="Text 13"/>
          <p:cNvSpPr/>
          <p:nvPr/>
        </p:nvSpPr>
        <p:spPr>
          <a:xfrm>
            <a:off x="1097280" y="3547872"/>
            <a:ext cx="7498080" cy="11247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Give a real-world example of each state of matter that you might find in your kitchen.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517904" cy="274320"/>
          </a:xfrm>
          <a:prstGeom prst="rect">
            <a:avLst/>
          </a:prstGeom>
          <a:solidFill>
            <a:srgbClr val="2E86AB"/>
          </a:solidFill>
          <a:ln w="12700">
            <a:solidFill>
              <a:srgbClr val="2E86AB"/>
            </a:solidFill>
            <a:prstDash val="solid"/>
          </a:ln>
        </p:spPr>
      </p:sp>
      <p:sp>
        <p:nvSpPr>
          <p:cNvPr id="4" name="Text 2"/>
          <p:cNvSpPr/>
          <p:nvPr/>
        </p:nvSpPr>
        <p:spPr>
          <a:xfrm>
            <a:off x="457200" y="274320"/>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Talk It Out</a:t>
            </a:r>
            <a:endParaRPr lang="en-US" sz="2600" dirty="0"/>
          </a:p>
        </p:txBody>
      </p:sp>
      <p:sp>
        <p:nvSpPr>
          <p:cNvPr id="6" name="Shape 4"/>
          <p:cNvSpPr/>
          <p:nvPr/>
        </p:nvSpPr>
        <p:spPr>
          <a:xfrm>
            <a:off x="457200" y="1188720"/>
            <a:ext cx="8229600" cy="1005840"/>
          </a:xfrm>
          <a:prstGeom prst="rect">
            <a:avLst/>
          </a:prstGeom>
          <a:solidFill>
            <a:srgbClr val="2C4A6E"/>
          </a:solidFill>
          <a:ln w="12700">
            <a:solidFill>
              <a:srgbClr val="2C4A6E"/>
            </a:solidFill>
            <a:prstDash val="solid"/>
          </a:ln>
        </p:spPr>
      </p:sp>
      <p:sp>
        <p:nvSpPr>
          <p:cNvPr id="7" name="Text 5"/>
          <p:cNvSpPr/>
          <p:nvPr/>
        </p:nvSpPr>
        <p:spPr>
          <a:xfrm>
            <a:off x="548640" y="1243584"/>
            <a:ext cx="8046720" cy="8961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"Substance B and Substance C both flow. Why is a liquid NOT the same as a gas, even though both can flow?"</a:t>
            </a:r>
            <a:endParaRPr lang="en-US" sz="1400" dirty="0"/>
          </a:p>
        </p:txBody>
      </p:sp>
      <p:sp>
        <p:nvSpPr>
          <p:cNvPr id="8" name="Shape 6"/>
          <p:cNvSpPr/>
          <p:nvPr/>
        </p:nvSpPr>
        <p:spPr>
          <a:xfrm>
            <a:off x="457200" y="2304288"/>
            <a:ext cx="8229600" cy="822960"/>
          </a:xfrm>
          <a:prstGeom prst="rect">
            <a:avLst/>
          </a:prstGeom>
          <a:solidFill>
            <a:srgbClr val="2C4A6E"/>
          </a:solidFill>
          <a:ln w="12700">
            <a:solidFill>
              <a:srgbClr val="2C4A6E"/>
            </a:solidFill>
            <a:prstDash val="solid"/>
          </a:ln>
        </p:spPr>
      </p:sp>
      <p:sp>
        <p:nvSpPr>
          <p:cNvPr id="9" name="Text 7"/>
          <p:cNvSpPr/>
          <p:nvPr/>
        </p:nvSpPr>
        <p:spPr>
          <a:xfrm>
            <a:off x="548640" y="2359152"/>
            <a:ext cx="8046720" cy="71323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"Could something be both a solid AND a liquid at the same time? What would that look like? Is it possible?"</a:t>
            </a:r>
            <a:endParaRPr lang="en-US" sz="1400" dirty="0"/>
          </a:p>
        </p:txBody>
      </p:sp>
      <p:sp>
        <p:nvSpPr>
          <p:cNvPr id="10" name="Text 8"/>
          <p:cNvSpPr/>
          <p:nvPr/>
        </p:nvSpPr>
        <p:spPr>
          <a:xfrm>
            <a:off x="457200" y="3246120"/>
            <a:ext cx="8229600" cy="228600"/>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1" name="Shape 9"/>
          <p:cNvSpPr/>
          <p:nvPr/>
        </p:nvSpPr>
        <p:spPr>
          <a:xfrm>
            <a:off x="457200" y="3520440"/>
            <a:ext cx="3931920" cy="457200"/>
          </a:xfrm>
          <a:prstGeom prst="rect">
            <a:avLst/>
          </a:prstGeom>
          <a:solidFill>
            <a:srgbClr val="2E86AB"/>
          </a:solidFill>
          <a:ln w="12700">
            <a:solidFill>
              <a:srgbClr val="2E86AB"/>
            </a:solidFill>
            <a:prstDash val="solid"/>
          </a:ln>
        </p:spPr>
      </p:sp>
      <p:sp>
        <p:nvSpPr>
          <p:cNvPr id="12" name="Text 10"/>
          <p:cNvSpPr/>
          <p:nvPr/>
        </p:nvSpPr>
        <p:spPr>
          <a:xfrm>
            <a:off x="548640" y="3575304"/>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"They are different because a liquid has… while a gas…"</a:t>
            </a:r>
            <a:endParaRPr lang="en-US" sz="1200" dirty="0"/>
          </a:p>
        </p:txBody>
      </p:sp>
      <p:sp>
        <p:nvSpPr>
          <p:cNvPr id="13" name="Shape 11"/>
          <p:cNvSpPr/>
          <p:nvPr/>
        </p:nvSpPr>
        <p:spPr>
          <a:xfrm>
            <a:off x="4754880" y="3520440"/>
            <a:ext cx="3931920" cy="457200"/>
          </a:xfrm>
          <a:prstGeom prst="rect">
            <a:avLst/>
          </a:prstGeom>
          <a:solidFill>
            <a:srgbClr val="2E86AB"/>
          </a:solidFill>
          <a:ln w="12700">
            <a:solidFill>
              <a:srgbClr val="2E86AB"/>
            </a:solidFill>
            <a:prstDash val="solid"/>
          </a:ln>
        </p:spPr>
      </p:sp>
      <p:sp>
        <p:nvSpPr>
          <p:cNvPr id="14" name="Text 12"/>
          <p:cNvSpPr/>
          <p:nvPr/>
        </p:nvSpPr>
        <p:spPr>
          <a:xfrm>
            <a:off x="4846320" y="3575304"/>
            <a:ext cx="3749040" cy="34747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"The evidence that separates them is the property of…"</a:t>
            </a:r>
            <a:endParaRPr lang="en-US" sz="1200" dirty="0"/>
          </a:p>
        </p:txBody>
      </p:sp>
      <p:sp>
        <p:nvSpPr>
          <p:cNvPr id="15" name="Shape 13"/>
          <p:cNvSpPr/>
          <p:nvPr/>
        </p:nvSpPr>
        <p:spPr>
          <a:xfrm>
            <a:off x="457200" y="4069080"/>
            <a:ext cx="8229600" cy="502920"/>
          </a:xfrm>
          <a:prstGeom prst="rect">
            <a:avLst/>
          </a:prstGeom>
          <a:solidFill>
            <a:srgbClr val="2C4A6E"/>
          </a:solidFill>
          <a:ln w="12700">
            <a:solidFill>
              <a:srgbClr val="2C4A6E"/>
            </a:solidFill>
            <a:prstDash val="solid"/>
          </a:ln>
        </p:spPr>
      </p:sp>
      <p:sp>
        <p:nvSpPr>
          <p:cNvPr id="16" name="Text 14"/>
          <p:cNvSpPr/>
          <p:nvPr/>
        </p:nvSpPr>
        <p:spPr>
          <a:xfrm>
            <a:off x="548640" y="4123944"/>
            <a:ext cx="8046720" cy="39319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"Even though both flow, I can tell them apart because volume 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74320"/>
            <a:ext cx="1362456" cy="274320"/>
          </a:xfrm>
          <a:prstGeom prst="rect">
            <a:avLst/>
          </a:prstGeom>
          <a:solidFill>
            <a:srgbClr val="F6C90E"/>
          </a:solidFill>
          <a:ln w="12700">
            <a:solidFill>
              <a:srgbClr val="F6C90E"/>
            </a:solidFill>
            <a:prstDash val="solid"/>
          </a:ln>
        </p:spPr>
      </p:sp>
      <p:sp>
        <p:nvSpPr>
          <p:cNvPr id="4" name="Text 2"/>
          <p:cNvSpPr/>
          <p:nvPr/>
        </p:nvSpPr>
        <p:spPr>
          <a:xfrm>
            <a:off x="457200" y="274320"/>
            <a:ext cx="136245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5" name="Text 3"/>
          <p:cNvSpPr/>
          <p:nvPr/>
        </p:nvSpPr>
        <p:spPr>
          <a:xfrm>
            <a:off x="457200" y="68580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Claim · Evidence · Reasoning</a:t>
            </a:r>
            <a:endParaRPr lang="en-US" sz="2600" dirty="0"/>
          </a:p>
        </p:txBody>
      </p:sp>
      <p:sp>
        <p:nvSpPr>
          <p:cNvPr id="6" name="Shape 4"/>
          <p:cNvSpPr/>
          <p:nvPr/>
        </p:nvSpPr>
        <p:spPr>
          <a:xfrm>
            <a:off x="457200" y="1188720"/>
            <a:ext cx="8229600" cy="438912"/>
          </a:xfrm>
          <a:prstGeom prst="rect">
            <a:avLst/>
          </a:prstGeom>
          <a:solidFill>
            <a:srgbClr val="2C4A6E"/>
          </a:solidFill>
          <a:ln w="12700">
            <a:solidFill>
              <a:srgbClr val="2C4A6E"/>
            </a:solidFill>
            <a:prstDash val="solid"/>
          </a:ln>
        </p:spPr>
      </p:sp>
      <p:sp>
        <p:nvSpPr>
          <p:cNvPr id="7" name="Text 5"/>
          <p:cNvSpPr/>
          <p:nvPr/>
        </p:nvSpPr>
        <p:spPr>
          <a:xfrm>
            <a:off x="548640" y="1243584"/>
            <a:ext cx="8046720" cy="329184"/>
          </a:xfrm>
          <a:prstGeom prst="rect">
            <a:avLst/>
          </a:prstGeom>
          <a:noFill/>
          <a:ln/>
        </p:spPr>
        <p:txBody>
          <a:bodyPr wrap="square" lIns="0" tIns="0" rIns="0" bIns="0" rtlCol="0" anchor="ctr"/>
          <a:lstStyle/>
          <a:p>
            <a:pPr algn="l" indent="0" marL="0">
              <a:buNone/>
            </a:pPr>
            <a:r>
              <a:rPr lang="en-US" sz="1400" dirty="0">
                <a:solidFill>
                  <a:srgbClr val="F6C90E"/>
                </a:solidFill>
                <a:latin typeface="Calibri" pitchFamily="34" charset="0"/>
                <a:ea typeface="Calibri" pitchFamily="34" charset="-122"/>
                <a:cs typeface="Calibri" pitchFamily="34" charset="-120"/>
              </a:rPr>
              <a:t>Question: Identify Substance A from the investigation and defend your answer.</a:t>
            </a:r>
            <a:endParaRPr lang="en-US" sz="1400" dirty="0"/>
          </a:p>
        </p:txBody>
      </p:sp>
      <p:sp>
        <p:nvSpPr>
          <p:cNvPr id="8" name="Shape 6"/>
          <p:cNvSpPr/>
          <p:nvPr/>
        </p:nvSpPr>
        <p:spPr>
          <a:xfrm>
            <a:off x="457200" y="1719072"/>
            <a:ext cx="8229600" cy="822960"/>
          </a:xfrm>
          <a:prstGeom prst="rect">
            <a:avLst/>
          </a:prstGeom>
          <a:solidFill>
            <a:srgbClr val="1B4F72"/>
          </a:solidFill>
          <a:ln w="12700">
            <a:solidFill>
              <a:srgbClr val="1B4F72"/>
            </a:solidFill>
            <a:prstDash val="solid"/>
          </a:ln>
        </p:spPr>
      </p:sp>
      <p:sp>
        <p:nvSpPr>
          <p:cNvPr id="9" name="Shape 7"/>
          <p:cNvSpPr/>
          <p:nvPr/>
        </p:nvSpPr>
        <p:spPr>
          <a:xfrm>
            <a:off x="548640" y="1764792"/>
            <a:ext cx="662940" cy="274320"/>
          </a:xfrm>
          <a:prstGeom prst="rect">
            <a:avLst/>
          </a:prstGeom>
          <a:solidFill>
            <a:srgbClr val="2E86AB"/>
          </a:solidFill>
          <a:ln w="12700">
            <a:solidFill>
              <a:srgbClr val="2E86AB"/>
            </a:solidFill>
            <a:prstDash val="solid"/>
          </a:ln>
        </p:spPr>
      </p:sp>
      <p:sp>
        <p:nvSpPr>
          <p:cNvPr id="10" name="Text 8"/>
          <p:cNvSpPr/>
          <p:nvPr/>
        </p:nvSpPr>
        <p:spPr>
          <a:xfrm>
            <a:off x="548640" y="1764792"/>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2084832"/>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 claim Substance A is a solid because…"</a:t>
            </a:r>
            <a:endParaRPr lang="en-US" sz="1400" dirty="0"/>
          </a:p>
        </p:txBody>
      </p:sp>
      <p:sp>
        <p:nvSpPr>
          <p:cNvPr id="12" name="Shape 10"/>
          <p:cNvSpPr/>
          <p:nvPr/>
        </p:nvSpPr>
        <p:spPr>
          <a:xfrm>
            <a:off x="457200" y="2606040"/>
            <a:ext cx="8229600" cy="822960"/>
          </a:xfrm>
          <a:prstGeom prst="rect">
            <a:avLst/>
          </a:prstGeom>
          <a:solidFill>
            <a:srgbClr val="1B4F72"/>
          </a:solidFill>
          <a:ln w="12700">
            <a:solidFill>
              <a:srgbClr val="1B4F72"/>
            </a:solidFill>
            <a:prstDash val="solid"/>
          </a:ln>
        </p:spPr>
      </p:sp>
      <p:sp>
        <p:nvSpPr>
          <p:cNvPr id="13" name="Shape 11"/>
          <p:cNvSpPr/>
          <p:nvPr/>
        </p:nvSpPr>
        <p:spPr>
          <a:xfrm>
            <a:off x="548640" y="2651760"/>
            <a:ext cx="896112" cy="274320"/>
          </a:xfrm>
          <a:prstGeom prst="rect">
            <a:avLst/>
          </a:prstGeom>
          <a:solidFill>
            <a:srgbClr val="0E7C7B"/>
          </a:solidFill>
          <a:ln w="12700">
            <a:solidFill>
              <a:srgbClr val="0E7C7B"/>
            </a:solidFill>
            <a:prstDash val="solid"/>
          </a:ln>
        </p:spPr>
      </p:sp>
      <p:sp>
        <p:nvSpPr>
          <p:cNvPr id="14" name="Text 12"/>
          <p:cNvSpPr/>
          <p:nvPr/>
        </p:nvSpPr>
        <p:spPr>
          <a:xfrm>
            <a:off x="548640" y="2651760"/>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971800"/>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 observed that Substance A [kept its shape / could not be poured / had the same volume in any container]…"</a:t>
            </a:r>
            <a:endParaRPr lang="en-US" sz="1400" dirty="0"/>
          </a:p>
        </p:txBody>
      </p:sp>
      <p:sp>
        <p:nvSpPr>
          <p:cNvPr id="16" name="Shape 14"/>
          <p:cNvSpPr/>
          <p:nvPr/>
        </p:nvSpPr>
        <p:spPr>
          <a:xfrm>
            <a:off x="457200" y="3493008"/>
            <a:ext cx="8229600" cy="822960"/>
          </a:xfrm>
          <a:prstGeom prst="rect">
            <a:avLst/>
          </a:prstGeom>
          <a:solidFill>
            <a:srgbClr val="1B4F72"/>
          </a:solidFill>
          <a:ln w="12700">
            <a:solidFill>
              <a:srgbClr val="1B4F72"/>
            </a:solidFill>
            <a:prstDash val="solid"/>
          </a:ln>
        </p:spPr>
      </p:sp>
      <p:sp>
        <p:nvSpPr>
          <p:cNvPr id="17" name="Shape 15"/>
          <p:cNvSpPr/>
          <p:nvPr/>
        </p:nvSpPr>
        <p:spPr>
          <a:xfrm>
            <a:off x="548640" y="3538728"/>
            <a:ext cx="973836" cy="274320"/>
          </a:xfrm>
          <a:prstGeom prst="rect">
            <a:avLst/>
          </a:prstGeom>
          <a:solidFill>
            <a:srgbClr val="2A7A4B"/>
          </a:solidFill>
          <a:ln w="12700">
            <a:solidFill>
              <a:srgbClr val="2A7A4B"/>
            </a:solidFill>
            <a:prstDash val="solid"/>
          </a:ln>
        </p:spPr>
      </p:sp>
      <p:sp>
        <p:nvSpPr>
          <p:cNvPr id="18" name="Text 16"/>
          <p:cNvSpPr/>
          <p:nvPr/>
        </p:nvSpPr>
        <p:spPr>
          <a:xfrm>
            <a:off x="548640" y="3538728"/>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858768"/>
            <a:ext cx="7955280" cy="384048"/>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"This matches the definition of solid because solid particles are tightly packed, which means…"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1 of 2</a:t>
            </a:r>
            <a:endParaRPr lang="en-US" sz="1400" dirty="0"/>
          </a:p>
        </p:txBody>
      </p:sp>
      <p:sp>
        <p:nvSpPr>
          <p:cNvPr id="6" name="Shape 4"/>
          <p:cNvSpPr/>
          <p:nvPr/>
        </p:nvSpPr>
        <p:spPr>
          <a:xfrm>
            <a:off x="457200" y="960120"/>
            <a:ext cx="8229600" cy="658368"/>
          </a:xfrm>
          <a:prstGeom prst="rect">
            <a:avLst/>
          </a:prstGeom>
          <a:solidFill>
            <a:srgbClr val="1A3A5C"/>
          </a:solidFill>
          <a:ln w="12700">
            <a:solidFill>
              <a:srgbClr val="1A3A5C"/>
            </a:solidFill>
            <a:prstDash val="solid"/>
          </a:ln>
        </p:spPr>
      </p:sp>
      <p:sp>
        <p:nvSpPr>
          <p:cNvPr id="7" name="Text 5"/>
          <p:cNvSpPr/>
          <p:nvPr/>
        </p:nvSpPr>
        <p:spPr>
          <a:xfrm>
            <a:off x="548640" y="1014984"/>
            <a:ext cx="804672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Which property is the SAME for both solids AND liquids, but NOT gases?</a:t>
            </a:r>
            <a:endParaRPr lang="en-US" sz="1600" dirty="0"/>
          </a:p>
        </p:txBody>
      </p:sp>
      <p:sp>
        <p:nvSpPr>
          <p:cNvPr id="8" name="Shape 6"/>
          <p:cNvSpPr/>
          <p:nvPr/>
        </p:nvSpPr>
        <p:spPr>
          <a:xfrm>
            <a:off x="457200" y="1755648"/>
            <a:ext cx="8229600" cy="548640"/>
          </a:xfrm>
          <a:prstGeom prst="rect">
            <a:avLst/>
          </a:prstGeom>
          <a:solidFill>
            <a:srgbClr val="2C4A6E"/>
          </a:solidFill>
          <a:ln w="12700">
            <a:solidFill>
              <a:srgbClr val="2C4A6E"/>
            </a:solidFill>
            <a:prstDash val="solid"/>
          </a:ln>
        </p:spPr>
      </p:sp>
      <p:sp>
        <p:nvSpPr>
          <p:cNvPr id="9" name="Text 7"/>
          <p:cNvSpPr/>
          <p:nvPr/>
        </p:nvSpPr>
        <p:spPr>
          <a:xfrm>
            <a:off x="548640" y="1810512"/>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Shape</a:t>
            </a:r>
            <a:endParaRPr lang="en-US" sz="1500" dirty="0"/>
          </a:p>
        </p:txBody>
      </p:sp>
      <p:sp>
        <p:nvSpPr>
          <p:cNvPr id="10" name="Shape 8"/>
          <p:cNvSpPr/>
          <p:nvPr/>
        </p:nvSpPr>
        <p:spPr>
          <a:xfrm>
            <a:off x="457200" y="2368296"/>
            <a:ext cx="8229600" cy="548640"/>
          </a:xfrm>
          <a:prstGeom prst="rect">
            <a:avLst/>
          </a:prstGeom>
          <a:solidFill>
            <a:srgbClr val="2A7A4B"/>
          </a:solidFill>
          <a:ln w="12700">
            <a:solidFill>
              <a:srgbClr val="2A7A4B"/>
            </a:solidFill>
            <a:prstDash val="solid"/>
          </a:ln>
        </p:spPr>
      </p:sp>
      <p:sp>
        <p:nvSpPr>
          <p:cNvPr id="11" name="Text 9"/>
          <p:cNvSpPr/>
          <p:nvPr/>
        </p:nvSpPr>
        <p:spPr>
          <a:xfrm>
            <a:off x="548640" y="2423160"/>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Volume   CORRECT</a:t>
            </a:r>
            <a:endParaRPr lang="en-US" sz="1500" dirty="0"/>
          </a:p>
        </p:txBody>
      </p:sp>
      <p:sp>
        <p:nvSpPr>
          <p:cNvPr id="12" name="Shape 10"/>
          <p:cNvSpPr/>
          <p:nvPr/>
        </p:nvSpPr>
        <p:spPr>
          <a:xfrm>
            <a:off x="457200" y="2980944"/>
            <a:ext cx="8229600" cy="548640"/>
          </a:xfrm>
          <a:prstGeom prst="rect">
            <a:avLst/>
          </a:prstGeom>
          <a:solidFill>
            <a:srgbClr val="2C4A6E"/>
          </a:solidFill>
          <a:ln w="12700">
            <a:solidFill>
              <a:srgbClr val="2C4A6E"/>
            </a:solidFill>
            <a:prstDash val="solid"/>
          </a:ln>
        </p:spPr>
      </p:sp>
      <p:sp>
        <p:nvSpPr>
          <p:cNvPr id="13" name="Text 11"/>
          <p:cNvSpPr/>
          <p:nvPr/>
        </p:nvSpPr>
        <p:spPr>
          <a:xfrm>
            <a:off x="548640" y="3035808"/>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Ability to flow</a:t>
            </a:r>
            <a:endParaRPr lang="en-US" sz="1500" dirty="0"/>
          </a:p>
        </p:txBody>
      </p:sp>
      <p:sp>
        <p:nvSpPr>
          <p:cNvPr id="14" name="Shape 12"/>
          <p:cNvSpPr/>
          <p:nvPr/>
        </p:nvSpPr>
        <p:spPr>
          <a:xfrm>
            <a:off x="457200" y="365760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71246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Solids and liquids both have a fixed volume (the amount does not change). Gases do not — they expand or compress to fill any space.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28600"/>
            <a:ext cx="1051560" cy="274320"/>
          </a:xfrm>
          <a:prstGeom prst="rect">
            <a:avLst/>
          </a:prstGeom>
          <a:solidFill>
            <a:srgbClr val="F6C90E"/>
          </a:solidFill>
          <a:ln w="12700">
            <a:solidFill>
              <a:srgbClr val="F6C90E"/>
            </a:solidFill>
            <a:prstDash val="solid"/>
          </a:ln>
        </p:spPr>
      </p:sp>
      <p:sp>
        <p:nvSpPr>
          <p:cNvPr id="4" name="Text 2"/>
          <p:cNvSpPr/>
          <p:nvPr/>
        </p:nvSpPr>
        <p:spPr>
          <a:xfrm>
            <a:off x="457200" y="22860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5" name="Text 3"/>
          <p:cNvSpPr/>
          <p:nvPr/>
        </p:nvSpPr>
        <p:spPr>
          <a:xfrm>
            <a:off x="457200" y="594360"/>
            <a:ext cx="8229600" cy="292608"/>
          </a:xfrm>
          <a:prstGeom prst="rect">
            <a:avLst/>
          </a:prstGeom>
          <a:noFill/>
          <a:ln/>
        </p:spPr>
        <p:txBody>
          <a:bodyPr wrap="square" rtlCol="0" anchor="ctr"/>
          <a:lstStyle/>
          <a:p>
            <a:pPr indent="0" marL="0">
              <a:buNone/>
            </a:pPr>
            <a:r>
              <a:rPr lang="en-US" sz="1400" dirty="0">
                <a:solidFill>
                  <a:srgbClr val="5E7B9A"/>
                </a:solidFill>
                <a:latin typeface="Calibri" pitchFamily="34" charset="0"/>
                <a:ea typeface="Calibri" pitchFamily="34" charset="-122"/>
                <a:cs typeface="Calibri" pitchFamily="34" charset="-120"/>
              </a:rPr>
              <a:t>Question 2 of 2</a:t>
            </a:r>
            <a:endParaRPr lang="en-US" sz="1400" dirty="0"/>
          </a:p>
        </p:txBody>
      </p:sp>
      <p:sp>
        <p:nvSpPr>
          <p:cNvPr id="6" name="Shape 4"/>
          <p:cNvSpPr/>
          <p:nvPr/>
        </p:nvSpPr>
        <p:spPr>
          <a:xfrm>
            <a:off x="457200" y="960120"/>
            <a:ext cx="8229600" cy="804672"/>
          </a:xfrm>
          <a:prstGeom prst="rect">
            <a:avLst/>
          </a:prstGeom>
          <a:solidFill>
            <a:srgbClr val="1A3A5C"/>
          </a:solidFill>
          <a:ln w="12700">
            <a:solidFill>
              <a:srgbClr val="1A3A5C"/>
            </a:solidFill>
            <a:prstDash val="solid"/>
          </a:ln>
        </p:spPr>
      </p:sp>
      <p:sp>
        <p:nvSpPr>
          <p:cNvPr id="7" name="Text 5"/>
          <p:cNvSpPr/>
          <p:nvPr/>
        </p:nvSpPr>
        <p:spPr>
          <a:xfrm>
            <a:off x="548640" y="1014984"/>
            <a:ext cx="8046720" cy="69494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Steam from a kettle fills the whole kitchen after a while. Which property does this demonstrate?</a:t>
            </a:r>
            <a:endParaRPr lang="en-US" sz="1600" dirty="0"/>
          </a:p>
        </p:txBody>
      </p:sp>
      <p:sp>
        <p:nvSpPr>
          <p:cNvPr id="8" name="Shape 6"/>
          <p:cNvSpPr/>
          <p:nvPr/>
        </p:nvSpPr>
        <p:spPr>
          <a:xfrm>
            <a:off x="457200" y="1901952"/>
            <a:ext cx="8229600" cy="548640"/>
          </a:xfrm>
          <a:prstGeom prst="rect">
            <a:avLst/>
          </a:prstGeom>
          <a:solidFill>
            <a:srgbClr val="2C4A6E"/>
          </a:solidFill>
          <a:ln w="12700">
            <a:solidFill>
              <a:srgbClr val="2C4A6E"/>
            </a:solidFill>
            <a:prstDash val="solid"/>
          </a:ln>
        </p:spPr>
      </p:sp>
      <p:sp>
        <p:nvSpPr>
          <p:cNvPr id="9" name="Text 7"/>
          <p:cNvSpPr/>
          <p:nvPr/>
        </p:nvSpPr>
        <p:spPr>
          <a:xfrm>
            <a:off x="548640" y="1956816"/>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Fixed shape</a:t>
            </a:r>
            <a:endParaRPr lang="en-US" sz="1500" dirty="0"/>
          </a:p>
        </p:txBody>
      </p:sp>
      <p:sp>
        <p:nvSpPr>
          <p:cNvPr id="10" name="Shape 8"/>
          <p:cNvSpPr/>
          <p:nvPr/>
        </p:nvSpPr>
        <p:spPr>
          <a:xfrm>
            <a:off x="457200" y="2514600"/>
            <a:ext cx="8229600" cy="548640"/>
          </a:xfrm>
          <a:prstGeom prst="rect">
            <a:avLst/>
          </a:prstGeom>
          <a:solidFill>
            <a:srgbClr val="2C4A6E"/>
          </a:solidFill>
          <a:ln w="12700">
            <a:solidFill>
              <a:srgbClr val="2C4A6E"/>
            </a:solidFill>
            <a:prstDash val="solid"/>
          </a:ln>
        </p:spPr>
      </p:sp>
      <p:sp>
        <p:nvSpPr>
          <p:cNvPr id="11" name="Text 9"/>
          <p:cNvSpPr/>
          <p:nvPr/>
        </p:nvSpPr>
        <p:spPr>
          <a:xfrm>
            <a:off x="548640" y="2569464"/>
            <a:ext cx="8046720" cy="43891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B)  Fixed volume</a:t>
            </a:r>
            <a:endParaRPr lang="en-US" sz="1500" dirty="0"/>
          </a:p>
        </p:txBody>
      </p:sp>
      <p:sp>
        <p:nvSpPr>
          <p:cNvPr id="12" name="Shape 10"/>
          <p:cNvSpPr/>
          <p:nvPr/>
        </p:nvSpPr>
        <p:spPr>
          <a:xfrm>
            <a:off x="457200" y="3127248"/>
            <a:ext cx="8229600" cy="548640"/>
          </a:xfrm>
          <a:prstGeom prst="rect">
            <a:avLst/>
          </a:prstGeom>
          <a:solidFill>
            <a:srgbClr val="2A7A4B"/>
          </a:solidFill>
          <a:ln w="12700">
            <a:solidFill>
              <a:srgbClr val="2A7A4B"/>
            </a:solidFill>
            <a:prstDash val="solid"/>
          </a:ln>
        </p:spPr>
      </p:sp>
      <p:sp>
        <p:nvSpPr>
          <p:cNvPr id="13" name="Text 11"/>
          <p:cNvSpPr/>
          <p:nvPr/>
        </p:nvSpPr>
        <p:spPr>
          <a:xfrm>
            <a:off x="548640" y="3182112"/>
            <a:ext cx="8046720" cy="438912"/>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  Expands to fill any container   CORRECT</a:t>
            </a:r>
            <a:endParaRPr lang="en-US" sz="1500" dirty="0"/>
          </a:p>
        </p:txBody>
      </p:sp>
      <p:sp>
        <p:nvSpPr>
          <p:cNvPr id="14" name="Shape 12"/>
          <p:cNvSpPr/>
          <p:nvPr/>
        </p:nvSpPr>
        <p:spPr>
          <a:xfrm>
            <a:off x="457200" y="3794760"/>
            <a:ext cx="8229600" cy="475488"/>
          </a:xfrm>
          <a:prstGeom prst="rect">
            <a:avLst/>
          </a:prstGeom>
          <a:solidFill>
            <a:srgbClr val="1B4F72"/>
          </a:solidFill>
          <a:ln w="12700">
            <a:solidFill>
              <a:srgbClr val="1B4F72"/>
            </a:solidFill>
            <a:prstDash val="solid"/>
          </a:ln>
        </p:spPr>
      </p:sp>
      <p:sp>
        <p:nvSpPr>
          <p:cNvPr id="15" name="Text 13"/>
          <p:cNvSpPr/>
          <p:nvPr/>
        </p:nvSpPr>
        <p:spPr>
          <a:xfrm>
            <a:off x="548640" y="3849624"/>
            <a:ext cx="804672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Steam is a gas. Gas particles spread far apart and fill whatever space is available — including an entire kitchen.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D1B2A"/>
          </a:solidFill>
          <a:ln w="12700">
            <a:solidFill>
              <a:srgbClr val="0D1B2A"/>
            </a:solidFill>
            <a:prstDash val="solid"/>
          </a:ln>
        </p:spPr>
      </p:sp>
      <p:sp>
        <p:nvSpPr>
          <p:cNvPr id="3" name="Shape 1"/>
          <p:cNvSpPr/>
          <p:nvPr/>
        </p:nvSpPr>
        <p:spPr>
          <a:xfrm>
            <a:off x="457200" y="274320"/>
            <a:ext cx="1595628" cy="274320"/>
          </a:xfrm>
          <a:prstGeom prst="rect">
            <a:avLst/>
          </a:prstGeom>
          <a:solidFill>
            <a:srgbClr val="F6C90E"/>
          </a:solidFill>
          <a:ln w="12700">
            <a:solidFill>
              <a:srgbClr val="F6C90E"/>
            </a:solidFill>
            <a:prstDash val="solid"/>
          </a:ln>
        </p:spPr>
      </p:sp>
      <p:sp>
        <p:nvSpPr>
          <p:cNvPr id="4" name="Text 2"/>
          <p:cNvSpPr/>
          <p:nvPr/>
        </p:nvSpPr>
        <p:spPr>
          <a:xfrm>
            <a:off x="457200" y="27432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5" name="Text 3"/>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Plasma — The Fourth State of Matter</a:t>
            </a:r>
            <a:endParaRPr lang="en-US" sz="2600" dirty="0"/>
          </a:p>
        </p:txBody>
      </p:sp>
      <p:sp>
        <p:nvSpPr>
          <p:cNvPr id="6" name="Shape 4"/>
          <p:cNvSpPr/>
          <p:nvPr/>
        </p:nvSpPr>
        <p:spPr>
          <a:xfrm>
            <a:off x="457200" y="1325880"/>
            <a:ext cx="8229600" cy="1097280"/>
          </a:xfrm>
          <a:prstGeom prst="rect">
            <a:avLst/>
          </a:prstGeom>
          <a:solidFill>
            <a:srgbClr val="1A3A5C"/>
          </a:solidFill>
          <a:ln w="12700">
            <a:solidFill>
              <a:srgbClr val="1A3A5C"/>
            </a:solidFill>
            <a:prstDash val="solid"/>
          </a:ln>
        </p:spPr>
      </p:sp>
      <p:sp>
        <p:nvSpPr>
          <p:cNvPr id="7" name="Text 5"/>
          <p:cNvSpPr/>
          <p:nvPr/>
        </p:nvSpPr>
        <p:spPr>
          <a:xfrm>
            <a:off x="548640" y="1380744"/>
            <a:ext cx="8046720" cy="98755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Plasma is a fourth state of matter — what the sun and lightning bolts are made of. Particles move so fast they lose electrons. Most matter in the entire universe is actually plasma, not solid, liquid, or gas.</a:t>
            </a:r>
            <a:endParaRPr lang="en-US" sz="1500" dirty="0"/>
          </a:p>
        </p:txBody>
      </p:sp>
      <p:sp>
        <p:nvSpPr>
          <p:cNvPr id="8" name="Text 6"/>
          <p:cNvSpPr/>
          <p:nvPr/>
        </p:nvSpPr>
        <p:spPr>
          <a:xfrm>
            <a:off x="457200" y="2514600"/>
            <a:ext cx="8229600" cy="256032"/>
          </a:xfrm>
          <a:prstGeom prst="rect">
            <a:avLst/>
          </a:prstGeom>
          <a:noFill/>
          <a:ln/>
        </p:spPr>
        <p:txBody>
          <a:bodyPr wrap="square" rtlCol="0" anchor="ctr"/>
          <a:lstStyle/>
          <a:p>
            <a:pPr indent="0" marL="0">
              <a:buNone/>
            </a:pPr>
            <a:r>
              <a:rPr lang="en-US" sz="1200" b="1" dirty="0">
                <a:solidFill>
                  <a:srgbClr val="F6C90E"/>
                </a:solidFill>
                <a:latin typeface="Calibri" pitchFamily="34" charset="0"/>
                <a:ea typeface="Calibri" pitchFamily="34" charset="-122"/>
                <a:cs typeface="Calibri" pitchFamily="34" charset="-120"/>
              </a:rPr>
              <a:t>Extension Questions:</a:t>
            </a:r>
            <a:endParaRPr lang="en-US" sz="1200" dirty="0"/>
          </a:p>
        </p:txBody>
      </p:sp>
      <p:sp>
        <p:nvSpPr>
          <p:cNvPr id="9" name="Shape 7"/>
          <p:cNvSpPr/>
          <p:nvPr/>
        </p:nvSpPr>
        <p:spPr>
          <a:xfrm>
            <a:off x="457200" y="2834640"/>
            <a:ext cx="3931920" cy="1325880"/>
          </a:xfrm>
          <a:prstGeom prst="rect">
            <a:avLst/>
          </a:prstGeom>
          <a:solidFill>
            <a:srgbClr val="2C4A6E"/>
          </a:solidFill>
          <a:ln w="12700">
            <a:solidFill>
              <a:srgbClr val="2C4A6E"/>
            </a:solidFill>
            <a:prstDash val="solid"/>
          </a:ln>
        </p:spPr>
      </p:sp>
      <p:sp>
        <p:nvSpPr>
          <p:cNvPr id="10" name="Text 8"/>
          <p:cNvSpPr/>
          <p:nvPr/>
        </p:nvSpPr>
        <p:spPr>
          <a:xfrm>
            <a:off x="548640" y="2889504"/>
            <a:ext cx="3749040" cy="12161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If plasma is the most common state of matter in the universe, why do we not encounter it in daily life on Earth? What do you think is different about conditions in space?</a:t>
            </a:r>
            <a:endParaRPr lang="en-US" sz="1300" dirty="0"/>
          </a:p>
        </p:txBody>
      </p:sp>
      <p:sp>
        <p:nvSpPr>
          <p:cNvPr id="11" name="Shape 9"/>
          <p:cNvSpPr/>
          <p:nvPr/>
        </p:nvSpPr>
        <p:spPr>
          <a:xfrm>
            <a:off x="4754880" y="2834640"/>
            <a:ext cx="3931920" cy="1325880"/>
          </a:xfrm>
          <a:prstGeom prst="rect">
            <a:avLst/>
          </a:prstGeom>
          <a:solidFill>
            <a:srgbClr val="2C4A6E"/>
          </a:solidFill>
          <a:ln w="12700">
            <a:solidFill>
              <a:srgbClr val="2C4A6E"/>
            </a:solidFill>
            <a:prstDash val="solid"/>
          </a:ln>
        </p:spPr>
      </p:sp>
      <p:sp>
        <p:nvSpPr>
          <p:cNvPr id="12" name="Text 10"/>
          <p:cNvSpPr/>
          <p:nvPr/>
        </p:nvSpPr>
        <p:spPr>
          <a:xfrm>
            <a:off x="4846320" y="2889504"/>
            <a:ext cx="3749040" cy="121615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would happen to the properties of matter if you could slow down the particles in a gas until they barely moved at all? What state would it become?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400" b="1" dirty="0">
                <a:solidFill>
                  <a:srgbClr val="1A3A5C"/>
                </a:solidFill>
                <a:latin typeface="Cambria" pitchFamily="34" charset="0"/>
                <a:ea typeface="Cambria" pitchFamily="34" charset="-122"/>
                <a:cs typeface="Cambria" pitchFamily="34" charset="-120"/>
              </a:rPr>
              <a:t>Your Assignment — Parts A &amp; B</a:t>
            </a:r>
            <a:endParaRPr lang="en-US" sz="2400" dirty="0"/>
          </a:p>
        </p:txBody>
      </p:sp>
      <p:sp>
        <p:nvSpPr>
          <p:cNvPr id="6" name="Shape 4"/>
          <p:cNvSpPr/>
          <p:nvPr/>
        </p:nvSpPr>
        <p:spPr>
          <a:xfrm>
            <a:off x="457200" y="1115568"/>
            <a:ext cx="4023360" cy="3520440"/>
          </a:xfrm>
          <a:prstGeom prst="rect">
            <a:avLst/>
          </a:prstGeom>
          <a:solidFill>
            <a:srgbClr val="FFFFFF"/>
          </a:solidFill>
          <a:ln w="12700">
            <a:solidFill>
              <a:srgbClr val="FFFFFF"/>
            </a:solidFill>
            <a:prstDash val="solid"/>
          </a:ln>
        </p:spPr>
      </p:sp>
      <p:sp>
        <p:nvSpPr>
          <p:cNvPr id="7" name="Shape 5"/>
          <p:cNvSpPr/>
          <p:nvPr/>
        </p:nvSpPr>
        <p:spPr>
          <a:xfrm>
            <a:off x="457200" y="1115568"/>
            <a:ext cx="4023360" cy="384048"/>
          </a:xfrm>
          <a:prstGeom prst="rect">
            <a:avLst/>
          </a:prstGeom>
          <a:solidFill>
            <a:srgbClr val="2E86AB"/>
          </a:solidFill>
          <a:ln w="12700">
            <a:solidFill>
              <a:srgbClr val="2E86AB"/>
            </a:solidFill>
            <a:prstDash val="solid"/>
          </a:ln>
        </p:spPr>
      </p:sp>
      <p:sp>
        <p:nvSpPr>
          <p:cNvPr id="8" name="Text 6"/>
          <p:cNvSpPr/>
          <p:nvPr/>
        </p:nvSpPr>
        <p:spPr>
          <a:xfrm>
            <a:off x="548640" y="1115568"/>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Part A — Three Particle Diagrams</a:t>
            </a:r>
            <a:endParaRPr lang="en-US" sz="1300" dirty="0"/>
          </a:p>
        </p:txBody>
      </p:sp>
      <p:sp>
        <p:nvSpPr>
          <p:cNvPr id="9" name="Text 7"/>
          <p:cNvSpPr/>
          <p:nvPr/>
        </p:nvSpPr>
        <p:spPr>
          <a:xfrm>
            <a:off x="54864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Draw one particle diagram for each state — solid, liquid, and gas.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For each diagram:</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Label the state name</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Show particle arrangement with dots</a:t>
            </a: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   Label: fixed shape? fixed volume? flows?</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Draw in your notebook.</a:t>
            </a:r>
            <a:endParaRPr lang="en-US" sz="1300" dirty="0"/>
          </a:p>
        </p:txBody>
      </p:sp>
      <p:sp>
        <p:nvSpPr>
          <p:cNvPr id="10" name="Shape 8"/>
          <p:cNvSpPr/>
          <p:nvPr/>
        </p:nvSpPr>
        <p:spPr>
          <a:xfrm>
            <a:off x="4663440" y="1115568"/>
            <a:ext cx="4023360" cy="3520440"/>
          </a:xfrm>
          <a:prstGeom prst="rect">
            <a:avLst/>
          </a:prstGeom>
          <a:solidFill>
            <a:srgbClr val="FFFFFF"/>
          </a:solidFill>
          <a:ln w="12700">
            <a:solidFill>
              <a:srgbClr val="FFFFFF"/>
            </a:solidFill>
            <a:prstDash val="solid"/>
          </a:ln>
        </p:spPr>
      </p:sp>
      <p:sp>
        <p:nvSpPr>
          <p:cNvPr id="11" name="Shape 9"/>
          <p:cNvSpPr/>
          <p:nvPr/>
        </p:nvSpPr>
        <p:spPr>
          <a:xfrm>
            <a:off x="4663440" y="1115568"/>
            <a:ext cx="4023360" cy="384048"/>
          </a:xfrm>
          <a:prstGeom prst="rect">
            <a:avLst/>
          </a:prstGeom>
          <a:solidFill>
            <a:srgbClr val="F07D35"/>
          </a:solidFill>
          <a:ln w="12700">
            <a:solidFill>
              <a:srgbClr val="F07D35"/>
            </a:solidFill>
            <a:prstDash val="solid"/>
          </a:ln>
        </p:spPr>
      </p:sp>
      <p:sp>
        <p:nvSpPr>
          <p:cNvPr id="12" name="Text 10"/>
          <p:cNvSpPr/>
          <p:nvPr/>
        </p:nvSpPr>
        <p:spPr>
          <a:xfrm>
            <a:off x="4754880" y="1115568"/>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Part B — Comparison Questions</a:t>
            </a:r>
            <a:endParaRPr lang="en-US" sz="1300" dirty="0"/>
          </a:p>
        </p:txBody>
      </p:sp>
      <p:sp>
        <p:nvSpPr>
          <p:cNvPr id="13" name="Text 11"/>
          <p:cNvSpPr/>
          <p:nvPr/>
        </p:nvSpPr>
        <p:spPr>
          <a:xfrm>
            <a:off x="4754880" y="1554480"/>
            <a:ext cx="3840480" cy="2999232"/>
          </a:xfrm>
          <a:prstGeom prst="rect">
            <a:avLst/>
          </a:prstGeom>
          <a:noFill/>
          <a:ln/>
        </p:spPr>
        <p:txBody>
          <a:bodyPr wrap="square" rtlCol="0" anchor="t"/>
          <a:lstStyle/>
          <a:p>
            <a:pPr indent="0" marL="0">
              <a:buNone/>
            </a:pPr>
            <a:r>
              <a:rPr lang="en-US" sz="1300" dirty="0">
                <a:solidFill>
                  <a:srgbClr val="1A1A2E"/>
                </a:solidFill>
                <a:latin typeface="Calibri" pitchFamily="34" charset="0"/>
                <a:ea typeface="Calibri" pitchFamily="34" charset="-122"/>
                <a:cs typeface="Calibri" pitchFamily="34" charset="-120"/>
              </a:rPr>
              <a:t>1. What property do solids and liquids share that gases do not?</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2. You pour water from a tall glass into a wide bowl. What property changed? What did not change?</a:t>
            </a:r>
            <a:endParaRPr lang="en-US" sz="1300" dirty="0"/>
          </a:p>
          <a:p>
            <a:pPr indent="0" marL="0">
              <a:buNone/>
            </a:pPr>
            <a:endParaRPr lang="en-US" sz="1300" dirty="0"/>
          </a:p>
          <a:p>
            <a:pPr indent="0" marL="0">
              <a:buNone/>
            </a:pPr>
            <a:r>
              <a:rPr lang="en-US" sz="1300" dirty="0">
                <a:solidFill>
                  <a:srgbClr val="1A1A2E"/>
                </a:solidFill>
                <a:latin typeface="Calibri" pitchFamily="34" charset="0"/>
                <a:ea typeface="Calibri" pitchFamily="34" charset="-122"/>
                <a:cs typeface="Calibri" pitchFamily="34" charset="-120"/>
              </a:rPr>
              <a:t>3. Name one real-world example of each state from your kitchen.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EBF4FA"/>
          </a:solidFill>
          <a:ln w="12700">
            <a:solidFill>
              <a:srgbClr val="EBF4FA"/>
            </a:solidFill>
            <a:prstDash val="solid"/>
          </a:ln>
        </p:spPr>
      </p:sp>
      <p:sp>
        <p:nvSpPr>
          <p:cNvPr id="3" name="Shape 1"/>
          <p:cNvSpPr/>
          <p:nvPr/>
        </p:nvSpPr>
        <p:spPr>
          <a:xfrm>
            <a:off x="457200" y="228600"/>
            <a:ext cx="1673352" cy="274320"/>
          </a:xfrm>
          <a:prstGeom prst="rect">
            <a:avLst/>
          </a:prstGeom>
          <a:solidFill>
            <a:srgbClr val="1A3A5C"/>
          </a:solidFill>
          <a:ln w="12700">
            <a:solidFill>
              <a:srgbClr val="1A3A5C"/>
            </a:solidFill>
            <a:prstDash val="solid"/>
          </a:ln>
        </p:spPr>
      </p:sp>
      <p:sp>
        <p:nvSpPr>
          <p:cNvPr id="4" name="Text 2"/>
          <p:cNvSpPr/>
          <p:nvPr/>
        </p:nvSpPr>
        <p:spPr>
          <a:xfrm>
            <a:off x="457200" y="228600"/>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5" name="Text 3"/>
          <p:cNvSpPr/>
          <p:nvPr/>
        </p:nvSpPr>
        <p:spPr>
          <a:xfrm>
            <a:off x="457200" y="594360"/>
            <a:ext cx="8229600" cy="411480"/>
          </a:xfrm>
          <a:prstGeom prst="rect">
            <a:avLst/>
          </a:prstGeom>
          <a:noFill/>
          <a:ln/>
        </p:spPr>
        <p:txBody>
          <a:bodyPr wrap="square" rtlCol="0" anchor="ctr"/>
          <a:lstStyle/>
          <a:p>
            <a:pPr indent="0" marL="0">
              <a:buNone/>
            </a:pPr>
            <a:r>
              <a:rPr lang="en-US" sz="2200" b="1" dirty="0">
                <a:solidFill>
                  <a:srgbClr val="1A3A5C"/>
                </a:solidFill>
                <a:latin typeface="Cambria" pitchFamily="34" charset="0"/>
                <a:ea typeface="Cambria" pitchFamily="34" charset="-122"/>
                <a:cs typeface="Cambria" pitchFamily="34" charset="-120"/>
              </a:rPr>
              <a:t>Your Assignment — Part C (CER Response)</a:t>
            </a:r>
            <a:endParaRPr lang="en-US" sz="2200" dirty="0"/>
          </a:p>
        </p:txBody>
      </p:sp>
      <p:sp>
        <p:nvSpPr>
          <p:cNvPr id="6" name="Shape 4"/>
          <p:cNvSpPr/>
          <p:nvPr/>
        </p:nvSpPr>
        <p:spPr>
          <a:xfrm>
            <a:off x="457200" y="1115568"/>
            <a:ext cx="8229600" cy="475488"/>
          </a:xfrm>
          <a:prstGeom prst="rect">
            <a:avLst/>
          </a:prstGeom>
          <a:solidFill>
            <a:srgbClr val="1A3A5C"/>
          </a:solidFill>
          <a:ln w="12700">
            <a:solidFill>
              <a:srgbClr val="1A3A5C"/>
            </a:solidFill>
            <a:prstDash val="solid"/>
          </a:ln>
        </p:spPr>
      </p:sp>
      <p:sp>
        <p:nvSpPr>
          <p:cNvPr id="7" name="Text 5"/>
          <p:cNvSpPr/>
          <p:nvPr/>
        </p:nvSpPr>
        <p:spPr>
          <a:xfrm>
            <a:off x="548640" y="1170432"/>
            <a:ext cx="804672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Question: Identify Substance A from the investigation and defend your answer using property evidence. Write 4-6 sentences.</a:t>
            </a:r>
            <a:endParaRPr lang="en-US" sz="1300" dirty="0"/>
          </a:p>
        </p:txBody>
      </p:sp>
      <p:sp>
        <p:nvSpPr>
          <p:cNvPr id="8" name="Shape 6"/>
          <p:cNvSpPr/>
          <p:nvPr/>
        </p:nvSpPr>
        <p:spPr>
          <a:xfrm>
            <a:off x="457200" y="1682496"/>
            <a:ext cx="8229600" cy="749808"/>
          </a:xfrm>
          <a:prstGeom prst="rect">
            <a:avLst/>
          </a:prstGeom>
          <a:solidFill>
            <a:srgbClr val="EBF5FB"/>
          </a:solidFill>
          <a:ln w="12700">
            <a:solidFill>
              <a:srgbClr val="EBF5FB"/>
            </a:solidFill>
            <a:prstDash val="solid"/>
          </a:ln>
        </p:spPr>
      </p:sp>
      <p:sp>
        <p:nvSpPr>
          <p:cNvPr id="9" name="Shape 7"/>
          <p:cNvSpPr/>
          <p:nvPr/>
        </p:nvSpPr>
        <p:spPr>
          <a:xfrm>
            <a:off x="548640" y="1746504"/>
            <a:ext cx="662940" cy="274320"/>
          </a:xfrm>
          <a:prstGeom prst="rect">
            <a:avLst/>
          </a:prstGeom>
          <a:solidFill>
            <a:srgbClr val="2E86AB"/>
          </a:solidFill>
          <a:ln w="12700">
            <a:solidFill>
              <a:srgbClr val="2E86AB"/>
            </a:solidFill>
            <a:prstDash val="solid"/>
          </a:ln>
        </p:spPr>
      </p:sp>
      <p:sp>
        <p:nvSpPr>
          <p:cNvPr id="10" name="Text 8"/>
          <p:cNvSpPr/>
          <p:nvPr/>
        </p:nvSpPr>
        <p:spPr>
          <a:xfrm>
            <a:off x="548640" y="1746504"/>
            <a:ext cx="6629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CLAIM</a:t>
            </a:r>
            <a:endParaRPr lang="en-US" sz="1000" dirty="0"/>
          </a:p>
        </p:txBody>
      </p:sp>
      <p:sp>
        <p:nvSpPr>
          <p:cNvPr id="11" name="Text 9"/>
          <p:cNvSpPr/>
          <p:nvPr/>
        </p:nvSpPr>
        <p:spPr>
          <a:xfrm>
            <a:off x="548640" y="2029968"/>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"I claim Substance A is a solid because…"</a:t>
            </a:r>
            <a:endParaRPr lang="en-US" sz="1300" dirty="0"/>
          </a:p>
        </p:txBody>
      </p:sp>
      <p:sp>
        <p:nvSpPr>
          <p:cNvPr id="12" name="Shape 10"/>
          <p:cNvSpPr/>
          <p:nvPr/>
        </p:nvSpPr>
        <p:spPr>
          <a:xfrm>
            <a:off x="457200" y="2505456"/>
            <a:ext cx="8229600" cy="749808"/>
          </a:xfrm>
          <a:prstGeom prst="rect">
            <a:avLst/>
          </a:prstGeom>
          <a:solidFill>
            <a:srgbClr val="E8F8F5"/>
          </a:solidFill>
          <a:ln w="12700">
            <a:solidFill>
              <a:srgbClr val="E8F8F5"/>
            </a:solidFill>
            <a:prstDash val="solid"/>
          </a:ln>
        </p:spPr>
      </p:sp>
      <p:sp>
        <p:nvSpPr>
          <p:cNvPr id="13" name="Shape 11"/>
          <p:cNvSpPr/>
          <p:nvPr/>
        </p:nvSpPr>
        <p:spPr>
          <a:xfrm>
            <a:off x="548640" y="2569464"/>
            <a:ext cx="896112" cy="274320"/>
          </a:xfrm>
          <a:prstGeom prst="rect">
            <a:avLst/>
          </a:prstGeom>
          <a:solidFill>
            <a:srgbClr val="0E7C7B"/>
          </a:solidFill>
          <a:ln w="12700">
            <a:solidFill>
              <a:srgbClr val="0E7C7B"/>
            </a:solidFill>
            <a:prstDash val="solid"/>
          </a:ln>
        </p:spPr>
      </p:sp>
      <p:sp>
        <p:nvSpPr>
          <p:cNvPr id="14" name="Text 12"/>
          <p:cNvSpPr/>
          <p:nvPr/>
        </p:nvSpPr>
        <p:spPr>
          <a:xfrm>
            <a:off x="548640" y="2569464"/>
            <a:ext cx="89611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EVIDENCE</a:t>
            </a:r>
            <a:endParaRPr lang="en-US" sz="1000" dirty="0"/>
          </a:p>
        </p:txBody>
      </p:sp>
      <p:sp>
        <p:nvSpPr>
          <p:cNvPr id="15" name="Text 13"/>
          <p:cNvSpPr/>
          <p:nvPr/>
        </p:nvSpPr>
        <p:spPr>
          <a:xfrm>
            <a:off x="548640" y="2843784"/>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"I observed that Substance A [kept its shape / could not be poured / had the same volume]…"</a:t>
            </a:r>
            <a:endParaRPr lang="en-US" sz="1300" dirty="0"/>
          </a:p>
        </p:txBody>
      </p:sp>
      <p:sp>
        <p:nvSpPr>
          <p:cNvPr id="16" name="Shape 14"/>
          <p:cNvSpPr/>
          <p:nvPr/>
        </p:nvSpPr>
        <p:spPr>
          <a:xfrm>
            <a:off x="457200" y="3328416"/>
            <a:ext cx="8229600" cy="749808"/>
          </a:xfrm>
          <a:prstGeom prst="rect">
            <a:avLst/>
          </a:prstGeom>
          <a:solidFill>
            <a:srgbClr val="EAF9EA"/>
          </a:solidFill>
          <a:ln w="12700">
            <a:solidFill>
              <a:srgbClr val="EAF9EA"/>
            </a:solidFill>
            <a:prstDash val="solid"/>
          </a:ln>
        </p:spPr>
      </p:sp>
      <p:sp>
        <p:nvSpPr>
          <p:cNvPr id="17" name="Shape 15"/>
          <p:cNvSpPr/>
          <p:nvPr/>
        </p:nvSpPr>
        <p:spPr>
          <a:xfrm>
            <a:off x="548640" y="3392424"/>
            <a:ext cx="973836" cy="274320"/>
          </a:xfrm>
          <a:prstGeom prst="rect">
            <a:avLst/>
          </a:prstGeom>
          <a:solidFill>
            <a:srgbClr val="2A7A4B"/>
          </a:solidFill>
          <a:ln w="12700">
            <a:solidFill>
              <a:srgbClr val="2A7A4B"/>
            </a:solidFill>
            <a:prstDash val="solid"/>
          </a:ln>
        </p:spPr>
      </p:sp>
      <p:sp>
        <p:nvSpPr>
          <p:cNvPr id="18" name="Text 16"/>
          <p:cNvSpPr/>
          <p:nvPr/>
        </p:nvSpPr>
        <p:spPr>
          <a:xfrm>
            <a:off x="548640" y="3392424"/>
            <a:ext cx="97383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p:txBody>
      </p:sp>
      <p:sp>
        <p:nvSpPr>
          <p:cNvPr id="19" name="Text 17"/>
          <p:cNvSpPr/>
          <p:nvPr/>
        </p:nvSpPr>
        <p:spPr>
          <a:xfrm>
            <a:off x="548640" y="3666744"/>
            <a:ext cx="7955280" cy="320040"/>
          </a:xfrm>
          <a:prstGeom prst="rect">
            <a:avLst/>
          </a:prstGeom>
          <a:noFill/>
          <a:ln/>
        </p:spPr>
        <p:txBody>
          <a:bodyPr wrap="square" rtlCol="0" anchor="ctr"/>
          <a:lstStyle/>
          <a:p>
            <a:pPr indent="0" marL="0">
              <a:buNone/>
            </a:pPr>
            <a:r>
              <a:rPr lang="en-US" sz="1300" dirty="0">
                <a:solidFill>
                  <a:srgbClr val="2C4A6E"/>
                </a:solidFill>
                <a:latin typeface="Calibri" pitchFamily="34" charset="0"/>
                <a:ea typeface="Calibri" pitchFamily="34" charset="-122"/>
                <a:cs typeface="Calibri" pitchFamily="34" charset="-120"/>
              </a:rPr>
              <a:t>"This matches the definition of solid because solid particles are tightly packed, which means…"</a:t>
            </a:r>
            <a:endParaRPr lang="en-US" sz="1300" dirty="0"/>
          </a:p>
        </p:txBody>
      </p:sp>
      <p:sp>
        <p:nvSpPr>
          <p:cNvPr id="20" name="Shape 18"/>
          <p:cNvSpPr/>
          <p:nvPr/>
        </p:nvSpPr>
        <p:spPr>
          <a:xfrm>
            <a:off x="457200" y="4151376"/>
            <a:ext cx="8229600" cy="384048"/>
          </a:xfrm>
          <a:prstGeom prst="rect">
            <a:avLst/>
          </a:prstGeom>
          <a:solidFill>
            <a:srgbClr val="2C4A6E"/>
          </a:solidFill>
          <a:ln w="12700">
            <a:solidFill>
              <a:srgbClr val="2C4A6E"/>
            </a:solidFill>
            <a:prstDash val="solid"/>
          </a:ln>
        </p:spPr>
      </p:sp>
      <p:sp>
        <p:nvSpPr>
          <p:cNvPr id="21" name="Text 19"/>
          <p:cNvSpPr/>
          <p:nvPr/>
        </p:nvSpPr>
        <p:spPr>
          <a:xfrm>
            <a:off x="548640" y="4206240"/>
            <a:ext cx="8046720" cy="27432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Write your full CER response in your notebook. 4-6 complete sentences.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7C7B"/>
          </a:solidFill>
          <a:ln w="12700">
            <a:solidFill>
              <a:srgbClr val="0E7C7B"/>
            </a:solidFill>
            <a:prstDash val="solid"/>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Revise Your Thinking</a:t>
            </a:r>
            <a:endParaRPr lang="en-US" sz="2800" dirty="0"/>
          </a:p>
        </p:txBody>
      </p:sp>
      <p:sp>
        <p:nvSpPr>
          <p:cNvPr id="4" name="Shape 2"/>
          <p:cNvSpPr/>
          <p:nvPr/>
        </p:nvSpPr>
        <p:spPr>
          <a:xfrm>
            <a:off x="457200" y="777240"/>
            <a:ext cx="8229600" cy="411480"/>
          </a:xfrm>
          <a:prstGeom prst="rect">
            <a:avLst/>
          </a:prstGeom>
          <a:solidFill>
            <a:srgbClr val="075F5F"/>
          </a:solidFill>
          <a:ln w="12700">
            <a:solidFill>
              <a:srgbClr val="075F5F"/>
            </a:solidFill>
            <a:prstDash val="solid"/>
          </a:ln>
        </p:spPr>
      </p:sp>
      <p:sp>
        <p:nvSpPr>
          <p:cNvPr id="5" name="Text 3"/>
          <p:cNvSpPr/>
          <p:nvPr/>
        </p:nvSpPr>
        <p:spPr>
          <a:xfrm>
            <a:off x="548640" y="832104"/>
            <a:ext cx="8046720" cy="30175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Look back at your prediction about ice, water, and steam. Can you now explain why they behave so differently?</a:t>
            </a:r>
            <a:endParaRPr lang="en-US" sz="1400" dirty="0"/>
          </a:p>
        </p:txBody>
      </p:sp>
      <p:sp>
        <p:nvSpPr>
          <p:cNvPr id="6" name="Shape 4"/>
          <p:cNvSpPr/>
          <p:nvPr/>
        </p:nvSpPr>
        <p:spPr>
          <a:xfrm>
            <a:off x="457200" y="1325880"/>
            <a:ext cx="411480" cy="411480"/>
          </a:xfrm>
          <a:prstGeom prst="rect">
            <a:avLst/>
          </a:prstGeom>
          <a:solidFill>
            <a:srgbClr val="1A3A5C"/>
          </a:solidFill>
          <a:ln w="12700">
            <a:solidFill>
              <a:srgbClr val="1A3A5C"/>
            </a:solidFill>
            <a:prstDash val="solid"/>
          </a:ln>
        </p:spPr>
      </p:sp>
      <p:sp>
        <p:nvSpPr>
          <p:cNvPr id="7" name="Text 5"/>
          <p:cNvSpPr/>
          <p:nvPr/>
        </p:nvSpPr>
        <p:spPr>
          <a:xfrm>
            <a:off x="548640" y="1380744"/>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Shape 6"/>
          <p:cNvSpPr/>
          <p:nvPr/>
        </p:nvSpPr>
        <p:spPr>
          <a:xfrm>
            <a:off x="1005840" y="1325880"/>
            <a:ext cx="7680960" cy="987552"/>
          </a:xfrm>
          <a:prstGeom prst="rect">
            <a:avLst/>
          </a:prstGeom>
          <a:solidFill>
            <a:srgbClr val="075F5F"/>
          </a:solidFill>
          <a:ln w="12700">
            <a:solidFill>
              <a:srgbClr val="075F5F"/>
            </a:solidFill>
            <a:prstDash val="solid"/>
          </a:ln>
        </p:spPr>
      </p:sp>
      <p:sp>
        <p:nvSpPr>
          <p:cNvPr id="9" name="Text 7"/>
          <p:cNvSpPr/>
          <p:nvPr/>
        </p:nvSpPr>
        <p:spPr>
          <a:xfrm>
            <a:off x="1097280" y="1380744"/>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At the start I said ice, water, and steam are different because… Now I can explain this using particle arrangement: …</a:t>
            </a:r>
            <a:endParaRPr lang="en-US" sz="1400" dirty="0"/>
          </a:p>
        </p:txBody>
      </p:sp>
      <p:sp>
        <p:nvSpPr>
          <p:cNvPr id="10" name="Shape 8"/>
          <p:cNvSpPr/>
          <p:nvPr/>
        </p:nvSpPr>
        <p:spPr>
          <a:xfrm>
            <a:off x="457200" y="2496312"/>
            <a:ext cx="411480" cy="411480"/>
          </a:xfrm>
          <a:prstGeom prst="rect">
            <a:avLst/>
          </a:prstGeom>
          <a:solidFill>
            <a:srgbClr val="1A3A5C"/>
          </a:solidFill>
          <a:ln w="12700">
            <a:solidFill>
              <a:srgbClr val="1A3A5C"/>
            </a:solidFill>
            <a:prstDash val="solid"/>
          </a:ln>
        </p:spPr>
      </p:sp>
      <p:sp>
        <p:nvSpPr>
          <p:cNvPr id="11" name="Text 9"/>
          <p:cNvSpPr/>
          <p:nvPr/>
        </p:nvSpPr>
        <p:spPr>
          <a:xfrm>
            <a:off x="548640" y="2551176"/>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Shape 10"/>
          <p:cNvSpPr/>
          <p:nvPr/>
        </p:nvSpPr>
        <p:spPr>
          <a:xfrm>
            <a:off x="1005840" y="2496312"/>
            <a:ext cx="7680960" cy="987552"/>
          </a:xfrm>
          <a:prstGeom prst="rect">
            <a:avLst/>
          </a:prstGeom>
          <a:solidFill>
            <a:srgbClr val="075F5F"/>
          </a:solidFill>
          <a:ln w="12700">
            <a:solidFill>
              <a:srgbClr val="075F5F"/>
            </a:solidFill>
            <a:prstDash val="solid"/>
          </a:ln>
        </p:spPr>
      </p:sp>
      <p:sp>
        <p:nvSpPr>
          <p:cNvPr id="13" name="Text 11"/>
          <p:cNvSpPr/>
          <p:nvPr/>
        </p:nvSpPr>
        <p:spPr>
          <a:xfrm>
            <a:off x="1097280" y="2551176"/>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The most important property I learned about for telling states apart is…</a:t>
            </a:r>
            <a:endParaRPr lang="en-US" sz="1400" dirty="0"/>
          </a:p>
        </p:txBody>
      </p:sp>
      <p:sp>
        <p:nvSpPr>
          <p:cNvPr id="14" name="Shape 12"/>
          <p:cNvSpPr/>
          <p:nvPr/>
        </p:nvSpPr>
        <p:spPr>
          <a:xfrm>
            <a:off x="457200" y="3666744"/>
            <a:ext cx="411480" cy="411480"/>
          </a:xfrm>
          <a:prstGeom prst="rect">
            <a:avLst/>
          </a:prstGeom>
          <a:solidFill>
            <a:srgbClr val="1A3A5C"/>
          </a:solidFill>
          <a:ln w="12700">
            <a:solidFill>
              <a:srgbClr val="1A3A5C"/>
            </a:solidFill>
            <a:prstDash val="solid"/>
          </a:ln>
        </p:spPr>
      </p:sp>
      <p:sp>
        <p:nvSpPr>
          <p:cNvPr id="15" name="Text 13"/>
          <p:cNvSpPr/>
          <p:nvPr/>
        </p:nvSpPr>
        <p:spPr>
          <a:xfrm>
            <a:off x="548640" y="3721608"/>
            <a:ext cx="228600" cy="301752"/>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Shape 14"/>
          <p:cNvSpPr/>
          <p:nvPr/>
        </p:nvSpPr>
        <p:spPr>
          <a:xfrm>
            <a:off x="1005840" y="3666744"/>
            <a:ext cx="7680960" cy="987552"/>
          </a:xfrm>
          <a:prstGeom prst="rect">
            <a:avLst/>
          </a:prstGeom>
          <a:solidFill>
            <a:srgbClr val="075F5F"/>
          </a:solidFill>
          <a:ln w="12700">
            <a:solidFill>
              <a:srgbClr val="075F5F"/>
            </a:solidFill>
            <a:prstDash val="solid"/>
          </a:ln>
        </p:spPr>
      </p:sp>
      <p:sp>
        <p:nvSpPr>
          <p:cNvPr id="17" name="Text 15"/>
          <p:cNvSpPr/>
          <p:nvPr/>
        </p:nvSpPr>
        <p:spPr>
          <a:xfrm>
            <a:off x="1097280" y="3721608"/>
            <a:ext cx="7498080"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One question I still have about states of matter is…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A3A5C"/>
          </a:solidFill>
          <a:ln w="12700">
            <a:solidFill>
              <a:srgbClr val="1A3A5C"/>
            </a:solidFill>
            <a:prstDash val="solid"/>
          </a:ln>
        </p:spPr>
      </p:sp>
      <p:sp>
        <p:nvSpPr>
          <p:cNvPr id="3" name="Shape 1"/>
          <p:cNvSpPr/>
          <p:nvPr/>
        </p:nvSpPr>
        <p:spPr>
          <a:xfrm>
            <a:off x="457200" y="228600"/>
            <a:ext cx="1595628" cy="274320"/>
          </a:xfrm>
          <a:prstGeom prst="rect">
            <a:avLst/>
          </a:prstGeom>
          <a:solidFill>
            <a:srgbClr val="F6C90E"/>
          </a:solidFill>
          <a:ln w="12700">
            <a:solidFill>
              <a:srgbClr val="F6C90E"/>
            </a:solidFill>
            <a:prstDash val="solid"/>
          </a:ln>
        </p:spPr>
      </p:sp>
      <p:sp>
        <p:nvSpPr>
          <p:cNvPr id="4" name="Text 2"/>
          <p:cNvSpPr/>
          <p:nvPr/>
        </p:nvSpPr>
        <p:spPr>
          <a:xfrm>
            <a:off x="457200" y="228600"/>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5" name="Text 3"/>
          <p:cNvSpPr/>
          <p:nvPr/>
        </p:nvSpPr>
        <p:spPr>
          <a:xfrm>
            <a:off x="457200" y="640080"/>
            <a:ext cx="8229600" cy="4114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Submission Checklist</a:t>
            </a:r>
            <a:endParaRPr lang="en-US" sz="2600" dirty="0"/>
          </a:p>
        </p:txBody>
      </p:sp>
      <p:sp>
        <p:nvSpPr>
          <p:cNvPr id="6" name="Shape 4"/>
          <p:cNvSpPr/>
          <p:nvPr/>
        </p:nvSpPr>
        <p:spPr>
          <a:xfrm>
            <a:off x="457200" y="1170432"/>
            <a:ext cx="8229600" cy="566928"/>
          </a:xfrm>
          <a:prstGeom prst="rect">
            <a:avLst/>
          </a:prstGeom>
          <a:solidFill>
            <a:srgbClr val="2C4A6E"/>
          </a:solidFill>
          <a:ln w="12700">
            <a:solidFill>
              <a:srgbClr val="2C4A6E"/>
            </a:solidFill>
            <a:prstDash val="solid"/>
          </a:ln>
        </p:spPr>
      </p:sp>
      <p:sp>
        <p:nvSpPr>
          <p:cNvPr id="7" name="Text 5"/>
          <p:cNvSpPr/>
          <p:nvPr/>
        </p:nvSpPr>
        <p:spPr>
          <a:xfrm>
            <a:off x="548640" y="1225296"/>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Three particle diagrams — Part A: solid, liquid, gas all labeled with properties.</a:t>
            </a:r>
            <a:endParaRPr lang="en-US" sz="1300" dirty="0"/>
          </a:p>
        </p:txBody>
      </p:sp>
      <p:sp>
        <p:nvSpPr>
          <p:cNvPr id="8" name="Shape 6"/>
          <p:cNvSpPr/>
          <p:nvPr/>
        </p:nvSpPr>
        <p:spPr>
          <a:xfrm>
            <a:off x="457200" y="1828800"/>
            <a:ext cx="8229600" cy="566928"/>
          </a:xfrm>
          <a:prstGeom prst="rect">
            <a:avLst/>
          </a:prstGeom>
          <a:solidFill>
            <a:srgbClr val="2C4A6E"/>
          </a:solidFill>
          <a:ln w="12700">
            <a:solidFill>
              <a:srgbClr val="2C4A6E"/>
            </a:solidFill>
            <a:prstDash val="solid"/>
          </a:ln>
        </p:spPr>
      </p:sp>
      <p:sp>
        <p:nvSpPr>
          <p:cNvPr id="9" name="Text 7"/>
          <p:cNvSpPr/>
          <p:nvPr/>
        </p:nvSpPr>
        <p:spPr>
          <a:xfrm>
            <a:off x="548640" y="1883664"/>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 comparison questions answered in complete sentences.</a:t>
            </a:r>
            <a:endParaRPr lang="en-US" sz="1300" dirty="0"/>
          </a:p>
        </p:txBody>
      </p:sp>
      <p:sp>
        <p:nvSpPr>
          <p:cNvPr id="10" name="Shape 8"/>
          <p:cNvSpPr/>
          <p:nvPr/>
        </p:nvSpPr>
        <p:spPr>
          <a:xfrm>
            <a:off x="457200" y="2487168"/>
            <a:ext cx="8229600" cy="566928"/>
          </a:xfrm>
          <a:prstGeom prst="rect">
            <a:avLst/>
          </a:prstGeom>
          <a:solidFill>
            <a:srgbClr val="2C4A6E"/>
          </a:solidFill>
          <a:ln w="12700">
            <a:solidFill>
              <a:srgbClr val="2C4A6E"/>
            </a:solidFill>
            <a:prstDash val="solid"/>
          </a:ln>
        </p:spPr>
      </p:sp>
      <p:sp>
        <p:nvSpPr>
          <p:cNvPr id="11" name="Text 9"/>
          <p:cNvSpPr/>
          <p:nvPr/>
        </p:nvSpPr>
        <p:spPr>
          <a:xfrm>
            <a:off x="548640" y="2542032"/>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CER response — Part C: claim, evidence, reasoning about Substance A, 4-6 sentences.</a:t>
            </a:r>
            <a:endParaRPr lang="en-US" sz="1300" dirty="0"/>
          </a:p>
        </p:txBody>
      </p:sp>
      <p:sp>
        <p:nvSpPr>
          <p:cNvPr id="12" name="Shape 10"/>
          <p:cNvSpPr/>
          <p:nvPr/>
        </p:nvSpPr>
        <p:spPr>
          <a:xfrm>
            <a:off x="457200" y="3145536"/>
            <a:ext cx="8229600" cy="566928"/>
          </a:xfrm>
          <a:prstGeom prst="rect">
            <a:avLst/>
          </a:prstGeom>
          <a:solidFill>
            <a:srgbClr val="2C4A6E"/>
          </a:solidFill>
          <a:ln w="12700">
            <a:solidFill>
              <a:srgbClr val="2C4A6E"/>
            </a:solidFill>
            <a:prstDash val="solid"/>
          </a:ln>
        </p:spPr>
      </p:sp>
      <p:sp>
        <p:nvSpPr>
          <p:cNvPr id="13" name="Text 11"/>
          <p:cNvSpPr/>
          <p:nvPr/>
        </p:nvSpPr>
        <p:spPr>
          <a:xfrm>
            <a:off x="548640" y="3200400"/>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all three reflection prompts completed.</a:t>
            </a:r>
            <a:endParaRPr lang="en-US" sz="1300" dirty="0"/>
          </a:p>
        </p:txBody>
      </p:sp>
      <p:sp>
        <p:nvSpPr>
          <p:cNvPr id="14" name="Shape 12"/>
          <p:cNvSpPr/>
          <p:nvPr/>
        </p:nvSpPr>
        <p:spPr>
          <a:xfrm>
            <a:off x="457200" y="3803904"/>
            <a:ext cx="8229600" cy="566928"/>
          </a:xfrm>
          <a:prstGeom prst="rect">
            <a:avLst/>
          </a:prstGeom>
          <a:solidFill>
            <a:srgbClr val="2C4A6E"/>
          </a:solidFill>
          <a:ln w="12700">
            <a:solidFill>
              <a:srgbClr val="2C4A6E"/>
            </a:solidFill>
            <a:prstDash val="solid"/>
          </a:ln>
        </p:spPr>
      </p:sp>
      <p:sp>
        <p:nvSpPr>
          <p:cNvPr id="15" name="Text 13"/>
          <p:cNvSpPr/>
          <p:nvPr/>
        </p:nvSpPr>
        <p:spPr>
          <a:xfrm>
            <a:off x="548640" y="3858768"/>
            <a:ext cx="804672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Vocabulary check — can you define solid, liquid, gas, and explain the volume difference between liquid and gas?</a:t>
            </a:r>
            <a:endParaRPr lang="en-US" sz="1300" dirty="0"/>
          </a:p>
        </p:txBody>
      </p:sp>
      <p:sp>
        <p:nvSpPr>
          <p:cNvPr id="16" name="Shape 14"/>
          <p:cNvSpPr/>
          <p:nvPr/>
        </p:nvSpPr>
        <p:spPr>
          <a:xfrm>
            <a:off x="457200" y="4553712"/>
            <a:ext cx="8229600" cy="347472"/>
          </a:xfrm>
          <a:prstGeom prst="rect">
            <a:avLst/>
          </a:prstGeom>
          <a:solidFill>
            <a:srgbClr val="F07D35"/>
          </a:solidFill>
          <a:ln w="12700">
            <a:solidFill>
              <a:srgbClr val="F07D35"/>
            </a:solidFill>
            <a:prstDash val="solid"/>
          </a:ln>
        </p:spPr>
      </p:sp>
      <p:sp>
        <p:nvSpPr>
          <p:cNvPr id="17" name="Text 15"/>
          <p:cNvSpPr/>
          <p:nvPr/>
        </p:nvSpPr>
        <p:spPr>
          <a:xfrm>
            <a:off x="548640" y="4608576"/>
            <a:ext cx="8046720" cy="23774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Next up: Lesson 4.02 — Investigation: Comparing States of Matter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2026-07-16T18:48:55Z</dcterms:created>
  <dcterms:modified xsi:type="dcterms:W3CDTF">2026-07-16T18:48:55Z</dcterms:modified>
</cp:coreProperties>
</file>