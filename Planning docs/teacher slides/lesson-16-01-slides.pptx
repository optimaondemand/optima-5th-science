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have you experienced? Ask a student to describe what they noticed. Bridge to: Today we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 to write. Ask 2-3 students to share. Do NOT confirm or correct. Say: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follow-up: Ask students to put the concept in their own words. Then ask for a real-life example. Do not move on until two students can state the big idea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 to think. Cold-call one student per question. Follow-up: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check: Use at least TWO of: mass, force, balanced forces, unbalanced forces, opposing, motion. If student writes only one sentence, ask: What does your evidence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751076" cy="274320"/>
          </a:xfrm>
          <a:prstGeom prst="rect">
            <a:avLst/>
          </a:prstGeom>
          <a:solidFill>
            <a:srgbClr val="0E7C7B"/>
          </a:solidFill>
          <a:ln w="12700">
            <a:solidFill>
              <a:srgbClr val="0E7C7B"/>
            </a:solidFill>
            <a:prstDash val="solid"/>
          </a:ln>
        </p:spPr>
      </p:sp>
      <p:sp>
        <p:nvSpPr>
          <p:cNvPr id="3" name="Text 1"/>
          <p:cNvSpPr/>
          <p:nvPr/>
        </p:nvSpPr>
        <p:spPr>
          <a:xfrm>
            <a:off x="365760" y="20116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  UNIT 3  WEEK 16</a:t>
            </a:r>
            <a:endParaRPr lang="en-US" sz="1000" dirty="0"/>
          </a:p>
        </p:txBody>
      </p:sp>
      <p:sp>
        <p:nvSpPr>
          <p:cNvPr id="4" name="Text 2"/>
          <p:cNvSpPr/>
          <p:nvPr/>
        </p:nvSpPr>
        <p:spPr>
          <a:xfrm>
            <a:off x="365760" y="566928"/>
            <a:ext cx="5943600" cy="1737360"/>
          </a:xfrm>
          <a:prstGeom prst="rect">
            <a:avLst/>
          </a:prstGeom>
          <a:noFill/>
          <a:ln/>
        </p:spPr>
        <p:txBody>
          <a:bodyPr wrap="square"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How Do Mass and Opposing Forces Affect Motion?</a:t>
            </a:r>
            <a:endParaRPr lang="en-US" sz="3000" dirty="0"/>
          </a:p>
        </p:txBody>
      </p:sp>
      <p:sp>
        <p:nvSpPr>
          <p:cNvPr id="5" name="Text 3"/>
          <p:cNvSpPr/>
          <p:nvPr/>
        </p:nvSpPr>
        <p:spPr>
          <a:xfrm>
            <a:off x="365760" y="2377440"/>
            <a:ext cx="5943600" cy="310896"/>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Lesson 16.01  |  SC.5.P.13.3</a:t>
            </a:r>
            <a:endParaRPr lang="en-US" sz="1200" dirty="0"/>
          </a:p>
        </p:txBody>
      </p:sp>
      <p:sp>
        <p:nvSpPr>
          <p:cNvPr id="6" name="Shape 4"/>
          <p:cNvSpPr/>
          <p:nvPr/>
        </p:nvSpPr>
        <p:spPr>
          <a:xfrm>
            <a:off x="365760" y="2788920"/>
            <a:ext cx="5943600" cy="329184"/>
          </a:xfrm>
          <a:prstGeom prst="rect">
            <a:avLst/>
          </a:prstGeom>
          <a:solidFill>
            <a:srgbClr val="2E86AB"/>
          </a:solidFill>
          <a:ln w="12700">
            <a:solidFill>
              <a:srgbClr val="2E86AB"/>
            </a:solidFill>
            <a:prstDash val="solid"/>
          </a:ln>
        </p:spPr>
      </p:sp>
      <p:sp>
        <p:nvSpPr>
          <p:cNvPr id="7" name="Text 5"/>
          <p:cNvSpPr/>
          <p:nvPr/>
        </p:nvSpPr>
        <p:spPr>
          <a:xfrm>
            <a:off x="475488" y="2852928"/>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Explain that objects with more mass are less affected by the same force.</a:t>
            </a:r>
            <a:endParaRPr lang="en-US" sz="1100" dirty="0"/>
          </a:p>
        </p:txBody>
      </p:sp>
      <p:sp>
        <p:nvSpPr>
          <p:cNvPr id="8" name="Shape 6"/>
          <p:cNvSpPr/>
          <p:nvPr/>
        </p:nvSpPr>
        <p:spPr>
          <a:xfrm>
            <a:off x="365760" y="3172968"/>
            <a:ext cx="5943600" cy="329184"/>
          </a:xfrm>
          <a:prstGeom prst="rect">
            <a:avLst/>
          </a:prstGeom>
          <a:solidFill>
            <a:srgbClr val="2E86AB"/>
          </a:solidFill>
          <a:ln w="12700">
            <a:solidFill>
              <a:srgbClr val="2E86AB"/>
            </a:solidFill>
            <a:prstDash val="solid"/>
          </a:ln>
        </p:spPr>
      </p:sp>
      <p:sp>
        <p:nvSpPr>
          <p:cNvPr id="9" name="Text 7"/>
          <p:cNvSpPr/>
          <p:nvPr/>
        </p:nvSpPr>
        <p:spPr>
          <a:xfrm>
            <a:off x="475488" y="3236976"/>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Describe balanced forces and how they keep objects from moving.</a:t>
            </a:r>
            <a:endParaRPr lang="en-US" sz="1100" dirty="0"/>
          </a:p>
        </p:txBody>
      </p:sp>
      <p:sp>
        <p:nvSpPr>
          <p:cNvPr id="10" name="Shape 8"/>
          <p:cNvSpPr/>
          <p:nvPr/>
        </p:nvSpPr>
        <p:spPr>
          <a:xfrm>
            <a:off x="365760" y="3557016"/>
            <a:ext cx="5943600" cy="329184"/>
          </a:xfrm>
          <a:prstGeom prst="rect">
            <a:avLst/>
          </a:prstGeom>
          <a:solidFill>
            <a:srgbClr val="2E86AB"/>
          </a:solidFill>
          <a:ln w="12700">
            <a:solidFill>
              <a:srgbClr val="2E86AB"/>
            </a:solidFill>
            <a:prstDash val="solid"/>
          </a:ln>
        </p:spPr>
      </p:sp>
      <p:sp>
        <p:nvSpPr>
          <p:cNvPr id="11" name="Text 9"/>
          <p:cNvSpPr/>
          <p:nvPr/>
        </p:nvSpPr>
        <p:spPr>
          <a:xfrm>
            <a:off x="475488" y="3621024"/>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Tell the difference between balanced and unbalanced forces.</a:t>
            </a:r>
            <a:endParaRPr lang="en-US" sz="1100" dirty="0"/>
          </a:p>
        </p:txBody>
      </p:sp>
      <p:sp>
        <p:nvSpPr>
          <p:cNvPr id="12" name="Shape 10"/>
          <p:cNvSpPr/>
          <p:nvPr/>
        </p:nvSpPr>
        <p:spPr>
          <a:xfrm>
            <a:off x="6492240" y="365760"/>
            <a:ext cx="2286000" cy="4389120"/>
          </a:xfrm>
          <a:prstGeom prst="rect">
            <a:avLst/>
          </a:prstGeom>
          <a:solidFill>
            <a:srgbClr val="0E7C7B"/>
          </a:solidFill>
          <a:ln w="12700">
            <a:solidFill>
              <a:srgbClr val="0E7C7B"/>
            </a:solidFill>
            <a:prstDash val="solid"/>
          </a:ln>
        </p:spPr>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Optima Academy Online  |  5th Grade Science  |  Lesson 16.01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0E7C7B"/>
          </a:solidFill>
          <a:ln w="12700">
            <a:solidFill>
              <a:srgbClr val="0E7C7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566928"/>
            <a:ext cx="8412480" cy="45720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Same Force. Very Different Results.</a:t>
            </a:r>
            <a:endParaRPr lang="en-US" sz="2000" dirty="0"/>
          </a:p>
        </p:txBody>
      </p:sp>
      <p:sp>
        <p:nvSpPr>
          <p:cNvPr id="5" name="Shape 3"/>
          <p:cNvSpPr/>
          <p:nvPr/>
        </p:nvSpPr>
        <p:spPr>
          <a:xfrm>
            <a:off x="365760" y="1097280"/>
            <a:ext cx="8046720" cy="1005840"/>
          </a:xfrm>
          <a:prstGeom prst="rect">
            <a:avLst/>
          </a:prstGeom>
          <a:solidFill>
            <a:srgbClr val="1E3A5C"/>
          </a:solidFill>
          <a:ln w="12700">
            <a:solidFill>
              <a:srgbClr val="1E3A5C"/>
            </a:solidFill>
            <a:prstDash val="solid"/>
          </a:ln>
        </p:spPr>
      </p:sp>
      <p:sp>
        <p:nvSpPr>
          <p:cNvPr id="6" name="Text 4"/>
          <p:cNvSpPr/>
          <p:nvPr/>
        </p:nvSpPr>
        <p:spPr>
          <a:xfrm>
            <a:off x="475488" y="1161288"/>
            <a:ext cx="7827264"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You push a paper cup across the table with two fingers -- it slides easily. You push a heavy textbook with the same two fingers -- it barely budges. Two friends pull a rope with equal force for 30 seconds. Neither is winning. The rope is not moving.</a:t>
            </a:r>
            <a:endParaRPr lang="en-US" sz="1300" dirty="0"/>
          </a:p>
        </p:txBody>
      </p:sp>
      <p:sp>
        <p:nvSpPr>
          <p:cNvPr id="7" name="Shape 5"/>
          <p:cNvSpPr/>
          <p:nvPr/>
        </p:nvSpPr>
        <p:spPr>
          <a:xfrm>
            <a:off x="365760" y="2249424"/>
            <a:ext cx="1645920" cy="274320"/>
          </a:xfrm>
          <a:prstGeom prst="rect">
            <a:avLst/>
          </a:prstGeom>
          <a:solidFill>
            <a:srgbClr val="F6C90E"/>
          </a:solidFill>
          <a:ln w="12700">
            <a:solidFill>
              <a:srgbClr val="F6C90E"/>
            </a:solidFill>
            <a:prstDash val="solid"/>
          </a:ln>
        </p:spPr>
      </p:sp>
      <p:sp>
        <p:nvSpPr>
          <p:cNvPr id="8" name="Text 6"/>
          <p:cNvSpPr/>
          <p:nvPr/>
        </p:nvSpPr>
        <p:spPr>
          <a:xfrm>
            <a:off x="36576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a:t>
            </a:r>
            <a:endParaRPr lang="en-US" sz="1000" dirty="0"/>
          </a:p>
        </p:txBody>
      </p:sp>
      <p:sp>
        <p:nvSpPr>
          <p:cNvPr id="9" name="Shape 7"/>
          <p:cNvSpPr/>
          <p:nvPr/>
        </p:nvSpPr>
        <p:spPr>
          <a:xfrm>
            <a:off x="365760" y="2596896"/>
            <a:ext cx="4023360" cy="914400"/>
          </a:xfrm>
          <a:prstGeom prst="rect">
            <a:avLst/>
          </a:prstGeom>
          <a:solidFill>
            <a:srgbClr val="1E3A5C"/>
          </a:solidFill>
          <a:ln w="12700">
            <a:solidFill>
              <a:srgbClr val="1E3A5C"/>
            </a:solidFill>
            <a:prstDash val="solid"/>
          </a:ln>
        </p:spPr>
      </p:sp>
      <p:sp>
        <p:nvSpPr>
          <p:cNvPr id="10" name="Text 8"/>
          <p:cNvSpPr/>
          <p:nvPr/>
        </p:nvSpPr>
        <p:spPr>
          <a:xfrm>
            <a:off x="475488" y="2660904"/>
            <a:ext cx="380390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Why does the same push barely move a heavy object but easily move a light one?</a:t>
            </a:r>
            <a:endParaRPr lang="en-US" sz="1200" dirty="0"/>
          </a:p>
        </p:txBody>
      </p:sp>
      <p:sp>
        <p:nvSpPr>
          <p:cNvPr id="11" name="Shape 9"/>
          <p:cNvSpPr/>
          <p:nvPr/>
        </p:nvSpPr>
        <p:spPr>
          <a:xfrm>
            <a:off x="4572000" y="2249424"/>
            <a:ext cx="1645920" cy="274320"/>
          </a:xfrm>
          <a:prstGeom prst="rect">
            <a:avLst/>
          </a:prstGeom>
          <a:solidFill>
            <a:srgbClr val="F6C90E"/>
          </a:solidFill>
          <a:ln w="12700">
            <a:solidFill>
              <a:srgbClr val="F6C90E"/>
            </a:solidFill>
            <a:prstDash val="solid"/>
          </a:ln>
        </p:spPr>
      </p:sp>
      <p:sp>
        <p:nvSpPr>
          <p:cNvPr id="12" name="Text 10"/>
          <p:cNvSpPr/>
          <p:nvPr/>
        </p:nvSpPr>
        <p:spPr>
          <a:xfrm>
            <a:off x="457200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WONDER</a:t>
            </a:r>
            <a:endParaRPr lang="en-US" sz="1000" dirty="0"/>
          </a:p>
        </p:txBody>
      </p:sp>
      <p:sp>
        <p:nvSpPr>
          <p:cNvPr id="13" name="Shape 11"/>
          <p:cNvSpPr/>
          <p:nvPr/>
        </p:nvSpPr>
        <p:spPr>
          <a:xfrm>
            <a:off x="4572000" y="2596896"/>
            <a:ext cx="4206240" cy="914400"/>
          </a:xfrm>
          <a:prstGeom prst="rect">
            <a:avLst/>
          </a:prstGeom>
          <a:solidFill>
            <a:srgbClr val="1E3A5C"/>
          </a:solidFill>
          <a:ln w="12700">
            <a:solidFill>
              <a:srgbClr val="1E3A5C"/>
            </a:solidFill>
            <a:prstDash val="solid"/>
          </a:ln>
        </p:spPr>
      </p:sp>
      <p:sp>
        <p:nvSpPr>
          <p:cNvPr id="14" name="Text 12"/>
          <p:cNvSpPr/>
          <p:nvPr/>
        </p:nvSpPr>
        <p:spPr>
          <a:xfrm>
            <a:off x="4681728" y="2660904"/>
            <a:ext cx="398678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If both teams in a tug-of-war pull with equal force, why does the rope not move?</a:t>
            </a:r>
            <a:endParaRPr lang="en-US" sz="12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Engage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07D35"/>
          </a:solidFill>
          <a:ln w="12700">
            <a:solidFill>
              <a:srgbClr val="F07D35"/>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1A1A2E"/>
                </a:solidFill>
                <a:latin typeface="Cambria" pitchFamily="34" charset="0"/>
                <a:ea typeface="Cambria" pitchFamily="34" charset="-122"/>
                <a:cs typeface="Cambria" pitchFamily="34" charset="-120"/>
              </a:rPr>
              <a:t>Before We Start -- Write Your Prediction</a:t>
            </a:r>
            <a:endParaRPr lang="en-US" sz="2000" dirty="0"/>
          </a:p>
        </p:txBody>
      </p:sp>
      <p:sp>
        <p:nvSpPr>
          <p:cNvPr id="5" name="Shape 3"/>
          <p:cNvSpPr/>
          <p:nvPr/>
        </p:nvSpPr>
        <p:spPr>
          <a:xfrm>
            <a:off x="365760" y="1051560"/>
            <a:ext cx="8046720" cy="804672"/>
          </a:xfrm>
          <a:prstGeom prst="rect">
            <a:avLst/>
          </a:prstGeom>
          <a:solidFill>
            <a:srgbClr val="D6EAF8"/>
          </a:solidFill>
          <a:ln w="12700">
            <a:solidFill>
              <a:srgbClr val="D6EAF8"/>
            </a:solidFill>
            <a:prstDash val="solid"/>
          </a:ln>
        </p:spPr>
      </p:sp>
      <p:sp>
        <p:nvSpPr>
          <p:cNvPr id="6" name="Text 4"/>
          <p:cNvSpPr/>
          <p:nvPr/>
        </p:nvSpPr>
        <p:spPr>
          <a:xfrm>
            <a:off x="475488" y="1115568"/>
            <a:ext cx="7827264" cy="676656"/>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Think about two objects: a tennis ball and a heavy textbook. If you push both with the same force (one finger flick), predict what will happen to each. Write at least two sentences comparing what you expect.</a:t>
            </a:r>
            <a:endParaRPr lang="en-US" sz="1300" dirty="0"/>
          </a:p>
        </p:txBody>
      </p:sp>
      <p:sp>
        <p:nvSpPr>
          <p:cNvPr id="7" name="Text 5"/>
          <p:cNvSpPr/>
          <p:nvPr/>
        </p:nvSpPr>
        <p:spPr>
          <a:xfrm>
            <a:off x="365760" y="1920240"/>
            <a:ext cx="8046720" cy="310896"/>
          </a:xfrm>
          <a:prstGeom prst="rect">
            <a:avLst/>
          </a:prstGeom>
          <a:noFill/>
          <a:ln/>
        </p:spPr>
        <p:txBody>
          <a:bodyPr wrap="square" rtlCol="0" anchor="ctr"/>
          <a:lstStyle/>
          <a:p>
            <a:pPr algn="l" indent="0" marL="0">
              <a:buNone/>
            </a:pPr>
            <a:r>
              <a:rPr lang="en-US" sz="1300" b="1" dirty="0">
                <a:solidFill>
                  <a:srgbClr val="2C4A6E"/>
                </a:solidFill>
                <a:latin typeface="Calibri" pitchFamily="34" charset="0"/>
                <a:ea typeface="Calibri" pitchFamily="34" charset="-122"/>
                <a:cs typeface="Calibri" pitchFamily="34" charset="-120"/>
              </a:rPr>
              <a:t>Your Prediction:</a:t>
            </a:r>
            <a:endParaRPr lang="en-US" sz="1300" dirty="0"/>
          </a:p>
        </p:txBody>
      </p:sp>
      <p:sp>
        <p:nvSpPr>
          <p:cNvPr id="8" name="Shape 6"/>
          <p:cNvSpPr/>
          <p:nvPr/>
        </p:nvSpPr>
        <p:spPr>
          <a:xfrm>
            <a:off x="365760" y="2286000"/>
            <a:ext cx="8046720" cy="1737360"/>
          </a:xfrm>
          <a:prstGeom prst="rect">
            <a:avLst/>
          </a:prstGeom>
          <a:solidFill>
            <a:srgbClr val="FFFFFF"/>
          </a:solidFill>
          <a:ln w="12700">
            <a:solidFill>
              <a:srgbClr val="FFFFFF"/>
            </a:solidFill>
            <a:prstDash val="solid"/>
          </a:ln>
        </p:spPr>
      </p:sp>
      <p:sp>
        <p:nvSpPr>
          <p:cNvPr id="9" name="Text 7"/>
          <p:cNvSpPr/>
          <p:nvPr/>
        </p:nvSpPr>
        <p:spPr>
          <a:xfrm>
            <a:off x="475488" y="2350008"/>
            <a:ext cx="7827264" cy="1609344"/>
          </a:xfrm>
          <a:prstGeom prst="rect">
            <a:avLst/>
          </a:prstGeom>
          <a:noFill/>
          <a:ln/>
        </p:spPr>
        <p:txBody>
          <a:bodyPr wrap="square" lIns="0" tIns="0" rIns="0" bIns="0" rtlCol="0" anchor="ctr"/>
          <a:lstStyle/>
          <a:p>
            <a:pPr algn="l" indent="0" marL="0">
              <a:buNone/>
            </a:pPr>
            <a:r>
              <a:rPr lang="en-US" sz="1200" dirty="0">
                <a:solidFill>
                  <a:srgbClr val="5E7B9A"/>
                </a:solidFill>
                <a:latin typeface="Calibri" pitchFamily="34" charset="0"/>
                <a:ea typeface="Calibri" pitchFamily="34" charset="-122"/>
                <a:cs typeface="Calibri" pitchFamily="34" charset="-120"/>
              </a:rPr>
              <a:t>Write in your science notebook. You will return to this at the end.</a:t>
            </a:r>
            <a:endParaRPr lang="en-US" sz="1200" dirty="0"/>
          </a:p>
        </p:txBody>
      </p:sp>
      <p:sp>
        <p:nvSpPr>
          <p:cNvPr id="10" name="Shape 8"/>
          <p:cNvSpPr/>
          <p:nvPr/>
        </p:nvSpPr>
        <p:spPr>
          <a:xfrm>
            <a:off x="0" y="4896612"/>
            <a:ext cx="9144000" cy="246888"/>
          </a:xfrm>
          <a:prstGeom prst="rect">
            <a:avLst/>
          </a:prstGeom>
          <a:solidFill>
            <a:srgbClr val="F6C90E"/>
          </a:solidFill>
          <a:ln w="12700">
            <a:solidFill>
              <a:srgbClr val="F6C90E"/>
            </a:solidFill>
            <a:prstDash val="solid"/>
          </a:ln>
        </p:spPr>
      </p:sp>
      <p:sp>
        <p:nvSpPr>
          <p:cNvPr id="11" name="Text 9"/>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Prediction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mass</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How much stuff is in an object. More mass = harder to move with the same force.</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force</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push or pull. The same force has a smaller effect on bigger masses.</a:t>
            </a:r>
            <a:endParaRPr lang="en-US" sz="1200" dirty="0"/>
          </a:p>
        </p:txBody>
      </p:sp>
      <p:sp>
        <p:nvSpPr>
          <p:cNvPr id="11" name="Shape 9"/>
          <p:cNvSpPr/>
          <p:nvPr/>
        </p:nvSpPr>
        <p:spPr>
          <a:xfrm>
            <a:off x="365760" y="2834640"/>
            <a:ext cx="4114800" cy="1645920"/>
          </a:xfrm>
          <a:prstGeom prst="rect">
            <a:avLst/>
          </a:prstGeom>
          <a:solidFill>
            <a:srgbClr val="2E86AB"/>
          </a:solidFill>
          <a:ln w="12700">
            <a:solidFill>
              <a:srgbClr val="2E86AB"/>
            </a:solidFill>
            <a:prstDash val="solid"/>
          </a:ln>
        </p:spPr>
      </p:sp>
      <p:sp>
        <p:nvSpPr>
          <p:cNvPr id="12" name="Text 10"/>
          <p:cNvSpPr/>
          <p:nvPr/>
        </p:nvSpPr>
        <p:spPr>
          <a:xfrm>
            <a:off x="47548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balanced forces</a:t>
            </a:r>
            <a:endParaRPr lang="en-US" sz="1400" dirty="0"/>
          </a:p>
        </p:txBody>
      </p:sp>
      <p:sp>
        <p:nvSpPr>
          <p:cNvPr id="13" name="Text 11"/>
          <p:cNvSpPr/>
          <p:nvPr/>
        </p:nvSpPr>
        <p:spPr>
          <a:xfrm>
            <a:off x="47548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Two equal forces pushing or pulling in opposite directions. They cancel out -- no motion.</a:t>
            </a:r>
            <a:endParaRPr lang="en-US" sz="1200" dirty="0"/>
          </a:p>
        </p:txBody>
      </p:sp>
      <p:sp>
        <p:nvSpPr>
          <p:cNvPr id="14" name="Shape 12"/>
          <p:cNvSpPr/>
          <p:nvPr/>
        </p:nvSpPr>
        <p:spPr>
          <a:xfrm>
            <a:off x="4663440" y="2834640"/>
            <a:ext cx="4114800" cy="1645920"/>
          </a:xfrm>
          <a:prstGeom prst="rect">
            <a:avLst/>
          </a:prstGeom>
          <a:solidFill>
            <a:srgbClr val="2E86AB"/>
          </a:solidFill>
          <a:ln w="12700">
            <a:solidFill>
              <a:srgbClr val="2E86AB"/>
            </a:solidFill>
            <a:prstDash val="solid"/>
          </a:ln>
        </p:spPr>
      </p:sp>
      <p:sp>
        <p:nvSpPr>
          <p:cNvPr id="15" name="Text 13"/>
          <p:cNvSpPr/>
          <p:nvPr/>
        </p:nvSpPr>
        <p:spPr>
          <a:xfrm>
            <a:off x="477316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unbalanced forces</a:t>
            </a:r>
            <a:endParaRPr lang="en-US" sz="1400" dirty="0"/>
          </a:p>
        </p:txBody>
      </p:sp>
      <p:sp>
        <p:nvSpPr>
          <p:cNvPr id="16" name="Text 14"/>
          <p:cNvSpPr/>
          <p:nvPr/>
        </p:nvSpPr>
        <p:spPr>
          <a:xfrm>
            <a:off x="477316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Forces that do not cancel out. The object moves in the direction of the bigger force.</a:t>
            </a:r>
            <a:endParaRPr lang="en-US" sz="1200" dirty="0"/>
          </a:p>
        </p:txBody>
      </p:sp>
      <p:sp>
        <p:nvSpPr>
          <p:cNvPr id="17" name="Shape 15"/>
          <p:cNvSpPr/>
          <p:nvPr/>
        </p:nvSpPr>
        <p:spPr>
          <a:xfrm>
            <a:off x="0" y="4896612"/>
            <a:ext cx="9144000" cy="246888"/>
          </a:xfrm>
          <a:prstGeom prst="rect">
            <a:avLst/>
          </a:prstGeom>
          <a:solidFill>
            <a:srgbClr val="F6C90E"/>
          </a:solidFill>
          <a:ln w="12700">
            <a:solidFill>
              <a:srgbClr val="F6C90E"/>
            </a:solidFill>
            <a:prstDash val="solid"/>
          </a:ln>
        </p:spPr>
      </p:sp>
      <p:sp>
        <p:nvSpPr>
          <p:cNvPr id="18" name="Text 1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Vocabulary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 (cont.)</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opposing</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Going in opposite directions. Two forces can oppose each other and cancel out.</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motion</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When an object moves. Motion only happens when forces are UNBALANCED.</a:t>
            </a:r>
            <a:endParaRPr lang="en-US" sz="1200" dirty="0"/>
          </a:p>
        </p:txBody>
      </p:sp>
      <p:sp>
        <p:nvSpPr>
          <p:cNvPr id="11" name="Shape 9"/>
          <p:cNvSpPr/>
          <p:nvPr/>
        </p:nvSpPr>
        <p:spPr>
          <a:xfrm>
            <a:off x="365760" y="2834640"/>
            <a:ext cx="8412480" cy="1645920"/>
          </a:xfrm>
          <a:prstGeom prst="rect">
            <a:avLst/>
          </a:prstGeom>
          <a:solidFill>
            <a:srgbClr val="0A2240"/>
          </a:solidFill>
          <a:ln w="12700">
            <a:solidFill>
              <a:srgbClr val="0A2240"/>
            </a:solidFill>
            <a:prstDash val="solid"/>
          </a:ln>
        </p:spPr>
      </p:sp>
      <p:sp>
        <p:nvSpPr>
          <p:cNvPr id="12" name="Text 10"/>
          <p:cNvSpPr/>
          <p:nvPr/>
        </p:nvSpPr>
        <p:spPr>
          <a:xfrm>
            <a:off x="475488" y="2898648"/>
            <a:ext cx="8193024" cy="1517904"/>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REVIEW RULE:</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Opposite charges attract. Like charges repel.</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More force = more change in motion.</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Balanced forces = no motion.</a:t>
            </a:r>
            <a:endParaRPr lang="en-US" sz="14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Vocabulary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1A3A5C"/>
          </a:solidFill>
          <a:ln w="12700">
            <a:solidFill>
              <a:srgbClr val="1A3A5C"/>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The Big Idea</a:t>
            </a:r>
            <a:endParaRPr lang="en-US" sz="2100" dirty="0"/>
          </a:p>
        </p:txBody>
      </p:sp>
      <p:sp>
        <p:nvSpPr>
          <p:cNvPr id="5" name="Shape 3"/>
          <p:cNvSpPr/>
          <p:nvPr/>
        </p:nvSpPr>
        <p:spPr>
          <a:xfrm>
            <a:off x="365760" y="1051560"/>
            <a:ext cx="8412480" cy="1005840"/>
          </a:xfrm>
          <a:prstGeom prst="rect">
            <a:avLst/>
          </a:prstGeom>
          <a:solidFill>
            <a:srgbClr val="085E5D"/>
          </a:solidFill>
          <a:ln w="12700">
            <a:solidFill>
              <a:srgbClr val="085E5D"/>
            </a:solidFill>
            <a:prstDash val="solid"/>
          </a:ln>
        </p:spPr>
      </p:sp>
      <p:sp>
        <p:nvSpPr>
          <p:cNvPr id="6" name="Text 4"/>
          <p:cNvSpPr/>
          <p:nvPr/>
        </p:nvSpPr>
        <p:spPr>
          <a:xfrm>
            <a:off x="475488" y="1115568"/>
            <a:ext cx="8193024"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Objects with more mass are less affected by the same force. Balanced forces cancel out and produce NO motion. Unbalanced forces cause objects to move in the direction of the stronger force.</a:t>
            </a:r>
            <a:endParaRPr lang="en-US" sz="1400" dirty="0"/>
          </a:p>
        </p:txBody>
      </p:sp>
      <p:sp>
        <p:nvSpPr>
          <p:cNvPr id="7" name="Text 5"/>
          <p:cNvSpPr/>
          <p:nvPr/>
        </p:nvSpPr>
        <p:spPr>
          <a:xfrm>
            <a:off x="365760" y="2194560"/>
            <a:ext cx="8412480" cy="292608"/>
          </a:xfrm>
          <a:prstGeom prst="rect">
            <a:avLst/>
          </a:prstGeom>
          <a:noFill/>
          <a:ln/>
        </p:spPr>
        <p:txBody>
          <a:bodyPr wrap="square" rtlCol="0" anchor="ctr"/>
          <a:lstStyle/>
          <a:p>
            <a:pPr algn="l" indent="0" marL="0">
              <a:buNone/>
            </a:pPr>
            <a:r>
              <a:rPr lang="en-US" sz="1100" b="1" dirty="0">
                <a:solidFill>
                  <a:srgbClr val="F6C90E"/>
                </a:solidFill>
                <a:latin typeface="Calibri" pitchFamily="34" charset="0"/>
                <a:ea typeface="Calibri" pitchFamily="34" charset="-122"/>
                <a:cs typeface="Calibri" pitchFamily="34" charset="-120"/>
              </a:rPr>
              <a:t>STOP AND THINK</a:t>
            </a:r>
            <a:endParaRPr lang="en-US" sz="1100" dirty="0"/>
          </a:p>
        </p:txBody>
      </p:sp>
      <p:sp>
        <p:nvSpPr>
          <p:cNvPr id="8" name="Shape 6"/>
          <p:cNvSpPr/>
          <p:nvPr/>
        </p:nvSpPr>
        <p:spPr>
          <a:xfrm>
            <a:off x="365760" y="2542032"/>
            <a:ext cx="4114800" cy="1463040"/>
          </a:xfrm>
          <a:prstGeom prst="rect">
            <a:avLst/>
          </a:prstGeom>
          <a:solidFill>
            <a:srgbClr val="085E5D"/>
          </a:solidFill>
          <a:ln w="12700">
            <a:solidFill>
              <a:srgbClr val="085E5D"/>
            </a:solidFill>
            <a:prstDash val="solid"/>
          </a:ln>
        </p:spPr>
      </p:sp>
      <p:sp>
        <p:nvSpPr>
          <p:cNvPr id="9" name="Text 7"/>
          <p:cNvSpPr/>
          <p:nvPr/>
        </p:nvSpPr>
        <p:spPr>
          <a:xfrm>
            <a:off x="47548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"Imagine two cars next to each other -- a tiny toy car and a real car. You give each one a finger push. What happens?"</a:t>
            </a:r>
            <a:endParaRPr lang="en-US" sz="1300" dirty="0"/>
          </a:p>
        </p:txBody>
      </p:sp>
      <p:sp>
        <p:nvSpPr>
          <p:cNvPr id="10" name="Shape 8"/>
          <p:cNvSpPr/>
          <p:nvPr/>
        </p:nvSpPr>
        <p:spPr>
          <a:xfrm>
            <a:off x="4663440" y="2542032"/>
            <a:ext cx="4114800" cy="1463040"/>
          </a:xfrm>
          <a:prstGeom prst="rect">
            <a:avLst/>
          </a:prstGeom>
          <a:solidFill>
            <a:srgbClr val="085E5D"/>
          </a:solidFill>
          <a:ln w="12700">
            <a:solidFill>
              <a:srgbClr val="085E5D"/>
            </a:solidFill>
            <a:prstDash val="solid"/>
          </a:ln>
        </p:spPr>
      </p:sp>
      <p:sp>
        <p:nvSpPr>
          <p:cNvPr id="11" name="Text 9"/>
          <p:cNvSpPr/>
          <p:nvPr/>
        </p:nvSpPr>
        <p:spPr>
          <a:xfrm>
            <a:off x="477316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book sits on a table without falling. Gravity is pulling it DOWN. What must be pushing UP on it?"</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Key Concept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More Mass = Harder to Move</a:t>
            </a:r>
            <a:endParaRPr lang="en-US" sz="1700" dirty="0"/>
          </a:p>
        </p:txBody>
      </p:sp>
      <p:sp>
        <p:nvSpPr>
          <p:cNvPr id="3" name="Shape 1"/>
          <p:cNvSpPr/>
          <p:nvPr/>
        </p:nvSpPr>
        <p:spPr>
          <a:xfrm>
            <a:off x="365760" y="548640"/>
            <a:ext cx="8412480" cy="1170432"/>
          </a:xfrm>
          <a:prstGeom prst="rect">
            <a:avLst/>
          </a:prstGeom>
          <a:solidFill>
            <a:srgbClr val="D6EAF8"/>
          </a:solidFill>
          <a:ln w="12700">
            <a:solidFill>
              <a:srgbClr val="D6EAF8"/>
            </a:solidFill>
            <a:prstDash val="solid"/>
          </a:ln>
        </p:spPr>
      </p:sp>
      <p:sp>
        <p:nvSpPr>
          <p:cNvPr id="4" name="Text 2"/>
          <p:cNvSpPr/>
          <p:nvPr/>
        </p:nvSpPr>
        <p:spPr>
          <a:xfrm>
            <a:off x="475488" y="612648"/>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The same gentle push can send a feather flying across the room -- but barely move a bowling ball. Mass is how much stuff is in an object. More mass means more resistance to being moved by the same force.</a:t>
            </a:r>
            <a:endParaRPr lang="en-US" sz="1200" dirty="0"/>
          </a:p>
        </p:txBody>
      </p:sp>
      <p:sp>
        <p:nvSpPr>
          <p:cNvPr id="5" name="Text 3"/>
          <p:cNvSpPr/>
          <p:nvPr/>
        </p:nvSpPr>
        <p:spPr>
          <a:xfrm>
            <a:off x="365760" y="1792224"/>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Balanced Forces = No Motion</a:t>
            </a:r>
            <a:endParaRPr lang="en-US" sz="1700" dirty="0"/>
          </a:p>
        </p:txBody>
      </p:sp>
      <p:sp>
        <p:nvSpPr>
          <p:cNvPr id="6" name="Shape 4"/>
          <p:cNvSpPr/>
          <p:nvPr/>
        </p:nvSpPr>
        <p:spPr>
          <a:xfrm>
            <a:off x="365760" y="2176272"/>
            <a:ext cx="8412480" cy="1170432"/>
          </a:xfrm>
          <a:prstGeom prst="rect">
            <a:avLst/>
          </a:prstGeom>
          <a:solidFill>
            <a:srgbClr val="D6EAF8"/>
          </a:solidFill>
          <a:ln w="12700">
            <a:solidFill>
              <a:srgbClr val="D6EAF8"/>
            </a:solidFill>
            <a:prstDash val="solid"/>
          </a:ln>
        </p:spPr>
      </p:sp>
      <p:sp>
        <p:nvSpPr>
          <p:cNvPr id="7" name="Text 5"/>
          <p:cNvSpPr/>
          <p:nvPr/>
        </p:nvSpPr>
        <p:spPr>
          <a:xfrm>
            <a:off x="475488" y="2240280"/>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Balanced forces are two equal forces pushing in opposite directions. They cancel each other out -- the object does not move. A tied tug-of-war is a perfect example. As soon as one side pulls harder, forces become unbalanced and the rope moves.</a:t>
            </a:r>
            <a:endParaRPr lang="en-US" sz="1200" dirty="0"/>
          </a:p>
        </p:txBody>
      </p:sp>
      <p:sp>
        <p:nvSpPr>
          <p:cNvPr id="8" name="Text 6"/>
          <p:cNvSpPr/>
          <p:nvPr/>
        </p:nvSpPr>
        <p:spPr>
          <a:xfrm>
            <a:off x="365760" y="3419856"/>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Putting It All Together</a:t>
            </a:r>
            <a:endParaRPr lang="en-US" sz="1700" dirty="0"/>
          </a:p>
        </p:txBody>
      </p:sp>
      <p:sp>
        <p:nvSpPr>
          <p:cNvPr id="9" name="Shape 7"/>
          <p:cNvSpPr/>
          <p:nvPr/>
        </p:nvSpPr>
        <p:spPr>
          <a:xfrm>
            <a:off x="365760" y="3803904"/>
            <a:ext cx="8412480" cy="1170432"/>
          </a:xfrm>
          <a:prstGeom prst="rect">
            <a:avLst/>
          </a:prstGeom>
          <a:solidFill>
            <a:srgbClr val="D6EAF8"/>
          </a:solidFill>
          <a:ln w="12700">
            <a:solidFill>
              <a:srgbClr val="D6EAF8"/>
            </a:solidFill>
            <a:prstDash val="solid"/>
          </a:ln>
        </p:spPr>
      </p:sp>
      <p:sp>
        <p:nvSpPr>
          <p:cNvPr id="10" name="Text 8"/>
          <p:cNvSpPr/>
          <p:nvPr/>
        </p:nvSpPr>
        <p:spPr>
          <a:xfrm>
            <a:off x="475488" y="3867912"/>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Three things decide whether something moves: the SIZE of the force, the MASS of the object, and whether other forces are opposing it. Big force + light object + nothing in the way = lots of motion. Same force + heavy object + equal opposing force = no motion.</a:t>
            </a:r>
            <a:endParaRPr lang="en-US" sz="1200" dirty="0"/>
          </a:p>
        </p:txBody>
      </p:sp>
      <p:sp>
        <p:nvSpPr>
          <p:cNvPr id="11" name="Shape 9"/>
          <p:cNvSpPr/>
          <p:nvPr/>
        </p:nvSpPr>
        <p:spPr>
          <a:xfrm>
            <a:off x="0" y="4896612"/>
            <a:ext cx="9144000" cy="246888"/>
          </a:xfrm>
          <a:prstGeom prst="rect">
            <a:avLst/>
          </a:prstGeom>
          <a:solidFill>
            <a:srgbClr val="F6C90E"/>
          </a:solidFill>
          <a:ln w="12700">
            <a:solidFill>
              <a:srgbClr val="F6C90E"/>
            </a:solidFill>
            <a:prstDash val="solid"/>
          </a:ln>
        </p:spPr>
      </p:sp>
      <p:sp>
        <p:nvSpPr>
          <p:cNvPr id="12" name="Text 10"/>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Content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800" b="1" dirty="0">
                <a:solidFill>
                  <a:srgbClr val="1A3A5C"/>
                </a:solidFill>
                <a:latin typeface="Cambria" pitchFamily="34" charset="0"/>
                <a:ea typeface="Cambria" pitchFamily="34" charset="-122"/>
                <a:cs typeface="Cambria" pitchFamily="34" charset="-120"/>
              </a:rPr>
              <a:t>How It Works -- Visual Overview</a:t>
            </a:r>
            <a:endParaRPr lang="en-US" sz="1800" dirty="0"/>
          </a:p>
        </p:txBody>
      </p:sp>
      <p:sp>
        <p:nvSpPr>
          <p:cNvPr id="3" name="Shape 1"/>
          <p:cNvSpPr/>
          <p:nvPr/>
        </p:nvSpPr>
        <p:spPr>
          <a:xfrm>
            <a:off x="365760" y="621792"/>
            <a:ext cx="2807208" cy="4206240"/>
          </a:xfrm>
          <a:prstGeom prst="rect">
            <a:avLst/>
          </a:prstGeom>
          <a:solidFill>
            <a:srgbClr val="D6EAF8"/>
          </a:solidFill>
          <a:ln w="12700">
            <a:solidFill>
              <a:srgbClr val="D6EAF8"/>
            </a:solidFill>
            <a:prstDash val="solid"/>
          </a:ln>
        </p:spPr>
      </p:sp>
      <p:sp>
        <p:nvSpPr>
          <p:cNvPr id="4" name="Text 2"/>
          <p:cNvSpPr/>
          <p:nvPr/>
        </p:nvSpPr>
        <p:spPr>
          <a:xfrm>
            <a:off x="365760"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MASS Matters</a:t>
            </a:r>
            <a:endParaRPr lang="en-US" sz="1200" dirty="0"/>
          </a:p>
        </p:txBody>
      </p:sp>
      <p:sp>
        <p:nvSpPr>
          <p:cNvPr id="5" name="Text 3"/>
          <p:cNvSpPr/>
          <p:nvPr/>
        </p:nvSpPr>
        <p:spPr>
          <a:xfrm>
            <a:off x="457200"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Same push. Different mass. Different result.</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Light object: moves a lot.</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Heavy object: barely moves.</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Examples: tennis ball vs textbook; toy car vs real car.</a:t>
            </a:r>
            <a:endParaRPr lang="en-US" sz="1100" dirty="0"/>
          </a:p>
        </p:txBody>
      </p:sp>
      <p:sp>
        <p:nvSpPr>
          <p:cNvPr id="6" name="Shape 4"/>
          <p:cNvSpPr/>
          <p:nvPr/>
        </p:nvSpPr>
        <p:spPr>
          <a:xfrm>
            <a:off x="3172968" y="621792"/>
            <a:ext cx="2807208" cy="4206240"/>
          </a:xfrm>
          <a:prstGeom prst="rect">
            <a:avLst/>
          </a:prstGeom>
          <a:solidFill>
            <a:srgbClr val="D6EAF8"/>
          </a:solidFill>
          <a:ln w="12700">
            <a:solidFill>
              <a:srgbClr val="D6EAF8"/>
            </a:solidFill>
            <a:prstDash val="solid"/>
          </a:ln>
        </p:spPr>
      </p:sp>
      <p:sp>
        <p:nvSpPr>
          <p:cNvPr id="7" name="Text 5"/>
          <p:cNvSpPr/>
          <p:nvPr/>
        </p:nvSpPr>
        <p:spPr>
          <a:xfrm>
            <a:off x="3172968"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BALANCED Forces</a:t>
            </a:r>
            <a:endParaRPr lang="en-US" sz="1200" dirty="0"/>
          </a:p>
        </p:txBody>
      </p:sp>
      <p:sp>
        <p:nvSpPr>
          <p:cNvPr id="8" name="Text 6"/>
          <p:cNvSpPr/>
          <p:nvPr/>
        </p:nvSpPr>
        <p:spPr>
          <a:xfrm>
            <a:off x="3264408"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Two equal forces in opposite directions.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They cancel out.</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No motion.</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Example: tied tug-of-war.</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Book on table (gravity down, table up).</a:t>
            </a:r>
            <a:endParaRPr lang="en-US" sz="1100" dirty="0"/>
          </a:p>
        </p:txBody>
      </p:sp>
      <p:sp>
        <p:nvSpPr>
          <p:cNvPr id="9" name="Shape 7"/>
          <p:cNvSpPr/>
          <p:nvPr/>
        </p:nvSpPr>
        <p:spPr>
          <a:xfrm>
            <a:off x="5980176" y="621792"/>
            <a:ext cx="2807208" cy="4206240"/>
          </a:xfrm>
          <a:prstGeom prst="rect">
            <a:avLst/>
          </a:prstGeom>
          <a:solidFill>
            <a:srgbClr val="D6EAF8"/>
          </a:solidFill>
          <a:ln w="12700">
            <a:solidFill>
              <a:srgbClr val="D6EAF8"/>
            </a:solidFill>
            <a:prstDash val="solid"/>
          </a:ln>
        </p:spPr>
      </p:sp>
      <p:sp>
        <p:nvSpPr>
          <p:cNvPr id="10" name="Text 8"/>
          <p:cNvSpPr/>
          <p:nvPr/>
        </p:nvSpPr>
        <p:spPr>
          <a:xfrm>
            <a:off x="5980176"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UNBALANCED Forces</a:t>
            </a:r>
            <a:endParaRPr lang="en-US" sz="1200" dirty="0"/>
          </a:p>
        </p:txBody>
      </p:sp>
      <p:sp>
        <p:nvSpPr>
          <p:cNvPr id="11" name="Text 9"/>
          <p:cNvSpPr/>
          <p:nvPr/>
        </p:nvSpPr>
        <p:spPr>
          <a:xfrm>
            <a:off x="6071616"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Forces are NOT equal.</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Object moves toward the stronger force.</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Example: one team pulls harder in tug-of-war.</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Table pulled out from under book.</a:t>
            </a:r>
            <a:endParaRPr lang="en-US" sz="11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Diagram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A7A4B"/>
          </a:solidFill>
          <a:ln w="12700">
            <a:solidFill>
              <a:srgbClr val="2A7A4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Predict What Will Happen -- Three Scenarios</a:t>
            </a:r>
            <a:endParaRPr lang="en-US" sz="2000" dirty="0"/>
          </a:p>
        </p:txBody>
      </p:sp>
      <p:sp>
        <p:nvSpPr>
          <p:cNvPr id="5" name="Text 3"/>
          <p:cNvSpPr/>
          <p:nvPr/>
        </p:nvSpPr>
        <p:spPr>
          <a:xfrm>
            <a:off x="365760" y="1051560"/>
            <a:ext cx="8412480" cy="292608"/>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For each scenario: predict whether the object moves. Identify which rule applies -- mass or balanced/unbalanced forces.</a:t>
            </a:r>
            <a:endParaRPr lang="en-US" sz="1200" dirty="0"/>
          </a:p>
        </p:txBody>
      </p:sp>
      <p:sp>
        <p:nvSpPr>
          <p:cNvPr id="6" name="Shape 4"/>
          <p:cNvSpPr/>
          <p:nvPr/>
        </p:nvSpPr>
        <p:spPr>
          <a:xfrm>
            <a:off x="365760" y="1408176"/>
            <a:ext cx="8412480" cy="914400"/>
          </a:xfrm>
          <a:prstGeom prst="rect">
            <a:avLst/>
          </a:prstGeom>
          <a:solidFill>
            <a:srgbClr val="1E3A5C"/>
          </a:solidFill>
          <a:ln w="12700">
            <a:solidFill>
              <a:srgbClr val="1E3A5C"/>
            </a:solidFill>
            <a:prstDash val="solid"/>
          </a:ln>
        </p:spPr>
      </p:sp>
      <p:sp>
        <p:nvSpPr>
          <p:cNvPr id="7" name="Text 5"/>
          <p:cNvSpPr/>
          <p:nvPr/>
        </p:nvSpPr>
        <p:spPr>
          <a:xfrm>
            <a:off x="475488" y="1472184"/>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Scenario A: A kid pushes a tennis ball across the table with one finger. Then they push the same finger against a stack of 5 textbooks.</a:t>
            </a:r>
            <a:endParaRPr lang="en-US" sz="1300" dirty="0"/>
          </a:p>
        </p:txBody>
      </p:sp>
      <p:sp>
        <p:nvSpPr>
          <p:cNvPr id="8" name="Shape 6"/>
          <p:cNvSpPr/>
          <p:nvPr/>
        </p:nvSpPr>
        <p:spPr>
          <a:xfrm>
            <a:off x="365760" y="2432304"/>
            <a:ext cx="8412480" cy="914400"/>
          </a:xfrm>
          <a:prstGeom prst="rect">
            <a:avLst/>
          </a:prstGeom>
          <a:solidFill>
            <a:srgbClr val="1E3A5C"/>
          </a:solidFill>
          <a:ln w="12700">
            <a:solidFill>
              <a:srgbClr val="1E3A5C"/>
            </a:solidFill>
            <a:prstDash val="solid"/>
          </a:ln>
        </p:spPr>
      </p:sp>
      <p:sp>
        <p:nvSpPr>
          <p:cNvPr id="9" name="Text 7"/>
          <p:cNvSpPr/>
          <p:nvPr/>
        </p:nvSpPr>
        <p:spPr>
          <a:xfrm>
            <a:off x="475488" y="2496312"/>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Scenario B: Two kids of equal size sit on opposite ends of a rope. Both pull as hard as they can. The rope does not move for 30 seconds.</a:t>
            </a:r>
            <a:endParaRPr lang="en-US" sz="1300" dirty="0"/>
          </a:p>
        </p:txBody>
      </p:sp>
      <p:sp>
        <p:nvSpPr>
          <p:cNvPr id="10" name="Shape 8"/>
          <p:cNvSpPr/>
          <p:nvPr/>
        </p:nvSpPr>
        <p:spPr>
          <a:xfrm>
            <a:off x="365760" y="3456432"/>
            <a:ext cx="8412480" cy="914400"/>
          </a:xfrm>
          <a:prstGeom prst="rect">
            <a:avLst/>
          </a:prstGeom>
          <a:solidFill>
            <a:srgbClr val="1E3A5C"/>
          </a:solidFill>
          <a:ln w="12700">
            <a:solidFill>
              <a:srgbClr val="1E3A5C"/>
            </a:solidFill>
            <a:prstDash val="solid"/>
          </a:ln>
        </p:spPr>
      </p:sp>
      <p:sp>
        <p:nvSpPr>
          <p:cNvPr id="11" name="Text 9"/>
          <p:cNvSpPr/>
          <p:nvPr/>
        </p:nvSpPr>
        <p:spPr>
          <a:xfrm>
            <a:off x="475488" y="3520440"/>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Scenario C: A book is sitting on a table. Suddenly the table is pulled out from under it.</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Investigate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Data Table -- Copy Into Your Notebook</a:t>
            </a:r>
            <a:endParaRPr lang="en-US" sz="1700" dirty="0"/>
          </a:p>
        </p:txBody>
      </p:sp>
      <p:sp>
        <p:nvSpPr>
          <p:cNvPr id="3" name="Shape 1"/>
          <p:cNvSpPr/>
          <p:nvPr/>
        </p:nvSpPr>
        <p:spPr>
          <a:xfrm>
            <a:off x="365760" y="621792"/>
            <a:ext cx="1828800" cy="347472"/>
          </a:xfrm>
          <a:prstGeom prst="rect">
            <a:avLst/>
          </a:prstGeom>
          <a:solidFill>
            <a:srgbClr val="1A3A5C"/>
          </a:solidFill>
          <a:ln w="12700">
            <a:solidFill>
              <a:srgbClr val="1A3A5C"/>
            </a:solidFill>
            <a:prstDash val="solid"/>
          </a:ln>
        </p:spPr>
      </p:sp>
      <p:sp>
        <p:nvSpPr>
          <p:cNvPr id="4" name="Text 2"/>
          <p:cNvSpPr/>
          <p:nvPr/>
        </p:nvSpPr>
        <p:spPr>
          <a:xfrm>
            <a:off x="411480" y="62179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5" name="Shape 3"/>
          <p:cNvSpPr/>
          <p:nvPr/>
        </p:nvSpPr>
        <p:spPr>
          <a:xfrm>
            <a:off x="2194560" y="621792"/>
            <a:ext cx="1828800" cy="347472"/>
          </a:xfrm>
          <a:prstGeom prst="rect">
            <a:avLst/>
          </a:prstGeom>
          <a:solidFill>
            <a:srgbClr val="1A3A5C"/>
          </a:solidFill>
          <a:ln w="12700">
            <a:solidFill>
              <a:srgbClr val="1A3A5C"/>
            </a:solidFill>
            <a:prstDash val="solid"/>
          </a:ln>
        </p:spPr>
      </p:sp>
      <p:sp>
        <p:nvSpPr>
          <p:cNvPr id="6" name="Text 4"/>
          <p:cNvSpPr/>
          <p:nvPr/>
        </p:nvSpPr>
        <p:spPr>
          <a:xfrm>
            <a:off x="2240280" y="62179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Object moves? (Yes/No)</a:t>
            </a:r>
            <a:endParaRPr lang="en-US" sz="1000" dirty="0"/>
          </a:p>
        </p:txBody>
      </p:sp>
      <p:sp>
        <p:nvSpPr>
          <p:cNvPr id="7" name="Shape 5"/>
          <p:cNvSpPr/>
          <p:nvPr/>
        </p:nvSpPr>
        <p:spPr>
          <a:xfrm>
            <a:off x="4023360" y="621792"/>
            <a:ext cx="1828800" cy="347472"/>
          </a:xfrm>
          <a:prstGeom prst="rect">
            <a:avLst/>
          </a:prstGeom>
          <a:solidFill>
            <a:srgbClr val="1A3A5C"/>
          </a:solidFill>
          <a:ln w="12700">
            <a:solidFill>
              <a:srgbClr val="1A3A5C"/>
            </a:solidFill>
            <a:prstDash val="solid"/>
          </a:ln>
        </p:spPr>
      </p:sp>
      <p:sp>
        <p:nvSpPr>
          <p:cNvPr id="8" name="Text 6"/>
          <p:cNvSpPr/>
          <p:nvPr/>
        </p:nvSpPr>
        <p:spPr>
          <a:xfrm>
            <a:off x="4069080" y="62179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Which rule?</a:t>
            </a:r>
            <a:endParaRPr lang="en-US" sz="1000" dirty="0"/>
          </a:p>
        </p:txBody>
      </p:sp>
      <p:sp>
        <p:nvSpPr>
          <p:cNvPr id="9" name="Shape 7"/>
          <p:cNvSpPr/>
          <p:nvPr/>
        </p:nvSpPr>
        <p:spPr>
          <a:xfrm>
            <a:off x="5852160" y="621792"/>
            <a:ext cx="3291840" cy="347472"/>
          </a:xfrm>
          <a:prstGeom prst="rect">
            <a:avLst/>
          </a:prstGeom>
          <a:solidFill>
            <a:srgbClr val="1A3A5C"/>
          </a:solidFill>
          <a:ln w="12700">
            <a:solidFill>
              <a:srgbClr val="1A3A5C"/>
            </a:solidFill>
            <a:prstDash val="solid"/>
          </a:ln>
        </p:spPr>
      </p:sp>
      <p:sp>
        <p:nvSpPr>
          <p:cNvPr id="10" name="Text 8"/>
          <p:cNvSpPr/>
          <p:nvPr/>
        </p:nvSpPr>
        <p:spPr>
          <a:xfrm>
            <a:off x="5897880" y="621792"/>
            <a:ext cx="32004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p>
        </p:txBody>
      </p:sp>
      <p:sp>
        <p:nvSpPr>
          <p:cNvPr id="11" name="Shape 9"/>
          <p:cNvSpPr/>
          <p:nvPr/>
        </p:nvSpPr>
        <p:spPr>
          <a:xfrm>
            <a:off x="365760" y="1005840"/>
            <a:ext cx="1828800" cy="914400"/>
          </a:xfrm>
          <a:prstGeom prst="rect">
            <a:avLst/>
          </a:prstGeom>
          <a:solidFill>
            <a:srgbClr val="D6EAF8"/>
          </a:solidFill>
          <a:ln w="12700">
            <a:solidFill>
              <a:srgbClr val="BDD7EE"/>
            </a:solidFill>
            <a:prstDash val="solid"/>
          </a:ln>
        </p:spPr>
      </p:sp>
      <p:sp>
        <p:nvSpPr>
          <p:cNvPr id="12" name="Text 10"/>
          <p:cNvSpPr/>
          <p:nvPr/>
        </p:nvSpPr>
        <p:spPr>
          <a:xfrm>
            <a:off x="420624" y="10058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A. Finger push -- ball vs books</a:t>
            </a:r>
            <a:endParaRPr lang="en-US" sz="1000" dirty="0"/>
          </a:p>
        </p:txBody>
      </p:sp>
      <p:sp>
        <p:nvSpPr>
          <p:cNvPr id="13" name="Shape 11"/>
          <p:cNvSpPr/>
          <p:nvPr/>
        </p:nvSpPr>
        <p:spPr>
          <a:xfrm>
            <a:off x="2194560" y="1005840"/>
            <a:ext cx="1828800" cy="914400"/>
          </a:xfrm>
          <a:prstGeom prst="rect">
            <a:avLst/>
          </a:prstGeom>
          <a:solidFill>
            <a:srgbClr val="D6EAF8"/>
          </a:solidFill>
          <a:ln w="12700">
            <a:solidFill>
              <a:srgbClr val="BDD7EE"/>
            </a:solidFill>
            <a:prstDash val="solid"/>
          </a:ln>
        </p:spPr>
      </p:sp>
      <p:sp>
        <p:nvSpPr>
          <p:cNvPr id="14" name="Text 12"/>
          <p:cNvSpPr/>
          <p:nvPr/>
        </p:nvSpPr>
        <p:spPr>
          <a:xfrm>
            <a:off x="2249424" y="10058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Ball: Yes. Books: barely.</a:t>
            </a:r>
            <a:endParaRPr lang="en-US" sz="1000" dirty="0"/>
          </a:p>
        </p:txBody>
      </p:sp>
      <p:sp>
        <p:nvSpPr>
          <p:cNvPr id="15" name="Shape 13"/>
          <p:cNvSpPr/>
          <p:nvPr/>
        </p:nvSpPr>
        <p:spPr>
          <a:xfrm>
            <a:off x="4023360" y="1005840"/>
            <a:ext cx="1828800" cy="914400"/>
          </a:xfrm>
          <a:prstGeom prst="rect">
            <a:avLst/>
          </a:prstGeom>
          <a:solidFill>
            <a:srgbClr val="D6EAF8"/>
          </a:solidFill>
          <a:ln w="12700">
            <a:solidFill>
              <a:srgbClr val="BDD7EE"/>
            </a:solidFill>
            <a:prstDash val="solid"/>
          </a:ln>
        </p:spPr>
      </p:sp>
      <p:sp>
        <p:nvSpPr>
          <p:cNvPr id="16" name="Text 14"/>
          <p:cNvSpPr/>
          <p:nvPr/>
        </p:nvSpPr>
        <p:spPr>
          <a:xfrm>
            <a:off x="4078224" y="10058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Mass</a:t>
            </a:r>
            <a:endParaRPr lang="en-US" sz="1000" dirty="0"/>
          </a:p>
        </p:txBody>
      </p:sp>
      <p:sp>
        <p:nvSpPr>
          <p:cNvPr id="17" name="Shape 15"/>
          <p:cNvSpPr/>
          <p:nvPr/>
        </p:nvSpPr>
        <p:spPr>
          <a:xfrm>
            <a:off x="5852160" y="1005840"/>
            <a:ext cx="3291840" cy="914400"/>
          </a:xfrm>
          <a:prstGeom prst="rect">
            <a:avLst/>
          </a:prstGeom>
          <a:solidFill>
            <a:srgbClr val="D6EAF8"/>
          </a:solidFill>
          <a:ln w="12700">
            <a:solidFill>
              <a:srgbClr val="BDD7EE"/>
            </a:solidFill>
            <a:prstDash val="solid"/>
          </a:ln>
        </p:spPr>
      </p:sp>
      <p:sp>
        <p:nvSpPr>
          <p:cNvPr id="18" name="Text 16"/>
          <p:cNvSpPr/>
          <p:nvPr/>
        </p:nvSpPr>
        <p:spPr>
          <a:xfrm>
            <a:off x="5907024" y="1005840"/>
            <a:ext cx="31821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Same force, very different masses -- heavy books resist more.</a:t>
            </a:r>
            <a:endParaRPr lang="en-US" sz="1000" dirty="0"/>
          </a:p>
        </p:txBody>
      </p:sp>
      <p:sp>
        <p:nvSpPr>
          <p:cNvPr id="19" name="Shape 17"/>
          <p:cNvSpPr/>
          <p:nvPr/>
        </p:nvSpPr>
        <p:spPr>
          <a:xfrm>
            <a:off x="365760" y="1920240"/>
            <a:ext cx="1828800" cy="914400"/>
          </a:xfrm>
          <a:prstGeom prst="rect">
            <a:avLst/>
          </a:prstGeom>
          <a:solidFill>
            <a:srgbClr val="FFFFFF"/>
          </a:solidFill>
          <a:ln w="12700">
            <a:solidFill>
              <a:srgbClr val="BDD7EE"/>
            </a:solidFill>
            <a:prstDash val="solid"/>
          </a:ln>
        </p:spPr>
      </p:sp>
      <p:sp>
        <p:nvSpPr>
          <p:cNvPr id="20" name="Text 18"/>
          <p:cNvSpPr/>
          <p:nvPr/>
        </p:nvSpPr>
        <p:spPr>
          <a:xfrm>
            <a:off x="420624" y="19202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 Tied tug of war</a:t>
            </a:r>
            <a:endParaRPr lang="en-US" sz="1000" dirty="0"/>
          </a:p>
        </p:txBody>
      </p:sp>
      <p:sp>
        <p:nvSpPr>
          <p:cNvPr id="21" name="Shape 19"/>
          <p:cNvSpPr/>
          <p:nvPr/>
        </p:nvSpPr>
        <p:spPr>
          <a:xfrm>
            <a:off x="2194560" y="1920240"/>
            <a:ext cx="1828800" cy="914400"/>
          </a:xfrm>
          <a:prstGeom prst="rect">
            <a:avLst/>
          </a:prstGeom>
          <a:solidFill>
            <a:srgbClr val="FFFFFF"/>
          </a:solidFill>
          <a:ln w="12700">
            <a:solidFill>
              <a:srgbClr val="BDD7EE"/>
            </a:solidFill>
            <a:prstDash val="solid"/>
          </a:ln>
        </p:spPr>
      </p:sp>
      <p:sp>
        <p:nvSpPr>
          <p:cNvPr id="22" name="Text 20"/>
          <p:cNvSpPr/>
          <p:nvPr/>
        </p:nvSpPr>
        <p:spPr>
          <a:xfrm>
            <a:off x="2249424" y="19202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No</a:t>
            </a:r>
            <a:endParaRPr lang="en-US" sz="1000" dirty="0"/>
          </a:p>
        </p:txBody>
      </p:sp>
      <p:sp>
        <p:nvSpPr>
          <p:cNvPr id="23" name="Shape 21"/>
          <p:cNvSpPr/>
          <p:nvPr/>
        </p:nvSpPr>
        <p:spPr>
          <a:xfrm>
            <a:off x="4023360" y="1920240"/>
            <a:ext cx="1828800" cy="914400"/>
          </a:xfrm>
          <a:prstGeom prst="rect">
            <a:avLst/>
          </a:prstGeom>
          <a:solidFill>
            <a:srgbClr val="FFFFFF"/>
          </a:solidFill>
          <a:ln w="12700">
            <a:solidFill>
              <a:srgbClr val="BDD7EE"/>
            </a:solidFill>
            <a:prstDash val="solid"/>
          </a:ln>
        </p:spPr>
      </p:sp>
      <p:sp>
        <p:nvSpPr>
          <p:cNvPr id="24" name="Text 22"/>
          <p:cNvSpPr/>
          <p:nvPr/>
        </p:nvSpPr>
        <p:spPr>
          <a:xfrm>
            <a:off x="4078224" y="19202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Balanced Forces</a:t>
            </a:r>
            <a:endParaRPr lang="en-US" sz="1000" dirty="0"/>
          </a:p>
        </p:txBody>
      </p:sp>
      <p:sp>
        <p:nvSpPr>
          <p:cNvPr id="25" name="Shape 23"/>
          <p:cNvSpPr/>
          <p:nvPr/>
        </p:nvSpPr>
        <p:spPr>
          <a:xfrm>
            <a:off x="5852160" y="1920240"/>
            <a:ext cx="3291840" cy="914400"/>
          </a:xfrm>
          <a:prstGeom prst="rect">
            <a:avLst/>
          </a:prstGeom>
          <a:solidFill>
            <a:srgbClr val="FFFFFF"/>
          </a:solidFill>
          <a:ln w="12700">
            <a:solidFill>
              <a:srgbClr val="BDD7EE"/>
            </a:solidFill>
            <a:prstDash val="solid"/>
          </a:ln>
        </p:spPr>
      </p:sp>
      <p:sp>
        <p:nvSpPr>
          <p:cNvPr id="26" name="Text 24"/>
          <p:cNvSpPr/>
          <p:nvPr/>
        </p:nvSpPr>
        <p:spPr>
          <a:xfrm>
            <a:off x="5907024" y="1920240"/>
            <a:ext cx="31821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Equal pulls in opposite directions cancel out -- no motion.</a:t>
            </a:r>
            <a:endParaRPr lang="en-US" sz="1000" dirty="0"/>
          </a:p>
        </p:txBody>
      </p:sp>
      <p:sp>
        <p:nvSpPr>
          <p:cNvPr id="27" name="Shape 25"/>
          <p:cNvSpPr/>
          <p:nvPr/>
        </p:nvSpPr>
        <p:spPr>
          <a:xfrm>
            <a:off x="365760" y="2834640"/>
            <a:ext cx="1828800" cy="914400"/>
          </a:xfrm>
          <a:prstGeom prst="rect">
            <a:avLst/>
          </a:prstGeom>
          <a:solidFill>
            <a:srgbClr val="D6EAF8"/>
          </a:solidFill>
          <a:ln w="12700">
            <a:solidFill>
              <a:srgbClr val="BDD7EE"/>
            </a:solidFill>
            <a:prstDash val="solid"/>
          </a:ln>
        </p:spPr>
      </p:sp>
      <p:sp>
        <p:nvSpPr>
          <p:cNvPr id="28" name="Text 26"/>
          <p:cNvSpPr/>
          <p:nvPr/>
        </p:nvSpPr>
        <p:spPr>
          <a:xfrm>
            <a:off x="420624" y="28346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C. Table pulled out</a:t>
            </a:r>
            <a:endParaRPr lang="en-US" sz="1000" dirty="0"/>
          </a:p>
        </p:txBody>
      </p:sp>
      <p:sp>
        <p:nvSpPr>
          <p:cNvPr id="29" name="Shape 27"/>
          <p:cNvSpPr/>
          <p:nvPr/>
        </p:nvSpPr>
        <p:spPr>
          <a:xfrm>
            <a:off x="2194560" y="2834640"/>
            <a:ext cx="1828800" cy="914400"/>
          </a:xfrm>
          <a:prstGeom prst="rect">
            <a:avLst/>
          </a:prstGeom>
          <a:solidFill>
            <a:srgbClr val="D6EAF8"/>
          </a:solidFill>
          <a:ln w="12700">
            <a:solidFill>
              <a:srgbClr val="BDD7EE"/>
            </a:solidFill>
            <a:prstDash val="solid"/>
          </a:ln>
        </p:spPr>
      </p:sp>
      <p:sp>
        <p:nvSpPr>
          <p:cNvPr id="30" name="Text 28"/>
          <p:cNvSpPr/>
          <p:nvPr/>
        </p:nvSpPr>
        <p:spPr>
          <a:xfrm>
            <a:off x="2249424" y="28346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Yes (falls down)</a:t>
            </a:r>
            <a:endParaRPr lang="en-US" sz="1000" dirty="0"/>
          </a:p>
        </p:txBody>
      </p:sp>
      <p:sp>
        <p:nvSpPr>
          <p:cNvPr id="31" name="Shape 29"/>
          <p:cNvSpPr/>
          <p:nvPr/>
        </p:nvSpPr>
        <p:spPr>
          <a:xfrm>
            <a:off x="4023360" y="2834640"/>
            <a:ext cx="1828800" cy="914400"/>
          </a:xfrm>
          <a:prstGeom prst="rect">
            <a:avLst/>
          </a:prstGeom>
          <a:solidFill>
            <a:srgbClr val="D6EAF8"/>
          </a:solidFill>
          <a:ln w="12700">
            <a:solidFill>
              <a:srgbClr val="BDD7EE"/>
            </a:solidFill>
            <a:prstDash val="solid"/>
          </a:ln>
        </p:spPr>
      </p:sp>
      <p:sp>
        <p:nvSpPr>
          <p:cNvPr id="32" name="Text 30"/>
          <p:cNvSpPr/>
          <p:nvPr/>
        </p:nvSpPr>
        <p:spPr>
          <a:xfrm>
            <a:off x="4078224" y="28346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Unbalanced Forces</a:t>
            </a:r>
            <a:endParaRPr lang="en-US" sz="1000" dirty="0"/>
          </a:p>
        </p:txBody>
      </p:sp>
      <p:sp>
        <p:nvSpPr>
          <p:cNvPr id="33" name="Shape 31"/>
          <p:cNvSpPr/>
          <p:nvPr/>
        </p:nvSpPr>
        <p:spPr>
          <a:xfrm>
            <a:off x="5852160" y="2834640"/>
            <a:ext cx="3291840" cy="914400"/>
          </a:xfrm>
          <a:prstGeom prst="rect">
            <a:avLst/>
          </a:prstGeom>
          <a:solidFill>
            <a:srgbClr val="D6EAF8"/>
          </a:solidFill>
          <a:ln w="12700">
            <a:solidFill>
              <a:srgbClr val="BDD7EE"/>
            </a:solidFill>
            <a:prstDash val="solid"/>
          </a:ln>
        </p:spPr>
      </p:sp>
      <p:sp>
        <p:nvSpPr>
          <p:cNvPr id="34" name="Text 32"/>
          <p:cNvSpPr/>
          <p:nvPr/>
        </p:nvSpPr>
        <p:spPr>
          <a:xfrm>
            <a:off x="5907024" y="2834640"/>
            <a:ext cx="31821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Without table pushing up, gravity is no longer balanced -- falls.</a:t>
            </a:r>
            <a:endParaRPr lang="en-US" sz="1000" dirty="0"/>
          </a:p>
        </p:txBody>
      </p:sp>
      <p:sp>
        <p:nvSpPr>
          <p:cNvPr id="35" name="Shape 33"/>
          <p:cNvSpPr/>
          <p:nvPr/>
        </p:nvSpPr>
        <p:spPr>
          <a:xfrm>
            <a:off x="0" y="4896612"/>
            <a:ext cx="9144000" cy="246888"/>
          </a:xfrm>
          <a:prstGeom prst="rect">
            <a:avLst/>
          </a:prstGeom>
          <a:solidFill>
            <a:srgbClr val="F6C90E"/>
          </a:solidFill>
          <a:ln w="12700">
            <a:solidFill>
              <a:srgbClr val="F6C90E"/>
            </a:solidFill>
            <a:prstDash val="solid"/>
          </a:ln>
        </p:spPr>
      </p:sp>
      <p:sp>
        <p:nvSpPr>
          <p:cNvPr id="36" name="Text 3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Data Table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2000" b="1" dirty="0">
                <a:solidFill>
                  <a:srgbClr val="1A3A5C"/>
                </a:solidFill>
                <a:latin typeface="Cambria" pitchFamily="34" charset="0"/>
                <a:ea typeface="Cambria" pitchFamily="34" charset="-122"/>
                <a:cs typeface="Cambria" pitchFamily="34" charset="-120"/>
              </a:rPr>
              <a:t>Record Your Thinking</a:t>
            </a:r>
            <a:endParaRPr lang="en-US" sz="2000" dirty="0"/>
          </a:p>
        </p:txBody>
      </p:sp>
      <p:sp>
        <p:nvSpPr>
          <p:cNvPr id="3" name="Text 1"/>
          <p:cNvSpPr/>
          <p:nvPr/>
        </p:nvSpPr>
        <p:spPr>
          <a:xfrm>
            <a:off x="365760" y="566928"/>
            <a:ext cx="8412480" cy="274320"/>
          </a:xfrm>
          <a:prstGeom prst="rect">
            <a:avLst/>
          </a:prstGeom>
          <a:noFill/>
          <a:ln/>
        </p:spPr>
        <p:txBody>
          <a:bodyPr wrap="square" rtlCol="0" anchor="ctr"/>
          <a:lstStyle/>
          <a:p>
            <a:pPr algn="l" indent="0" marL="0">
              <a:buNone/>
            </a:pPr>
            <a:r>
              <a:rPr lang="en-US" sz="1200" dirty="0">
                <a:solidFill>
                  <a:srgbClr val="2C4A6E"/>
                </a:solidFill>
                <a:latin typeface="Calibri" pitchFamily="34" charset="0"/>
                <a:ea typeface="Calibri" pitchFamily="34" charset="-122"/>
                <a:cs typeface="Calibri" pitchFamily="34" charset="-120"/>
              </a:rPr>
              <a:t>Answer in complete sentences. Use vocabulary words.</a:t>
            </a:r>
            <a:endParaRPr lang="en-US" sz="1200" dirty="0"/>
          </a:p>
        </p:txBody>
      </p:sp>
      <p:sp>
        <p:nvSpPr>
          <p:cNvPr id="4" name="Shape 2"/>
          <p:cNvSpPr/>
          <p:nvPr/>
        </p:nvSpPr>
        <p:spPr>
          <a:xfrm>
            <a:off x="365760" y="914400"/>
            <a:ext cx="292608" cy="292608"/>
          </a:xfrm>
          <a:prstGeom prst="rect">
            <a:avLst/>
          </a:prstGeom>
          <a:solidFill>
            <a:srgbClr val="0E7C7B"/>
          </a:solidFill>
          <a:ln w="12700">
            <a:solidFill>
              <a:srgbClr val="0E7C7B"/>
            </a:solidFill>
            <a:prstDash val="solid"/>
          </a:ln>
        </p:spPr>
      </p:sp>
      <p:sp>
        <p:nvSpPr>
          <p:cNvPr id="5" name="Text 3"/>
          <p:cNvSpPr/>
          <p:nvPr/>
        </p:nvSpPr>
        <p:spPr>
          <a:xfrm>
            <a:off x="365760" y="9144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768096" y="914400"/>
            <a:ext cx="8010144" cy="1207008"/>
          </a:xfrm>
          <a:prstGeom prst="rect">
            <a:avLst/>
          </a:prstGeom>
          <a:solidFill>
            <a:srgbClr val="D6EAF8"/>
          </a:solidFill>
          <a:ln w="12700">
            <a:solidFill>
              <a:srgbClr val="D6EAF8"/>
            </a:solidFill>
            <a:prstDash val="solid"/>
          </a:ln>
        </p:spPr>
      </p:sp>
      <p:sp>
        <p:nvSpPr>
          <p:cNvPr id="7" name="Text 5"/>
          <p:cNvSpPr/>
          <p:nvPr/>
        </p:nvSpPr>
        <p:spPr>
          <a:xfrm>
            <a:off x="877824" y="9784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Scenario A (finger push), why does the same finger easily move the ball but barely move the books? Use the word mass.</a:t>
            </a:r>
            <a:endParaRPr lang="en-US" sz="1200" dirty="0"/>
          </a:p>
        </p:txBody>
      </p:sp>
      <p:sp>
        <p:nvSpPr>
          <p:cNvPr id="8" name="Shape 6"/>
          <p:cNvSpPr/>
          <p:nvPr/>
        </p:nvSpPr>
        <p:spPr>
          <a:xfrm>
            <a:off x="365760" y="2286000"/>
            <a:ext cx="292608" cy="292608"/>
          </a:xfrm>
          <a:prstGeom prst="rect">
            <a:avLst/>
          </a:prstGeom>
          <a:solidFill>
            <a:srgbClr val="0E7C7B"/>
          </a:solidFill>
          <a:ln w="12700">
            <a:solidFill>
              <a:srgbClr val="0E7C7B"/>
            </a:solidFill>
            <a:prstDash val="solid"/>
          </a:ln>
        </p:spPr>
      </p:sp>
      <p:sp>
        <p:nvSpPr>
          <p:cNvPr id="9" name="Text 7"/>
          <p:cNvSpPr/>
          <p:nvPr/>
        </p:nvSpPr>
        <p:spPr>
          <a:xfrm>
            <a:off x="365760" y="22860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768096" y="2286000"/>
            <a:ext cx="8010144" cy="1207008"/>
          </a:xfrm>
          <a:prstGeom prst="rect">
            <a:avLst/>
          </a:prstGeom>
          <a:solidFill>
            <a:srgbClr val="D6EAF8"/>
          </a:solidFill>
          <a:ln w="12700">
            <a:solidFill>
              <a:srgbClr val="D6EAF8"/>
            </a:solidFill>
            <a:prstDash val="solid"/>
          </a:ln>
        </p:spPr>
      </p:sp>
      <p:sp>
        <p:nvSpPr>
          <p:cNvPr id="11" name="Text 9"/>
          <p:cNvSpPr/>
          <p:nvPr/>
        </p:nvSpPr>
        <p:spPr>
          <a:xfrm>
            <a:off x="877824" y="23500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Scenario B (tied tug of war), why does the rope not move even though both kids are pulling hard? Use the words balanced and opposite.</a:t>
            </a:r>
            <a:endParaRPr lang="en-US" sz="1200" dirty="0"/>
          </a:p>
        </p:txBody>
      </p:sp>
      <p:sp>
        <p:nvSpPr>
          <p:cNvPr id="12" name="Shape 10"/>
          <p:cNvSpPr/>
          <p:nvPr/>
        </p:nvSpPr>
        <p:spPr>
          <a:xfrm>
            <a:off x="365760" y="3657600"/>
            <a:ext cx="292608" cy="292608"/>
          </a:xfrm>
          <a:prstGeom prst="rect">
            <a:avLst/>
          </a:prstGeom>
          <a:solidFill>
            <a:srgbClr val="0E7C7B"/>
          </a:solidFill>
          <a:ln w="12700">
            <a:solidFill>
              <a:srgbClr val="0E7C7B"/>
            </a:solidFill>
            <a:prstDash val="solid"/>
          </a:ln>
        </p:spPr>
      </p:sp>
      <p:sp>
        <p:nvSpPr>
          <p:cNvPr id="13" name="Text 11"/>
          <p:cNvSpPr/>
          <p:nvPr/>
        </p:nvSpPr>
        <p:spPr>
          <a:xfrm>
            <a:off x="365760"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768096" y="3657600"/>
            <a:ext cx="8010144" cy="1207008"/>
          </a:xfrm>
          <a:prstGeom prst="rect">
            <a:avLst/>
          </a:prstGeom>
          <a:solidFill>
            <a:srgbClr val="D6EAF8"/>
          </a:solidFill>
          <a:ln w="12700">
            <a:solidFill>
              <a:srgbClr val="D6EAF8"/>
            </a:solidFill>
            <a:prstDash val="solid"/>
          </a:ln>
        </p:spPr>
      </p:sp>
      <p:sp>
        <p:nvSpPr>
          <p:cNvPr id="15" name="Text 13"/>
          <p:cNvSpPr/>
          <p:nvPr/>
        </p:nvSpPr>
        <p:spPr>
          <a:xfrm>
            <a:off x="877824" y="37216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Scenario C (table pulled out), what happens to the book? Why? Use the words balanced and unbalanced.</a:t>
            </a:r>
            <a:endParaRPr lang="en-US" sz="12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Record Your Thinking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E86AB"/>
          </a:solidFill>
          <a:ln w="12700">
            <a:solidFill>
              <a:srgbClr val="2E86A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Defend Your Thinking with Evidence</a:t>
            </a:r>
            <a:endParaRPr lang="en-US" sz="2000" dirty="0"/>
          </a:p>
        </p:txBody>
      </p:sp>
      <p:sp>
        <p:nvSpPr>
          <p:cNvPr id="5" name="Shape 3"/>
          <p:cNvSpPr/>
          <p:nvPr/>
        </p:nvSpPr>
        <p:spPr>
          <a:xfrm>
            <a:off x="365760" y="1051560"/>
            <a:ext cx="8412480" cy="1051560"/>
          </a:xfrm>
          <a:prstGeom prst="rect">
            <a:avLst/>
          </a:prstGeom>
          <a:solidFill>
            <a:srgbClr val="1E3A5C"/>
          </a:solidFill>
          <a:ln w="12700">
            <a:solidFill>
              <a:srgbClr val="1E3A5C"/>
            </a:solidFill>
            <a:prstDash val="solid"/>
          </a:ln>
        </p:spPr>
      </p:sp>
      <p:sp>
        <p:nvSpPr>
          <p:cNvPr id="6" name="Text 4"/>
          <p:cNvSpPr/>
          <p:nvPr/>
        </p:nvSpPr>
        <p:spPr>
          <a:xfrm>
            <a:off x="475488" y="1115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classmate says: if something is just sitting there, no forces are acting on it. Disagree using what you learned about balanced forces."</a:t>
            </a:r>
            <a:endParaRPr lang="en-US" sz="1300" dirty="0"/>
          </a:p>
        </p:txBody>
      </p:sp>
      <p:sp>
        <p:nvSpPr>
          <p:cNvPr id="7" name="Shape 5"/>
          <p:cNvSpPr/>
          <p:nvPr/>
        </p:nvSpPr>
        <p:spPr>
          <a:xfrm>
            <a:off x="365760" y="2194560"/>
            <a:ext cx="8412480" cy="1051560"/>
          </a:xfrm>
          <a:prstGeom prst="rect">
            <a:avLst/>
          </a:prstGeom>
          <a:solidFill>
            <a:srgbClr val="1E3A5C"/>
          </a:solidFill>
          <a:ln w="12700">
            <a:solidFill>
              <a:srgbClr val="1E3A5C"/>
            </a:solidFill>
            <a:prstDash val="solid"/>
          </a:ln>
        </p:spPr>
      </p:sp>
      <p:sp>
        <p:nvSpPr>
          <p:cNvPr id="8" name="Text 6"/>
          <p:cNvSpPr/>
          <p:nvPr/>
        </p:nvSpPr>
        <p:spPr>
          <a:xfrm>
            <a:off x="475488" y="2258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"Why is it easier to roll a soccer ball than a bowling ball with the same kick?"</a:t>
            </a:r>
            <a:endParaRPr lang="en-US" sz="1300" dirty="0"/>
          </a:p>
        </p:txBody>
      </p:sp>
      <p:sp>
        <p:nvSpPr>
          <p:cNvPr id="9" name="Text 7"/>
          <p:cNvSpPr/>
          <p:nvPr/>
        </p:nvSpPr>
        <p:spPr>
          <a:xfrm>
            <a:off x="365760" y="338328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0" name="Shape 8"/>
          <p:cNvSpPr/>
          <p:nvPr/>
        </p:nvSpPr>
        <p:spPr>
          <a:xfrm>
            <a:off x="365760" y="3712464"/>
            <a:ext cx="4114800" cy="640080"/>
          </a:xfrm>
          <a:prstGeom prst="rect">
            <a:avLst/>
          </a:prstGeom>
          <a:solidFill>
            <a:srgbClr val="1A3A5C"/>
          </a:solidFill>
          <a:ln w="12700">
            <a:solidFill>
              <a:srgbClr val="1A3A5C"/>
            </a:solidFill>
            <a:prstDash val="solid"/>
          </a:ln>
        </p:spPr>
      </p:sp>
      <p:sp>
        <p:nvSpPr>
          <p:cNvPr id="11" name="Text 9"/>
          <p:cNvSpPr/>
          <p:nvPr/>
        </p:nvSpPr>
        <p:spPr>
          <a:xfrm>
            <a:off x="47548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 disagree because balanced forces are always acting on objects at rest, which means..."</a:t>
            </a:r>
            <a:endParaRPr lang="en-US" sz="1100" dirty="0"/>
          </a:p>
        </p:txBody>
      </p:sp>
      <p:sp>
        <p:nvSpPr>
          <p:cNvPr id="12" name="Shape 10"/>
          <p:cNvSpPr/>
          <p:nvPr/>
        </p:nvSpPr>
        <p:spPr>
          <a:xfrm>
            <a:off x="4663440" y="3712464"/>
            <a:ext cx="4114800" cy="640080"/>
          </a:xfrm>
          <a:prstGeom prst="rect">
            <a:avLst/>
          </a:prstGeom>
          <a:solidFill>
            <a:srgbClr val="1A3A5C"/>
          </a:solidFill>
          <a:ln w="12700">
            <a:solidFill>
              <a:srgbClr val="1A3A5C"/>
            </a:solidFill>
            <a:prstDash val="solid"/>
          </a:ln>
        </p:spPr>
      </p:sp>
      <p:sp>
        <p:nvSpPr>
          <p:cNvPr id="13" name="Text 11"/>
          <p:cNvSpPr/>
          <p:nvPr/>
        </p:nvSpPr>
        <p:spPr>
          <a:xfrm>
            <a:off x="477316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"It is easier to roll a soccer ball because mass affects how much the same force changes motion, which means..."</a:t>
            </a:r>
            <a:endParaRPr lang="en-US" sz="1100" dirty="0"/>
          </a:p>
        </p:txBody>
      </p:sp>
      <p:sp>
        <p:nvSpPr>
          <p:cNvPr id="14" name="Shape 12"/>
          <p:cNvSpPr/>
          <p:nvPr/>
        </p:nvSpPr>
        <p:spPr>
          <a:xfrm>
            <a:off x="0" y="4896612"/>
            <a:ext cx="9144000" cy="246888"/>
          </a:xfrm>
          <a:prstGeom prst="rect">
            <a:avLst/>
          </a:prstGeom>
          <a:solidFill>
            <a:srgbClr val="F6C90E"/>
          </a:solidFill>
          <a:ln w="12700">
            <a:solidFill>
              <a:srgbClr val="F6C90E"/>
            </a:solidFill>
            <a:prstDash val="solid"/>
          </a:ln>
        </p:spPr>
      </p:sp>
      <p:sp>
        <p:nvSpPr>
          <p:cNvPr id="15" name="Text 13"/>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Discuss &amp; Defend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Claim  |  Evidence  |  Reasoning</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Aim for 4-6 sentences total. Use 2+ lesson vocab words.</a:t>
            </a:r>
            <a:endParaRPr lang="en-US" sz="1200" dirty="0"/>
          </a:p>
        </p:txBody>
      </p:sp>
      <p:sp>
        <p:nvSpPr>
          <p:cNvPr id="6" name="Shape 4"/>
          <p:cNvSpPr/>
          <p:nvPr/>
        </p:nvSpPr>
        <p:spPr>
          <a:xfrm>
            <a:off x="365760" y="1389888"/>
            <a:ext cx="8412480" cy="877824"/>
          </a:xfrm>
          <a:prstGeom prst="rect">
            <a:avLst/>
          </a:prstGeom>
          <a:solidFill>
            <a:srgbClr val="2E86AB"/>
          </a:solidFill>
          <a:ln w="12700">
            <a:solidFill>
              <a:srgbClr val="2E86AB"/>
            </a:solidFill>
            <a:prstDash val="solid"/>
          </a:ln>
        </p:spPr>
      </p:sp>
      <p:sp>
        <p:nvSpPr>
          <p:cNvPr id="7" name="Text 5"/>
          <p:cNvSpPr/>
          <p:nvPr/>
        </p:nvSpPr>
        <p:spPr>
          <a:xfrm>
            <a:off x="475488" y="1453896"/>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CLAIM -- How do mass and balanced forces affect motion? One clear sentence. No starter.</a:t>
            </a:r>
            <a:endParaRPr lang="en-US" sz="1300" dirty="0"/>
          </a:p>
        </p:txBody>
      </p:sp>
      <p:sp>
        <p:nvSpPr>
          <p:cNvPr id="8" name="Shape 6"/>
          <p:cNvSpPr/>
          <p:nvPr/>
        </p:nvSpPr>
        <p:spPr>
          <a:xfrm>
            <a:off x="365760" y="2340864"/>
            <a:ext cx="8412480" cy="877824"/>
          </a:xfrm>
          <a:prstGeom prst="rect">
            <a:avLst/>
          </a:prstGeom>
          <a:solidFill>
            <a:srgbClr val="2A7A4B"/>
          </a:solidFill>
          <a:ln w="12700">
            <a:solidFill>
              <a:srgbClr val="2A7A4B"/>
            </a:solidFill>
            <a:prstDash val="solid"/>
          </a:ln>
        </p:spPr>
      </p:sp>
      <p:sp>
        <p:nvSpPr>
          <p:cNvPr id="9" name="Text 7"/>
          <p:cNvSpPr/>
          <p:nvPr/>
        </p:nvSpPr>
        <p:spPr>
          <a:xfrm>
            <a:off x="475488" y="2404872"/>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EVIDENCE -- What did each scenario show? At least two pieces of evidence from your predictions.</a:t>
            </a:r>
            <a:endParaRPr lang="en-US" sz="1300" dirty="0"/>
          </a:p>
        </p:txBody>
      </p:sp>
      <p:sp>
        <p:nvSpPr>
          <p:cNvPr id="10" name="Shape 8"/>
          <p:cNvSpPr/>
          <p:nvPr/>
        </p:nvSpPr>
        <p:spPr>
          <a:xfrm>
            <a:off x="365760" y="3291840"/>
            <a:ext cx="8412480" cy="877824"/>
          </a:xfrm>
          <a:prstGeom prst="rect">
            <a:avLst/>
          </a:prstGeom>
          <a:solidFill>
            <a:srgbClr val="0E7C7B"/>
          </a:solidFill>
          <a:ln w="12700">
            <a:solidFill>
              <a:srgbClr val="0E7C7B"/>
            </a:solidFill>
            <a:prstDash val="solid"/>
          </a:ln>
        </p:spPr>
      </p:sp>
      <p:sp>
        <p:nvSpPr>
          <p:cNvPr id="11" name="Text 9"/>
          <p:cNvSpPr/>
          <p:nvPr/>
        </p:nvSpPr>
        <p:spPr>
          <a:xfrm>
            <a:off x="475488" y="3355848"/>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REASONING -- Why does this fit what we know?</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Starter: "This makes sense because objects with more mass resist motion more, and balanced forces mean..."</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CER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Q1</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You push a stuffed animal and a heavy book with the same force. What happens?</a:t>
            </a:r>
            <a:endParaRPr lang="en-US" sz="1800" dirty="0"/>
          </a:p>
        </p:txBody>
      </p:sp>
      <p:sp>
        <p:nvSpPr>
          <p:cNvPr id="5" name="Shape 3"/>
          <p:cNvSpPr/>
          <p:nvPr/>
        </p:nvSpPr>
        <p:spPr>
          <a:xfrm>
            <a:off x="365760" y="1298448"/>
            <a:ext cx="8412480" cy="694944"/>
          </a:xfrm>
          <a:prstGeom prst="rect">
            <a:avLst/>
          </a:prstGeom>
          <a:solidFill>
            <a:srgbClr val="1E3A5C"/>
          </a:solidFill>
          <a:ln w="12700">
            <a:solidFill>
              <a:srgbClr val="1E3A5C"/>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Both move the same distance</a:t>
            </a:r>
            <a:endParaRPr lang="en-US" sz="1300" dirty="0"/>
          </a:p>
        </p:txBody>
      </p:sp>
      <p:sp>
        <p:nvSpPr>
          <p:cNvPr id="7" name="Shape 5"/>
          <p:cNvSpPr/>
          <p:nvPr/>
        </p:nvSpPr>
        <p:spPr>
          <a:xfrm>
            <a:off x="365760" y="2066544"/>
            <a:ext cx="8412480" cy="694944"/>
          </a:xfrm>
          <a:prstGeom prst="rect">
            <a:avLst/>
          </a:prstGeom>
          <a:solidFill>
            <a:srgbClr val="2A7A4B"/>
          </a:solidFill>
          <a:ln w="12700">
            <a:solidFill>
              <a:srgbClr val="2A7A4B"/>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  The stuffed animal moves more -- it has less mass     CORRECT</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Neither moves -- they cancel each other</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Same force, different masses, different results. The stuffed animal has less mass, so the same force moves it more. The heavier book resists the force.</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Self-Check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Q2</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What are BALANCED forces?</a:t>
            </a:r>
            <a:endParaRPr lang="en-US" sz="1800" dirty="0"/>
          </a:p>
        </p:txBody>
      </p:sp>
      <p:sp>
        <p:nvSpPr>
          <p:cNvPr id="5" name="Shape 3"/>
          <p:cNvSpPr/>
          <p:nvPr/>
        </p:nvSpPr>
        <p:spPr>
          <a:xfrm>
            <a:off x="365760" y="1298448"/>
            <a:ext cx="8412480" cy="694944"/>
          </a:xfrm>
          <a:prstGeom prst="rect">
            <a:avLst/>
          </a:prstGeom>
          <a:solidFill>
            <a:srgbClr val="2A7A4B"/>
          </a:solidFill>
          <a:ln w="12700">
            <a:solidFill>
              <a:srgbClr val="2A7A4B"/>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  Two equal forces in OPPOSITE directions -- no motion     CORRECT</a:t>
            </a:r>
            <a:endParaRPr lang="en-US" sz="1300" dirty="0"/>
          </a:p>
        </p:txBody>
      </p:sp>
      <p:sp>
        <p:nvSpPr>
          <p:cNvPr id="7" name="Shape 5"/>
          <p:cNvSpPr/>
          <p:nvPr/>
        </p:nvSpPr>
        <p:spPr>
          <a:xfrm>
            <a:off x="365760" y="2066544"/>
            <a:ext cx="8412480" cy="694944"/>
          </a:xfrm>
          <a:prstGeom prst="rect">
            <a:avLst/>
          </a:prstGeom>
          <a:solidFill>
            <a:srgbClr val="1E3A5C"/>
          </a:solidFill>
          <a:ln w="12700">
            <a:solidFill>
              <a:srgbClr val="1E3A5C"/>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B.  Two forces in the SAME direction</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Forces that only happen at night</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Balanced forces are equal in size and opposite in direction. They cancel each other out, so the object does not move.</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Self-Check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Incredible -- Beyond the Lesson</a:t>
            </a:r>
            <a:endParaRPr lang="en-US" sz="2000" dirty="0"/>
          </a:p>
        </p:txBody>
      </p:sp>
      <p:sp>
        <p:nvSpPr>
          <p:cNvPr id="5" name="Shape 3"/>
          <p:cNvSpPr/>
          <p:nvPr/>
        </p:nvSpPr>
        <p:spPr>
          <a:xfrm>
            <a:off x="365760" y="1051560"/>
            <a:ext cx="8412480" cy="1234440"/>
          </a:xfrm>
          <a:prstGeom prst="rect">
            <a:avLst/>
          </a:prstGeom>
          <a:solidFill>
            <a:srgbClr val="1E3A5C"/>
          </a:solidFill>
          <a:ln w="12700">
            <a:solidFill>
              <a:srgbClr val="1E3A5C"/>
            </a:solidFill>
            <a:prstDash val="solid"/>
          </a:ln>
        </p:spPr>
      </p:sp>
      <p:sp>
        <p:nvSpPr>
          <p:cNvPr id="6" name="Text 4"/>
          <p:cNvSpPr/>
          <p:nvPr/>
        </p:nvSpPr>
        <p:spPr>
          <a:xfrm>
            <a:off x="475488" y="1115568"/>
            <a:ext cx="8193024" cy="11064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An average car has a mass of about 4,000 POUNDS -- the same as about 25 fifth-graders. It takes the engine's entire power to move that mass even slowly. But once it is moving, much LESS force keeps it going. Once you overcome mass, motion gets easier.</a:t>
            </a:r>
            <a:endParaRPr lang="en-US" sz="1300" dirty="0"/>
          </a:p>
        </p:txBody>
      </p:sp>
      <p:sp>
        <p:nvSpPr>
          <p:cNvPr id="7" name="Text 5"/>
          <p:cNvSpPr/>
          <p:nvPr/>
        </p:nvSpPr>
        <p:spPr>
          <a:xfrm>
            <a:off x="365760" y="242316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Go Deeper:</a:t>
            </a:r>
            <a:endParaRPr lang="en-US" sz="1200" dirty="0"/>
          </a:p>
        </p:txBody>
      </p:sp>
      <p:sp>
        <p:nvSpPr>
          <p:cNvPr id="8" name="Shape 6"/>
          <p:cNvSpPr/>
          <p:nvPr/>
        </p:nvSpPr>
        <p:spPr>
          <a:xfrm>
            <a:off x="365760" y="2761488"/>
            <a:ext cx="4114800" cy="1417320"/>
          </a:xfrm>
          <a:prstGeom prst="rect">
            <a:avLst/>
          </a:prstGeom>
          <a:solidFill>
            <a:srgbClr val="1A3A5C"/>
          </a:solidFill>
          <a:ln w="12700">
            <a:solidFill>
              <a:srgbClr val="1A3A5C"/>
            </a:solidFill>
            <a:prstDash val="solid"/>
          </a:ln>
        </p:spPr>
      </p:sp>
      <p:sp>
        <p:nvSpPr>
          <p:cNvPr id="9" name="Text 7"/>
          <p:cNvSpPr/>
          <p:nvPr/>
        </p:nvSpPr>
        <p:spPr>
          <a:xfrm>
            <a:off x="47548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Astronauts in space stations are nearly weightless -- but they still have MASS. A small push can send them floating across the cabin. Why does mass not go away in space?</a:t>
            </a:r>
            <a:endParaRPr lang="en-US" sz="1300" dirty="0"/>
          </a:p>
        </p:txBody>
      </p:sp>
      <p:sp>
        <p:nvSpPr>
          <p:cNvPr id="10" name="Shape 8"/>
          <p:cNvSpPr/>
          <p:nvPr/>
        </p:nvSpPr>
        <p:spPr>
          <a:xfrm>
            <a:off x="4663440" y="2761488"/>
            <a:ext cx="4114800" cy="1417320"/>
          </a:xfrm>
          <a:prstGeom prst="rect">
            <a:avLst/>
          </a:prstGeom>
          <a:solidFill>
            <a:srgbClr val="1A3A5C"/>
          </a:solidFill>
          <a:ln w="12700">
            <a:solidFill>
              <a:srgbClr val="1A3A5C"/>
            </a:solidFill>
            <a:prstDash val="solid"/>
          </a:ln>
        </p:spPr>
      </p:sp>
      <p:sp>
        <p:nvSpPr>
          <p:cNvPr id="11" name="Text 9"/>
          <p:cNvSpPr/>
          <p:nvPr/>
        </p:nvSpPr>
        <p:spPr>
          <a:xfrm>
            <a:off x="477316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Think about a book on a shelf. Gravity pulls it down. The shelf pushes up. Balanced. What happens the instant you remove the shelf? Which force wins?</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Elaborate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Parts A and B</a:t>
            </a:r>
            <a:endParaRPr lang="en-US" sz="1900" dirty="0"/>
          </a:p>
        </p:txBody>
      </p:sp>
      <p:sp>
        <p:nvSpPr>
          <p:cNvPr id="5" name="Shape 3"/>
          <p:cNvSpPr/>
          <p:nvPr/>
        </p:nvSpPr>
        <p:spPr>
          <a:xfrm>
            <a:off x="365760" y="987552"/>
            <a:ext cx="8412480" cy="1234440"/>
          </a:xfrm>
          <a:prstGeom prst="rect">
            <a:avLst/>
          </a:prstGeom>
          <a:solidFill>
            <a:srgbClr val="D6EAF8"/>
          </a:solidFill>
          <a:ln w="12700">
            <a:solidFill>
              <a:srgbClr val="D6EAF8"/>
            </a:solidFill>
            <a:prstDash val="solid"/>
          </a:ln>
        </p:spPr>
      </p:sp>
      <p:sp>
        <p:nvSpPr>
          <p:cNvPr id="6" name="Text 4"/>
          <p:cNvSpPr/>
          <p:nvPr/>
        </p:nvSpPr>
        <p:spPr>
          <a:xfrm>
            <a:off x="475488" y="1051560"/>
            <a:ext cx="8193024" cy="110642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A -- Home Mass and Forces Examples: Walk around your home for 5 minutes. Find ONE example where MASS matters, ONE where forces are BALANCED, ONE where forces are UNBALANCED. Describe each.</a:t>
            </a:r>
            <a:endParaRPr lang="en-US" sz="1200" dirty="0"/>
          </a:p>
        </p:txBody>
      </p:sp>
      <p:sp>
        <p:nvSpPr>
          <p:cNvPr id="7" name="Shape 5"/>
          <p:cNvSpPr/>
          <p:nvPr/>
        </p:nvSpPr>
        <p:spPr>
          <a:xfrm>
            <a:off x="365760" y="2286000"/>
            <a:ext cx="8412480" cy="2103120"/>
          </a:xfrm>
          <a:prstGeom prst="rect">
            <a:avLst/>
          </a:prstGeom>
          <a:solidFill>
            <a:srgbClr val="D6EAF8"/>
          </a:solidFill>
          <a:ln w="12700">
            <a:solidFill>
              <a:srgbClr val="D6EAF8"/>
            </a:solidFill>
            <a:prstDash val="solid"/>
          </a:ln>
        </p:spPr>
      </p:sp>
      <p:sp>
        <p:nvSpPr>
          <p:cNvPr id="8" name="Text 6"/>
          <p:cNvSpPr/>
          <p:nvPr/>
        </p:nvSpPr>
        <p:spPr>
          <a:xfrm>
            <a:off x="475488" y="2350008"/>
            <a:ext cx="8193024" cy="197510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B -- Evidence Questions</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1. Compare Scenarios A and B. One is about mass, the other about balanced forces. Explain which is which.</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2. In Scenario B, the rope did not move even though both kids pulled hard. What would have to happen to make it move?</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3. In Scenario C, the book fell when the table was pulled out. Before the table moved, what two forces were balanced?</a:t>
            </a:r>
            <a:endParaRPr lang="en-US" sz="1200" dirty="0"/>
          </a:p>
        </p:txBody>
      </p:sp>
      <p:sp>
        <p:nvSpPr>
          <p:cNvPr id="9" name="Shape 7"/>
          <p:cNvSpPr/>
          <p:nvPr/>
        </p:nvSpPr>
        <p:spPr>
          <a:xfrm>
            <a:off x="0" y="4896612"/>
            <a:ext cx="9144000" cy="246888"/>
          </a:xfrm>
          <a:prstGeom prst="rect">
            <a:avLst/>
          </a:prstGeom>
          <a:solidFill>
            <a:srgbClr val="F6C90E"/>
          </a:solidFill>
          <a:ln w="12700">
            <a:solidFill>
              <a:srgbClr val="F6C90E"/>
            </a:solidFill>
            <a:prstDash val="solid"/>
          </a:ln>
        </p:spPr>
      </p:sp>
      <p:sp>
        <p:nvSpPr>
          <p:cNvPr id="10" name="Text 8"/>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Assignment A &amp; B</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 C (CER)</a:t>
            </a:r>
            <a:endParaRPr lang="en-US" sz="1900" dirty="0"/>
          </a:p>
        </p:txBody>
      </p:sp>
      <p:sp>
        <p:nvSpPr>
          <p:cNvPr id="5" name="Shape 3"/>
          <p:cNvSpPr/>
          <p:nvPr/>
        </p:nvSpPr>
        <p:spPr>
          <a:xfrm>
            <a:off x="365760" y="987552"/>
            <a:ext cx="8412480" cy="566928"/>
          </a:xfrm>
          <a:prstGeom prst="rect">
            <a:avLst/>
          </a:prstGeom>
          <a:solidFill>
            <a:srgbClr val="D6EAF8"/>
          </a:solidFill>
          <a:ln w="12700">
            <a:solidFill>
              <a:srgbClr val="D6EAF8"/>
            </a:solidFill>
            <a:prstDash val="solid"/>
          </a:ln>
        </p:spPr>
      </p:sp>
      <p:sp>
        <p:nvSpPr>
          <p:cNvPr id="6" name="Text 4"/>
          <p:cNvSpPr/>
          <p:nvPr/>
        </p:nvSpPr>
        <p:spPr>
          <a:xfrm>
            <a:off x="475488" y="1051560"/>
            <a:ext cx="8193024" cy="438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PART C: How do mass and balanced forces affect motion? Use your three scenarios as evidence to defend your claim.</a:t>
            </a:r>
            <a:endParaRPr lang="en-US" sz="1300" dirty="0"/>
          </a:p>
        </p:txBody>
      </p:sp>
      <p:sp>
        <p:nvSpPr>
          <p:cNvPr id="7" name="Shape 5"/>
          <p:cNvSpPr/>
          <p:nvPr/>
        </p:nvSpPr>
        <p:spPr>
          <a:xfrm>
            <a:off x="365760" y="1627632"/>
            <a:ext cx="8412480" cy="640080"/>
          </a:xfrm>
          <a:prstGeom prst="rect">
            <a:avLst/>
          </a:prstGeom>
          <a:solidFill>
            <a:srgbClr val="E8F5E9"/>
          </a:solidFill>
          <a:ln w="12700">
            <a:solidFill>
              <a:srgbClr val="E8F5E9"/>
            </a:solidFill>
            <a:prstDash val="solid"/>
          </a:ln>
        </p:spPr>
      </p:sp>
      <p:sp>
        <p:nvSpPr>
          <p:cNvPr id="8" name="Text 6"/>
          <p:cNvSpPr/>
          <p:nvPr/>
        </p:nvSpPr>
        <p:spPr>
          <a:xfrm>
            <a:off x="475488" y="1691640"/>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CLAIM: CLAIM -- How do mass and balanced forces affect motion? One clear sentence. No starter.</a:t>
            </a:r>
            <a:endParaRPr lang="en-US" sz="1200" dirty="0"/>
          </a:p>
        </p:txBody>
      </p:sp>
      <p:sp>
        <p:nvSpPr>
          <p:cNvPr id="9" name="Shape 7"/>
          <p:cNvSpPr/>
          <p:nvPr/>
        </p:nvSpPr>
        <p:spPr>
          <a:xfrm>
            <a:off x="365760" y="2340864"/>
            <a:ext cx="8412480" cy="640080"/>
          </a:xfrm>
          <a:prstGeom prst="rect">
            <a:avLst/>
          </a:prstGeom>
          <a:solidFill>
            <a:srgbClr val="E8F5E9"/>
          </a:solidFill>
          <a:ln w="12700">
            <a:solidFill>
              <a:srgbClr val="E8F5E9"/>
            </a:solidFill>
            <a:prstDash val="solid"/>
          </a:ln>
        </p:spPr>
      </p:sp>
      <p:sp>
        <p:nvSpPr>
          <p:cNvPr id="10" name="Text 8"/>
          <p:cNvSpPr/>
          <p:nvPr/>
        </p:nvSpPr>
        <p:spPr>
          <a:xfrm>
            <a:off x="475488" y="2404872"/>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EVIDENCE: EVIDENCE -- What did each scenario show? At least two pieces of evidence from your predictions.</a:t>
            </a:r>
            <a:endParaRPr lang="en-US" sz="1200" dirty="0"/>
          </a:p>
        </p:txBody>
      </p:sp>
      <p:sp>
        <p:nvSpPr>
          <p:cNvPr id="11" name="Shape 9"/>
          <p:cNvSpPr/>
          <p:nvPr/>
        </p:nvSpPr>
        <p:spPr>
          <a:xfrm>
            <a:off x="365760" y="3054096"/>
            <a:ext cx="8412480" cy="640080"/>
          </a:xfrm>
          <a:prstGeom prst="rect">
            <a:avLst/>
          </a:prstGeom>
          <a:solidFill>
            <a:srgbClr val="E8F5E9"/>
          </a:solidFill>
          <a:ln w="12700">
            <a:solidFill>
              <a:srgbClr val="E8F5E9"/>
            </a:solidFill>
            <a:prstDash val="solid"/>
          </a:ln>
        </p:spPr>
      </p:sp>
      <p:sp>
        <p:nvSpPr>
          <p:cNvPr id="12" name="Text 10"/>
          <p:cNvSpPr/>
          <p:nvPr/>
        </p:nvSpPr>
        <p:spPr>
          <a:xfrm>
            <a:off x="475488" y="3118104"/>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REASONING: This makes sense because objects with more mass resist motion more, and balanced forces mean...</a:t>
            </a:r>
            <a:endParaRPr lang="en-US" sz="1200" dirty="0"/>
          </a:p>
        </p:txBody>
      </p:sp>
      <p:sp>
        <p:nvSpPr>
          <p:cNvPr id="13" name="Shape 11"/>
          <p:cNvSpPr/>
          <p:nvPr/>
        </p:nvSpPr>
        <p:spPr>
          <a:xfrm>
            <a:off x="365760" y="3767328"/>
            <a:ext cx="8412480" cy="530352"/>
          </a:xfrm>
          <a:prstGeom prst="rect">
            <a:avLst/>
          </a:prstGeom>
          <a:solidFill>
            <a:srgbClr val="FFF8E1"/>
          </a:solidFill>
          <a:ln w="12700">
            <a:solidFill>
              <a:srgbClr val="FFF8E1"/>
            </a:solidFill>
            <a:prstDash val="solid"/>
          </a:ln>
        </p:spPr>
      </p:sp>
      <p:sp>
        <p:nvSpPr>
          <p:cNvPr id="14" name="Text 12"/>
          <p:cNvSpPr/>
          <p:nvPr/>
        </p:nvSpPr>
        <p:spPr>
          <a:xfrm>
            <a:off x="475488" y="3831336"/>
            <a:ext cx="8193024" cy="402336"/>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Vocab Check: Use at least TWO of: mass, force, balanced forces, unbalanced forces, opposing, motion</a:t>
            </a:r>
            <a:endParaRPr lang="en-US" sz="11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Assignment 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828800" cy="274320"/>
          </a:xfrm>
          <a:prstGeom prst="rect">
            <a:avLst/>
          </a:prstGeom>
          <a:solidFill>
            <a:srgbClr val="1A3A5C"/>
          </a:solidFill>
          <a:ln w="12700">
            <a:solidFill>
              <a:srgbClr val="1A3A5C"/>
            </a:solidFill>
            <a:prstDash val="solid"/>
          </a:ln>
        </p:spPr>
      </p:sp>
      <p:sp>
        <p:nvSpPr>
          <p:cNvPr id="3" name="Text 1"/>
          <p:cNvSpPr/>
          <p:nvPr/>
        </p:nvSpPr>
        <p:spPr>
          <a:xfrm>
            <a:off x="365760" y="20116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How Did Your Thinking Change?</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Look back at your prediction. Write 3-4 sentences answering these:</a:t>
            </a:r>
            <a:endParaRPr lang="en-US" sz="1200" dirty="0"/>
          </a:p>
        </p:txBody>
      </p:sp>
      <p:sp>
        <p:nvSpPr>
          <p:cNvPr id="6" name="Shape 4"/>
          <p:cNvSpPr/>
          <p:nvPr/>
        </p:nvSpPr>
        <p:spPr>
          <a:xfrm>
            <a:off x="365760" y="1389888"/>
            <a:ext cx="292608" cy="292608"/>
          </a:xfrm>
          <a:prstGeom prst="rect">
            <a:avLst/>
          </a:prstGeom>
          <a:solidFill>
            <a:srgbClr val="1A3A5C"/>
          </a:solidFill>
          <a:ln w="12700">
            <a:solidFill>
              <a:srgbClr val="1A3A5C"/>
            </a:solidFill>
            <a:prstDash val="solid"/>
          </a:ln>
        </p:spPr>
      </p:sp>
      <p:sp>
        <p:nvSpPr>
          <p:cNvPr id="7" name="Text 5"/>
          <p:cNvSpPr/>
          <p:nvPr/>
        </p:nvSpPr>
        <p:spPr>
          <a:xfrm>
            <a:off x="365760" y="1389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Shape 6"/>
          <p:cNvSpPr/>
          <p:nvPr/>
        </p:nvSpPr>
        <p:spPr>
          <a:xfrm>
            <a:off x="768096" y="1389888"/>
            <a:ext cx="8010144" cy="1005840"/>
          </a:xfrm>
          <a:prstGeom prst="rect">
            <a:avLst/>
          </a:prstGeom>
          <a:solidFill>
            <a:srgbClr val="085E5D"/>
          </a:solidFill>
          <a:ln w="12700">
            <a:solidFill>
              <a:srgbClr val="085E5D"/>
            </a:solidFill>
            <a:prstDash val="solid"/>
          </a:ln>
        </p:spPr>
      </p:sp>
      <p:sp>
        <p:nvSpPr>
          <p:cNvPr id="9" name="Text 7"/>
          <p:cNvSpPr/>
          <p:nvPr/>
        </p:nvSpPr>
        <p:spPr>
          <a:xfrm>
            <a:off x="877824" y="1453896"/>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did you predict about how mass and opposing forces affect motion?</a:t>
            </a:r>
            <a:endParaRPr lang="en-US" sz="1300" dirty="0"/>
          </a:p>
        </p:txBody>
      </p:sp>
      <p:sp>
        <p:nvSpPr>
          <p:cNvPr id="10" name="Shape 8"/>
          <p:cNvSpPr/>
          <p:nvPr/>
        </p:nvSpPr>
        <p:spPr>
          <a:xfrm>
            <a:off x="365760" y="2560320"/>
            <a:ext cx="292608" cy="292608"/>
          </a:xfrm>
          <a:prstGeom prst="rect">
            <a:avLst/>
          </a:prstGeom>
          <a:solidFill>
            <a:srgbClr val="1A3A5C"/>
          </a:solidFill>
          <a:ln w="12700">
            <a:solidFill>
              <a:srgbClr val="1A3A5C"/>
            </a:solidFill>
            <a:prstDash val="solid"/>
          </a:ln>
        </p:spPr>
      </p:sp>
      <p:sp>
        <p:nvSpPr>
          <p:cNvPr id="11" name="Text 9"/>
          <p:cNvSpPr/>
          <p:nvPr/>
        </p:nvSpPr>
        <p:spPr>
          <a:xfrm>
            <a:off x="365760" y="2560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768096" y="2560320"/>
            <a:ext cx="8010144" cy="1005840"/>
          </a:xfrm>
          <a:prstGeom prst="rect">
            <a:avLst/>
          </a:prstGeom>
          <a:solidFill>
            <a:srgbClr val="085E5D"/>
          </a:solidFill>
          <a:ln w="12700">
            <a:solidFill>
              <a:srgbClr val="085E5D"/>
            </a:solidFill>
            <a:prstDash val="solid"/>
          </a:ln>
        </p:spPr>
      </p:sp>
      <p:sp>
        <p:nvSpPr>
          <p:cNvPr id="13" name="Text 11"/>
          <p:cNvSpPr/>
          <p:nvPr/>
        </p:nvSpPr>
        <p:spPr>
          <a:xfrm>
            <a:off x="877824" y="2624328"/>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How does today's lesson confirm or change your prediction?</a:t>
            </a:r>
            <a:endParaRPr lang="en-US" sz="1300" dirty="0"/>
          </a:p>
        </p:txBody>
      </p:sp>
      <p:sp>
        <p:nvSpPr>
          <p:cNvPr id="14" name="Shape 12"/>
          <p:cNvSpPr/>
          <p:nvPr/>
        </p:nvSpPr>
        <p:spPr>
          <a:xfrm>
            <a:off x="365760" y="3730752"/>
            <a:ext cx="292608" cy="292608"/>
          </a:xfrm>
          <a:prstGeom prst="rect">
            <a:avLst/>
          </a:prstGeom>
          <a:solidFill>
            <a:srgbClr val="1A3A5C"/>
          </a:solidFill>
          <a:ln w="12700">
            <a:solidFill>
              <a:srgbClr val="1A3A5C"/>
            </a:solidFill>
            <a:prstDash val="solid"/>
          </a:ln>
        </p:spPr>
      </p:sp>
      <p:sp>
        <p:nvSpPr>
          <p:cNvPr id="15" name="Text 13"/>
          <p:cNvSpPr/>
          <p:nvPr/>
        </p:nvSpPr>
        <p:spPr>
          <a:xfrm>
            <a:off x="365760" y="37307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Shape 14"/>
          <p:cNvSpPr/>
          <p:nvPr/>
        </p:nvSpPr>
        <p:spPr>
          <a:xfrm>
            <a:off x="768096" y="3730752"/>
            <a:ext cx="8010144" cy="1005840"/>
          </a:xfrm>
          <a:prstGeom prst="rect">
            <a:avLst/>
          </a:prstGeom>
          <a:solidFill>
            <a:srgbClr val="085E5D"/>
          </a:solidFill>
          <a:ln w="12700">
            <a:solidFill>
              <a:srgbClr val="085E5D"/>
            </a:solidFill>
            <a:prstDash val="solid"/>
          </a:ln>
        </p:spPr>
      </p:sp>
      <p:sp>
        <p:nvSpPr>
          <p:cNvPr id="17" name="Text 15"/>
          <p:cNvSpPr/>
          <p:nvPr/>
        </p:nvSpPr>
        <p:spPr>
          <a:xfrm>
            <a:off x="877824" y="3794760"/>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is the biggest new idea about balanced forces you would add now?</a:t>
            </a:r>
            <a:endParaRPr lang="en-US" sz="1300" dirty="0"/>
          </a:p>
        </p:txBody>
      </p:sp>
      <p:sp>
        <p:nvSpPr>
          <p:cNvPr id="18" name="Shape 16"/>
          <p:cNvSpPr/>
          <p:nvPr/>
        </p:nvSpPr>
        <p:spPr>
          <a:xfrm>
            <a:off x="0" y="4896612"/>
            <a:ext cx="9144000" cy="246888"/>
          </a:xfrm>
          <a:prstGeom prst="rect">
            <a:avLst/>
          </a:prstGeom>
          <a:solidFill>
            <a:srgbClr val="F6C90E"/>
          </a:solidFill>
          <a:ln w="12700">
            <a:solidFill>
              <a:srgbClr val="F6C90E"/>
            </a:solidFill>
            <a:prstDash val="solid"/>
          </a:ln>
        </p:spPr>
      </p:sp>
      <p:sp>
        <p:nvSpPr>
          <p:cNvPr id="19" name="Text 17"/>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Revise Your Thinking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Submission Checklist</a:t>
            </a:r>
            <a:endParaRPr lang="en-US" sz="2100" dirty="0"/>
          </a:p>
        </p:txBody>
      </p:sp>
      <p:sp>
        <p:nvSpPr>
          <p:cNvPr id="5" name="Shape 3"/>
          <p:cNvSpPr/>
          <p:nvPr/>
        </p:nvSpPr>
        <p:spPr>
          <a:xfrm>
            <a:off x="365760" y="1078992"/>
            <a:ext cx="8412480" cy="658368"/>
          </a:xfrm>
          <a:prstGeom prst="rect">
            <a:avLst/>
          </a:prstGeom>
          <a:solidFill>
            <a:srgbClr val="2E86AB"/>
          </a:solidFill>
          <a:ln w="12700">
            <a:solidFill>
              <a:srgbClr val="2E86AB"/>
            </a:solidFill>
            <a:prstDash val="solid"/>
          </a:ln>
        </p:spPr>
      </p:sp>
      <p:sp>
        <p:nvSpPr>
          <p:cNvPr id="6" name="Text 4"/>
          <p:cNvSpPr/>
          <p:nvPr/>
        </p:nvSpPr>
        <p:spPr>
          <a:xfrm>
            <a:off x="475488" y="1143000"/>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A: Three home examples -- mass, balanced, and unbalanced forces described</a:t>
            </a:r>
            <a:endParaRPr lang="en-US" sz="1200" dirty="0"/>
          </a:p>
        </p:txBody>
      </p:sp>
      <p:sp>
        <p:nvSpPr>
          <p:cNvPr id="7" name="Shape 5"/>
          <p:cNvSpPr/>
          <p:nvPr/>
        </p:nvSpPr>
        <p:spPr>
          <a:xfrm>
            <a:off x="365760" y="1828800"/>
            <a:ext cx="8412480" cy="658368"/>
          </a:xfrm>
          <a:prstGeom prst="rect">
            <a:avLst/>
          </a:prstGeom>
          <a:solidFill>
            <a:srgbClr val="2E86AB"/>
          </a:solidFill>
          <a:ln w="12700">
            <a:solidFill>
              <a:srgbClr val="2E86AB"/>
            </a:solidFill>
            <a:prstDash val="solid"/>
          </a:ln>
        </p:spPr>
      </p:sp>
      <p:sp>
        <p:nvSpPr>
          <p:cNvPr id="8" name="Text 6"/>
          <p:cNvSpPr/>
          <p:nvPr/>
        </p:nvSpPr>
        <p:spPr>
          <a:xfrm>
            <a:off x="475488" y="1892808"/>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B: All three evidence questions answered using the scenarios</a:t>
            </a:r>
            <a:endParaRPr lang="en-US" sz="1200" dirty="0"/>
          </a:p>
        </p:txBody>
      </p:sp>
      <p:sp>
        <p:nvSpPr>
          <p:cNvPr id="9" name="Shape 7"/>
          <p:cNvSpPr/>
          <p:nvPr/>
        </p:nvSpPr>
        <p:spPr>
          <a:xfrm>
            <a:off x="365760" y="2578608"/>
            <a:ext cx="8412480" cy="658368"/>
          </a:xfrm>
          <a:prstGeom prst="rect">
            <a:avLst/>
          </a:prstGeom>
          <a:solidFill>
            <a:srgbClr val="2E86AB"/>
          </a:solidFill>
          <a:ln w="12700">
            <a:solidFill>
              <a:srgbClr val="2E86AB"/>
            </a:solidFill>
            <a:prstDash val="solid"/>
          </a:ln>
        </p:spPr>
      </p:sp>
      <p:sp>
        <p:nvSpPr>
          <p:cNvPr id="10" name="Text 8"/>
          <p:cNvSpPr/>
          <p:nvPr/>
        </p:nvSpPr>
        <p:spPr>
          <a:xfrm>
            <a:off x="475488" y="2642616"/>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C: Claim, evidence, and reasoning -- 4-6 sentences total</a:t>
            </a:r>
            <a:endParaRPr lang="en-US" sz="1200" dirty="0"/>
          </a:p>
        </p:txBody>
      </p:sp>
      <p:sp>
        <p:nvSpPr>
          <p:cNvPr id="11" name="Shape 9"/>
          <p:cNvSpPr/>
          <p:nvPr/>
        </p:nvSpPr>
        <p:spPr>
          <a:xfrm>
            <a:off x="365760" y="3328416"/>
            <a:ext cx="8412480" cy="658368"/>
          </a:xfrm>
          <a:prstGeom prst="rect">
            <a:avLst/>
          </a:prstGeom>
          <a:solidFill>
            <a:srgbClr val="2E86AB"/>
          </a:solidFill>
          <a:ln w="12700">
            <a:solidFill>
              <a:srgbClr val="2E86AB"/>
            </a:solidFill>
            <a:prstDash val="solid"/>
          </a:ln>
        </p:spPr>
      </p:sp>
      <p:sp>
        <p:nvSpPr>
          <p:cNvPr id="12" name="Text 10"/>
          <p:cNvSpPr/>
          <p:nvPr/>
        </p:nvSpPr>
        <p:spPr>
          <a:xfrm>
            <a:off x="475488" y="3392424"/>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Revise Your Thinking: 3-4 sentences on how your thinking changed</a:t>
            </a:r>
            <a:endParaRPr lang="en-US" sz="1200" dirty="0"/>
          </a:p>
        </p:txBody>
      </p:sp>
      <p:sp>
        <p:nvSpPr>
          <p:cNvPr id="13" name="Shape 11"/>
          <p:cNvSpPr/>
          <p:nvPr/>
        </p:nvSpPr>
        <p:spPr>
          <a:xfrm>
            <a:off x="365760" y="4078224"/>
            <a:ext cx="8412480" cy="658368"/>
          </a:xfrm>
          <a:prstGeom prst="rect">
            <a:avLst/>
          </a:prstGeom>
          <a:solidFill>
            <a:srgbClr val="2E86AB"/>
          </a:solidFill>
          <a:ln w="12700">
            <a:solidFill>
              <a:srgbClr val="2E86AB"/>
            </a:solidFill>
            <a:prstDash val="solid"/>
          </a:ln>
        </p:spPr>
      </p:sp>
      <p:sp>
        <p:nvSpPr>
          <p:cNvPr id="14" name="Text 12"/>
          <p:cNvSpPr/>
          <p:nvPr/>
        </p:nvSpPr>
        <p:spPr>
          <a:xfrm>
            <a:off x="475488" y="4142232"/>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Vocab Check: At least TWO lesson words used accurately</a:t>
            </a:r>
            <a:endParaRPr lang="en-US" sz="1200" dirty="0"/>
          </a:p>
        </p:txBody>
      </p:sp>
      <p:sp>
        <p:nvSpPr>
          <p:cNvPr id="15" name="Text 13"/>
          <p:cNvSpPr/>
          <p:nvPr/>
        </p:nvSpPr>
        <p:spPr>
          <a:xfrm>
            <a:off x="365760" y="4617720"/>
            <a:ext cx="8412480" cy="274320"/>
          </a:xfrm>
          <a:prstGeom prst="rect">
            <a:avLst/>
          </a:prstGeom>
          <a:noFill/>
          <a:ln/>
        </p:spPr>
        <p:txBody>
          <a:bodyPr wrap="square" rtlCol="0" anchor="ctr"/>
          <a:lstStyle/>
          <a:p>
            <a:pPr algn="ctr" indent="0" marL="0">
              <a:buNone/>
            </a:pPr>
            <a:r>
              <a:rPr lang="en-US" sz="1100" dirty="0">
                <a:solidFill>
                  <a:srgbClr val="F6C90E"/>
                </a:solidFill>
                <a:latin typeface="Calibri" pitchFamily="34" charset="0"/>
                <a:ea typeface="Calibri" pitchFamily="34" charset="-122"/>
                <a:cs typeface="Calibri" pitchFamily="34" charset="-120"/>
              </a:rPr>
              <a:t>Turn in via Canvas: copy text, photo your notebook, or record a video.</a:t>
            </a:r>
            <a:endParaRPr lang="en-US" sz="11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16.01  |  Optima Academy Online  |  SC.5.P.13.3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2026-08-28T17:40:24Z</dcterms:created>
  <dcterms:modified xsi:type="dcterms:W3CDTF">2026-08-28T17:40:24Z</dcterms:modified>
</cp:coreProperties>
</file>