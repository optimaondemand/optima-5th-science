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these have you experienced? Ask a student to describe what they noticed. Bridge to: Today we find out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2-3 min to write. Ask 2-3 students to share. Do NOT confirm or correct. Say: Hold that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follow-up: Ask students to put the concept in their own words. Then ask for a real-life example. Do not move on until two students can state the big idea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2 min to think. Cold-call one student per question. Follow-up: What evidence supports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check: Use at least TWO of: charge, static, attract, repel, observation, evidence. If student writes only one sentence, ask: What does your evidence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751076" cy="274320"/>
          </a:xfrm>
          <a:prstGeom prst="rect">
            <a:avLst/>
          </a:prstGeom>
          <a:solidFill>
            <a:srgbClr val="0E7C7B"/>
          </a:solidFill>
          <a:ln w="12700">
            <a:solidFill>
              <a:srgbClr val="0E7C7B"/>
            </a:solidFill>
            <a:prstDash val="solid"/>
          </a:ln>
        </p:spPr>
      </p:sp>
      <p:sp>
        <p:nvSpPr>
          <p:cNvPr id="3" name="Text 1"/>
          <p:cNvSpPr/>
          <p:nvPr/>
        </p:nvSpPr>
        <p:spPr>
          <a:xfrm>
            <a:off x="365760" y="201168"/>
            <a:ext cx="175107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Q2  UNIT 3  WEEK 13</a:t>
            </a:r>
            <a:endParaRPr lang="en-US" sz="1000" dirty="0"/>
          </a:p>
        </p:txBody>
      </p:sp>
      <p:sp>
        <p:nvSpPr>
          <p:cNvPr id="4" name="Text 2"/>
          <p:cNvSpPr/>
          <p:nvPr/>
        </p:nvSpPr>
        <p:spPr>
          <a:xfrm>
            <a:off x="365760" y="566928"/>
            <a:ext cx="5943600" cy="1737360"/>
          </a:xfrm>
          <a:prstGeom prst="rect">
            <a:avLst/>
          </a:prstGeom>
          <a:noFill/>
          <a:ln/>
        </p:spPr>
        <p:txBody>
          <a:bodyPr wrap="square" rtlCol="0" anchor="t"/>
          <a:lstStyle/>
          <a:p>
            <a:pPr algn="l" indent="0" marL="0">
              <a:buNone/>
            </a:pPr>
            <a:r>
              <a:rPr lang="en-US" sz="3000" b="1" dirty="0">
                <a:solidFill>
                  <a:srgbClr val="FFFFFF"/>
                </a:solidFill>
                <a:latin typeface="Cambria" pitchFamily="34" charset="0"/>
                <a:ea typeface="Cambria" pitchFamily="34" charset="-122"/>
                <a:cs typeface="Cambria" pitchFamily="34" charset="-120"/>
              </a:rPr>
              <a:t>Investigation: Static Electricity</a:t>
            </a:r>
            <a:endParaRPr lang="en-US" sz="3000" dirty="0"/>
          </a:p>
        </p:txBody>
      </p:sp>
      <p:sp>
        <p:nvSpPr>
          <p:cNvPr id="5" name="Text 3"/>
          <p:cNvSpPr/>
          <p:nvPr/>
        </p:nvSpPr>
        <p:spPr>
          <a:xfrm>
            <a:off x="365760" y="2377440"/>
            <a:ext cx="5943600" cy="310896"/>
          </a:xfrm>
          <a:prstGeom prst="rect">
            <a:avLst/>
          </a:prstGeom>
          <a:noFill/>
          <a:ln/>
        </p:spPr>
        <p:txBody>
          <a:bodyPr wrap="square" rtlCol="0" anchor="ctr"/>
          <a:lstStyle/>
          <a:p>
            <a:pPr algn="l" indent="0" marL="0">
              <a:buNone/>
            </a:pPr>
            <a:r>
              <a:rPr lang="en-US" sz="1200" dirty="0">
                <a:solidFill>
                  <a:srgbClr val="F6C90E"/>
                </a:solidFill>
                <a:latin typeface="Calibri" pitchFamily="34" charset="0"/>
                <a:ea typeface="Calibri" pitchFamily="34" charset="-122"/>
                <a:cs typeface="Calibri" pitchFamily="34" charset="-120"/>
              </a:rPr>
              <a:t>Lesson 13.02  |  SC.5.P.10.3</a:t>
            </a:r>
            <a:endParaRPr lang="en-US" sz="1200" dirty="0"/>
          </a:p>
        </p:txBody>
      </p:sp>
      <p:sp>
        <p:nvSpPr>
          <p:cNvPr id="6" name="Shape 4"/>
          <p:cNvSpPr/>
          <p:nvPr/>
        </p:nvSpPr>
        <p:spPr>
          <a:xfrm>
            <a:off x="365760" y="2788920"/>
            <a:ext cx="5943600" cy="329184"/>
          </a:xfrm>
          <a:prstGeom prst="rect">
            <a:avLst/>
          </a:prstGeom>
          <a:solidFill>
            <a:srgbClr val="2E86AB"/>
          </a:solidFill>
          <a:ln w="12700">
            <a:solidFill>
              <a:srgbClr val="2E86AB"/>
            </a:solidFill>
            <a:prstDash val="solid"/>
          </a:ln>
        </p:spPr>
      </p:sp>
      <p:sp>
        <p:nvSpPr>
          <p:cNvPr id="7" name="Text 5"/>
          <p:cNvSpPr/>
          <p:nvPr/>
        </p:nvSpPr>
        <p:spPr>
          <a:xfrm>
            <a:off x="475488" y="2852928"/>
            <a:ext cx="5724144" cy="20116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Build static charge by rubbing materials and predict results.</a:t>
            </a:r>
            <a:endParaRPr lang="en-US" sz="1100" dirty="0"/>
          </a:p>
        </p:txBody>
      </p:sp>
      <p:sp>
        <p:nvSpPr>
          <p:cNvPr id="8" name="Shape 6"/>
          <p:cNvSpPr/>
          <p:nvPr/>
        </p:nvSpPr>
        <p:spPr>
          <a:xfrm>
            <a:off x="365760" y="3172968"/>
            <a:ext cx="5943600" cy="329184"/>
          </a:xfrm>
          <a:prstGeom prst="rect">
            <a:avLst/>
          </a:prstGeom>
          <a:solidFill>
            <a:srgbClr val="2E86AB"/>
          </a:solidFill>
          <a:ln w="12700">
            <a:solidFill>
              <a:srgbClr val="2E86AB"/>
            </a:solidFill>
            <a:prstDash val="solid"/>
          </a:ln>
        </p:spPr>
      </p:sp>
      <p:sp>
        <p:nvSpPr>
          <p:cNvPr id="9" name="Text 7"/>
          <p:cNvSpPr/>
          <p:nvPr/>
        </p:nvSpPr>
        <p:spPr>
          <a:xfrm>
            <a:off x="475488" y="3236976"/>
            <a:ext cx="5724144" cy="20116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Record observations of attraction, repulsion, and bending.</a:t>
            </a:r>
            <a:endParaRPr lang="en-US" sz="1100" dirty="0"/>
          </a:p>
        </p:txBody>
      </p:sp>
      <p:sp>
        <p:nvSpPr>
          <p:cNvPr id="10" name="Shape 8"/>
          <p:cNvSpPr/>
          <p:nvPr/>
        </p:nvSpPr>
        <p:spPr>
          <a:xfrm>
            <a:off x="365760" y="3557016"/>
            <a:ext cx="5943600" cy="329184"/>
          </a:xfrm>
          <a:prstGeom prst="rect">
            <a:avLst/>
          </a:prstGeom>
          <a:solidFill>
            <a:srgbClr val="2E86AB"/>
          </a:solidFill>
          <a:ln w="12700">
            <a:solidFill>
              <a:srgbClr val="2E86AB"/>
            </a:solidFill>
            <a:prstDash val="solid"/>
          </a:ln>
        </p:spPr>
      </p:sp>
      <p:sp>
        <p:nvSpPr>
          <p:cNvPr id="11" name="Text 9"/>
          <p:cNvSpPr/>
          <p:nvPr/>
        </p:nvSpPr>
        <p:spPr>
          <a:xfrm>
            <a:off x="475488" y="3621024"/>
            <a:ext cx="5724144" cy="20116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Use evidence from three tests to support a claim about charge.</a:t>
            </a:r>
            <a:endParaRPr lang="en-US" sz="1100" dirty="0"/>
          </a:p>
        </p:txBody>
      </p:sp>
      <p:sp>
        <p:nvSpPr>
          <p:cNvPr id="12" name="Shape 10"/>
          <p:cNvSpPr/>
          <p:nvPr/>
        </p:nvSpPr>
        <p:spPr>
          <a:xfrm>
            <a:off x="6492240" y="365760"/>
            <a:ext cx="2286000" cy="4389120"/>
          </a:xfrm>
          <a:prstGeom prst="rect">
            <a:avLst/>
          </a:prstGeom>
          <a:solidFill>
            <a:srgbClr val="0E7C7B"/>
          </a:solidFill>
          <a:ln w="12700">
            <a:solidFill>
              <a:srgbClr val="0E7C7B"/>
            </a:solidFill>
            <a:prstDash val="solid"/>
          </a:ln>
        </p:spPr>
      </p:sp>
      <p:sp>
        <p:nvSpPr>
          <p:cNvPr id="13" name="Shape 11"/>
          <p:cNvSpPr/>
          <p:nvPr/>
        </p:nvSpPr>
        <p:spPr>
          <a:xfrm>
            <a:off x="0" y="4896612"/>
            <a:ext cx="9144000" cy="246888"/>
          </a:xfrm>
          <a:prstGeom prst="rect">
            <a:avLst/>
          </a:prstGeom>
          <a:solidFill>
            <a:srgbClr val="F6C90E"/>
          </a:solidFill>
          <a:ln w="12700">
            <a:solidFill>
              <a:srgbClr val="F6C90E"/>
            </a:solidFill>
            <a:prstDash val="solid"/>
          </a:ln>
        </p:spPr>
      </p:sp>
      <p:sp>
        <p:nvSpPr>
          <p:cNvPr id="14" name="Text 12"/>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Optima Academy Online  |  5th Grade Science  |  Lesson 13.02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0E7C7B"/>
          </a:solidFill>
          <a:ln w="12700">
            <a:solidFill>
              <a:srgbClr val="0E7C7B"/>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NOTICE &amp; WONDER</a:t>
            </a:r>
            <a:endParaRPr lang="en-US" sz="1000" dirty="0"/>
          </a:p>
        </p:txBody>
      </p:sp>
      <p:sp>
        <p:nvSpPr>
          <p:cNvPr id="4" name="Text 2"/>
          <p:cNvSpPr/>
          <p:nvPr/>
        </p:nvSpPr>
        <p:spPr>
          <a:xfrm>
            <a:off x="365760" y="566928"/>
            <a:ext cx="8412480" cy="45720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Three Tests -- Rub, Predict, Watch the Invisible Pull</a:t>
            </a:r>
            <a:endParaRPr lang="en-US" sz="2000" dirty="0"/>
          </a:p>
        </p:txBody>
      </p:sp>
      <p:sp>
        <p:nvSpPr>
          <p:cNvPr id="5" name="Shape 3"/>
          <p:cNvSpPr/>
          <p:nvPr/>
        </p:nvSpPr>
        <p:spPr>
          <a:xfrm>
            <a:off x="365760" y="1097280"/>
            <a:ext cx="8046720" cy="1005840"/>
          </a:xfrm>
          <a:prstGeom prst="rect">
            <a:avLst/>
          </a:prstGeom>
          <a:solidFill>
            <a:srgbClr val="1E3A5C"/>
          </a:solidFill>
          <a:ln w="12700">
            <a:solidFill>
              <a:srgbClr val="1E3A5C"/>
            </a:solidFill>
            <a:prstDash val="solid"/>
          </a:ln>
        </p:spPr>
      </p:sp>
      <p:sp>
        <p:nvSpPr>
          <p:cNvPr id="6" name="Text 4"/>
          <p:cNvSpPr/>
          <p:nvPr/>
        </p:nvSpPr>
        <p:spPr>
          <a:xfrm>
            <a:off x="475488" y="1161288"/>
            <a:ext cx="7827264" cy="8778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Today you will run three quick static electricity tests using a balloon, a comb, paper bits, and water. Each test shows static charge at work in a different way -- pulling, pushing, or bending.</a:t>
            </a:r>
            <a:endParaRPr lang="en-US" sz="1300" dirty="0"/>
          </a:p>
        </p:txBody>
      </p:sp>
      <p:sp>
        <p:nvSpPr>
          <p:cNvPr id="7" name="Shape 5"/>
          <p:cNvSpPr/>
          <p:nvPr/>
        </p:nvSpPr>
        <p:spPr>
          <a:xfrm>
            <a:off x="365760" y="2249424"/>
            <a:ext cx="1645920" cy="274320"/>
          </a:xfrm>
          <a:prstGeom prst="rect">
            <a:avLst/>
          </a:prstGeom>
          <a:solidFill>
            <a:srgbClr val="F6C90E"/>
          </a:solidFill>
          <a:ln w="12700">
            <a:solidFill>
              <a:srgbClr val="F6C90E"/>
            </a:solidFill>
            <a:prstDash val="solid"/>
          </a:ln>
        </p:spPr>
      </p:sp>
      <p:sp>
        <p:nvSpPr>
          <p:cNvPr id="8" name="Text 6"/>
          <p:cNvSpPr/>
          <p:nvPr/>
        </p:nvSpPr>
        <p:spPr>
          <a:xfrm>
            <a:off x="365760" y="2249424"/>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NOTICE</a:t>
            </a:r>
            <a:endParaRPr lang="en-US" sz="1000" dirty="0"/>
          </a:p>
        </p:txBody>
      </p:sp>
      <p:sp>
        <p:nvSpPr>
          <p:cNvPr id="9" name="Shape 7"/>
          <p:cNvSpPr/>
          <p:nvPr/>
        </p:nvSpPr>
        <p:spPr>
          <a:xfrm>
            <a:off x="365760" y="2596896"/>
            <a:ext cx="4023360" cy="914400"/>
          </a:xfrm>
          <a:prstGeom prst="rect">
            <a:avLst/>
          </a:prstGeom>
          <a:solidFill>
            <a:srgbClr val="1E3A5C"/>
          </a:solidFill>
          <a:ln w="12700">
            <a:solidFill>
              <a:srgbClr val="1E3A5C"/>
            </a:solidFill>
            <a:prstDash val="solid"/>
          </a:ln>
        </p:spPr>
      </p:sp>
      <p:sp>
        <p:nvSpPr>
          <p:cNvPr id="10" name="Text 8"/>
          <p:cNvSpPr/>
          <p:nvPr/>
        </p:nvSpPr>
        <p:spPr>
          <a:xfrm>
            <a:off x="475488" y="2660904"/>
            <a:ext cx="3803904" cy="786384"/>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Which test do you think will be most surprising? What do you expect to see?</a:t>
            </a:r>
            <a:endParaRPr lang="en-US" sz="1200" dirty="0"/>
          </a:p>
        </p:txBody>
      </p:sp>
      <p:sp>
        <p:nvSpPr>
          <p:cNvPr id="11" name="Shape 9"/>
          <p:cNvSpPr/>
          <p:nvPr/>
        </p:nvSpPr>
        <p:spPr>
          <a:xfrm>
            <a:off x="4572000" y="2249424"/>
            <a:ext cx="1645920" cy="274320"/>
          </a:xfrm>
          <a:prstGeom prst="rect">
            <a:avLst/>
          </a:prstGeom>
          <a:solidFill>
            <a:srgbClr val="F6C90E"/>
          </a:solidFill>
          <a:ln w="12700">
            <a:solidFill>
              <a:srgbClr val="F6C90E"/>
            </a:solidFill>
            <a:prstDash val="solid"/>
          </a:ln>
        </p:spPr>
      </p:sp>
      <p:sp>
        <p:nvSpPr>
          <p:cNvPr id="12" name="Text 10"/>
          <p:cNvSpPr/>
          <p:nvPr/>
        </p:nvSpPr>
        <p:spPr>
          <a:xfrm>
            <a:off x="4572000" y="2249424"/>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WONDER</a:t>
            </a:r>
            <a:endParaRPr lang="en-US" sz="1000" dirty="0"/>
          </a:p>
        </p:txBody>
      </p:sp>
      <p:sp>
        <p:nvSpPr>
          <p:cNvPr id="13" name="Shape 11"/>
          <p:cNvSpPr/>
          <p:nvPr/>
        </p:nvSpPr>
        <p:spPr>
          <a:xfrm>
            <a:off x="4572000" y="2596896"/>
            <a:ext cx="4206240" cy="914400"/>
          </a:xfrm>
          <a:prstGeom prst="rect">
            <a:avLst/>
          </a:prstGeom>
          <a:solidFill>
            <a:srgbClr val="1E3A5C"/>
          </a:solidFill>
          <a:ln w="12700">
            <a:solidFill>
              <a:srgbClr val="1E3A5C"/>
            </a:solidFill>
            <a:prstDash val="solid"/>
          </a:ln>
        </p:spPr>
      </p:sp>
      <p:sp>
        <p:nvSpPr>
          <p:cNvPr id="14" name="Text 12"/>
          <p:cNvSpPr/>
          <p:nvPr/>
        </p:nvSpPr>
        <p:spPr>
          <a:xfrm>
            <a:off x="4681728" y="2660904"/>
            <a:ext cx="3986784" cy="786384"/>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How can an invisible force move something without touching it?</a:t>
            </a:r>
            <a:endParaRPr lang="en-US" sz="1200" dirty="0"/>
          </a:p>
        </p:txBody>
      </p:sp>
      <p:sp>
        <p:nvSpPr>
          <p:cNvPr id="15" name="Shape 13"/>
          <p:cNvSpPr/>
          <p:nvPr/>
        </p:nvSpPr>
        <p:spPr>
          <a:xfrm>
            <a:off x="0" y="4896612"/>
            <a:ext cx="9144000" cy="246888"/>
          </a:xfrm>
          <a:prstGeom prst="rect">
            <a:avLst/>
          </a:prstGeom>
          <a:solidFill>
            <a:srgbClr val="F6C90E"/>
          </a:solidFill>
          <a:ln w="12700">
            <a:solidFill>
              <a:srgbClr val="F6C90E"/>
            </a:solidFill>
            <a:prstDash val="solid"/>
          </a:ln>
        </p:spPr>
      </p:sp>
      <p:sp>
        <p:nvSpPr>
          <p:cNvPr id="16" name="Text 14"/>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13.02  |  Engage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07D35"/>
          </a:solidFill>
          <a:ln w="12700">
            <a:solidFill>
              <a:srgbClr val="F07D35"/>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PREDICT</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1A1A2E"/>
                </a:solidFill>
                <a:latin typeface="Cambria" pitchFamily="34" charset="0"/>
                <a:ea typeface="Cambria" pitchFamily="34" charset="-122"/>
                <a:cs typeface="Cambria" pitchFamily="34" charset="-120"/>
              </a:rPr>
              <a:t>Before We Start -- Write Your Prediction</a:t>
            </a:r>
            <a:endParaRPr lang="en-US" sz="2000" dirty="0"/>
          </a:p>
        </p:txBody>
      </p:sp>
      <p:sp>
        <p:nvSpPr>
          <p:cNvPr id="5" name="Shape 3"/>
          <p:cNvSpPr/>
          <p:nvPr/>
        </p:nvSpPr>
        <p:spPr>
          <a:xfrm>
            <a:off x="365760" y="1051560"/>
            <a:ext cx="8046720" cy="804672"/>
          </a:xfrm>
          <a:prstGeom prst="rect">
            <a:avLst/>
          </a:prstGeom>
          <a:solidFill>
            <a:srgbClr val="D6EAF8"/>
          </a:solidFill>
          <a:ln w="12700">
            <a:solidFill>
              <a:srgbClr val="D6EAF8"/>
            </a:solidFill>
            <a:prstDash val="solid"/>
          </a:ln>
        </p:spPr>
      </p:sp>
      <p:sp>
        <p:nvSpPr>
          <p:cNvPr id="6" name="Text 4"/>
          <p:cNvSpPr/>
          <p:nvPr/>
        </p:nvSpPr>
        <p:spPr>
          <a:xfrm>
            <a:off x="475488" y="1115568"/>
            <a:ext cx="7827264" cy="676656"/>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In each of the three tests, predict what you think will happen. Will the objects attract, repel, or do nothing? Write at least two sentences explaining why.</a:t>
            </a:r>
            <a:endParaRPr lang="en-US" sz="1300" dirty="0"/>
          </a:p>
        </p:txBody>
      </p:sp>
      <p:sp>
        <p:nvSpPr>
          <p:cNvPr id="7" name="Text 5"/>
          <p:cNvSpPr/>
          <p:nvPr/>
        </p:nvSpPr>
        <p:spPr>
          <a:xfrm>
            <a:off x="365760" y="1920240"/>
            <a:ext cx="8046720" cy="310896"/>
          </a:xfrm>
          <a:prstGeom prst="rect">
            <a:avLst/>
          </a:prstGeom>
          <a:noFill/>
          <a:ln/>
        </p:spPr>
        <p:txBody>
          <a:bodyPr wrap="square" rtlCol="0" anchor="ctr"/>
          <a:lstStyle/>
          <a:p>
            <a:pPr algn="l" indent="0" marL="0">
              <a:buNone/>
            </a:pPr>
            <a:r>
              <a:rPr lang="en-US" sz="1300" b="1" dirty="0">
                <a:solidFill>
                  <a:srgbClr val="2C4A6E"/>
                </a:solidFill>
                <a:latin typeface="Calibri" pitchFamily="34" charset="0"/>
                <a:ea typeface="Calibri" pitchFamily="34" charset="-122"/>
                <a:cs typeface="Calibri" pitchFamily="34" charset="-120"/>
              </a:rPr>
              <a:t>Your Prediction:</a:t>
            </a:r>
            <a:endParaRPr lang="en-US" sz="1300" dirty="0"/>
          </a:p>
        </p:txBody>
      </p:sp>
      <p:sp>
        <p:nvSpPr>
          <p:cNvPr id="8" name="Shape 6"/>
          <p:cNvSpPr/>
          <p:nvPr/>
        </p:nvSpPr>
        <p:spPr>
          <a:xfrm>
            <a:off x="365760" y="2286000"/>
            <a:ext cx="8046720" cy="1737360"/>
          </a:xfrm>
          <a:prstGeom prst="rect">
            <a:avLst/>
          </a:prstGeom>
          <a:solidFill>
            <a:srgbClr val="FFFFFF"/>
          </a:solidFill>
          <a:ln w="12700">
            <a:solidFill>
              <a:srgbClr val="FFFFFF"/>
            </a:solidFill>
            <a:prstDash val="solid"/>
          </a:ln>
        </p:spPr>
      </p:sp>
      <p:sp>
        <p:nvSpPr>
          <p:cNvPr id="9" name="Text 7"/>
          <p:cNvSpPr/>
          <p:nvPr/>
        </p:nvSpPr>
        <p:spPr>
          <a:xfrm>
            <a:off x="475488" y="2350008"/>
            <a:ext cx="7827264" cy="1609344"/>
          </a:xfrm>
          <a:prstGeom prst="rect">
            <a:avLst/>
          </a:prstGeom>
          <a:noFill/>
          <a:ln/>
        </p:spPr>
        <p:txBody>
          <a:bodyPr wrap="square" lIns="0" tIns="0" rIns="0" bIns="0" rtlCol="0" anchor="ctr"/>
          <a:lstStyle/>
          <a:p>
            <a:pPr algn="l" indent="0" marL="0">
              <a:buNone/>
            </a:pPr>
            <a:r>
              <a:rPr lang="en-US" sz="1200" dirty="0">
                <a:solidFill>
                  <a:srgbClr val="5E7B9A"/>
                </a:solidFill>
                <a:latin typeface="Calibri" pitchFamily="34" charset="0"/>
                <a:ea typeface="Calibri" pitchFamily="34" charset="-122"/>
                <a:cs typeface="Calibri" pitchFamily="34" charset="-120"/>
              </a:rPr>
              <a:t>Write in your science notebook. You will return to this at the end.</a:t>
            </a:r>
            <a:endParaRPr lang="en-US" sz="1200" dirty="0"/>
          </a:p>
        </p:txBody>
      </p:sp>
      <p:sp>
        <p:nvSpPr>
          <p:cNvPr id="10" name="Shape 8"/>
          <p:cNvSpPr/>
          <p:nvPr/>
        </p:nvSpPr>
        <p:spPr>
          <a:xfrm>
            <a:off x="0" y="4896612"/>
            <a:ext cx="9144000" cy="246888"/>
          </a:xfrm>
          <a:prstGeom prst="rect">
            <a:avLst/>
          </a:prstGeom>
          <a:solidFill>
            <a:srgbClr val="F6C90E"/>
          </a:solidFill>
          <a:ln w="12700">
            <a:solidFill>
              <a:srgbClr val="F6C90E"/>
            </a:solidFill>
            <a:prstDash val="solid"/>
          </a:ln>
        </p:spPr>
      </p:sp>
      <p:sp>
        <p:nvSpPr>
          <p:cNvPr id="11" name="Text 9"/>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13.02  |  Prediction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a:t>
            </a:r>
            <a:endParaRPr lang="en-US" sz="1000" dirty="0"/>
          </a:p>
        </p:txBody>
      </p:sp>
      <p:sp>
        <p:nvSpPr>
          <p:cNvPr id="4" name="Text 2"/>
          <p:cNvSpPr/>
          <p:nvPr/>
        </p:nvSpPr>
        <p:spPr>
          <a:xfrm>
            <a:off x="365760" y="566928"/>
            <a:ext cx="8412480" cy="347472"/>
          </a:xfrm>
          <a:prstGeom prst="rect">
            <a:avLst/>
          </a:prstGeom>
          <a:noFill/>
          <a:ln/>
        </p:spPr>
        <p:txBody>
          <a:bodyPr wrap="square"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Key Words</a:t>
            </a:r>
            <a:endParaRPr lang="en-US" sz="1900" dirty="0"/>
          </a:p>
        </p:txBody>
      </p:sp>
      <p:sp>
        <p:nvSpPr>
          <p:cNvPr id="5" name="Shape 3"/>
          <p:cNvSpPr/>
          <p:nvPr/>
        </p:nvSpPr>
        <p:spPr>
          <a:xfrm>
            <a:off x="365760" y="987552"/>
            <a:ext cx="4114800" cy="1645920"/>
          </a:xfrm>
          <a:prstGeom prst="rect">
            <a:avLst/>
          </a:prstGeom>
          <a:solidFill>
            <a:srgbClr val="2E86AB"/>
          </a:solidFill>
          <a:ln w="12700">
            <a:solidFill>
              <a:srgbClr val="2E86AB"/>
            </a:solidFill>
            <a:prstDash val="solid"/>
          </a:ln>
        </p:spPr>
      </p:sp>
      <p:sp>
        <p:nvSpPr>
          <p:cNvPr id="6" name="Text 4"/>
          <p:cNvSpPr/>
          <p:nvPr/>
        </p:nvSpPr>
        <p:spPr>
          <a:xfrm>
            <a:off x="475488" y="1033272"/>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charge</a:t>
            </a:r>
            <a:endParaRPr lang="en-US" sz="1400" dirty="0"/>
          </a:p>
        </p:txBody>
      </p:sp>
      <p:sp>
        <p:nvSpPr>
          <p:cNvPr id="7" name="Text 5"/>
          <p:cNvSpPr/>
          <p:nvPr/>
        </p:nvSpPr>
        <p:spPr>
          <a:xfrm>
            <a:off x="475488" y="1444752"/>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A property of tiny particles. Comes in two kinds: positive (+) and negative (-).</a:t>
            </a:r>
            <a:endParaRPr lang="en-US" sz="1200" dirty="0"/>
          </a:p>
        </p:txBody>
      </p:sp>
      <p:sp>
        <p:nvSpPr>
          <p:cNvPr id="8" name="Shape 6"/>
          <p:cNvSpPr/>
          <p:nvPr/>
        </p:nvSpPr>
        <p:spPr>
          <a:xfrm>
            <a:off x="4663440" y="987552"/>
            <a:ext cx="4114800" cy="1645920"/>
          </a:xfrm>
          <a:prstGeom prst="rect">
            <a:avLst/>
          </a:prstGeom>
          <a:solidFill>
            <a:srgbClr val="2E86AB"/>
          </a:solidFill>
          <a:ln w="12700">
            <a:solidFill>
              <a:srgbClr val="2E86AB"/>
            </a:solidFill>
            <a:prstDash val="solid"/>
          </a:ln>
        </p:spPr>
      </p:sp>
      <p:sp>
        <p:nvSpPr>
          <p:cNvPr id="9" name="Text 7"/>
          <p:cNvSpPr/>
          <p:nvPr/>
        </p:nvSpPr>
        <p:spPr>
          <a:xfrm>
            <a:off x="4773168" y="1033272"/>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static</a:t>
            </a:r>
            <a:endParaRPr lang="en-US" sz="1400" dirty="0"/>
          </a:p>
        </p:txBody>
      </p:sp>
      <p:sp>
        <p:nvSpPr>
          <p:cNvPr id="10" name="Text 8"/>
          <p:cNvSpPr/>
          <p:nvPr/>
        </p:nvSpPr>
        <p:spPr>
          <a:xfrm>
            <a:off x="4773168" y="1444752"/>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Built-up charge that stays in place. Created by rubbing objects together.</a:t>
            </a:r>
            <a:endParaRPr lang="en-US" sz="1200" dirty="0"/>
          </a:p>
        </p:txBody>
      </p:sp>
      <p:sp>
        <p:nvSpPr>
          <p:cNvPr id="11" name="Shape 9"/>
          <p:cNvSpPr/>
          <p:nvPr/>
        </p:nvSpPr>
        <p:spPr>
          <a:xfrm>
            <a:off x="365760" y="2834640"/>
            <a:ext cx="4114800" cy="1645920"/>
          </a:xfrm>
          <a:prstGeom prst="rect">
            <a:avLst/>
          </a:prstGeom>
          <a:solidFill>
            <a:srgbClr val="2E86AB"/>
          </a:solidFill>
          <a:ln w="12700">
            <a:solidFill>
              <a:srgbClr val="2E86AB"/>
            </a:solidFill>
            <a:prstDash val="solid"/>
          </a:ln>
        </p:spPr>
      </p:sp>
      <p:sp>
        <p:nvSpPr>
          <p:cNvPr id="12" name="Text 10"/>
          <p:cNvSpPr/>
          <p:nvPr/>
        </p:nvSpPr>
        <p:spPr>
          <a:xfrm>
            <a:off x="475488" y="2880360"/>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attract</a:t>
            </a:r>
            <a:endParaRPr lang="en-US" sz="1400" dirty="0"/>
          </a:p>
        </p:txBody>
      </p:sp>
      <p:sp>
        <p:nvSpPr>
          <p:cNvPr id="13" name="Text 11"/>
          <p:cNvSpPr/>
          <p:nvPr/>
        </p:nvSpPr>
        <p:spPr>
          <a:xfrm>
            <a:off x="475488" y="3291840"/>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To pull together. Opposite charges attract. Charged things can attract uncharged things too.</a:t>
            </a:r>
            <a:endParaRPr lang="en-US" sz="1200" dirty="0"/>
          </a:p>
        </p:txBody>
      </p:sp>
      <p:sp>
        <p:nvSpPr>
          <p:cNvPr id="14" name="Shape 12"/>
          <p:cNvSpPr/>
          <p:nvPr/>
        </p:nvSpPr>
        <p:spPr>
          <a:xfrm>
            <a:off x="4663440" y="2834640"/>
            <a:ext cx="4114800" cy="1645920"/>
          </a:xfrm>
          <a:prstGeom prst="rect">
            <a:avLst/>
          </a:prstGeom>
          <a:solidFill>
            <a:srgbClr val="2E86AB"/>
          </a:solidFill>
          <a:ln w="12700">
            <a:solidFill>
              <a:srgbClr val="2E86AB"/>
            </a:solidFill>
            <a:prstDash val="solid"/>
          </a:ln>
        </p:spPr>
      </p:sp>
      <p:sp>
        <p:nvSpPr>
          <p:cNvPr id="15" name="Text 13"/>
          <p:cNvSpPr/>
          <p:nvPr/>
        </p:nvSpPr>
        <p:spPr>
          <a:xfrm>
            <a:off x="4773168" y="2880360"/>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repel</a:t>
            </a:r>
            <a:endParaRPr lang="en-US" sz="1400" dirty="0"/>
          </a:p>
        </p:txBody>
      </p:sp>
      <p:sp>
        <p:nvSpPr>
          <p:cNvPr id="16" name="Text 14"/>
          <p:cNvSpPr/>
          <p:nvPr/>
        </p:nvSpPr>
        <p:spPr>
          <a:xfrm>
            <a:off x="4773168" y="3291840"/>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To push apart. Like charges repel each other.</a:t>
            </a:r>
            <a:endParaRPr lang="en-US" sz="1200" dirty="0"/>
          </a:p>
        </p:txBody>
      </p:sp>
      <p:sp>
        <p:nvSpPr>
          <p:cNvPr id="17" name="Shape 15"/>
          <p:cNvSpPr/>
          <p:nvPr/>
        </p:nvSpPr>
        <p:spPr>
          <a:xfrm>
            <a:off x="0" y="4896612"/>
            <a:ext cx="9144000" cy="246888"/>
          </a:xfrm>
          <a:prstGeom prst="rect">
            <a:avLst/>
          </a:prstGeom>
          <a:solidFill>
            <a:srgbClr val="F6C90E"/>
          </a:solidFill>
          <a:ln w="12700">
            <a:solidFill>
              <a:srgbClr val="F6C90E"/>
            </a:solidFill>
            <a:prstDash val="solid"/>
          </a:ln>
        </p:spPr>
      </p:sp>
      <p:sp>
        <p:nvSpPr>
          <p:cNvPr id="18" name="Text 16"/>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13.02  |  Vocabulary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a:t>
            </a:r>
            <a:endParaRPr lang="en-US" sz="1000" dirty="0"/>
          </a:p>
        </p:txBody>
      </p:sp>
      <p:sp>
        <p:nvSpPr>
          <p:cNvPr id="4" name="Text 2"/>
          <p:cNvSpPr/>
          <p:nvPr/>
        </p:nvSpPr>
        <p:spPr>
          <a:xfrm>
            <a:off x="365760" y="566928"/>
            <a:ext cx="8412480" cy="347472"/>
          </a:xfrm>
          <a:prstGeom prst="rect">
            <a:avLst/>
          </a:prstGeom>
          <a:noFill/>
          <a:ln/>
        </p:spPr>
        <p:txBody>
          <a:bodyPr wrap="square"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Key Words (cont.)</a:t>
            </a:r>
            <a:endParaRPr lang="en-US" sz="1900" dirty="0"/>
          </a:p>
        </p:txBody>
      </p:sp>
      <p:sp>
        <p:nvSpPr>
          <p:cNvPr id="5" name="Shape 3"/>
          <p:cNvSpPr/>
          <p:nvPr/>
        </p:nvSpPr>
        <p:spPr>
          <a:xfrm>
            <a:off x="365760" y="987552"/>
            <a:ext cx="4114800" cy="1645920"/>
          </a:xfrm>
          <a:prstGeom prst="rect">
            <a:avLst/>
          </a:prstGeom>
          <a:solidFill>
            <a:srgbClr val="2E86AB"/>
          </a:solidFill>
          <a:ln w="12700">
            <a:solidFill>
              <a:srgbClr val="2E86AB"/>
            </a:solidFill>
            <a:prstDash val="solid"/>
          </a:ln>
        </p:spPr>
      </p:sp>
      <p:sp>
        <p:nvSpPr>
          <p:cNvPr id="6" name="Text 4"/>
          <p:cNvSpPr/>
          <p:nvPr/>
        </p:nvSpPr>
        <p:spPr>
          <a:xfrm>
            <a:off x="475488" y="1033272"/>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observation</a:t>
            </a:r>
            <a:endParaRPr lang="en-US" sz="1400" dirty="0"/>
          </a:p>
        </p:txBody>
      </p:sp>
      <p:sp>
        <p:nvSpPr>
          <p:cNvPr id="7" name="Text 5"/>
          <p:cNvSpPr/>
          <p:nvPr/>
        </p:nvSpPr>
        <p:spPr>
          <a:xfrm>
            <a:off x="475488" y="1444752"/>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Something you see, hear, or feel. The basis of scientific evidence.</a:t>
            </a:r>
            <a:endParaRPr lang="en-US" sz="1200" dirty="0"/>
          </a:p>
        </p:txBody>
      </p:sp>
      <p:sp>
        <p:nvSpPr>
          <p:cNvPr id="8" name="Shape 6"/>
          <p:cNvSpPr/>
          <p:nvPr/>
        </p:nvSpPr>
        <p:spPr>
          <a:xfrm>
            <a:off x="4663440" y="987552"/>
            <a:ext cx="4114800" cy="1645920"/>
          </a:xfrm>
          <a:prstGeom prst="rect">
            <a:avLst/>
          </a:prstGeom>
          <a:solidFill>
            <a:srgbClr val="2E86AB"/>
          </a:solidFill>
          <a:ln w="12700">
            <a:solidFill>
              <a:srgbClr val="2E86AB"/>
            </a:solidFill>
            <a:prstDash val="solid"/>
          </a:ln>
        </p:spPr>
      </p:sp>
      <p:sp>
        <p:nvSpPr>
          <p:cNvPr id="9" name="Text 7"/>
          <p:cNvSpPr/>
          <p:nvPr/>
        </p:nvSpPr>
        <p:spPr>
          <a:xfrm>
            <a:off x="4773168" y="1033272"/>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evidence</a:t>
            </a:r>
            <a:endParaRPr lang="en-US" sz="1400" dirty="0"/>
          </a:p>
        </p:txBody>
      </p:sp>
      <p:sp>
        <p:nvSpPr>
          <p:cNvPr id="10" name="Text 8"/>
          <p:cNvSpPr/>
          <p:nvPr/>
        </p:nvSpPr>
        <p:spPr>
          <a:xfrm>
            <a:off x="4773168" y="1444752"/>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Observations that support a claim. Movement or bending are evidence of static.</a:t>
            </a:r>
            <a:endParaRPr lang="en-US" sz="1200" dirty="0"/>
          </a:p>
        </p:txBody>
      </p:sp>
      <p:sp>
        <p:nvSpPr>
          <p:cNvPr id="11" name="Shape 9"/>
          <p:cNvSpPr/>
          <p:nvPr/>
        </p:nvSpPr>
        <p:spPr>
          <a:xfrm>
            <a:off x="365760" y="2834640"/>
            <a:ext cx="8412480" cy="1645920"/>
          </a:xfrm>
          <a:prstGeom prst="rect">
            <a:avLst/>
          </a:prstGeom>
          <a:solidFill>
            <a:srgbClr val="0A2240"/>
          </a:solidFill>
          <a:ln w="12700">
            <a:solidFill>
              <a:srgbClr val="0A2240"/>
            </a:solidFill>
            <a:prstDash val="solid"/>
          </a:ln>
        </p:spPr>
      </p:sp>
      <p:sp>
        <p:nvSpPr>
          <p:cNvPr id="12" name="Text 10"/>
          <p:cNvSpPr/>
          <p:nvPr/>
        </p:nvSpPr>
        <p:spPr>
          <a:xfrm>
            <a:off x="475488" y="2898648"/>
            <a:ext cx="8193024" cy="1517904"/>
          </a:xfrm>
          <a:prstGeom prst="rect">
            <a:avLst/>
          </a:prstGeom>
          <a:noFill/>
          <a:ln/>
        </p:spPr>
        <p:txBody>
          <a:bodyPr wrap="square" lIns="0" tIns="0" rIns="0" bIns="0"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REVIEW RULE:</a:t>
            </a:r>
            <a:endParaRPr lang="en-US" sz="1400" dirty="0"/>
          </a:p>
          <a:p>
            <a:pPr algn="l" indent="0" marL="0">
              <a:buNone/>
            </a:pPr>
            <a:r>
              <a:rPr lang="en-US" sz="1400" b="1" dirty="0">
                <a:solidFill>
                  <a:srgbClr val="F6C90E"/>
                </a:solidFill>
                <a:latin typeface="Calibri" pitchFamily="34" charset="0"/>
                <a:ea typeface="Calibri" pitchFamily="34" charset="-122"/>
                <a:cs typeface="Calibri" pitchFamily="34" charset="-120"/>
              </a:rPr>
              <a:t>Opposite charges attract. Like charges repel.</a:t>
            </a:r>
            <a:endParaRPr lang="en-US" sz="1400" dirty="0"/>
          </a:p>
          <a:p>
            <a:pPr algn="l" indent="0" marL="0">
              <a:buNone/>
            </a:pPr>
            <a:r>
              <a:rPr lang="en-US" sz="1400" b="1" dirty="0">
                <a:solidFill>
                  <a:srgbClr val="F6C90E"/>
                </a:solidFill>
                <a:latin typeface="Calibri" pitchFamily="34" charset="0"/>
                <a:ea typeface="Calibri" pitchFamily="34" charset="-122"/>
                <a:cs typeface="Calibri" pitchFamily="34" charset="-120"/>
              </a:rPr>
              <a:t>More force = more change in motion.</a:t>
            </a:r>
            <a:endParaRPr lang="en-US" sz="1400" dirty="0"/>
          </a:p>
          <a:p>
            <a:pPr algn="l" indent="0" marL="0">
              <a:buNone/>
            </a:pPr>
            <a:r>
              <a:rPr lang="en-US" sz="1400" b="1" dirty="0">
                <a:solidFill>
                  <a:srgbClr val="F6C90E"/>
                </a:solidFill>
                <a:latin typeface="Calibri" pitchFamily="34" charset="0"/>
                <a:ea typeface="Calibri" pitchFamily="34" charset="-122"/>
                <a:cs typeface="Calibri" pitchFamily="34" charset="-120"/>
              </a:rPr>
              <a:t>Balanced forces = no motion.</a:t>
            </a:r>
            <a:endParaRPr lang="en-US" sz="1400" dirty="0"/>
          </a:p>
        </p:txBody>
      </p:sp>
      <p:sp>
        <p:nvSpPr>
          <p:cNvPr id="13" name="Shape 11"/>
          <p:cNvSpPr/>
          <p:nvPr/>
        </p:nvSpPr>
        <p:spPr>
          <a:xfrm>
            <a:off x="0" y="4896612"/>
            <a:ext cx="9144000" cy="246888"/>
          </a:xfrm>
          <a:prstGeom prst="rect">
            <a:avLst/>
          </a:prstGeom>
          <a:solidFill>
            <a:srgbClr val="F6C90E"/>
          </a:solidFill>
          <a:ln w="12700">
            <a:solidFill>
              <a:srgbClr val="F6C90E"/>
            </a:solidFill>
            <a:prstDash val="solid"/>
          </a:ln>
        </p:spPr>
      </p:sp>
      <p:sp>
        <p:nvSpPr>
          <p:cNvPr id="14" name="Text 12"/>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13.02  |  Vocabulary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1A3A5C"/>
          </a:solidFill>
          <a:ln w="12700">
            <a:solidFill>
              <a:srgbClr val="1A3A5C"/>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100" b="1" dirty="0">
                <a:solidFill>
                  <a:srgbClr val="FFFFFF"/>
                </a:solidFill>
                <a:latin typeface="Cambria" pitchFamily="34" charset="0"/>
                <a:ea typeface="Cambria" pitchFamily="34" charset="-122"/>
                <a:cs typeface="Cambria" pitchFamily="34" charset="-120"/>
              </a:rPr>
              <a:t>The Big Idea</a:t>
            </a:r>
            <a:endParaRPr lang="en-US" sz="2100" dirty="0"/>
          </a:p>
        </p:txBody>
      </p:sp>
      <p:sp>
        <p:nvSpPr>
          <p:cNvPr id="5" name="Shape 3"/>
          <p:cNvSpPr/>
          <p:nvPr/>
        </p:nvSpPr>
        <p:spPr>
          <a:xfrm>
            <a:off x="365760" y="1051560"/>
            <a:ext cx="8412480" cy="1005840"/>
          </a:xfrm>
          <a:prstGeom prst="rect">
            <a:avLst/>
          </a:prstGeom>
          <a:solidFill>
            <a:srgbClr val="085E5D"/>
          </a:solidFill>
          <a:ln w="12700">
            <a:solidFill>
              <a:srgbClr val="085E5D"/>
            </a:solidFill>
            <a:prstDash val="solid"/>
          </a:ln>
        </p:spPr>
      </p:sp>
      <p:sp>
        <p:nvSpPr>
          <p:cNvPr id="6" name="Text 4"/>
          <p:cNvSpPr/>
          <p:nvPr/>
        </p:nvSpPr>
        <p:spPr>
          <a:xfrm>
            <a:off x="475488" y="1115568"/>
            <a:ext cx="8193024" cy="877824"/>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To prove static was at work, look for movement without touching. Paper bits jumping up. Balloons swinging apart. Water bending sideways. All evidence of invisible electric force.</a:t>
            </a:r>
            <a:endParaRPr lang="en-US" sz="1400" dirty="0"/>
          </a:p>
        </p:txBody>
      </p:sp>
      <p:sp>
        <p:nvSpPr>
          <p:cNvPr id="7" name="Text 5"/>
          <p:cNvSpPr/>
          <p:nvPr/>
        </p:nvSpPr>
        <p:spPr>
          <a:xfrm>
            <a:off x="365760" y="2194560"/>
            <a:ext cx="8412480" cy="292608"/>
          </a:xfrm>
          <a:prstGeom prst="rect">
            <a:avLst/>
          </a:prstGeom>
          <a:noFill/>
          <a:ln/>
        </p:spPr>
        <p:txBody>
          <a:bodyPr wrap="square" rtlCol="0" anchor="ctr"/>
          <a:lstStyle/>
          <a:p>
            <a:pPr algn="l" indent="0" marL="0">
              <a:buNone/>
            </a:pPr>
            <a:r>
              <a:rPr lang="en-US" sz="1100" b="1" dirty="0">
                <a:solidFill>
                  <a:srgbClr val="F6C90E"/>
                </a:solidFill>
                <a:latin typeface="Calibri" pitchFamily="34" charset="0"/>
                <a:ea typeface="Calibri" pitchFamily="34" charset="-122"/>
                <a:cs typeface="Calibri" pitchFamily="34" charset="-120"/>
              </a:rPr>
              <a:t>STOP AND THINK</a:t>
            </a:r>
            <a:endParaRPr lang="en-US" sz="1100" dirty="0"/>
          </a:p>
        </p:txBody>
      </p:sp>
      <p:sp>
        <p:nvSpPr>
          <p:cNvPr id="8" name="Shape 6"/>
          <p:cNvSpPr/>
          <p:nvPr/>
        </p:nvSpPr>
        <p:spPr>
          <a:xfrm>
            <a:off x="365760" y="2542032"/>
            <a:ext cx="4114800" cy="1463040"/>
          </a:xfrm>
          <a:prstGeom prst="rect">
            <a:avLst/>
          </a:prstGeom>
          <a:solidFill>
            <a:srgbClr val="085E5D"/>
          </a:solidFill>
          <a:ln w="12700">
            <a:solidFill>
              <a:srgbClr val="085E5D"/>
            </a:solidFill>
            <a:prstDash val="solid"/>
          </a:ln>
        </p:spPr>
      </p:sp>
      <p:sp>
        <p:nvSpPr>
          <p:cNvPr id="9" name="Text 7"/>
          <p:cNvSpPr/>
          <p:nvPr/>
        </p:nvSpPr>
        <p:spPr>
          <a:xfrm>
            <a:off x="475488" y="2606040"/>
            <a:ext cx="3895344" cy="13350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"Why might a balloon work better for static tests than a glass cup or a metal spoon?"</a:t>
            </a:r>
            <a:endParaRPr lang="en-US" sz="1300" dirty="0"/>
          </a:p>
        </p:txBody>
      </p:sp>
      <p:sp>
        <p:nvSpPr>
          <p:cNvPr id="10" name="Shape 8"/>
          <p:cNvSpPr/>
          <p:nvPr/>
        </p:nvSpPr>
        <p:spPr>
          <a:xfrm>
            <a:off x="4663440" y="2542032"/>
            <a:ext cx="4114800" cy="1463040"/>
          </a:xfrm>
          <a:prstGeom prst="rect">
            <a:avLst/>
          </a:prstGeom>
          <a:solidFill>
            <a:srgbClr val="085E5D"/>
          </a:solidFill>
          <a:ln w="12700">
            <a:solidFill>
              <a:srgbClr val="085E5D"/>
            </a:solidFill>
            <a:prstDash val="solid"/>
          </a:ln>
        </p:spPr>
      </p:sp>
      <p:sp>
        <p:nvSpPr>
          <p:cNvPr id="11" name="Text 9"/>
          <p:cNvSpPr/>
          <p:nvPr/>
        </p:nvSpPr>
        <p:spPr>
          <a:xfrm>
            <a:off x="4773168" y="2606040"/>
            <a:ext cx="3895344" cy="13350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"Which test do you think will give the clearest evidence of charge at work? Why?"</a:t>
            </a:r>
            <a:endParaRPr lang="en-US" sz="13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13.02  |  Key Concept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BF4FA"/>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rtlCol="0" anchor="ctr"/>
          <a:lstStyle/>
          <a:p>
            <a:pPr algn="l" indent="0" marL="0">
              <a:buNone/>
            </a:pPr>
            <a:r>
              <a:rPr lang="en-US" sz="1700" b="1" dirty="0">
                <a:solidFill>
                  <a:srgbClr val="1A3A5C"/>
                </a:solidFill>
                <a:latin typeface="Cambria" pitchFamily="34" charset="0"/>
                <a:ea typeface="Cambria" pitchFamily="34" charset="-122"/>
                <a:cs typeface="Cambria" pitchFamily="34" charset="-120"/>
              </a:rPr>
              <a:t>Safety First</a:t>
            </a:r>
            <a:endParaRPr lang="en-US" sz="1700" dirty="0"/>
          </a:p>
        </p:txBody>
      </p:sp>
      <p:sp>
        <p:nvSpPr>
          <p:cNvPr id="3" name="Shape 1"/>
          <p:cNvSpPr/>
          <p:nvPr/>
        </p:nvSpPr>
        <p:spPr>
          <a:xfrm>
            <a:off x="365760" y="548640"/>
            <a:ext cx="8412480" cy="1170432"/>
          </a:xfrm>
          <a:prstGeom prst="rect">
            <a:avLst/>
          </a:prstGeom>
          <a:solidFill>
            <a:srgbClr val="D6EAF8"/>
          </a:solidFill>
          <a:ln w="12700">
            <a:solidFill>
              <a:srgbClr val="D6EAF8"/>
            </a:solidFill>
            <a:prstDash val="solid"/>
          </a:ln>
        </p:spPr>
      </p:sp>
      <p:sp>
        <p:nvSpPr>
          <p:cNvPr id="4" name="Text 2"/>
          <p:cNvSpPr/>
          <p:nvPr/>
        </p:nvSpPr>
        <p:spPr>
          <a:xfrm>
            <a:off x="475488" y="612648"/>
            <a:ext cx="8193024" cy="1042416"/>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Today's three tests use a balloon, plastic comb, small torn paper bits, and a thin stream of water. They are safe. Do not rub a balloon on someone else's face. Do not stick a charged balloon near electronics. Adult supervision for the water test.</a:t>
            </a:r>
            <a:endParaRPr lang="en-US" sz="1200" dirty="0"/>
          </a:p>
        </p:txBody>
      </p:sp>
      <p:sp>
        <p:nvSpPr>
          <p:cNvPr id="5" name="Text 3"/>
          <p:cNvSpPr/>
          <p:nvPr/>
        </p:nvSpPr>
        <p:spPr>
          <a:xfrm>
            <a:off x="365760" y="1792224"/>
            <a:ext cx="8412480" cy="347472"/>
          </a:xfrm>
          <a:prstGeom prst="rect">
            <a:avLst/>
          </a:prstGeom>
          <a:noFill/>
          <a:ln/>
        </p:spPr>
        <p:txBody>
          <a:bodyPr wrap="square" rtlCol="0" anchor="ctr"/>
          <a:lstStyle/>
          <a:p>
            <a:pPr algn="l" indent="0" marL="0">
              <a:buNone/>
            </a:pPr>
            <a:r>
              <a:rPr lang="en-US" sz="1700" b="1" dirty="0">
                <a:solidFill>
                  <a:srgbClr val="1A3A5C"/>
                </a:solidFill>
                <a:latin typeface="Cambria" pitchFamily="34" charset="0"/>
                <a:ea typeface="Cambria" pitchFamily="34" charset="-122"/>
                <a:cs typeface="Cambria" pitchFamily="34" charset="-120"/>
              </a:rPr>
              <a:t>The Three Tests</a:t>
            </a:r>
            <a:endParaRPr lang="en-US" sz="1700" dirty="0"/>
          </a:p>
        </p:txBody>
      </p:sp>
      <p:sp>
        <p:nvSpPr>
          <p:cNvPr id="6" name="Shape 4"/>
          <p:cNvSpPr/>
          <p:nvPr/>
        </p:nvSpPr>
        <p:spPr>
          <a:xfrm>
            <a:off x="365760" y="2176272"/>
            <a:ext cx="8412480" cy="1170432"/>
          </a:xfrm>
          <a:prstGeom prst="rect">
            <a:avLst/>
          </a:prstGeom>
          <a:solidFill>
            <a:srgbClr val="D6EAF8"/>
          </a:solidFill>
          <a:ln w="12700">
            <a:solidFill>
              <a:srgbClr val="D6EAF8"/>
            </a:solidFill>
            <a:prstDash val="solid"/>
          </a:ln>
        </p:spPr>
      </p:sp>
      <p:sp>
        <p:nvSpPr>
          <p:cNvPr id="7" name="Text 5"/>
          <p:cNvSpPr/>
          <p:nvPr/>
        </p:nvSpPr>
        <p:spPr>
          <a:xfrm>
            <a:off x="475488" y="2240280"/>
            <a:ext cx="8193024" cy="1042416"/>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Test A -- Pull Up Paper: rub balloon on hair, hold above paper bits. Test B -- Push Apart Balloons: rub two balloons, hang near each other. Test C -- Bend Water: rub comb on hair, hold near thin water stream.</a:t>
            </a:r>
            <a:endParaRPr lang="en-US" sz="1200" dirty="0"/>
          </a:p>
        </p:txBody>
      </p:sp>
      <p:sp>
        <p:nvSpPr>
          <p:cNvPr id="8" name="Text 6"/>
          <p:cNvSpPr/>
          <p:nvPr/>
        </p:nvSpPr>
        <p:spPr>
          <a:xfrm>
            <a:off x="365760" y="3419856"/>
            <a:ext cx="8412480" cy="347472"/>
          </a:xfrm>
          <a:prstGeom prst="rect">
            <a:avLst/>
          </a:prstGeom>
          <a:noFill/>
          <a:ln/>
        </p:spPr>
        <p:txBody>
          <a:bodyPr wrap="square" rtlCol="0" anchor="ctr"/>
          <a:lstStyle/>
          <a:p>
            <a:pPr algn="l" indent="0" marL="0">
              <a:buNone/>
            </a:pPr>
            <a:r>
              <a:rPr lang="en-US" sz="1700" b="1" dirty="0">
                <a:solidFill>
                  <a:srgbClr val="1A3A5C"/>
                </a:solidFill>
                <a:latin typeface="Cambria" pitchFamily="34" charset="0"/>
                <a:ea typeface="Cambria" pitchFamily="34" charset="-122"/>
                <a:cs typeface="Cambria" pitchFamily="34" charset="-120"/>
              </a:rPr>
              <a:t>Recording What You See</a:t>
            </a:r>
            <a:endParaRPr lang="en-US" sz="1700" dirty="0"/>
          </a:p>
        </p:txBody>
      </p:sp>
      <p:sp>
        <p:nvSpPr>
          <p:cNvPr id="9" name="Shape 7"/>
          <p:cNvSpPr/>
          <p:nvPr/>
        </p:nvSpPr>
        <p:spPr>
          <a:xfrm>
            <a:off x="365760" y="3803904"/>
            <a:ext cx="8412480" cy="1170432"/>
          </a:xfrm>
          <a:prstGeom prst="rect">
            <a:avLst/>
          </a:prstGeom>
          <a:solidFill>
            <a:srgbClr val="D6EAF8"/>
          </a:solidFill>
          <a:ln w="12700">
            <a:solidFill>
              <a:srgbClr val="D6EAF8"/>
            </a:solidFill>
            <a:prstDash val="solid"/>
          </a:ln>
        </p:spPr>
      </p:sp>
      <p:sp>
        <p:nvSpPr>
          <p:cNvPr id="10" name="Text 8"/>
          <p:cNvSpPr/>
          <p:nvPr/>
        </p:nvSpPr>
        <p:spPr>
          <a:xfrm>
            <a:off x="475488" y="3867912"/>
            <a:ext cx="8193024" cy="1042416"/>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For each test, record what the test was, what you saw happen, and whether it was attraction (pull) or repulsion (push). Sketch each test with arrows in your notebook.</a:t>
            </a:r>
            <a:endParaRPr lang="en-US" sz="1200" dirty="0"/>
          </a:p>
        </p:txBody>
      </p:sp>
      <p:sp>
        <p:nvSpPr>
          <p:cNvPr id="11" name="Shape 9"/>
          <p:cNvSpPr/>
          <p:nvPr/>
        </p:nvSpPr>
        <p:spPr>
          <a:xfrm>
            <a:off x="0" y="4896612"/>
            <a:ext cx="9144000" cy="246888"/>
          </a:xfrm>
          <a:prstGeom prst="rect">
            <a:avLst/>
          </a:prstGeom>
          <a:solidFill>
            <a:srgbClr val="F6C90E"/>
          </a:solidFill>
          <a:ln w="12700">
            <a:solidFill>
              <a:srgbClr val="F6C90E"/>
            </a:solidFill>
            <a:prstDash val="solid"/>
          </a:ln>
        </p:spPr>
      </p:sp>
      <p:sp>
        <p:nvSpPr>
          <p:cNvPr id="12" name="Text 10"/>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13.02  |  Content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BF4FA"/>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rtlCol="0" anchor="ctr"/>
          <a:lstStyle/>
          <a:p>
            <a:pPr algn="l" indent="0" marL="0">
              <a:buNone/>
            </a:pPr>
            <a:r>
              <a:rPr lang="en-US" sz="1800" b="1" dirty="0">
                <a:solidFill>
                  <a:srgbClr val="1A3A5C"/>
                </a:solidFill>
                <a:latin typeface="Cambria" pitchFamily="34" charset="0"/>
                <a:ea typeface="Cambria" pitchFamily="34" charset="-122"/>
                <a:cs typeface="Cambria" pitchFamily="34" charset="-120"/>
              </a:rPr>
              <a:t>How It Works -- Visual Overview</a:t>
            </a:r>
            <a:endParaRPr lang="en-US" sz="1800" dirty="0"/>
          </a:p>
        </p:txBody>
      </p:sp>
      <p:sp>
        <p:nvSpPr>
          <p:cNvPr id="3" name="Shape 1"/>
          <p:cNvSpPr/>
          <p:nvPr/>
        </p:nvSpPr>
        <p:spPr>
          <a:xfrm>
            <a:off x="365760" y="621792"/>
            <a:ext cx="2807208" cy="4206240"/>
          </a:xfrm>
          <a:prstGeom prst="rect">
            <a:avLst/>
          </a:prstGeom>
          <a:solidFill>
            <a:srgbClr val="D6EAF8"/>
          </a:solidFill>
          <a:ln w="12700">
            <a:solidFill>
              <a:srgbClr val="D6EAF8"/>
            </a:solidFill>
            <a:prstDash val="solid"/>
          </a:ln>
        </p:spPr>
      </p:sp>
      <p:sp>
        <p:nvSpPr>
          <p:cNvPr id="4" name="Text 2"/>
          <p:cNvSpPr/>
          <p:nvPr/>
        </p:nvSpPr>
        <p:spPr>
          <a:xfrm>
            <a:off x="365760" y="658368"/>
            <a:ext cx="2807208" cy="347472"/>
          </a:xfrm>
          <a:prstGeom prst="rect">
            <a:avLst/>
          </a:prstGeom>
          <a:noFill/>
          <a:ln/>
        </p:spPr>
        <p:txBody>
          <a:bodyPr wrap="square" rtlCol="0" anchor="ctr"/>
          <a:lstStyle/>
          <a:p>
            <a:pPr algn="ctr" indent="0" marL="0">
              <a:buNone/>
            </a:pPr>
            <a:r>
              <a:rPr lang="en-US" sz="1200" b="1" dirty="0">
                <a:solidFill>
                  <a:srgbClr val="1A3A5C"/>
                </a:solidFill>
                <a:latin typeface="Calibri" pitchFamily="34" charset="0"/>
                <a:ea typeface="Calibri" pitchFamily="34" charset="-122"/>
                <a:cs typeface="Calibri" pitchFamily="34" charset="-120"/>
              </a:rPr>
              <a:t>TEST A</a:t>
            </a:r>
            <a:endParaRPr lang="en-US" sz="1200" dirty="0"/>
          </a:p>
          <a:p>
            <a:pPr algn="ctr" indent="0" marL="0">
              <a:buNone/>
            </a:pPr>
            <a:r>
              <a:rPr lang="en-US" sz="1200" b="1" dirty="0">
                <a:solidFill>
                  <a:srgbClr val="1A3A5C"/>
                </a:solidFill>
                <a:latin typeface="Calibri" pitchFamily="34" charset="0"/>
                <a:ea typeface="Calibri" pitchFamily="34" charset="-122"/>
                <a:cs typeface="Calibri" pitchFamily="34" charset="-120"/>
              </a:rPr>
              <a:t>Pull Up Paper</a:t>
            </a:r>
            <a:endParaRPr lang="en-US" sz="1200" dirty="0"/>
          </a:p>
        </p:txBody>
      </p:sp>
      <p:sp>
        <p:nvSpPr>
          <p:cNvPr id="5" name="Text 3"/>
          <p:cNvSpPr/>
          <p:nvPr/>
        </p:nvSpPr>
        <p:spPr>
          <a:xfrm>
            <a:off x="457200" y="1078992"/>
            <a:ext cx="2624328" cy="3566160"/>
          </a:xfrm>
          <a:prstGeom prst="rect">
            <a:avLst/>
          </a:prstGeom>
          <a:noFill/>
          <a:ln/>
        </p:spPr>
        <p:txBody>
          <a:bodyPr wrap="square" rtlCol="0" anchor="t"/>
          <a:lstStyle/>
          <a:p>
            <a:pPr algn="ctr" indent="0" marL="0">
              <a:buNone/>
            </a:pPr>
            <a:r>
              <a:rPr lang="en-US" sz="1100" dirty="0">
                <a:solidFill>
                  <a:srgbClr val="1A1A2E"/>
                </a:solidFill>
                <a:latin typeface="Calibri" pitchFamily="34" charset="0"/>
                <a:ea typeface="Calibri" pitchFamily="34" charset="-122"/>
                <a:cs typeface="Calibri" pitchFamily="34" charset="-120"/>
              </a:rPr>
              <a:t>1. Tear paper into small bits.</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2. Rub balloon on hair (8 sec).</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3. Hold balloon above bits.</a:t>
            </a:r>
            <a:endParaRPr lang="en-US" sz="1100" dirty="0"/>
          </a:p>
          <a:p>
            <a:pPr algn="ctr" indent="0" marL="0">
              <a:buNone/>
            </a:pP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Expected: bits LEAP up -- attraction.</a:t>
            </a:r>
            <a:endParaRPr lang="en-US" sz="1100" dirty="0"/>
          </a:p>
        </p:txBody>
      </p:sp>
      <p:sp>
        <p:nvSpPr>
          <p:cNvPr id="6" name="Shape 4"/>
          <p:cNvSpPr/>
          <p:nvPr/>
        </p:nvSpPr>
        <p:spPr>
          <a:xfrm>
            <a:off x="3172968" y="621792"/>
            <a:ext cx="2807208" cy="4206240"/>
          </a:xfrm>
          <a:prstGeom prst="rect">
            <a:avLst/>
          </a:prstGeom>
          <a:solidFill>
            <a:srgbClr val="D6EAF8"/>
          </a:solidFill>
          <a:ln w="12700">
            <a:solidFill>
              <a:srgbClr val="D6EAF8"/>
            </a:solidFill>
            <a:prstDash val="solid"/>
          </a:ln>
        </p:spPr>
      </p:sp>
      <p:sp>
        <p:nvSpPr>
          <p:cNvPr id="7" name="Text 5"/>
          <p:cNvSpPr/>
          <p:nvPr/>
        </p:nvSpPr>
        <p:spPr>
          <a:xfrm>
            <a:off x="3172968" y="658368"/>
            <a:ext cx="2807208" cy="347472"/>
          </a:xfrm>
          <a:prstGeom prst="rect">
            <a:avLst/>
          </a:prstGeom>
          <a:noFill/>
          <a:ln/>
        </p:spPr>
        <p:txBody>
          <a:bodyPr wrap="square" rtlCol="0" anchor="ctr"/>
          <a:lstStyle/>
          <a:p>
            <a:pPr algn="ctr" indent="0" marL="0">
              <a:buNone/>
            </a:pPr>
            <a:r>
              <a:rPr lang="en-US" sz="1200" b="1" dirty="0">
                <a:solidFill>
                  <a:srgbClr val="1A3A5C"/>
                </a:solidFill>
                <a:latin typeface="Calibri" pitchFamily="34" charset="0"/>
                <a:ea typeface="Calibri" pitchFamily="34" charset="-122"/>
                <a:cs typeface="Calibri" pitchFamily="34" charset="-120"/>
              </a:rPr>
              <a:t>TEST B</a:t>
            </a:r>
            <a:endParaRPr lang="en-US" sz="1200" dirty="0"/>
          </a:p>
          <a:p>
            <a:pPr algn="ctr" indent="0" marL="0">
              <a:buNone/>
            </a:pPr>
            <a:r>
              <a:rPr lang="en-US" sz="1200" b="1" dirty="0">
                <a:solidFill>
                  <a:srgbClr val="1A3A5C"/>
                </a:solidFill>
                <a:latin typeface="Calibri" pitchFamily="34" charset="0"/>
                <a:ea typeface="Calibri" pitchFamily="34" charset="-122"/>
                <a:cs typeface="Calibri" pitchFamily="34" charset="-120"/>
              </a:rPr>
              <a:t>Push Apart Balloons</a:t>
            </a:r>
            <a:endParaRPr lang="en-US" sz="1200" dirty="0"/>
          </a:p>
        </p:txBody>
      </p:sp>
      <p:sp>
        <p:nvSpPr>
          <p:cNvPr id="8" name="Text 6"/>
          <p:cNvSpPr/>
          <p:nvPr/>
        </p:nvSpPr>
        <p:spPr>
          <a:xfrm>
            <a:off x="3264408" y="1078992"/>
            <a:ext cx="2624328" cy="3566160"/>
          </a:xfrm>
          <a:prstGeom prst="rect">
            <a:avLst/>
          </a:prstGeom>
          <a:noFill/>
          <a:ln/>
        </p:spPr>
        <p:txBody>
          <a:bodyPr wrap="square" rtlCol="0" anchor="t"/>
          <a:lstStyle/>
          <a:p>
            <a:pPr algn="ctr" indent="0" marL="0">
              <a:buNone/>
            </a:pPr>
            <a:r>
              <a:rPr lang="en-US" sz="1100" dirty="0">
                <a:solidFill>
                  <a:srgbClr val="1A1A2E"/>
                </a:solidFill>
                <a:latin typeface="Calibri" pitchFamily="34" charset="0"/>
                <a:ea typeface="Calibri" pitchFamily="34" charset="-122"/>
                <a:cs typeface="Calibri" pitchFamily="34" charset="-120"/>
              </a:rPr>
              <a:t>1. Tie string to two balloons.</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2. Rub both on hair.</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3. Hang near each other.</a:t>
            </a:r>
            <a:endParaRPr lang="en-US" sz="1100" dirty="0"/>
          </a:p>
          <a:p>
            <a:pPr algn="ctr" indent="0" marL="0">
              <a:buNone/>
            </a:pP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Expected: balloons swing AWAY -- repulsion.</a:t>
            </a:r>
            <a:endParaRPr lang="en-US" sz="1100" dirty="0"/>
          </a:p>
        </p:txBody>
      </p:sp>
      <p:sp>
        <p:nvSpPr>
          <p:cNvPr id="9" name="Shape 7"/>
          <p:cNvSpPr/>
          <p:nvPr/>
        </p:nvSpPr>
        <p:spPr>
          <a:xfrm>
            <a:off x="5980176" y="621792"/>
            <a:ext cx="2807208" cy="4206240"/>
          </a:xfrm>
          <a:prstGeom prst="rect">
            <a:avLst/>
          </a:prstGeom>
          <a:solidFill>
            <a:srgbClr val="D6EAF8"/>
          </a:solidFill>
          <a:ln w="12700">
            <a:solidFill>
              <a:srgbClr val="D6EAF8"/>
            </a:solidFill>
            <a:prstDash val="solid"/>
          </a:ln>
        </p:spPr>
      </p:sp>
      <p:sp>
        <p:nvSpPr>
          <p:cNvPr id="10" name="Text 8"/>
          <p:cNvSpPr/>
          <p:nvPr/>
        </p:nvSpPr>
        <p:spPr>
          <a:xfrm>
            <a:off x="5980176" y="658368"/>
            <a:ext cx="2807208" cy="347472"/>
          </a:xfrm>
          <a:prstGeom prst="rect">
            <a:avLst/>
          </a:prstGeom>
          <a:noFill/>
          <a:ln/>
        </p:spPr>
        <p:txBody>
          <a:bodyPr wrap="square" rtlCol="0" anchor="ctr"/>
          <a:lstStyle/>
          <a:p>
            <a:pPr algn="ctr" indent="0" marL="0">
              <a:buNone/>
            </a:pPr>
            <a:r>
              <a:rPr lang="en-US" sz="1200" b="1" dirty="0">
                <a:solidFill>
                  <a:srgbClr val="1A3A5C"/>
                </a:solidFill>
                <a:latin typeface="Calibri" pitchFamily="34" charset="0"/>
                <a:ea typeface="Calibri" pitchFamily="34" charset="-122"/>
                <a:cs typeface="Calibri" pitchFamily="34" charset="-120"/>
              </a:rPr>
              <a:t>TEST C</a:t>
            </a:r>
            <a:endParaRPr lang="en-US" sz="1200" dirty="0"/>
          </a:p>
          <a:p>
            <a:pPr algn="ctr" indent="0" marL="0">
              <a:buNone/>
            </a:pPr>
            <a:r>
              <a:rPr lang="en-US" sz="1200" b="1" dirty="0">
                <a:solidFill>
                  <a:srgbClr val="1A3A5C"/>
                </a:solidFill>
                <a:latin typeface="Calibri" pitchFamily="34" charset="0"/>
                <a:ea typeface="Calibri" pitchFamily="34" charset="-122"/>
                <a:cs typeface="Calibri" pitchFamily="34" charset="-120"/>
              </a:rPr>
              <a:t>Bend Water Stream</a:t>
            </a:r>
            <a:endParaRPr lang="en-US" sz="1200" dirty="0"/>
          </a:p>
        </p:txBody>
      </p:sp>
      <p:sp>
        <p:nvSpPr>
          <p:cNvPr id="11" name="Text 9"/>
          <p:cNvSpPr/>
          <p:nvPr/>
        </p:nvSpPr>
        <p:spPr>
          <a:xfrm>
            <a:off x="6071616" y="1078992"/>
            <a:ext cx="2624328" cy="3566160"/>
          </a:xfrm>
          <a:prstGeom prst="rect">
            <a:avLst/>
          </a:prstGeom>
          <a:noFill/>
          <a:ln/>
        </p:spPr>
        <p:txBody>
          <a:bodyPr wrap="square" rtlCol="0" anchor="t"/>
          <a:lstStyle/>
          <a:p>
            <a:pPr algn="ctr" indent="0" marL="0">
              <a:buNone/>
            </a:pPr>
            <a:r>
              <a:rPr lang="en-US" sz="1100" dirty="0">
                <a:solidFill>
                  <a:srgbClr val="1A1A2E"/>
                </a:solidFill>
                <a:latin typeface="Calibri" pitchFamily="34" charset="0"/>
                <a:ea typeface="Calibri" pitchFamily="34" charset="-122"/>
                <a:cs typeface="Calibri" pitchFamily="34" charset="-120"/>
              </a:rPr>
              <a:t>1. Turn on thin water stream.</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2. Run plastic comb through hair.</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3. Hold comb near water.</a:t>
            </a:r>
            <a:endParaRPr lang="en-US" sz="1100" dirty="0"/>
          </a:p>
          <a:p>
            <a:pPr algn="ctr" indent="0" marL="0">
              <a:buNone/>
            </a:pP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Expected: water curves toward comb -- attraction.</a:t>
            </a:r>
            <a:endParaRPr lang="en-US" sz="11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13.02  |  Diagram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2A7A4B"/>
          </a:solidFill>
          <a:ln w="12700">
            <a:solidFill>
              <a:srgbClr val="2A7A4B"/>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INVESTIGATE</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Three Static Electricity Tests</a:t>
            </a:r>
            <a:endParaRPr lang="en-US" sz="2000" dirty="0"/>
          </a:p>
        </p:txBody>
      </p:sp>
      <p:sp>
        <p:nvSpPr>
          <p:cNvPr id="5" name="Text 3"/>
          <p:cNvSpPr/>
          <p:nvPr/>
        </p:nvSpPr>
        <p:spPr>
          <a:xfrm>
            <a:off x="365760" y="1051560"/>
            <a:ext cx="8412480" cy="292608"/>
          </a:xfrm>
          <a:prstGeom prst="rect">
            <a:avLst/>
          </a:prstGeom>
          <a:noFill/>
          <a:ln/>
        </p:spPr>
        <p:txBody>
          <a:bodyPr wrap="square" rtlCol="0" anchor="ctr"/>
          <a:lstStyle/>
          <a:p>
            <a:pPr algn="l" indent="0" marL="0">
              <a:buNone/>
            </a:pPr>
            <a:r>
              <a:rPr lang="en-US" sz="1200" dirty="0">
                <a:solidFill>
                  <a:srgbClr val="F6C90E"/>
                </a:solidFill>
                <a:latin typeface="Calibri" pitchFamily="34" charset="0"/>
                <a:ea typeface="Calibri" pitchFamily="34" charset="-122"/>
                <a:cs typeface="Calibri" pitchFamily="34" charset="-120"/>
              </a:rPr>
              <a:t>Run each test, observe carefully, and record what you see. Every motion is evidence of charge.</a:t>
            </a:r>
            <a:endParaRPr lang="en-US" sz="1200" dirty="0"/>
          </a:p>
        </p:txBody>
      </p:sp>
      <p:sp>
        <p:nvSpPr>
          <p:cNvPr id="6" name="Shape 4"/>
          <p:cNvSpPr/>
          <p:nvPr/>
        </p:nvSpPr>
        <p:spPr>
          <a:xfrm>
            <a:off x="365760" y="1408176"/>
            <a:ext cx="8412480" cy="914400"/>
          </a:xfrm>
          <a:prstGeom prst="rect">
            <a:avLst/>
          </a:prstGeom>
          <a:solidFill>
            <a:srgbClr val="1E3A5C"/>
          </a:solidFill>
          <a:ln w="12700">
            <a:solidFill>
              <a:srgbClr val="1E3A5C"/>
            </a:solidFill>
            <a:prstDash val="solid"/>
          </a:ln>
        </p:spPr>
      </p:sp>
      <p:sp>
        <p:nvSpPr>
          <p:cNvPr id="7" name="Text 5"/>
          <p:cNvSpPr/>
          <p:nvPr/>
        </p:nvSpPr>
        <p:spPr>
          <a:xfrm>
            <a:off x="475488" y="1472184"/>
            <a:ext cx="8193024" cy="7863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Test A -- Pull Up Paper Bits: Tear paper into small bits. Rub a balloon on hair for 8-10 seconds. Hold balloon above paper bits without touching. Write what happens.</a:t>
            </a:r>
            <a:endParaRPr lang="en-US" sz="1300" dirty="0"/>
          </a:p>
        </p:txBody>
      </p:sp>
      <p:sp>
        <p:nvSpPr>
          <p:cNvPr id="8" name="Shape 6"/>
          <p:cNvSpPr/>
          <p:nvPr/>
        </p:nvSpPr>
        <p:spPr>
          <a:xfrm>
            <a:off x="365760" y="2432304"/>
            <a:ext cx="8412480" cy="914400"/>
          </a:xfrm>
          <a:prstGeom prst="rect">
            <a:avLst/>
          </a:prstGeom>
          <a:solidFill>
            <a:srgbClr val="1E3A5C"/>
          </a:solidFill>
          <a:ln w="12700">
            <a:solidFill>
              <a:srgbClr val="1E3A5C"/>
            </a:solidFill>
            <a:prstDash val="solid"/>
          </a:ln>
        </p:spPr>
      </p:sp>
      <p:sp>
        <p:nvSpPr>
          <p:cNvPr id="9" name="Text 7"/>
          <p:cNvSpPr/>
          <p:nvPr/>
        </p:nvSpPr>
        <p:spPr>
          <a:xfrm>
            <a:off x="475488" y="2496312"/>
            <a:ext cx="8193024" cy="7863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Test B -- Push Apart Two Balloons: Rub two balloons on hair. Tie each to a string and hang them near each other. Write what they do.</a:t>
            </a:r>
            <a:endParaRPr lang="en-US" sz="1300" dirty="0"/>
          </a:p>
        </p:txBody>
      </p:sp>
      <p:sp>
        <p:nvSpPr>
          <p:cNvPr id="10" name="Shape 8"/>
          <p:cNvSpPr/>
          <p:nvPr/>
        </p:nvSpPr>
        <p:spPr>
          <a:xfrm>
            <a:off x="365760" y="3456432"/>
            <a:ext cx="8412480" cy="914400"/>
          </a:xfrm>
          <a:prstGeom prst="rect">
            <a:avLst/>
          </a:prstGeom>
          <a:solidFill>
            <a:srgbClr val="1E3A5C"/>
          </a:solidFill>
          <a:ln w="12700">
            <a:solidFill>
              <a:srgbClr val="1E3A5C"/>
            </a:solidFill>
            <a:prstDash val="solid"/>
          </a:ln>
        </p:spPr>
      </p:sp>
      <p:sp>
        <p:nvSpPr>
          <p:cNvPr id="11" name="Text 9"/>
          <p:cNvSpPr/>
          <p:nvPr/>
        </p:nvSpPr>
        <p:spPr>
          <a:xfrm>
            <a:off x="475488" y="3520440"/>
            <a:ext cx="8193024" cy="7863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Test C -- Bend a Water Stream: Turn on a thin stream of water. Run a plastic comb through hair. Hold comb near the water without touching. Write what happens.</a:t>
            </a:r>
            <a:endParaRPr lang="en-US" sz="13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13.02  |  Investigate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BF4FA"/>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rtlCol="0" anchor="ctr"/>
          <a:lstStyle/>
          <a:p>
            <a:pPr algn="l" indent="0" marL="0">
              <a:buNone/>
            </a:pPr>
            <a:r>
              <a:rPr lang="en-US" sz="1700" b="1" dirty="0">
                <a:solidFill>
                  <a:srgbClr val="1A3A5C"/>
                </a:solidFill>
                <a:latin typeface="Cambria" pitchFamily="34" charset="0"/>
                <a:ea typeface="Cambria" pitchFamily="34" charset="-122"/>
                <a:cs typeface="Cambria" pitchFamily="34" charset="-120"/>
              </a:rPr>
              <a:t>Data Table -- Copy Into Your Notebook</a:t>
            </a:r>
            <a:endParaRPr lang="en-US" sz="1700" dirty="0"/>
          </a:p>
        </p:txBody>
      </p:sp>
      <p:sp>
        <p:nvSpPr>
          <p:cNvPr id="3" name="Shape 1"/>
          <p:cNvSpPr/>
          <p:nvPr/>
        </p:nvSpPr>
        <p:spPr>
          <a:xfrm>
            <a:off x="365760" y="621792"/>
            <a:ext cx="2011680" cy="347472"/>
          </a:xfrm>
          <a:prstGeom prst="rect">
            <a:avLst/>
          </a:prstGeom>
          <a:solidFill>
            <a:srgbClr val="1A3A5C"/>
          </a:solidFill>
          <a:ln w="12700">
            <a:solidFill>
              <a:srgbClr val="1A3A5C"/>
            </a:solidFill>
            <a:prstDash val="solid"/>
          </a:ln>
        </p:spPr>
      </p:sp>
      <p:sp>
        <p:nvSpPr>
          <p:cNvPr id="4" name="Text 2"/>
          <p:cNvSpPr/>
          <p:nvPr/>
        </p:nvSpPr>
        <p:spPr>
          <a:xfrm>
            <a:off x="411480" y="621792"/>
            <a:ext cx="192024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Test</a:t>
            </a:r>
            <a:endParaRPr lang="en-US" sz="1000" dirty="0"/>
          </a:p>
        </p:txBody>
      </p:sp>
      <p:sp>
        <p:nvSpPr>
          <p:cNvPr id="5" name="Shape 3"/>
          <p:cNvSpPr/>
          <p:nvPr/>
        </p:nvSpPr>
        <p:spPr>
          <a:xfrm>
            <a:off x="2377440" y="621792"/>
            <a:ext cx="1828800" cy="347472"/>
          </a:xfrm>
          <a:prstGeom prst="rect">
            <a:avLst/>
          </a:prstGeom>
          <a:solidFill>
            <a:srgbClr val="1A3A5C"/>
          </a:solidFill>
          <a:ln w="12700">
            <a:solidFill>
              <a:srgbClr val="1A3A5C"/>
            </a:solidFill>
            <a:prstDash val="solid"/>
          </a:ln>
        </p:spPr>
      </p:sp>
      <p:sp>
        <p:nvSpPr>
          <p:cNvPr id="6" name="Text 4"/>
          <p:cNvSpPr/>
          <p:nvPr/>
        </p:nvSpPr>
        <p:spPr>
          <a:xfrm>
            <a:off x="2423160" y="621792"/>
            <a:ext cx="173736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What I Observed</a:t>
            </a:r>
            <a:endParaRPr lang="en-US" sz="1000" dirty="0"/>
          </a:p>
        </p:txBody>
      </p:sp>
      <p:sp>
        <p:nvSpPr>
          <p:cNvPr id="7" name="Shape 5"/>
          <p:cNvSpPr/>
          <p:nvPr/>
        </p:nvSpPr>
        <p:spPr>
          <a:xfrm>
            <a:off x="4206240" y="621792"/>
            <a:ext cx="5120640" cy="347472"/>
          </a:xfrm>
          <a:prstGeom prst="rect">
            <a:avLst/>
          </a:prstGeom>
          <a:solidFill>
            <a:srgbClr val="1A3A5C"/>
          </a:solidFill>
          <a:ln w="12700">
            <a:solidFill>
              <a:srgbClr val="1A3A5C"/>
            </a:solidFill>
            <a:prstDash val="solid"/>
          </a:ln>
        </p:spPr>
      </p:sp>
      <p:sp>
        <p:nvSpPr>
          <p:cNvPr id="8" name="Text 6"/>
          <p:cNvSpPr/>
          <p:nvPr/>
        </p:nvSpPr>
        <p:spPr>
          <a:xfrm>
            <a:off x="4251960" y="621792"/>
            <a:ext cx="50292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Attract or Repel? Why?</a:t>
            </a:r>
            <a:endParaRPr lang="en-US" sz="1000" dirty="0"/>
          </a:p>
        </p:txBody>
      </p:sp>
      <p:sp>
        <p:nvSpPr>
          <p:cNvPr id="9" name="Shape 7"/>
          <p:cNvSpPr/>
          <p:nvPr/>
        </p:nvSpPr>
        <p:spPr>
          <a:xfrm>
            <a:off x="365760" y="1005840"/>
            <a:ext cx="2011680" cy="914400"/>
          </a:xfrm>
          <a:prstGeom prst="rect">
            <a:avLst/>
          </a:prstGeom>
          <a:solidFill>
            <a:srgbClr val="D6EAF8"/>
          </a:solidFill>
          <a:ln w="12700">
            <a:solidFill>
              <a:srgbClr val="BDD7EE"/>
            </a:solidFill>
            <a:prstDash val="solid"/>
          </a:ln>
        </p:spPr>
      </p:sp>
      <p:sp>
        <p:nvSpPr>
          <p:cNvPr id="10" name="Text 8"/>
          <p:cNvSpPr/>
          <p:nvPr/>
        </p:nvSpPr>
        <p:spPr>
          <a:xfrm>
            <a:off x="420624" y="1005840"/>
            <a:ext cx="190195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A. Paper bits + balloon</a:t>
            </a:r>
            <a:endParaRPr lang="en-US" sz="1000" dirty="0"/>
          </a:p>
        </p:txBody>
      </p:sp>
      <p:sp>
        <p:nvSpPr>
          <p:cNvPr id="11" name="Shape 9"/>
          <p:cNvSpPr/>
          <p:nvPr/>
        </p:nvSpPr>
        <p:spPr>
          <a:xfrm>
            <a:off x="2377440" y="1005840"/>
            <a:ext cx="1828800" cy="914400"/>
          </a:xfrm>
          <a:prstGeom prst="rect">
            <a:avLst/>
          </a:prstGeom>
          <a:solidFill>
            <a:srgbClr val="D6EAF8"/>
          </a:solidFill>
          <a:ln w="12700">
            <a:solidFill>
              <a:srgbClr val="BDD7EE"/>
            </a:solidFill>
            <a:prstDash val="solid"/>
          </a:ln>
        </p:spPr>
      </p:sp>
      <p:sp>
        <p:nvSpPr>
          <p:cNvPr id="12" name="Text 10"/>
          <p:cNvSpPr/>
          <p:nvPr/>
        </p:nvSpPr>
        <p:spPr>
          <a:xfrm>
            <a:off x="2432304" y="1005840"/>
            <a:ext cx="171907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Paper bits leap up to balloon</a:t>
            </a:r>
            <a:endParaRPr lang="en-US" sz="1000" dirty="0"/>
          </a:p>
        </p:txBody>
      </p:sp>
      <p:sp>
        <p:nvSpPr>
          <p:cNvPr id="13" name="Shape 11"/>
          <p:cNvSpPr/>
          <p:nvPr/>
        </p:nvSpPr>
        <p:spPr>
          <a:xfrm>
            <a:off x="4206240" y="1005840"/>
            <a:ext cx="5120640" cy="914400"/>
          </a:xfrm>
          <a:prstGeom prst="rect">
            <a:avLst/>
          </a:prstGeom>
          <a:solidFill>
            <a:srgbClr val="D6EAF8"/>
          </a:solidFill>
          <a:ln w="12700">
            <a:solidFill>
              <a:srgbClr val="BDD7EE"/>
            </a:solidFill>
            <a:prstDash val="solid"/>
          </a:ln>
        </p:spPr>
      </p:sp>
      <p:sp>
        <p:nvSpPr>
          <p:cNvPr id="14" name="Text 12"/>
          <p:cNvSpPr/>
          <p:nvPr/>
        </p:nvSpPr>
        <p:spPr>
          <a:xfrm>
            <a:off x="4261104" y="1005840"/>
            <a:ext cx="501091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ATTRACT -- charged balloon pulls uncharged paper</a:t>
            </a:r>
            <a:endParaRPr lang="en-US" sz="1000" dirty="0"/>
          </a:p>
        </p:txBody>
      </p:sp>
      <p:sp>
        <p:nvSpPr>
          <p:cNvPr id="15" name="Shape 13"/>
          <p:cNvSpPr/>
          <p:nvPr/>
        </p:nvSpPr>
        <p:spPr>
          <a:xfrm>
            <a:off x="365760" y="1920240"/>
            <a:ext cx="2011680" cy="914400"/>
          </a:xfrm>
          <a:prstGeom prst="rect">
            <a:avLst/>
          </a:prstGeom>
          <a:solidFill>
            <a:srgbClr val="FFFFFF"/>
          </a:solidFill>
          <a:ln w="12700">
            <a:solidFill>
              <a:srgbClr val="BDD7EE"/>
            </a:solidFill>
            <a:prstDash val="solid"/>
          </a:ln>
        </p:spPr>
      </p:sp>
      <p:sp>
        <p:nvSpPr>
          <p:cNvPr id="16" name="Text 14"/>
          <p:cNvSpPr/>
          <p:nvPr/>
        </p:nvSpPr>
        <p:spPr>
          <a:xfrm>
            <a:off x="420624" y="1920240"/>
            <a:ext cx="190195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B. Two charged balloons</a:t>
            </a:r>
            <a:endParaRPr lang="en-US" sz="1000" dirty="0"/>
          </a:p>
        </p:txBody>
      </p:sp>
      <p:sp>
        <p:nvSpPr>
          <p:cNvPr id="17" name="Shape 15"/>
          <p:cNvSpPr/>
          <p:nvPr/>
        </p:nvSpPr>
        <p:spPr>
          <a:xfrm>
            <a:off x="2377440" y="1920240"/>
            <a:ext cx="1828800" cy="914400"/>
          </a:xfrm>
          <a:prstGeom prst="rect">
            <a:avLst/>
          </a:prstGeom>
          <a:solidFill>
            <a:srgbClr val="FFFFFF"/>
          </a:solidFill>
          <a:ln w="12700">
            <a:solidFill>
              <a:srgbClr val="BDD7EE"/>
            </a:solidFill>
            <a:prstDash val="solid"/>
          </a:ln>
        </p:spPr>
      </p:sp>
      <p:sp>
        <p:nvSpPr>
          <p:cNvPr id="18" name="Text 16"/>
          <p:cNvSpPr/>
          <p:nvPr/>
        </p:nvSpPr>
        <p:spPr>
          <a:xfrm>
            <a:off x="2432304" y="1920240"/>
            <a:ext cx="171907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Balloons swing apart from each other</a:t>
            </a:r>
            <a:endParaRPr lang="en-US" sz="1000" dirty="0"/>
          </a:p>
        </p:txBody>
      </p:sp>
      <p:sp>
        <p:nvSpPr>
          <p:cNvPr id="19" name="Shape 17"/>
          <p:cNvSpPr/>
          <p:nvPr/>
        </p:nvSpPr>
        <p:spPr>
          <a:xfrm>
            <a:off x="4206240" y="1920240"/>
            <a:ext cx="5120640" cy="914400"/>
          </a:xfrm>
          <a:prstGeom prst="rect">
            <a:avLst/>
          </a:prstGeom>
          <a:solidFill>
            <a:srgbClr val="FFFFFF"/>
          </a:solidFill>
          <a:ln w="12700">
            <a:solidFill>
              <a:srgbClr val="BDD7EE"/>
            </a:solidFill>
            <a:prstDash val="solid"/>
          </a:ln>
        </p:spPr>
      </p:sp>
      <p:sp>
        <p:nvSpPr>
          <p:cNvPr id="20" name="Text 18"/>
          <p:cNvSpPr/>
          <p:nvPr/>
        </p:nvSpPr>
        <p:spPr>
          <a:xfrm>
            <a:off x="4261104" y="1920240"/>
            <a:ext cx="501091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REPEL -- both got same (negative) charge</a:t>
            </a:r>
            <a:endParaRPr lang="en-US" sz="1000" dirty="0"/>
          </a:p>
        </p:txBody>
      </p:sp>
      <p:sp>
        <p:nvSpPr>
          <p:cNvPr id="21" name="Shape 19"/>
          <p:cNvSpPr/>
          <p:nvPr/>
        </p:nvSpPr>
        <p:spPr>
          <a:xfrm>
            <a:off x="365760" y="2834640"/>
            <a:ext cx="2011680" cy="914400"/>
          </a:xfrm>
          <a:prstGeom prst="rect">
            <a:avLst/>
          </a:prstGeom>
          <a:solidFill>
            <a:srgbClr val="D6EAF8"/>
          </a:solidFill>
          <a:ln w="12700">
            <a:solidFill>
              <a:srgbClr val="BDD7EE"/>
            </a:solidFill>
            <a:prstDash val="solid"/>
          </a:ln>
        </p:spPr>
      </p:sp>
      <p:sp>
        <p:nvSpPr>
          <p:cNvPr id="22" name="Text 20"/>
          <p:cNvSpPr/>
          <p:nvPr/>
        </p:nvSpPr>
        <p:spPr>
          <a:xfrm>
            <a:off x="420624" y="2834640"/>
            <a:ext cx="190195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C. Comb + water stream</a:t>
            </a:r>
            <a:endParaRPr lang="en-US" sz="1000" dirty="0"/>
          </a:p>
        </p:txBody>
      </p:sp>
      <p:sp>
        <p:nvSpPr>
          <p:cNvPr id="23" name="Shape 21"/>
          <p:cNvSpPr/>
          <p:nvPr/>
        </p:nvSpPr>
        <p:spPr>
          <a:xfrm>
            <a:off x="2377440" y="2834640"/>
            <a:ext cx="1828800" cy="914400"/>
          </a:xfrm>
          <a:prstGeom prst="rect">
            <a:avLst/>
          </a:prstGeom>
          <a:solidFill>
            <a:srgbClr val="D6EAF8"/>
          </a:solidFill>
          <a:ln w="12700">
            <a:solidFill>
              <a:srgbClr val="BDD7EE"/>
            </a:solidFill>
            <a:prstDash val="solid"/>
          </a:ln>
        </p:spPr>
      </p:sp>
      <p:sp>
        <p:nvSpPr>
          <p:cNvPr id="24" name="Text 22"/>
          <p:cNvSpPr/>
          <p:nvPr/>
        </p:nvSpPr>
        <p:spPr>
          <a:xfrm>
            <a:off x="2432304" y="2834640"/>
            <a:ext cx="171907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Water stream curves toward comb</a:t>
            </a:r>
            <a:endParaRPr lang="en-US" sz="1000" dirty="0"/>
          </a:p>
        </p:txBody>
      </p:sp>
      <p:sp>
        <p:nvSpPr>
          <p:cNvPr id="25" name="Shape 23"/>
          <p:cNvSpPr/>
          <p:nvPr/>
        </p:nvSpPr>
        <p:spPr>
          <a:xfrm>
            <a:off x="4206240" y="2834640"/>
            <a:ext cx="5120640" cy="914400"/>
          </a:xfrm>
          <a:prstGeom prst="rect">
            <a:avLst/>
          </a:prstGeom>
          <a:solidFill>
            <a:srgbClr val="D6EAF8"/>
          </a:solidFill>
          <a:ln w="12700">
            <a:solidFill>
              <a:srgbClr val="BDD7EE"/>
            </a:solidFill>
            <a:prstDash val="solid"/>
          </a:ln>
        </p:spPr>
      </p:sp>
      <p:sp>
        <p:nvSpPr>
          <p:cNvPr id="26" name="Text 24"/>
          <p:cNvSpPr/>
          <p:nvPr/>
        </p:nvSpPr>
        <p:spPr>
          <a:xfrm>
            <a:off x="4261104" y="2834640"/>
            <a:ext cx="501091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ATTRACT -- charged comb pulls polar water molecules</a:t>
            </a:r>
            <a:endParaRPr lang="en-US" sz="1000" dirty="0"/>
          </a:p>
        </p:txBody>
      </p:sp>
      <p:sp>
        <p:nvSpPr>
          <p:cNvPr id="27" name="Shape 25"/>
          <p:cNvSpPr/>
          <p:nvPr/>
        </p:nvSpPr>
        <p:spPr>
          <a:xfrm>
            <a:off x="0" y="4896612"/>
            <a:ext cx="9144000" cy="246888"/>
          </a:xfrm>
          <a:prstGeom prst="rect">
            <a:avLst/>
          </a:prstGeom>
          <a:solidFill>
            <a:srgbClr val="F6C90E"/>
          </a:solidFill>
          <a:ln w="12700">
            <a:solidFill>
              <a:srgbClr val="F6C90E"/>
            </a:solidFill>
            <a:prstDash val="solid"/>
          </a:ln>
        </p:spPr>
      </p:sp>
      <p:sp>
        <p:nvSpPr>
          <p:cNvPr id="28" name="Text 26"/>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13.02  |  Data Table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BF4FA"/>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rtlCol="0" anchor="ctr"/>
          <a:lstStyle/>
          <a:p>
            <a:pPr algn="l" indent="0" marL="0">
              <a:buNone/>
            </a:pPr>
            <a:r>
              <a:rPr lang="en-US" sz="2000" b="1" dirty="0">
                <a:solidFill>
                  <a:srgbClr val="1A3A5C"/>
                </a:solidFill>
                <a:latin typeface="Cambria" pitchFamily="34" charset="0"/>
                <a:ea typeface="Cambria" pitchFamily="34" charset="-122"/>
                <a:cs typeface="Cambria" pitchFamily="34" charset="-120"/>
              </a:rPr>
              <a:t>Record Your Thinking</a:t>
            </a:r>
            <a:endParaRPr lang="en-US" sz="2000" dirty="0"/>
          </a:p>
        </p:txBody>
      </p:sp>
      <p:sp>
        <p:nvSpPr>
          <p:cNvPr id="3" name="Text 1"/>
          <p:cNvSpPr/>
          <p:nvPr/>
        </p:nvSpPr>
        <p:spPr>
          <a:xfrm>
            <a:off x="365760" y="566928"/>
            <a:ext cx="8412480" cy="274320"/>
          </a:xfrm>
          <a:prstGeom prst="rect">
            <a:avLst/>
          </a:prstGeom>
          <a:noFill/>
          <a:ln/>
        </p:spPr>
        <p:txBody>
          <a:bodyPr wrap="square" rtlCol="0" anchor="ctr"/>
          <a:lstStyle/>
          <a:p>
            <a:pPr algn="l" indent="0" marL="0">
              <a:buNone/>
            </a:pPr>
            <a:r>
              <a:rPr lang="en-US" sz="1200" dirty="0">
                <a:solidFill>
                  <a:srgbClr val="2C4A6E"/>
                </a:solidFill>
                <a:latin typeface="Calibri" pitchFamily="34" charset="0"/>
                <a:ea typeface="Calibri" pitchFamily="34" charset="-122"/>
                <a:cs typeface="Calibri" pitchFamily="34" charset="-120"/>
              </a:rPr>
              <a:t>Answer in complete sentences. Use vocabulary words.</a:t>
            </a:r>
            <a:endParaRPr lang="en-US" sz="1200" dirty="0"/>
          </a:p>
        </p:txBody>
      </p:sp>
      <p:sp>
        <p:nvSpPr>
          <p:cNvPr id="4" name="Shape 2"/>
          <p:cNvSpPr/>
          <p:nvPr/>
        </p:nvSpPr>
        <p:spPr>
          <a:xfrm>
            <a:off x="365760" y="914400"/>
            <a:ext cx="292608" cy="292608"/>
          </a:xfrm>
          <a:prstGeom prst="rect">
            <a:avLst/>
          </a:prstGeom>
          <a:solidFill>
            <a:srgbClr val="0E7C7B"/>
          </a:solidFill>
          <a:ln w="12700">
            <a:solidFill>
              <a:srgbClr val="0E7C7B"/>
            </a:solidFill>
            <a:prstDash val="solid"/>
          </a:ln>
        </p:spPr>
      </p:sp>
      <p:sp>
        <p:nvSpPr>
          <p:cNvPr id="5" name="Text 3"/>
          <p:cNvSpPr/>
          <p:nvPr/>
        </p:nvSpPr>
        <p:spPr>
          <a:xfrm>
            <a:off x="365760" y="9144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Shape 4"/>
          <p:cNvSpPr/>
          <p:nvPr/>
        </p:nvSpPr>
        <p:spPr>
          <a:xfrm>
            <a:off x="768096" y="914400"/>
            <a:ext cx="8010144" cy="1207008"/>
          </a:xfrm>
          <a:prstGeom prst="rect">
            <a:avLst/>
          </a:prstGeom>
          <a:solidFill>
            <a:srgbClr val="D6EAF8"/>
          </a:solidFill>
          <a:ln w="12700">
            <a:solidFill>
              <a:srgbClr val="D6EAF8"/>
            </a:solidFill>
            <a:prstDash val="solid"/>
          </a:ln>
        </p:spPr>
      </p:sp>
      <p:sp>
        <p:nvSpPr>
          <p:cNvPr id="7" name="Text 5"/>
          <p:cNvSpPr/>
          <p:nvPr/>
        </p:nvSpPr>
        <p:spPr>
          <a:xfrm>
            <a:off x="877824" y="978408"/>
            <a:ext cx="7790688" cy="107899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For Test A, what happened to the paper bits? Why? Use the words charge and attract in your answer.</a:t>
            </a:r>
            <a:endParaRPr lang="en-US" sz="1200" dirty="0"/>
          </a:p>
        </p:txBody>
      </p:sp>
      <p:sp>
        <p:nvSpPr>
          <p:cNvPr id="8" name="Shape 6"/>
          <p:cNvSpPr/>
          <p:nvPr/>
        </p:nvSpPr>
        <p:spPr>
          <a:xfrm>
            <a:off x="365760" y="2286000"/>
            <a:ext cx="292608" cy="292608"/>
          </a:xfrm>
          <a:prstGeom prst="rect">
            <a:avLst/>
          </a:prstGeom>
          <a:solidFill>
            <a:srgbClr val="0E7C7B"/>
          </a:solidFill>
          <a:ln w="12700">
            <a:solidFill>
              <a:srgbClr val="0E7C7B"/>
            </a:solidFill>
            <a:prstDash val="solid"/>
          </a:ln>
        </p:spPr>
      </p:sp>
      <p:sp>
        <p:nvSpPr>
          <p:cNvPr id="9" name="Text 7"/>
          <p:cNvSpPr/>
          <p:nvPr/>
        </p:nvSpPr>
        <p:spPr>
          <a:xfrm>
            <a:off x="365760" y="22860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Shape 8"/>
          <p:cNvSpPr/>
          <p:nvPr/>
        </p:nvSpPr>
        <p:spPr>
          <a:xfrm>
            <a:off x="768096" y="2286000"/>
            <a:ext cx="8010144" cy="1207008"/>
          </a:xfrm>
          <a:prstGeom prst="rect">
            <a:avLst/>
          </a:prstGeom>
          <a:solidFill>
            <a:srgbClr val="D6EAF8"/>
          </a:solidFill>
          <a:ln w="12700">
            <a:solidFill>
              <a:srgbClr val="D6EAF8"/>
            </a:solidFill>
            <a:prstDash val="solid"/>
          </a:ln>
        </p:spPr>
      </p:sp>
      <p:sp>
        <p:nvSpPr>
          <p:cNvPr id="11" name="Text 9"/>
          <p:cNvSpPr/>
          <p:nvPr/>
        </p:nvSpPr>
        <p:spPr>
          <a:xfrm>
            <a:off x="877824" y="2350008"/>
            <a:ext cx="7790688" cy="107899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For Test B, both balloons swung apart. What does that tell you about their charges? Use like charges in your answer.</a:t>
            </a:r>
            <a:endParaRPr lang="en-US" sz="1200" dirty="0"/>
          </a:p>
        </p:txBody>
      </p:sp>
      <p:sp>
        <p:nvSpPr>
          <p:cNvPr id="12" name="Shape 10"/>
          <p:cNvSpPr/>
          <p:nvPr/>
        </p:nvSpPr>
        <p:spPr>
          <a:xfrm>
            <a:off x="365760" y="3657600"/>
            <a:ext cx="292608" cy="292608"/>
          </a:xfrm>
          <a:prstGeom prst="rect">
            <a:avLst/>
          </a:prstGeom>
          <a:solidFill>
            <a:srgbClr val="0E7C7B"/>
          </a:solidFill>
          <a:ln w="12700">
            <a:solidFill>
              <a:srgbClr val="0E7C7B"/>
            </a:solidFill>
            <a:prstDash val="solid"/>
          </a:ln>
        </p:spPr>
      </p:sp>
      <p:sp>
        <p:nvSpPr>
          <p:cNvPr id="13" name="Text 11"/>
          <p:cNvSpPr/>
          <p:nvPr/>
        </p:nvSpPr>
        <p:spPr>
          <a:xfrm>
            <a:off x="365760" y="3657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Shape 12"/>
          <p:cNvSpPr/>
          <p:nvPr/>
        </p:nvSpPr>
        <p:spPr>
          <a:xfrm>
            <a:off x="768096" y="3657600"/>
            <a:ext cx="8010144" cy="1207008"/>
          </a:xfrm>
          <a:prstGeom prst="rect">
            <a:avLst/>
          </a:prstGeom>
          <a:solidFill>
            <a:srgbClr val="D6EAF8"/>
          </a:solidFill>
          <a:ln w="12700">
            <a:solidFill>
              <a:srgbClr val="D6EAF8"/>
            </a:solidFill>
            <a:prstDash val="solid"/>
          </a:ln>
        </p:spPr>
      </p:sp>
      <p:sp>
        <p:nvSpPr>
          <p:cNvPr id="15" name="Text 13"/>
          <p:cNvSpPr/>
          <p:nvPr/>
        </p:nvSpPr>
        <p:spPr>
          <a:xfrm>
            <a:off x="877824" y="3721608"/>
            <a:ext cx="7790688" cy="107899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For Test C, the water bent toward the comb. The water is not charged. How did the comb pull it?</a:t>
            </a:r>
            <a:endParaRPr lang="en-US" sz="1200" dirty="0"/>
          </a:p>
        </p:txBody>
      </p:sp>
      <p:sp>
        <p:nvSpPr>
          <p:cNvPr id="16" name="Shape 14"/>
          <p:cNvSpPr/>
          <p:nvPr/>
        </p:nvSpPr>
        <p:spPr>
          <a:xfrm>
            <a:off x="0" y="4896612"/>
            <a:ext cx="9144000" cy="246888"/>
          </a:xfrm>
          <a:prstGeom prst="rect">
            <a:avLst/>
          </a:prstGeom>
          <a:solidFill>
            <a:srgbClr val="F6C90E"/>
          </a:solidFill>
          <a:ln w="12700">
            <a:solidFill>
              <a:srgbClr val="F6C90E"/>
            </a:solidFill>
            <a:prstDash val="solid"/>
          </a:ln>
        </p:spPr>
      </p:sp>
      <p:sp>
        <p:nvSpPr>
          <p:cNvPr id="17" name="Text 15"/>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13.02  |  Record Your Thinking</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2E86AB"/>
          </a:solidFill>
          <a:ln w="12700">
            <a:solidFill>
              <a:srgbClr val="2E86AB"/>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DISCUSS &amp; DEFEND</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Defend Your Thinking with Evidence</a:t>
            </a:r>
            <a:endParaRPr lang="en-US" sz="2000" dirty="0"/>
          </a:p>
        </p:txBody>
      </p:sp>
      <p:sp>
        <p:nvSpPr>
          <p:cNvPr id="5" name="Shape 3"/>
          <p:cNvSpPr/>
          <p:nvPr/>
        </p:nvSpPr>
        <p:spPr>
          <a:xfrm>
            <a:off x="365760" y="1051560"/>
            <a:ext cx="8412480" cy="1051560"/>
          </a:xfrm>
          <a:prstGeom prst="rect">
            <a:avLst/>
          </a:prstGeom>
          <a:solidFill>
            <a:srgbClr val="1E3A5C"/>
          </a:solidFill>
          <a:ln w="12700">
            <a:solidFill>
              <a:srgbClr val="1E3A5C"/>
            </a:solidFill>
            <a:prstDash val="solid"/>
          </a:ln>
        </p:spPr>
      </p:sp>
      <p:sp>
        <p:nvSpPr>
          <p:cNvPr id="6" name="Text 4"/>
          <p:cNvSpPr/>
          <p:nvPr/>
        </p:nvSpPr>
        <p:spPr>
          <a:xfrm>
            <a:off x="475488" y="1115568"/>
            <a:ext cx="8193024" cy="92354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 friend says: the comb test does not prove anything -- water moves by itself. Use evidence from your test to disagree."</a:t>
            </a:r>
            <a:endParaRPr lang="en-US" sz="1300" dirty="0"/>
          </a:p>
        </p:txBody>
      </p:sp>
      <p:sp>
        <p:nvSpPr>
          <p:cNvPr id="7" name="Shape 5"/>
          <p:cNvSpPr/>
          <p:nvPr/>
        </p:nvSpPr>
        <p:spPr>
          <a:xfrm>
            <a:off x="365760" y="2194560"/>
            <a:ext cx="8412480" cy="1051560"/>
          </a:xfrm>
          <a:prstGeom prst="rect">
            <a:avLst/>
          </a:prstGeom>
          <a:solidFill>
            <a:srgbClr val="1E3A5C"/>
          </a:solidFill>
          <a:ln w="12700">
            <a:solidFill>
              <a:srgbClr val="1E3A5C"/>
            </a:solidFill>
            <a:prstDash val="solid"/>
          </a:ln>
        </p:spPr>
      </p:sp>
      <p:sp>
        <p:nvSpPr>
          <p:cNvPr id="8" name="Text 6"/>
          <p:cNvSpPr/>
          <p:nvPr/>
        </p:nvSpPr>
        <p:spPr>
          <a:xfrm>
            <a:off x="475488" y="2258568"/>
            <a:ext cx="8193024" cy="92354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"Which of your three tests felt like the strongest evidence that static is real? Why?"</a:t>
            </a:r>
            <a:endParaRPr lang="en-US" sz="1300" dirty="0"/>
          </a:p>
        </p:txBody>
      </p:sp>
      <p:sp>
        <p:nvSpPr>
          <p:cNvPr id="9" name="Text 7"/>
          <p:cNvSpPr/>
          <p:nvPr/>
        </p:nvSpPr>
        <p:spPr>
          <a:xfrm>
            <a:off x="365760" y="3383280"/>
            <a:ext cx="8412480" cy="274320"/>
          </a:xfrm>
          <a:prstGeom prst="rect">
            <a:avLst/>
          </a:prstGeom>
          <a:noFill/>
          <a:ln/>
        </p:spPr>
        <p:txBody>
          <a:bodyPr wrap="square" rtlCol="0" anchor="ctr"/>
          <a:lstStyle/>
          <a:p>
            <a:pPr algn="l" indent="0" marL="0">
              <a:buNone/>
            </a:pPr>
            <a:r>
              <a:rPr lang="en-US" sz="1200" b="1" dirty="0">
                <a:solidFill>
                  <a:srgbClr val="F6C90E"/>
                </a:solidFill>
                <a:latin typeface="Calibri" pitchFamily="34" charset="0"/>
                <a:ea typeface="Calibri" pitchFamily="34" charset="-122"/>
                <a:cs typeface="Calibri" pitchFamily="34" charset="-120"/>
              </a:rPr>
              <a:t>Sentence Starters:</a:t>
            </a:r>
            <a:endParaRPr lang="en-US" sz="1200" dirty="0"/>
          </a:p>
        </p:txBody>
      </p:sp>
      <p:sp>
        <p:nvSpPr>
          <p:cNvPr id="10" name="Shape 8"/>
          <p:cNvSpPr/>
          <p:nvPr/>
        </p:nvSpPr>
        <p:spPr>
          <a:xfrm>
            <a:off x="365760" y="3712464"/>
            <a:ext cx="4114800" cy="640080"/>
          </a:xfrm>
          <a:prstGeom prst="rect">
            <a:avLst/>
          </a:prstGeom>
          <a:solidFill>
            <a:srgbClr val="1A3A5C"/>
          </a:solidFill>
          <a:ln w="12700">
            <a:solidFill>
              <a:srgbClr val="1A3A5C"/>
            </a:solidFill>
            <a:prstDash val="solid"/>
          </a:ln>
        </p:spPr>
      </p:sp>
      <p:sp>
        <p:nvSpPr>
          <p:cNvPr id="11" name="Text 9"/>
          <p:cNvSpPr/>
          <p:nvPr/>
        </p:nvSpPr>
        <p:spPr>
          <a:xfrm>
            <a:off x="475488" y="3776472"/>
            <a:ext cx="3895344" cy="512064"/>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"I know static caused it because without rubbing the balloon, the paper bits..."</a:t>
            </a:r>
            <a:endParaRPr lang="en-US" sz="1100" dirty="0"/>
          </a:p>
        </p:txBody>
      </p:sp>
      <p:sp>
        <p:nvSpPr>
          <p:cNvPr id="12" name="Shape 10"/>
          <p:cNvSpPr/>
          <p:nvPr/>
        </p:nvSpPr>
        <p:spPr>
          <a:xfrm>
            <a:off x="4663440" y="3712464"/>
            <a:ext cx="4114800" cy="640080"/>
          </a:xfrm>
          <a:prstGeom prst="rect">
            <a:avLst/>
          </a:prstGeom>
          <a:solidFill>
            <a:srgbClr val="1A3A5C"/>
          </a:solidFill>
          <a:ln w="12700">
            <a:solidFill>
              <a:srgbClr val="1A3A5C"/>
            </a:solidFill>
            <a:prstDash val="solid"/>
          </a:ln>
        </p:spPr>
      </p:sp>
      <p:sp>
        <p:nvSpPr>
          <p:cNvPr id="13" name="Text 11"/>
          <p:cNvSpPr/>
          <p:nvPr/>
        </p:nvSpPr>
        <p:spPr>
          <a:xfrm>
            <a:off x="4773168" y="3776472"/>
            <a:ext cx="3895344" cy="512064"/>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"The strongest evidence was Test ___ because it showed..."</a:t>
            </a:r>
            <a:endParaRPr lang="en-US" sz="1100" dirty="0"/>
          </a:p>
        </p:txBody>
      </p:sp>
      <p:sp>
        <p:nvSpPr>
          <p:cNvPr id="14" name="Shape 12"/>
          <p:cNvSpPr/>
          <p:nvPr/>
        </p:nvSpPr>
        <p:spPr>
          <a:xfrm>
            <a:off x="0" y="4896612"/>
            <a:ext cx="9144000" cy="246888"/>
          </a:xfrm>
          <a:prstGeom prst="rect">
            <a:avLst/>
          </a:prstGeom>
          <a:solidFill>
            <a:srgbClr val="F6C90E"/>
          </a:solidFill>
          <a:ln w="12700">
            <a:solidFill>
              <a:srgbClr val="F6C90E"/>
            </a:solidFill>
            <a:prstDash val="solid"/>
          </a:ln>
        </p:spPr>
      </p:sp>
      <p:sp>
        <p:nvSpPr>
          <p:cNvPr id="15" name="Text 13"/>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13.02  |  Discuss &amp; Defend</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SCIENTIST TALK</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Claim  |  Evidence  |  Reasoning</a:t>
            </a:r>
            <a:endParaRPr lang="en-US" sz="2000" dirty="0"/>
          </a:p>
        </p:txBody>
      </p:sp>
      <p:sp>
        <p:nvSpPr>
          <p:cNvPr id="5" name="Text 3"/>
          <p:cNvSpPr/>
          <p:nvPr/>
        </p:nvSpPr>
        <p:spPr>
          <a:xfrm>
            <a:off x="365760" y="1042416"/>
            <a:ext cx="8412480" cy="274320"/>
          </a:xfrm>
          <a:prstGeom prst="rect">
            <a:avLst/>
          </a:prstGeom>
          <a:noFill/>
          <a:ln/>
        </p:spPr>
        <p:txBody>
          <a:bodyPr wrap="square" rtlCol="0" anchor="ctr"/>
          <a:lstStyle/>
          <a:p>
            <a:pPr algn="l" indent="0" marL="0">
              <a:buNone/>
            </a:pPr>
            <a:r>
              <a:rPr lang="en-US" sz="1200" dirty="0">
                <a:solidFill>
                  <a:srgbClr val="F6C90E"/>
                </a:solidFill>
                <a:latin typeface="Calibri" pitchFamily="34" charset="0"/>
                <a:ea typeface="Calibri" pitchFamily="34" charset="-122"/>
                <a:cs typeface="Calibri" pitchFamily="34" charset="-120"/>
              </a:rPr>
              <a:t>Aim for 4-6 sentences total. Use 2+ lesson vocab words.</a:t>
            </a:r>
            <a:endParaRPr lang="en-US" sz="1200" dirty="0"/>
          </a:p>
        </p:txBody>
      </p:sp>
      <p:sp>
        <p:nvSpPr>
          <p:cNvPr id="6" name="Shape 4"/>
          <p:cNvSpPr/>
          <p:nvPr/>
        </p:nvSpPr>
        <p:spPr>
          <a:xfrm>
            <a:off x="365760" y="1389888"/>
            <a:ext cx="8412480" cy="877824"/>
          </a:xfrm>
          <a:prstGeom prst="rect">
            <a:avLst/>
          </a:prstGeom>
          <a:solidFill>
            <a:srgbClr val="2E86AB"/>
          </a:solidFill>
          <a:ln w="12700">
            <a:solidFill>
              <a:srgbClr val="2E86AB"/>
            </a:solidFill>
            <a:prstDash val="solid"/>
          </a:ln>
        </p:spPr>
      </p:sp>
      <p:sp>
        <p:nvSpPr>
          <p:cNvPr id="7" name="Text 5"/>
          <p:cNvSpPr/>
          <p:nvPr/>
        </p:nvSpPr>
        <p:spPr>
          <a:xfrm>
            <a:off x="475488" y="1453896"/>
            <a:ext cx="8193024" cy="74980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CLAIM -- Why did each test work? Write one clear sentence about what caused each result.</a:t>
            </a:r>
            <a:endParaRPr lang="en-US" sz="1300" dirty="0"/>
          </a:p>
        </p:txBody>
      </p:sp>
      <p:sp>
        <p:nvSpPr>
          <p:cNvPr id="8" name="Shape 6"/>
          <p:cNvSpPr/>
          <p:nvPr/>
        </p:nvSpPr>
        <p:spPr>
          <a:xfrm>
            <a:off x="365760" y="2340864"/>
            <a:ext cx="8412480" cy="877824"/>
          </a:xfrm>
          <a:prstGeom prst="rect">
            <a:avLst/>
          </a:prstGeom>
          <a:solidFill>
            <a:srgbClr val="2A7A4B"/>
          </a:solidFill>
          <a:ln w="12700">
            <a:solidFill>
              <a:srgbClr val="2A7A4B"/>
            </a:solidFill>
            <a:prstDash val="solid"/>
          </a:ln>
        </p:spPr>
      </p:sp>
      <p:sp>
        <p:nvSpPr>
          <p:cNvPr id="9" name="Text 7"/>
          <p:cNvSpPr/>
          <p:nvPr/>
        </p:nvSpPr>
        <p:spPr>
          <a:xfrm>
            <a:off x="475488" y="2404872"/>
            <a:ext cx="8193024" cy="74980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EVIDENCE -- What did you observe in each test? Use specific observations as evidence.</a:t>
            </a:r>
            <a:endParaRPr lang="en-US" sz="1300" dirty="0"/>
          </a:p>
        </p:txBody>
      </p:sp>
      <p:sp>
        <p:nvSpPr>
          <p:cNvPr id="10" name="Shape 8"/>
          <p:cNvSpPr/>
          <p:nvPr/>
        </p:nvSpPr>
        <p:spPr>
          <a:xfrm>
            <a:off x="365760" y="3291840"/>
            <a:ext cx="8412480" cy="877824"/>
          </a:xfrm>
          <a:prstGeom prst="rect">
            <a:avLst/>
          </a:prstGeom>
          <a:solidFill>
            <a:srgbClr val="0E7C7B"/>
          </a:solidFill>
          <a:ln w="12700">
            <a:solidFill>
              <a:srgbClr val="0E7C7B"/>
            </a:solidFill>
            <a:prstDash val="solid"/>
          </a:ln>
        </p:spPr>
      </p:sp>
      <p:sp>
        <p:nvSpPr>
          <p:cNvPr id="11" name="Text 9"/>
          <p:cNvSpPr/>
          <p:nvPr/>
        </p:nvSpPr>
        <p:spPr>
          <a:xfrm>
            <a:off x="475488" y="3355848"/>
            <a:ext cx="8193024" cy="74980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REASONING -- Why does this fit what we know?</a:t>
            </a: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Starter: "This makes sense because the rules of charge say..."</a:t>
            </a:r>
            <a:endParaRPr lang="en-US" sz="13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13.02  |  CER</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  Q1</a:t>
            </a:r>
            <a:endParaRPr lang="en-US" sz="1000" dirty="0"/>
          </a:p>
        </p:txBody>
      </p:sp>
      <p:sp>
        <p:nvSpPr>
          <p:cNvPr id="4" name="Text 2"/>
          <p:cNvSpPr/>
          <p:nvPr/>
        </p:nvSpPr>
        <p:spPr>
          <a:xfrm>
            <a:off x="365760" y="566928"/>
            <a:ext cx="8412480" cy="621792"/>
          </a:xfrm>
          <a:prstGeom prst="rect">
            <a:avLst/>
          </a:prstGeom>
          <a:noFill/>
          <a:ln/>
        </p:spPr>
        <p:txBody>
          <a:bodyPr wrap="square"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In Test A, the paper bits jumped up to the balloon. Why?</a:t>
            </a:r>
            <a:endParaRPr lang="en-US" sz="1800" dirty="0"/>
          </a:p>
        </p:txBody>
      </p:sp>
      <p:sp>
        <p:nvSpPr>
          <p:cNvPr id="5" name="Shape 3"/>
          <p:cNvSpPr/>
          <p:nvPr/>
        </p:nvSpPr>
        <p:spPr>
          <a:xfrm>
            <a:off x="365760" y="1298448"/>
            <a:ext cx="8412480" cy="694944"/>
          </a:xfrm>
          <a:prstGeom prst="rect">
            <a:avLst/>
          </a:prstGeom>
          <a:solidFill>
            <a:srgbClr val="1E3A5C"/>
          </a:solidFill>
          <a:ln w="12700">
            <a:solidFill>
              <a:srgbClr val="1E3A5C"/>
            </a:solidFill>
            <a:prstDash val="solid"/>
          </a:ln>
        </p:spPr>
      </p:sp>
      <p:sp>
        <p:nvSpPr>
          <p:cNvPr id="6" name="Text 4"/>
          <p:cNvSpPr/>
          <p:nvPr/>
        </p:nvSpPr>
        <p:spPr>
          <a:xfrm>
            <a:off x="475488" y="1362456"/>
            <a:ext cx="8193024"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  The paper bits were secretly charged the whole time</a:t>
            </a:r>
            <a:endParaRPr lang="en-US" sz="1300" dirty="0"/>
          </a:p>
        </p:txBody>
      </p:sp>
      <p:sp>
        <p:nvSpPr>
          <p:cNvPr id="7" name="Shape 5"/>
          <p:cNvSpPr/>
          <p:nvPr/>
        </p:nvSpPr>
        <p:spPr>
          <a:xfrm>
            <a:off x="365760" y="2066544"/>
            <a:ext cx="8412480" cy="694944"/>
          </a:xfrm>
          <a:prstGeom prst="rect">
            <a:avLst/>
          </a:prstGeom>
          <a:solidFill>
            <a:srgbClr val="2A7A4B"/>
          </a:solidFill>
          <a:ln w="12700">
            <a:solidFill>
              <a:srgbClr val="2A7A4B"/>
            </a:solidFill>
            <a:prstDash val="solid"/>
          </a:ln>
        </p:spPr>
      </p:sp>
      <p:sp>
        <p:nvSpPr>
          <p:cNvPr id="8" name="Text 6"/>
          <p:cNvSpPr/>
          <p:nvPr/>
        </p:nvSpPr>
        <p:spPr>
          <a:xfrm>
            <a:off x="475488" y="2130552"/>
            <a:ext cx="8193024" cy="56692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B.  The balloon had extra negative charge, which attracted the paper bits     CORRECT</a:t>
            </a:r>
            <a:endParaRPr lang="en-US" sz="1300" dirty="0"/>
          </a:p>
        </p:txBody>
      </p:sp>
      <p:sp>
        <p:nvSpPr>
          <p:cNvPr id="9" name="Shape 7"/>
          <p:cNvSpPr/>
          <p:nvPr/>
        </p:nvSpPr>
        <p:spPr>
          <a:xfrm>
            <a:off x="365760" y="2834640"/>
            <a:ext cx="8412480" cy="694944"/>
          </a:xfrm>
          <a:prstGeom prst="rect">
            <a:avLst/>
          </a:prstGeom>
          <a:solidFill>
            <a:srgbClr val="1E3A5C"/>
          </a:solidFill>
          <a:ln w="12700">
            <a:solidFill>
              <a:srgbClr val="1E3A5C"/>
            </a:solidFill>
            <a:prstDash val="solid"/>
          </a:ln>
        </p:spPr>
      </p:sp>
      <p:sp>
        <p:nvSpPr>
          <p:cNvPr id="10" name="Text 8"/>
          <p:cNvSpPr/>
          <p:nvPr/>
        </p:nvSpPr>
        <p:spPr>
          <a:xfrm>
            <a:off x="475488" y="2898648"/>
            <a:ext cx="8193024"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C.  The balloon blew the bits up with a tiny gust of air</a:t>
            </a:r>
            <a:endParaRPr lang="en-US" sz="1300" dirty="0"/>
          </a:p>
        </p:txBody>
      </p:sp>
      <p:sp>
        <p:nvSpPr>
          <p:cNvPr id="11" name="Shape 9"/>
          <p:cNvSpPr/>
          <p:nvPr/>
        </p:nvSpPr>
        <p:spPr>
          <a:xfrm>
            <a:off x="365760" y="3822192"/>
            <a:ext cx="8412480" cy="713232"/>
          </a:xfrm>
          <a:prstGeom prst="rect">
            <a:avLst/>
          </a:prstGeom>
          <a:solidFill>
            <a:srgbClr val="1A3A5C"/>
          </a:solidFill>
          <a:ln w="12700">
            <a:solidFill>
              <a:srgbClr val="1A3A5C"/>
            </a:solidFill>
            <a:prstDash val="solid"/>
          </a:ln>
        </p:spPr>
      </p:sp>
      <p:sp>
        <p:nvSpPr>
          <p:cNvPr id="12" name="Text 10"/>
          <p:cNvSpPr/>
          <p:nvPr/>
        </p:nvSpPr>
        <p:spPr>
          <a:xfrm>
            <a:off x="475488" y="3886200"/>
            <a:ext cx="8193024" cy="585216"/>
          </a:xfrm>
          <a:prstGeom prst="rect">
            <a:avLst/>
          </a:prstGeom>
          <a:noFill/>
          <a:ln/>
        </p:spPr>
        <p:txBody>
          <a:bodyPr wrap="square" lIns="0" tIns="0" rIns="0" bIns="0" rtlCol="0" anchor="ctr"/>
          <a:lstStyle/>
          <a:p>
            <a:pPr algn="l" indent="0" marL="0">
              <a:buNone/>
            </a:pPr>
            <a:r>
              <a:rPr lang="en-US" sz="1100" dirty="0">
                <a:solidFill>
                  <a:srgbClr val="F6C90E"/>
                </a:solidFill>
                <a:latin typeface="Calibri" pitchFamily="34" charset="0"/>
                <a:ea typeface="Calibri" pitchFamily="34" charset="-122"/>
                <a:cs typeface="Calibri" pitchFamily="34" charset="-120"/>
              </a:rPr>
              <a:t>Rubbing the balloon on hair gave it extra negative charge. The charged balloon pulls on opposite charges in the paper -- so the bits leap up. No touching needed.</a:t>
            </a:r>
            <a:endParaRPr lang="en-US" sz="1100" dirty="0"/>
          </a:p>
        </p:txBody>
      </p:sp>
      <p:sp>
        <p:nvSpPr>
          <p:cNvPr id="13" name="Shape 11"/>
          <p:cNvSpPr/>
          <p:nvPr/>
        </p:nvSpPr>
        <p:spPr>
          <a:xfrm>
            <a:off x="0" y="4896612"/>
            <a:ext cx="9144000" cy="246888"/>
          </a:xfrm>
          <a:prstGeom prst="rect">
            <a:avLst/>
          </a:prstGeom>
          <a:solidFill>
            <a:srgbClr val="F6C90E"/>
          </a:solidFill>
          <a:ln w="12700">
            <a:solidFill>
              <a:srgbClr val="F6C90E"/>
            </a:solidFill>
            <a:prstDash val="solid"/>
          </a:ln>
        </p:spPr>
      </p:sp>
      <p:sp>
        <p:nvSpPr>
          <p:cNvPr id="14" name="Text 12"/>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13.02  |  Self-Check</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  Q2</a:t>
            </a:r>
            <a:endParaRPr lang="en-US" sz="1000" dirty="0"/>
          </a:p>
        </p:txBody>
      </p:sp>
      <p:sp>
        <p:nvSpPr>
          <p:cNvPr id="4" name="Text 2"/>
          <p:cNvSpPr/>
          <p:nvPr/>
        </p:nvSpPr>
        <p:spPr>
          <a:xfrm>
            <a:off x="365760" y="566928"/>
            <a:ext cx="8412480" cy="621792"/>
          </a:xfrm>
          <a:prstGeom prst="rect">
            <a:avLst/>
          </a:prstGeom>
          <a:noFill/>
          <a:ln/>
        </p:spPr>
        <p:txBody>
          <a:bodyPr wrap="square"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In Test B, both balloons swung APART. What does that tell you about their charges?</a:t>
            </a:r>
            <a:endParaRPr lang="en-US" sz="1800" dirty="0"/>
          </a:p>
        </p:txBody>
      </p:sp>
      <p:sp>
        <p:nvSpPr>
          <p:cNvPr id="5" name="Shape 3"/>
          <p:cNvSpPr/>
          <p:nvPr/>
        </p:nvSpPr>
        <p:spPr>
          <a:xfrm>
            <a:off x="365760" y="1298448"/>
            <a:ext cx="8412480" cy="694944"/>
          </a:xfrm>
          <a:prstGeom prst="rect">
            <a:avLst/>
          </a:prstGeom>
          <a:solidFill>
            <a:srgbClr val="2A7A4B"/>
          </a:solidFill>
          <a:ln w="12700">
            <a:solidFill>
              <a:srgbClr val="2A7A4B"/>
            </a:solidFill>
            <a:prstDash val="solid"/>
          </a:ln>
        </p:spPr>
      </p:sp>
      <p:sp>
        <p:nvSpPr>
          <p:cNvPr id="6" name="Text 4"/>
          <p:cNvSpPr/>
          <p:nvPr/>
        </p:nvSpPr>
        <p:spPr>
          <a:xfrm>
            <a:off x="475488" y="1362456"/>
            <a:ext cx="8193024" cy="56692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A.  The balloons had the same kind of charge -- like charges repel     CORRECT</a:t>
            </a:r>
            <a:endParaRPr lang="en-US" sz="1300" dirty="0"/>
          </a:p>
        </p:txBody>
      </p:sp>
      <p:sp>
        <p:nvSpPr>
          <p:cNvPr id="7" name="Shape 5"/>
          <p:cNvSpPr/>
          <p:nvPr/>
        </p:nvSpPr>
        <p:spPr>
          <a:xfrm>
            <a:off x="365760" y="2066544"/>
            <a:ext cx="8412480" cy="694944"/>
          </a:xfrm>
          <a:prstGeom prst="rect">
            <a:avLst/>
          </a:prstGeom>
          <a:solidFill>
            <a:srgbClr val="1E3A5C"/>
          </a:solidFill>
          <a:ln w="12700">
            <a:solidFill>
              <a:srgbClr val="1E3A5C"/>
            </a:solidFill>
            <a:prstDash val="solid"/>
          </a:ln>
        </p:spPr>
      </p:sp>
      <p:sp>
        <p:nvSpPr>
          <p:cNvPr id="8" name="Text 6"/>
          <p:cNvSpPr/>
          <p:nvPr/>
        </p:nvSpPr>
        <p:spPr>
          <a:xfrm>
            <a:off x="475488" y="2130552"/>
            <a:ext cx="8193024"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B.  The balloons were full of air, which pushed them apart</a:t>
            </a:r>
            <a:endParaRPr lang="en-US" sz="1300" dirty="0"/>
          </a:p>
        </p:txBody>
      </p:sp>
      <p:sp>
        <p:nvSpPr>
          <p:cNvPr id="9" name="Shape 7"/>
          <p:cNvSpPr/>
          <p:nvPr/>
        </p:nvSpPr>
        <p:spPr>
          <a:xfrm>
            <a:off x="365760" y="2834640"/>
            <a:ext cx="8412480" cy="694944"/>
          </a:xfrm>
          <a:prstGeom prst="rect">
            <a:avLst/>
          </a:prstGeom>
          <a:solidFill>
            <a:srgbClr val="1E3A5C"/>
          </a:solidFill>
          <a:ln w="12700">
            <a:solidFill>
              <a:srgbClr val="1E3A5C"/>
            </a:solidFill>
            <a:prstDash val="solid"/>
          </a:ln>
        </p:spPr>
      </p:sp>
      <p:sp>
        <p:nvSpPr>
          <p:cNvPr id="10" name="Text 8"/>
          <p:cNvSpPr/>
          <p:nvPr/>
        </p:nvSpPr>
        <p:spPr>
          <a:xfrm>
            <a:off x="475488" y="2898648"/>
            <a:ext cx="8193024"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C.  The balloons had opposite charges</a:t>
            </a:r>
            <a:endParaRPr lang="en-US" sz="1300" dirty="0"/>
          </a:p>
        </p:txBody>
      </p:sp>
      <p:sp>
        <p:nvSpPr>
          <p:cNvPr id="11" name="Shape 9"/>
          <p:cNvSpPr/>
          <p:nvPr/>
        </p:nvSpPr>
        <p:spPr>
          <a:xfrm>
            <a:off x="365760" y="3822192"/>
            <a:ext cx="8412480" cy="713232"/>
          </a:xfrm>
          <a:prstGeom prst="rect">
            <a:avLst/>
          </a:prstGeom>
          <a:solidFill>
            <a:srgbClr val="1A3A5C"/>
          </a:solidFill>
          <a:ln w="12700">
            <a:solidFill>
              <a:srgbClr val="1A3A5C"/>
            </a:solidFill>
            <a:prstDash val="solid"/>
          </a:ln>
        </p:spPr>
      </p:sp>
      <p:sp>
        <p:nvSpPr>
          <p:cNvPr id="12" name="Text 10"/>
          <p:cNvSpPr/>
          <p:nvPr/>
        </p:nvSpPr>
        <p:spPr>
          <a:xfrm>
            <a:off x="475488" y="3886200"/>
            <a:ext cx="8193024" cy="585216"/>
          </a:xfrm>
          <a:prstGeom prst="rect">
            <a:avLst/>
          </a:prstGeom>
          <a:noFill/>
          <a:ln/>
        </p:spPr>
        <p:txBody>
          <a:bodyPr wrap="square" lIns="0" tIns="0" rIns="0" bIns="0" rtlCol="0" anchor="ctr"/>
          <a:lstStyle/>
          <a:p>
            <a:pPr algn="l" indent="0" marL="0">
              <a:buNone/>
            </a:pPr>
            <a:r>
              <a:rPr lang="en-US" sz="1100" dirty="0">
                <a:solidFill>
                  <a:srgbClr val="F6C90E"/>
                </a:solidFill>
                <a:latin typeface="Calibri" pitchFamily="34" charset="0"/>
                <a:ea typeface="Calibri" pitchFamily="34" charset="-122"/>
                <a:cs typeface="Calibri" pitchFamily="34" charset="-120"/>
              </a:rPr>
              <a:t>Both balloons were rubbed on the same hair, so both got negative charge. Like charges always repel. The balloons push each other away.</a:t>
            </a:r>
            <a:endParaRPr lang="en-US" sz="1100" dirty="0"/>
          </a:p>
        </p:txBody>
      </p:sp>
      <p:sp>
        <p:nvSpPr>
          <p:cNvPr id="13" name="Shape 11"/>
          <p:cNvSpPr/>
          <p:nvPr/>
        </p:nvSpPr>
        <p:spPr>
          <a:xfrm>
            <a:off x="0" y="4896612"/>
            <a:ext cx="9144000" cy="246888"/>
          </a:xfrm>
          <a:prstGeom prst="rect">
            <a:avLst/>
          </a:prstGeom>
          <a:solidFill>
            <a:srgbClr val="F6C90E"/>
          </a:solidFill>
          <a:ln w="12700">
            <a:solidFill>
              <a:srgbClr val="F6C90E"/>
            </a:solidFill>
            <a:prstDash val="solid"/>
          </a:ln>
        </p:spPr>
      </p:sp>
      <p:sp>
        <p:nvSpPr>
          <p:cNvPr id="14" name="Text 12"/>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13.02  |  Self-Check</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MIND-BLOWING FACT</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Incredible -- Beyond the Lesson</a:t>
            </a:r>
            <a:endParaRPr lang="en-US" sz="2000" dirty="0"/>
          </a:p>
        </p:txBody>
      </p:sp>
      <p:sp>
        <p:nvSpPr>
          <p:cNvPr id="5" name="Shape 3"/>
          <p:cNvSpPr/>
          <p:nvPr/>
        </p:nvSpPr>
        <p:spPr>
          <a:xfrm>
            <a:off x="365760" y="1051560"/>
            <a:ext cx="8412480" cy="1234440"/>
          </a:xfrm>
          <a:prstGeom prst="rect">
            <a:avLst/>
          </a:prstGeom>
          <a:solidFill>
            <a:srgbClr val="1E3A5C"/>
          </a:solidFill>
          <a:ln w="12700">
            <a:solidFill>
              <a:srgbClr val="1E3A5C"/>
            </a:solidFill>
            <a:prstDash val="solid"/>
          </a:ln>
        </p:spPr>
      </p:sp>
      <p:sp>
        <p:nvSpPr>
          <p:cNvPr id="6" name="Text 4"/>
          <p:cNvSpPr/>
          <p:nvPr/>
        </p:nvSpPr>
        <p:spPr>
          <a:xfrm>
            <a:off x="475488" y="1115568"/>
            <a:ext cx="8193024" cy="11064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The static charge a balloon picks up from your hair is about 20,000 VOLTS -- much higher than a wall outlet. So why does it not shock you? Because it has almost no current. High voltage with low current is harmless. That is why static zaps are surprising but never really dangerous.</a:t>
            </a:r>
            <a:endParaRPr lang="en-US" sz="1300" dirty="0"/>
          </a:p>
        </p:txBody>
      </p:sp>
      <p:sp>
        <p:nvSpPr>
          <p:cNvPr id="7" name="Text 5"/>
          <p:cNvSpPr/>
          <p:nvPr/>
        </p:nvSpPr>
        <p:spPr>
          <a:xfrm>
            <a:off x="365760" y="2423160"/>
            <a:ext cx="8412480" cy="274320"/>
          </a:xfrm>
          <a:prstGeom prst="rect">
            <a:avLst/>
          </a:prstGeom>
          <a:noFill/>
          <a:ln/>
        </p:spPr>
        <p:txBody>
          <a:bodyPr wrap="square" rtlCol="0" anchor="ctr"/>
          <a:lstStyle/>
          <a:p>
            <a:pPr algn="l" indent="0" marL="0">
              <a:buNone/>
            </a:pPr>
            <a:r>
              <a:rPr lang="en-US" sz="1200" b="1" dirty="0">
                <a:solidFill>
                  <a:srgbClr val="F6C90E"/>
                </a:solidFill>
                <a:latin typeface="Calibri" pitchFamily="34" charset="0"/>
                <a:ea typeface="Calibri" pitchFamily="34" charset="-122"/>
                <a:cs typeface="Calibri" pitchFamily="34" charset="-120"/>
              </a:rPr>
              <a:t>Go Deeper:</a:t>
            </a:r>
            <a:endParaRPr lang="en-US" sz="1200" dirty="0"/>
          </a:p>
        </p:txBody>
      </p:sp>
      <p:sp>
        <p:nvSpPr>
          <p:cNvPr id="8" name="Shape 6"/>
          <p:cNvSpPr/>
          <p:nvPr/>
        </p:nvSpPr>
        <p:spPr>
          <a:xfrm>
            <a:off x="365760" y="2761488"/>
            <a:ext cx="4114800" cy="1417320"/>
          </a:xfrm>
          <a:prstGeom prst="rect">
            <a:avLst/>
          </a:prstGeom>
          <a:solidFill>
            <a:srgbClr val="1A3A5C"/>
          </a:solidFill>
          <a:ln w="12700">
            <a:solidFill>
              <a:srgbClr val="1A3A5C"/>
            </a:solidFill>
            <a:prstDash val="solid"/>
          </a:ln>
        </p:spPr>
      </p:sp>
      <p:sp>
        <p:nvSpPr>
          <p:cNvPr id="9" name="Text 7"/>
          <p:cNvSpPr/>
          <p:nvPr/>
        </p:nvSpPr>
        <p:spPr>
          <a:xfrm>
            <a:off x="475488" y="2825496"/>
            <a:ext cx="3895344" cy="128930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If your house is very humid on a rainy day, static tests do not work as well. Why? What does moisture in the air do to the charge?</a:t>
            </a:r>
            <a:endParaRPr lang="en-US" sz="1300" dirty="0"/>
          </a:p>
        </p:txBody>
      </p:sp>
      <p:sp>
        <p:nvSpPr>
          <p:cNvPr id="10" name="Shape 8"/>
          <p:cNvSpPr/>
          <p:nvPr/>
        </p:nvSpPr>
        <p:spPr>
          <a:xfrm>
            <a:off x="4663440" y="2761488"/>
            <a:ext cx="4114800" cy="1417320"/>
          </a:xfrm>
          <a:prstGeom prst="rect">
            <a:avLst/>
          </a:prstGeom>
          <a:solidFill>
            <a:srgbClr val="1A3A5C"/>
          </a:solidFill>
          <a:ln w="12700">
            <a:solidFill>
              <a:srgbClr val="1A3A5C"/>
            </a:solidFill>
            <a:prstDash val="solid"/>
          </a:ln>
        </p:spPr>
      </p:sp>
      <p:sp>
        <p:nvSpPr>
          <p:cNvPr id="11" name="Text 9"/>
          <p:cNvSpPr/>
          <p:nvPr/>
        </p:nvSpPr>
        <p:spPr>
          <a:xfrm>
            <a:off x="4773168" y="2825496"/>
            <a:ext cx="3895344" cy="128930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What would happen if you tried Test C in a very dry desert vs. on a rainy day? What would be different and why?</a:t>
            </a:r>
            <a:endParaRPr lang="en-US" sz="13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13.02  |  Elaborate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201168"/>
            <a:ext cx="1673352" cy="274320"/>
          </a:xfrm>
          <a:prstGeom prst="rect">
            <a:avLst/>
          </a:prstGeom>
          <a:solidFill>
            <a:srgbClr val="1A3A5C"/>
          </a:solidFill>
          <a:ln w="12700">
            <a:solidFill>
              <a:srgbClr val="1A3A5C"/>
            </a:solidFill>
            <a:prstDash val="solid"/>
          </a:ln>
        </p:spPr>
      </p:sp>
      <p:sp>
        <p:nvSpPr>
          <p:cNvPr id="3" name="Text 1"/>
          <p:cNvSpPr/>
          <p:nvPr/>
        </p:nvSpPr>
        <p:spPr>
          <a:xfrm>
            <a:off x="365760" y="201168"/>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PREVIEW</a:t>
            </a:r>
            <a:endParaRPr lang="en-US" sz="1000" dirty="0"/>
          </a:p>
        </p:txBody>
      </p:sp>
      <p:sp>
        <p:nvSpPr>
          <p:cNvPr id="4" name="Text 2"/>
          <p:cNvSpPr/>
          <p:nvPr/>
        </p:nvSpPr>
        <p:spPr>
          <a:xfrm>
            <a:off x="365760" y="566928"/>
            <a:ext cx="8412480" cy="347472"/>
          </a:xfrm>
          <a:prstGeom prst="rect">
            <a:avLst/>
          </a:prstGeom>
          <a:noFill/>
          <a:ln/>
        </p:spPr>
        <p:txBody>
          <a:bodyPr wrap="square" rtlCol="0" anchor="ctr"/>
          <a:lstStyle/>
          <a:p>
            <a:pPr algn="l" indent="0" marL="0">
              <a:buNone/>
            </a:pPr>
            <a:r>
              <a:rPr lang="en-US" sz="1900" b="1" dirty="0">
                <a:solidFill>
                  <a:srgbClr val="1A1A2E"/>
                </a:solidFill>
                <a:latin typeface="Cambria" pitchFamily="34" charset="0"/>
                <a:ea typeface="Cambria" pitchFamily="34" charset="-122"/>
                <a:cs typeface="Cambria" pitchFamily="34" charset="-120"/>
              </a:rPr>
              <a:t>Assignment -- Parts A and B</a:t>
            </a:r>
            <a:endParaRPr lang="en-US" sz="1900" dirty="0"/>
          </a:p>
        </p:txBody>
      </p:sp>
      <p:sp>
        <p:nvSpPr>
          <p:cNvPr id="5" name="Shape 3"/>
          <p:cNvSpPr/>
          <p:nvPr/>
        </p:nvSpPr>
        <p:spPr>
          <a:xfrm>
            <a:off x="365760" y="987552"/>
            <a:ext cx="8412480" cy="1234440"/>
          </a:xfrm>
          <a:prstGeom prst="rect">
            <a:avLst/>
          </a:prstGeom>
          <a:solidFill>
            <a:srgbClr val="D6EAF8"/>
          </a:solidFill>
          <a:ln w="12700">
            <a:solidFill>
              <a:srgbClr val="D6EAF8"/>
            </a:solidFill>
            <a:prstDash val="solid"/>
          </a:ln>
        </p:spPr>
      </p:sp>
      <p:sp>
        <p:nvSpPr>
          <p:cNvPr id="6" name="Text 4"/>
          <p:cNvSpPr/>
          <p:nvPr/>
        </p:nvSpPr>
        <p:spPr>
          <a:xfrm>
            <a:off x="475488" y="1051560"/>
            <a:ext cx="8193024" cy="110642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PART A -- Three Test Sketches: Draw each test in your science notebook. Show the objects before and after charging. Use arrows to show attraction or repulsion. Label the charges on each object.</a:t>
            </a:r>
            <a:endParaRPr lang="en-US" sz="1200" dirty="0"/>
          </a:p>
        </p:txBody>
      </p:sp>
      <p:sp>
        <p:nvSpPr>
          <p:cNvPr id="7" name="Shape 5"/>
          <p:cNvSpPr/>
          <p:nvPr/>
        </p:nvSpPr>
        <p:spPr>
          <a:xfrm>
            <a:off x="365760" y="2286000"/>
            <a:ext cx="8412480" cy="2103120"/>
          </a:xfrm>
          <a:prstGeom prst="rect">
            <a:avLst/>
          </a:prstGeom>
          <a:solidFill>
            <a:srgbClr val="D6EAF8"/>
          </a:solidFill>
          <a:ln w="12700">
            <a:solidFill>
              <a:srgbClr val="D6EAF8"/>
            </a:solidFill>
            <a:prstDash val="solid"/>
          </a:ln>
        </p:spPr>
      </p:sp>
      <p:sp>
        <p:nvSpPr>
          <p:cNvPr id="8" name="Text 6"/>
          <p:cNvSpPr/>
          <p:nvPr/>
        </p:nvSpPr>
        <p:spPr>
          <a:xfrm>
            <a:off x="475488" y="2350008"/>
            <a:ext cx="8193024" cy="197510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PART B -- Evidence Questions</a:t>
            </a:r>
            <a:endParaRPr lang="en-US" sz="1200" dirty="0"/>
          </a:p>
          <a:p>
            <a:pPr algn="l" indent="0" marL="0">
              <a:buNone/>
            </a:pPr>
            <a:r>
              <a:rPr lang="en-US" sz="1200" dirty="0">
                <a:solidFill>
                  <a:srgbClr val="1A1A2E"/>
                </a:solidFill>
                <a:latin typeface="Calibri" pitchFamily="34" charset="0"/>
                <a:ea typeface="Calibri" pitchFamily="34" charset="-122"/>
                <a:cs typeface="Calibri" pitchFamily="34" charset="-120"/>
              </a:rPr>
              <a:t>1. Each test started with a charged object. What does that tell you about what charge DOES?</a:t>
            </a:r>
            <a:endParaRPr lang="en-US" sz="1200" dirty="0"/>
          </a:p>
          <a:p>
            <a:pPr algn="l" indent="0" marL="0">
              <a:buNone/>
            </a:pPr>
            <a:r>
              <a:rPr lang="en-US" sz="1200" dirty="0">
                <a:solidFill>
                  <a:srgbClr val="1A1A2E"/>
                </a:solidFill>
                <a:latin typeface="Calibri" pitchFamily="34" charset="0"/>
                <a:ea typeface="Calibri" pitchFamily="34" charset="-122"/>
                <a:cs typeface="Calibri" pitchFamily="34" charset="-120"/>
              </a:rPr>
              <a:t>2. Which test gave you the most surprising result? What did it show about static electricity?</a:t>
            </a:r>
            <a:endParaRPr lang="en-US" sz="1200" dirty="0"/>
          </a:p>
          <a:p>
            <a:pPr algn="l" indent="0" marL="0">
              <a:buNone/>
            </a:pPr>
            <a:r>
              <a:rPr lang="en-US" sz="1200" dirty="0">
                <a:solidFill>
                  <a:srgbClr val="1A1A2E"/>
                </a:solidFill>
                <a:latin typeface="Calibri" pitchFamily="34" charset="0"/>
                <a:ea typeface="Calibri" pitchFamily="34" charset="-122"/>
                <a:cs typeface="Calibri" pitchFamily="34" charset="-120"/>
              </a:rPr>
              <a:t>3. In Test C, the water is not charged. Explain how the charged comb could bend it anyway.</a:t>
            </a:r>
            <a:endParaRPr lang="en-US" sz="1200" dirty="0"/>
          </a:p>
        </p:txBody>
      </p:sp>
      <p:sp>
        <p:nvSpPr>
          <p:cNvPr id="9" name="Shape 7"/>
          <p:cNvSpPr/>
          <p:nvPr/>
        </p:nvSpPr>
        <p:spPr>
          <a:xfrm>
            <a:off x="0" y="4896612"/>
            <a:ext cx="9144000" cy="246888"/>
          </a:xfrm>
          <a:prstGeom prst="rect">
            <a:avLst/>
          </a:prstGeom>
          <a:solidFill>
            <a:srgbClr val="F6C90E"/>
          </a:solidFill>
          <a:ln w="12700">
            <a:solidFill>
              <a:srgbClr val="F6C90E"/>
            </a:solidFill>
            <a:prstDash val="solid"/>
          </a:ln>
        </p:spPr>
      </p:sp>
      <p:sp>
        <p:nvSpPr>
          <p:cNvPr id="10" name="Text 8"/>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13.02  |  Assignment A &amp; B</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201168"/>
            <a:ext cx="1673352" cy="274320"/>
          </a:xfrm>
          <a:prstGeom prst="rect">
            <a:avLst/>
          </a:prstGeom>
          <a:solidFill>
            <a:srgbClr val="1A3A5C"/>
          </a:solidFill>
          <a:ln w="12700">
            <a:solidFill>
              <a:srgbClr val="1A3A5C"/>
            </a:solidFill>
            <a:prstDash val="solid"/>
          </a:ln>
        </p:spPr>
      </p:sp>
      <p:sp>
        <p:nvSpPr>
          <p:cNvPr id="3" name="Text 1"/>
          <p:cNvSpPr/>
          <p:nvPr/>
        </p:nvSpPr>
        <p:spPr>
          <a:xfrm>
            <a:off x="365760" y="201168"/>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PREVIEW</a:t>
            </a:r>
            <a:endParaRPr lang="en-US" sz="1000" dirty="0"/>
          </a:p>
        </p:txBody>
      </p:sp>
      <p:sp>
        <p:nvSpPr>
          <p:cNvPr id="4" name="Text 2"/>
          <p:cNvSpPr/>
          <p:nvPr/>
        </p:nvSpPr>
        <p:spPr>
          <a:xfrm>
            <a:off x="365760" y="566928"/>
            <a:ext cx="8412480" cy="347472"/>
          </a:xfrm>
          <a:prstGeom prst="rect">
            <a:avLst/>
          </a:prstGeom>
          <a:noFill/>
          <a:ln/>
        </p:spPr>
        <p:txBody>
          <a:bodyPr wrap="square" rtlCol="0" anchor="ctr"/>
          <a:lstStyle/>
          <a:p>
            <a:pPr algn="l" indent="0" marL="0">
              <a:buNone/>
            </a:pPr>
            <a:r>
              <a:rPr lang="en-US" sz="1900" b="1" dirty="0">
                <a:solidFill>
                  <a:srgbClr val="1A1A2E"/>
                </a:solidFill>
                <a:latin typeface="Cambria" pitchFamily="34" charset="0"/>
                <a:ea typeface="Cambria" pitchFamily="34" charset="-122"/>
                <a:cs typeface="Cambria" pitchFamily="34" charset="-120"/>
              </a:rPr>
              <a:t>Assignment -- Part C (CER)</a:t>
            </a:r>
            <a:endParaRPr lang="en-US" sz="1900" dirty="0"/>
          </a:p>
        </p:txBody>
      </p:sp>
      <p:sp>
        <p:nvSpPr>
          <p:cNvPr id="5" name="Shape 3"/>
          <p:cNvSpPr/>
          <p:nvPr/>
        </p:nvSpPr>
        <p:spPr>
          <a:xfrm>
            <a:off x="365760" y="987552"/>
            <a:ext cx="8412480" cy="566928"/>
          </a:xfrm>
          <a:prstGeom prst="rect">
            <a:avLst/>
          </a:prstGeom>
          <a:solidFill>
            <a:srgbClr val="D6EAF8"/>
          </a:solidFill>
          <a:ln w="12700">
            <a:solidFill>
              <a:srgbClr val="D6EAF8"/>
            </a:solidFill>
            <a:prstDash val="solid"/>
          </a:ln>
        </p:spPr>
      </p:sp>
      <p:sp>
        <p:nvSpPr>
          <p:cNvPr id="6" name="Text 4"/>
          <p:cNvSpPr/>
          <p:nvPr/>
        </p:nvSpPr>
        <p:spPr>
          <a:xfrm>
            <a:off x="475488" y="1051560"/>
            <a:ext cx="8193024" cy="43891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PART C: Does your lab data prove that static electricity causes motion? Defend your answer using all three tests as evidence.</a:t>
            </a:r>
            <a:endParaRPr lang="en-US" sz="1300" dirty="0"/>
          </a:p>
        </p:txBody>
      </p:sp>
      <p:sp>
        <p:nvSpPr>
          <p:cNvPr id="7" name="Shape 5"/>
          <p:cNvSpPr/>
          <p:nvPr/>
        </p:nvSpPr>
        <p:spPr>
          <a:xfrm>
            <a:off x="365760" y="1627632"/>
            <a:ext cx="8412480" cy="640080"/>
          </a:xfrm>
          <a:prstGeom prst="rect">
            <a:avLst/>
          </a:prstGeom>
          <a:solidFill>
            <a:srgbClr val="E8F5E9"/>
          </a:solidFill>
          <a:ln w="12700">
            <a:solidFill>
              <a:srgbClr val="E8F5E9"/>
            </a:solidFill>
            <a:prstDash val="solid"/>
          </a:ln>
        </p:spPr>
      </p:sp>
      <p:sp>
        <p:nvSpPr>
          <p:cNvPr id="8" name="Text 6"/>
          <p:cNvSpPr/>
          <p:nvPr/>
        </p:nvSpPr>
        <p:spPr>
          <a:xfrm>
            <a:off x="475488" y="1691640"/>
            <a:ext cx="8193024" cy="51206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CLAIM: CLAIM -- Why did each test work? Write one clear sentence about what caused each result.</a:t>
            </a:r>
            <a:endParaRPr lang="en-US" sz="1200" dirty="0"/>
          </a:p>
        </p:txBody>
      </p:sp>
      <p:sp>
        <p:nvSpPr>
          <p:cNvPr id="9" name="Shape 7"/>
          <p:cNvSpPr/>
          <p:nvPr/>
        </p:nvSpPr>
        <p:spPr>
          <a:xfrm>
            <a:off x="365760" y="2340864"/>
            <a:ext cx="8412480" cy="640080"/>
          </a:xfrm>
          <a:prstGeom prst="rect">
            <a:avLst/>
          </a:prstGeom>
          <a:solidFill>
            <a:srgbClr val="E8F5E9"/>
          </a:solidFill>
          <a:ln w="12700">
            <a:solidFill>
              <a:srgbClr val="E8F5E9"/>
            </a:solidFill>
            <a:prstDash val="solid"/>
          </a:ln>
        </p:spPr>
      </p:sp>
      <p:sp>
        <p:nvSpPr>
          <p:cNvPr id="10" name="Text 8"/>
          <p:cNvSpPr/>
          <p:nvPr/>
        </p:nvSpPr>
        <p:spPr>
          <a:xfrm>
            <a:off x="475488" y="2404872"/>
            <a:ext cx="8193024" cy="51206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EVIDENCE: EVIDENCE -- What did you observe in each test? Use specific observations as evidence.</a:t>
            </a:r>
            <a:endParaRPr lang="en-US" sz="1200" dirty="0"/>
          </a:p>
        </p:txBody>
      </p:sp>
      <p:sp>
        <p:nvSpPr>
          <p:cNvPr id="11" name="Shape 9"/>
          <p:cNvSpPr/>
          <p:nvPr/>
        </p:nvSpPr>
        <p:spPr>
          <a:xfrm>
            <a:off x="365760" y="3054096"/>
            <a:ext cx="8412480" cy="640080"/>
          </a:xfrm>
          <a:prstGeom prst="rect">
            <a:avLst/>
          </a:prstGeom>
          <a:solidFill>
            <a:srgbClr val="E8F5E9"/>
          </a:solidFill>
          <a:ln w="12700">
            <a:solidFill>
              <a:srgbClr val="E8F5E9"/>
            </a:solidFill>
            <a:prstDash val="solid"/>
          </a:ln>
        </p:spPr>
      </p:sp>
      <p:sp>
        <p:nvSpPr>
          <p:cNvPr id="12" name="Text 10"/>
          <p:cNvSpPr/>
          <p:nvPr/>
        </p:nvSpPr>
        <p:spPr>
          <a:xfrm>
            <a:off x="475488" y="3118104"/>
            <a:ext cx="8193024" cy="51206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REASONING: This makes sense because the rules of charge say...</a:t>
            </a:r>
            <a:endParaRPr lang="en-US" sz="1200" dirty="0"/>
          </a:p>
        </p:txBody>
      </p:sp>
      <p:sp>
        <p:nvSpPr>
          <p:cNvPr id="13" name="Shape 11"/>
          <p:cNvSpPr/>
          <p:nvPr/>
        </p:nvSpPr>
        <p:spPr>
          <a:xfrm>
            <a:off x="365760" y="3767328"/>
            <a:ext cx="8412480" cy="530352"/>
          </a:xfrm>
          <a:prstGeom prst="rect">
            <a:avLst/>
          </a:prstGeom>
          <a:solidFill>
            <a:srgbClr val="FFF8E1"/>
          </a:solidFill>
          <a:ln w="12700">
            <a:solidFill>
              <a:srgbClr val="FFF8E1"/>
            </a:solidFill>
            <a:prstDash val="solid"/>
          </a:ln>
        </p:spPr>
      </p:sp>
      <p:sp>
        <p:nvSpPr>
          <p:cNvPr id="14" name="Text 12"/>
          <p:cNvSpPr/>
          <p:nvPr/>
        </p:nvSpPr>
        <p:spPr>
          <a:xfrm>
            <a:off x="475488" y="3831336"/>
            <a:ext cx="8193024" cy="402336"/>
          </a:xfrm>
          <a:prstGeom prst="rect">
            <a:avLst/>
          </a:prstGeom>
          <a:noFill/>
          <a:ln/>
        </p:spPr>
        <p:txBody>
          <a:bodyPr wrap="square" lIns="0" tIns="0" rIns="0" bIns="0"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Vocab Check: Use at least TWO of: charge, static, attract, repel, observation, evidence</a:t>
            </a:r>
            <a:endParaRPr lang="en-US" sz="1100" dirty="0"/>
          </a:p>
        </p:txBody>
      </p:sp>
      <p:sp>
        <p:nvSpPr>
          <p:cNvPr id="15" name="Shape 13"/>
          <p:cNvSpPr/>
          <p:nvPr/>
        </p:nvSpPr>
        <p:spPr>
          <a:xfrm>
            <a:off x="0" y="4896612"/>
            <a:ext cx="9144000" cy="246888"/>
          </a:xfrm>
          <a:prstGeom prst="rect">
            <a:avLst/>
          </a:prstGeom>
          <a:solidFill>
            <a:srgbClr val="F6C90E"/>
          </a:solidFill>
          <a:ln w="12700">
            <a:solidFill>
              <a:srgbClr val="F6C90E"/>
            </a:solidFill>
            <a:prstDash val="solid"/>
          </a:ln>
        </p:spPr>
      </p:sp>
      <p:sp>
        <p:nvSpPr>
          <p:cNvPr id="16" name="Text 14"/>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13.02  |  Assignment C</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365760" y="201168"/>
            <a:ext cx="1828800" cy="274320"/>
          </a:xfrm>
          <a:prstGeom prst="rect">
            <a:avLst/>
          </a:prstGeom>
          <a:solidFill>
            <a:srgbClr val="1A3A5C"/>
          </a:solidFill>
          <a:ln w="12700">
            <a:solidFill>
              <a:srgbClr val="1A3A5C"/>
            </a:solidFill>
            <a:prstDash val="solid"/>
          </a:ln>
        </p:spPr>
      </p:sp>
      <p:sp>
        <p:nvSpPr>
          <p:cNvPr id="3" name="Text 1"/>
          <p:cNvSpPr/>
          <p:nvPr/>
        </p:nvSpPr>
        <p:spPr>
          <a:xfrm>
            <a:off x="365760" y="201168"/>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REVISE YOUR THINKING</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How Did Your Thinking Change?</a:t>
            </a:r>
            <a:endParaRPr lang="en-US" sz="2000" dirty="0"/>
          </a:p>
        </p:txBody>
      </p:sp>
      <p:sp>
        <p:nvSpPr>
          <p:cNvPr id="5" name="Text 3"/>
          <p:cNvSpPr/>
          <p:nvPr/>
        </p:nvSpPr>
        <p:spPr>
          <a:xfrm>
            <a:off x="365760" y="1042416"/>
            <a:ext cx="8412480" cy="274320"/>
          </a:xfrm>
          <a:prstGeom prst="rect">
            <a:avLst/>
          </a:prstGeom>
          <a:noFill/>
          <a:ln/>
        </p:spPr>
        <p:txBody>
          <a:bodyPr wrap="square" rtlCol="0" anchor="ctr"/>
          <a:lstStyle/>
          <a:p>
            <a:pPr algn="l" indent="0" marL="0">
              <a:buNone/>
            </a:pPr>
            <a:r>
              <a:rPr lang="en-US" sz="1200" dirty="0">
                <a:solidFill>
                  <a:srgbClr val="F6C90E"/>
                </a:solidFill>
                <a:latin typeface="Calibri" pitchFamily="34" charset="0"/>
                <a:ea typeface="Calibri" pitchFamily="34" charset="-122"/>
                <a:cs typeface="Calibri" pitchFamily="34" charset="-120"/>
              </a:rPr>
              <a:t>Look back at your prediction. Write 3-4 sentences answering these:</a:t>
            </a:r>
            <a:endParaRPr lang="en-US" sz="1200" dirty="0"/>
          </a:p>
        </p:txBody>
      </p:sp>
      <p:sp>
        <p:nvSpPr>
          <p:cNvPr id="6" name="Shape 4"/>
          <p:cNvSpPr/>
          <p:nvPr/>
        </p:nvSpPr>
        <p:spPr>
          <a:xfrm>
            <a:off x="365760" y="1389888"/>
            <a:ext cx="292608" cy="292608"/>
          </a:xfrm>
          <a:prstGeom prst="rect">
            <a:avLst/>
          </a:prstGeom>
          <a:solidFill>
            <a:srgbClr val="1A3A5C"/>
          </a:solidFill>
          <a:ln w="12700">
            <a:solidFill>
              <a:srgbClr val="1A3A5C"/>
            </a:solidFill>
            <a:prstDash val="solid"/>
          </a:ln>
        </p:spPr>
      </p:sp>
      <p:sp>
        <p:nvSpPr>
          <p:cNvPr id="7" name="Text 5"/>
          <p:cNvSpPr/>
          <p:nvPr/>
        </p:nvSpPr>
        <p:spPr>
          <a:xfrm>
            <a:off x="365760" y="138988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Shape 6"/>
          <p:cNvSpPr/>
          <p:nvPr/>
        </p:nvSpPr>
        <p:spPr>
          <a:xfrm>
            <a:off x="768096" y="1389888"/>
            <a:ext cx="8010144" cy="1005840"/>
          </a:xfrm>
          <a:prstGeom prst="rect">
            <a:avLst/>
          </a:prstGeom>
          <a:solidFill>
            <a:srgbClr val="085E5D"/>
          </a:solidFill>
          <a:ln w="12700">
            <a:solidFill>
              <a:srgbClr val="085E5D"/>
            </a:solidFill>
            <a:prstDash val="solid"/>
          </a:ln>
        </p:spPr>
      </p:sp>
      <p:sp>
        <p:nvSpPr>
          <p:cNvPr id="9" name="Text 7"/>
          <p:cNvSpPr/>
          <p:nvPr/>
        </p:nvSpPr>
        <p:spPr>
          <a:xfrm>
            <a:off x="877824" y="1453896"/>
            <a:ext cx="7790688" cy="8778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What did you predict would happen in each test?</a:t>
            </a:r>
            <a:endParaRPr lang="en-US" sz="1300" dirty="0"/>
          </a:p>
        </p:txBody>
      </p:sp>
      <p:sp>
        <p:nvSpPr>
          <p:cNvPr id="10" name="Shape 8"/>
          <p:cNvSpPr/>
          <p:nvPr/>
        </p:nvSpPr>
        <p:spPr>
          <a:xfrm>
            <a:off x="365760" y="2560320"/>
            <a:ext cx="292608" cy="292608"/>
          </a:xfrm>
          <a:prstGeom prst="rect">
            <a:avLst/>
          </a:prstGeom>
          <a:solidFill>
            <a:srgbClr val="1A3A5C"/>
          </a:solidFill>
          <a:ln w="12700">
            <a:solidFill>
              <a:srgbClr val="1A3A5C"/>
            </a:solidFill>
            <a:prstDash val="solid"/>
          </a:ln>
        </p:spPr>
      </p:sp>
      <p:sp>
        <p:nvSpPr>
          <p:cNvPr id="11" name="Text 9"/>
          <p:cNvSpPr/>
          <p:nvPr/>
        </p:nvSpPr>
        <p:spPr>
          <a:xfrm>
            <a:off x="365760" y="256032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Shape 10"/>
          <p:cNvSpPr/>
          <p:nvPr/>
        </p:nvSpPr>
        <p:spPr>
          <a:xfrm>
            <a:off x="768096" y="2560320"/>
            <a:ext cx="8010144" cy="1005840"/>
          </a:xfrm>
          <a:prstGeom prst="rect">
            <a:avLst/>
          </a:prstGeom>
          <a:solidFill>
            <a:srgbClr val="085E5D"/>
          </a:solidFill>
          <a:ln w="12700">
            <a:solidFill>
              <a:srgbClr val="085E5D"/>
            </a:solidFill>
            <a:prstDash val="solid"/>
          </a:ln>
        </p:spPr>
      </p:sp>
      <p:sp>
        <p:nvSpPr>
          <p:cNvPr id="13" name="Text 11"/>
          <p:cNvSpPr/>
          <p:nvPr/>
        </p:nvSpPr>
        <p:spPr>
          <a:xfrm>
            <a:off x="877824" y="2624328"/>
            <a:ext cx="7790688" cy="8778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Did your real observations match your predictions? What surprised you?</a:t>
            </a:r>
            <a:endParaRPr lang="en-US" sz="1300" dirty="0"/>
          </a:p>
        </p:txBody>
      </p:sp>
      <p:sp>
        <p:nvSpPr>
          <p:cNvPr id="14" name="Shape 12"/>
          <p:cNvSpPr/>
          <p:nvPr/>
        </p:nvSpPr>
        <p:spPr>
          <a:xfrm>
            <a:off x="365760" y="3730752"/>
            <a:ext cx="292608" cy="292608"/>
          </a:xfrm>
          <a:prstGeom prst="rect">
            <a:avLst/>
          </a:prstGeom>
          <a:solidFill>
            <a:srgbClr val="1A3A5C"/>
          </a:solidFill>
          <a:ln w="12700">
            <a:solidFill>
              <a:srgbClr val="1A3A5C"/>
            </a:solidFill>
            <a:prstDash val="solid"/>
          </a:ln>
        </p:spPr>
      </p:sp>
      <p:sp>
        <p:nvSpPr>
          <p:cNvPr id="15" name="Text 13"/>
          <p:cNvSpPr/>
          <p:nvPr/>
        </p:nvSpPr>
        <p:spPr>
          <a:xfrm>
            <a:off x="365760" y="373075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Shape 14"/>
          <p:cNvSpPr/>
          <p:nvPr/>
        </p:nvSpPr>
        <p:spPr>
          <a:xfrm>
            <a:off x="768096" y="3730752"/>
            <a:ext cx="8010144" cy="1005840"/>
          </a:xfrm>
          <a:prstGeom prst="rect">
            <a:avLst/>
          </a:prstGeom>
          <a:solidFill>
            <a:srgbClr val="085E5D"/>
          </a:solidFill>
          <a:ln w="12700">
            <a:solidFill>
              <a:srgbClr val="085E5D"/>
            </a:solidFill>
            <a:prstDash val="solid"/>
          </a:ln>
        </p:spPr>
      </p:sp>
      <p:sp>
        <p:nvSpPr>
          <p:cNvPr id="17" name="Text 15"/>
          <p:cNvSpPr/>
          <p:nvPr/>
        </p:nvSpPr>
        <p:spPr>
          <a:xfrm>
            <a:off x="877824" y="3794760"/>
            <a:ext cx="7790688" cy="8778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What is the most convincing piece of evidence you collected today?</a:t>
            </a:r>
            <a:endParaRPr lang="en-US" sz="1300" dirty="0"/>
          </a:p>
        </p:txBody>
      </p:sp>
      <p:sp>
        <p:nvSpPr>
          <p:cNvPr id="18" name="Shape 16"/>
          <p:cNvSpPr/>
          <p:nvPr/>
        </p:nvSpPr>
        <p:spPr>
          <a:xfrm>
            <a:off x="0" y="4896612"/>
            <a:ext cx="9144000" cy="246888"/>
          </a:xfrm>
          <a:prstGeom prst="rect">
            <a:avLst/>
          </a:prstGeom>
          <a:solidFill>
            <a:srgbClr val="F6C90E"/>
          </a:solidFill>
          <a:ln w="12700">
            <a:solidFill>
              <a:srgbClr val="F6C90E"/>
            </a:solidFill>
            <a:prstDash val="solid"/>
          </a:ln>
        </p:spPr>
      </p:sp>
      <p:sp>
        <p:nvSpPr>
          <p:cNvPr id="19" name="Text 17"/>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13.02  |  Revise Your Thinking</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BEFORE YOU SUBMIT</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100" b="1" dirty="0">
                <a:solidFill>
                  <a:srgbClr val="FFFFFF"/>
                </a:solidFill>
                <a:latin typeface="Cambria" pitchFamily="34" charset="0"/>
                <a:ea typeface="Cambria" pitchFamily="34" charset="-122"/>
                <a:cs typeface="Cambria" pitchFamily="34" charset="-120"/>
              </a:rPr>
              <a:t>Submission Checklist</a:t>
            </a:r>
            <a:endParaRPr lang="en-US" sz="2100" dirty="0"/>
          </a:p>
        </p:txBody>
      </p:sp>
      <p:sp>
        <p:nvSpPr>
          <p:cNvPr id="5" name="Shape 3"/>
          <p:cNvSpPr/>
          <p:nvPr/>
        </p:nvSpPr>
        <p:spPr>
          <a:xfrm>
            <a:off x="365760" y="1078992"/>
            <a:ext cx="8412480" cy="658368"/>
          </a:xfrm>
          <a:prstGeom prst="rect">
            <a:avLst/>
          </a:prstGeom>
          <a:solidFill>
            <a:srgbClr val="2E86AB"/>
          </a:solidFill>
          <a:ln w="12700">
            <a:solidFill>
              <a:srgbClr val="2E86AB"/>
            </a:solidFill>
            <a:prstDash val="solid"/>
          </a:ln>
        </p:spPr>
      </p:sp>
      <p:sp>
        <p:nvSpPr>
          <p:cNvPr id="6" name="Text 4"/>
          <p:cNvSpPr/>
          <p:nvPr/>
        </p:nvSpPr>
        <p:spPr>
          <a:xfrm>
            <a:off x="475488" y="1143000"/>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Part A: Three test sketches with arrows showing attract or repel</a:t>
            </a:r>
            <a:endParaRPr lang="en-US" sz="1200" dirty="0"/>
          </a:p>
        </p:txBody>
      </p:sp>
      <p:sp>
        <p:nvSpPr>
          <p:cNvPr id="7" name="Shape 5"/>
          <p:cNvSpPr/>
          <p:nvPr/>
        </p:nvSpPr>
        <p:spPr>
          <a:xfrm>
            <a:off x="365760" y="1828800"/>
            <a:ext cx="8412480" cy="658368"/>
          </a:xfrm>
          <a:prstGeom prst="rect">
            <a:avLst/>
          </a:prstGeom>
          <a:solidFill>
            <a:srgbClr val="2E86AB"/>
          </a:solidFill>
          <a:ln w="12700">
            <a:solidFill>
              <a:srgbClr val="2E86AB"/>
            </a:solidFill>
            <a:prstDash val="solid"/>
          </a:ln>
        </p:spPr>
      </p:sp>
      <p:sp>
        <p:nvSpPr>
          <p:cNvPr id="8" name="Text 6"/>
          <p:cNvSpPr/>
          <p:nvPr/>
        </p:nvSpPr>
        <p:spPr>
          <a:xfrm>
            <a:off x="475488" y="1892808"/>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Part B: All three evidence questions answered using your real observations</a:t>
            </a:r>
            <a:endParaRPr lang="en-US" sz="1200" dirty="0"/>
          </a:p>
        </p:txBody>
      </p:sp>
      <p:sp>
        <p:nvSpPr>
          <p:cNvPr id="9" name="Shape 7"/>
          <p:cNvSpPr/>
          <p:nvPr/>
        </p:nvSpPr>
        <p:spPr>
          <a:xfrm>
            <a:off x="365760" y="2578608"/>
            <a:ext cx="8412480" cy="658368"/>
          </a:xfrm>
          <a:prstGeom prst="rect">
            <a:avLst/>
          </a:prstGeom>
          <a:solidFill>
            <a:srgbClr val="2E86AB"/>
          </a:solidFill>
          <a:ln w="12700">
            <a:solidFill>
              <a:srgbClr val="2E86AB"/>
            </a:solidFill>
            <a:prstDash val="solid"/>
          </a:ln>
        </p:spPr>
      </p:sp>
      <p:sp>
        <p:nvSpPr>
          <p:cNvPr id="10" name="Text 8"/>
          <p:cNvSpPr/>
          <p:nvPr/>
        </p:nvSpPr>
        <p:spPr>
          <a:xfrm>
            <a:off x="475488" y="2642616"/>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Part C: Claim, evidence with all three tests, and reasoning</a:t>
            </a:r>
            <a:endParaRPr lang="en-US" sz="1200" dirty="0"/>
          </a:p>
        </p:txBody>
      </p:sp>
      <p:sp>
        <p:nvSpPr>
          <p:cNvPr id="11" name="Shape 9"/>
          <p:cNvSpPr/>
          <p:nvPr/>
        </p:nvSpPr>
        <p:spPr>
          <a:xfrm>
            <a:off x="365760" y="3328416"/>
            <a:ext cx="8412480" cy="658368"/>
          </a:xfrm>
          <a:prstGeom prst="rect">
            <a:avLst/>
          </a:prstGeom>
          <a:solidFill>
            <a:srgbClr val="2E86AB"/>
          </a:solidFill>
          <a:ln w="12700">
            <a:solidFill>
              <a:srgbClr val="2E86AB"/>
            </a:solidFill>
            <a:prstDash val="solid"/>
          </a:ln>
        </p:spPr>
      </p:sp>
      <p:sp>
        <p:nvSpPr>
          <p:cNvPr id="12" name="Text 10"/>
          <p:cNvSpPr/>
          <p:nvPr/>
        </p:nvSpPr>
        <p:spPr>
          <a:xfrm>
            <a:off x="475488" y="3392424"/>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Revise Your Thinking: 3-4 sentences comparing predictions to real data</a:t>
            </a:r>
            <a:endParaRPr lang="en-US" sz="1200" dirty="0"/>
          </a:p>
        </p:txBody>
      </p:sp>
      <p:sp>
        <p:nvSpPr>
          <p:cNvPr id="13" name="Shape 11"/>
          <p:cNvSpPr/>
          <p:nvPr/>
        </p:nvSpPr>
        <p:spPr>
          <a:xfrm>
            <a:off x="365760" y="4078224"/>
            <a:ext cx="8412480" cy="658368"/>
          </a:xfrm>
          <a:prstGeom prst="rect">
            <a:avLst/>
          </a:prstGeom>
          <a:solidFill>
            <a:srgbClr val="2E86AB"/>
          </a:solidFill>
          <a:ln w="12700">
            <a:solidFill>
              <a:srgbClr val="2E86AB"/>
            </a:solidFill>
            <a:prstDash val="solid"/>
          </a:ln>
        </p:spPr>
      </p:sp>
      <p:sp>
        <p:nvSpPr>
          <p:cNvPr id="14" name="Text 12"/>
          <p:cNvSpPr/>
          <p:nvPr/>
        </p:nvSpPr>
        <p:spPr>
          <a:xfrm>
            <a:off x="475488" y="4142232"/>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Vocab Check: At least TWO lesson words used accurately</a:t>
            </a:r>
            <a:endParaRPr lang="en-US" sz="1200" dirty="0"/>
          </a:p>
        </p:txBody>
      </p:sp>
      <p:sp>
        <p:nvSpPr>
          <p:cNvPr id="15" name="Text 13"/>
          <p:cNvSpPr/>
          <p:nvPr/>
        </p:nvSpPr>
        <p:spPr>
          <a:xfrm>
            <a:off x="365760" y="4617720"/>
            <a:ext cx="8412480" cy="274320"/>
          </a:xfrm>
          <a:prstGeom prst="rect">
            <a:avLst/>
          </a:prstGeom>
          <a:noFill/>
          <a:ln/>
        </p:spPr>
        <p:txBody>
          <a:bodyPr wrap="square" rtlCol="0" anchor="ctr"/>
          <a:lstStyle/>
          <a:p>
            <a:pPr algn="ctr" indent="0" marL="0">
              <a:buNone/>
            </a:pPr>
            <a:r>
              <a:rPr lang="en-US" sz="1100" dirty="0">
                <a:solidFill>
                  <a:srgbClr val="F6C90E"/>
                </a:solidFill>
                <a:latin typeface="Calibri" pitchFamily="34" charset="0"/>
                <a:ea typeface="Calibri" pitchFamily="34" charset="-122"/>
                <a:cs typeface="Calibri" pitchFamily="34" charset="-120"/>
              </a:rPr>
              <a:t>Turn in via Canvas: copy text, photo your notebook, or record a video.</a:t>
            </a:r>
            <a:endParaRPr lang="en-US" sz="1100" dirty="0"/>
          </a:p>
        </p:txBody>
      </p:sp>
      <p:sp>
        <p:nvSpPr>
          <p:cNvPr id="16" name="Shape 14"/>
          <p:cNvSpPr/>
          <p:nvPr/>
        </p:nvSpPr>
        <p:spPr>
          <a:xfrm>
            <a:off x="0" y="4896612"/>
            <a:ext cx="9144000" cy="246888"/>
          </a:xfrm>
          <a:prstGeom prst="rect">
            <a:avLst/>
          </a:prstGeom>
          <a:solidFill>
            <a:srgbClr val="F6C90E"/>
          </a:solidFill>
          <a:ln w="12700">
            <a:solidFill>
              <a:srgbClr val="F6C90E"/>
            </a:solidFill>
            <a:prstDash val="solid"/>
          </a:ln>
        </p:spPr>
      </p:sp>
      <p:sp>
        <p:nvSpPr>
          <p:cNvPr id="17" name="Text 15"/>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13.02  |  Optima Academy Online  |  SC.5.P.10.3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2026-08-28T17:40:00Z</dcterms:created>
  <dcterms:modified xsi:type="dcterms:W3CDTF">2026-08-28T17:40:00Z</dcterms:modified>
</cp:coreProperties>
</file>