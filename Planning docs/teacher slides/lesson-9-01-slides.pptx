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Socratic follow-ups:
- What did you notice about the ice vs. the toast?
- What makes you think one is reversible?
- Could you ever get the original toast back?
- What do you think is happening to the tiny particles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Socratic follow-ups:
- What is happening to the tiny particles when ice melts?
- If a chemical change makes a new substance, what happened to the old particles?
- What would scientists look for to prove a chemical change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Socratic follow-ups:
- What specific clues from Scenario B prove it is chemical?
- Why is new smell and new color strong evidence?
- If you burned your food, is that a physical or chemical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 coaching:
- Claim should name the type of change and one reason.
- Evidence must come from the investigation scenarios.
- Reasoning should connect to what particles are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Answer: B -- Cooking an egg.
Ask: What clues tell you it is chemical -- new color, new texture, cannot undo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Answer: A -- Melting chocolate.
Key: reversible means you can get the original matter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0" y="0"/>
            <a:ext cx="9144000" cy="109728"/>
          </a:xfrm>
          <a:prstGeom prst="rect">
            <a:avLst/>
          </a:prstGeom>
          <a:solidFill>
            <a:srgbClr val="F6C90E"/>
          </a:solidFill>
          <a:ln w="12700">
            <a:solidFill>
              <a:srgbClr val="F6C90E"/>
            </a:solidFill>
            <a:prstDash val="solid"/>
          </a:ln>
        </p:spPr>
      </p:sp>
      <p:sp>
        <p:nvSpPr>
          <p:cNvPr id="4" name="Shape 2"/>
          <p:cNvSpPr/>
          <p:nvPr/>
        </p:nvSpPr>
        <p:spPr>
          <a:xfrm>
            <a:off x="2926080" y="228600"/>
            <a:ext cx="2683764" cy="274320"/>
          </a:xfrm>
          <a:prstGeom prst="rect">
            <a:avLst/>
          </a:prstGeom>
          <a:solidFill>
            <a:srgbClr val="0E7C7B"/>
          </a:solidFill>
          <a:ln w="12700">
            <a:solidFill>
              <a:srgbClr val="0E7C7B"/>
            </a:solidFill>
            <a:prstDash val="solid"/>
          </a:ln>
        </p:spPr>
      </p:sp>
      <p:sp>
        <p:nvSpPr>
          <p:cNvPr id="5" name="Text 3"/>
          <p:cNvSpPr/>
          <p:nvPr/>
        </p:nvSpPr>
        <p:spPr>
          <a:xfrm>
            <a:off x="2926080" y="228600"/>
            <a:ext cx="268376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LESSON 9.01 - 5TH GRADE SCIENCE</a:t>
            </a:r>
            <a:endParaRPr lang="en-US" sz="1000" dirty="0"/>
          </a:p>
        </p:txBody>
      </p:sp>
      <p:sp>
        <p:nvSpPr>
          <p:cNvPr id="6" name="Text 4"/>
          <p:cNvSpPr/>
          <p:nvPr/>
        </p:nvSpPr>
        <p:spPr>
          <a:xfrm>
            <a:off x="457200" y="594360"/>
            <a:ext cx="8229600" cy="137160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How Can Temperature</a:t>
            </a:r>
            <a:endParaRPr lang="en-US" sz="3600" dirty="0"/>
          </a:p>
          <a:p>
            <a:pPr algn="ctr" indent="0" marL="0">
              <a:buNone/>
            </a:pPr>
            <a:r>
              <a:rPr lang="en-US" sz="3600" b="1" dirty="0">
                <a:solidFill>
                  <a:srgbClr val="FFFFFF"/>
                </a:solidFill>
                <a:latin typeface="Cambria" pitchFamily="34" charset="0"/>
                <a:ea typeface="Cambria" pitchFamily="34" charset="-122"/>
                <a:cs typeface="Cambria" pitchFamily="34" charset="-120"/>
              </a:rPr>
              <a:t>Change Materials?</a:t>
            </a:r>
            <a:endParaRPr lang="en-US" sz="3600" dirty="0"/>
          </a:p>
        </p:txBody>
      </p:sp>
      <p:sp>
        <p:nvSpPr>
          <p:cNvPr id="7" name="Text 5"/>
          <p:cNvSpPr/>
          <p:nvPr/>
        </p:nvSpPr>
        <p:spPr>
          <a:xfrm>
            <a:off x="457200" y="1920240"/>
            <a:ext cx="8229600" cy="365760"/>
          </a:xfrm>
          <a:prstGeom prst="rect">
            <a:avLst/>
          </a:prstGeom>
          <a:noFill/>
          <a:ln/>
        </p:spPr>
        <p:txBody>
          <a:bodyPr wrap="square" rtlCol="0" anchor="ctr"/>
          <a:lstStyle/>
          <a:p>
            <a:pPr algn="ctr" indent="0" marL="0">
              <a:buNone/>
            </a:pPr>
            <a:r>
              <a:rPr lang="en-US" sz="1600" i="1" dirty="0">
                <a:solidFill>
                  <a:srgbClr val="F6C90E"/>
                </a:solidFill>
                <a:latin typeface="Calibri" pitchFamily="34" charset="0"/>
                <a:ea typeface="Calibri" pitchFamily="34" charset="-122"/>
                <a:cs typeface="Calibri" pitchFamily="34" charset="-120"/>
              </a:rPr>
              <a:t>Heat changes matter. Sometimes you can undo it.</a:t>
            </a:r>
            <a:endParaRPr lang="en-US" sz="1600" dirty="0"/>
          </a:p>
        </p:txBody>
      </p:sp>
      <p:sp>
        <p:nvSpPr>
          <p:cNvPr id="8" name="Shape 6"/>
          <p:cNvSpPr/>
          <p:nvPr/>
        </p:nvSpPr>
        <p:spPr>
          <a:xfrm>
            <a:off x="457200" y="2423160"/>
            <a:ext cx="2651760" cy="822960"/>
          </a:xfrm>
          <a:prstGeom prst="rect">
            <a:avLst/>
          </a:prstGeom>
          <a:solidFill>
            <a:srgbClr val="0E7C7B"/>
          </a:solidFill>
          <a:ln w="12700">
            <a:solidFill>
              <a:srgbClr val="0E7C7B"/>
            </a:solidFill>
            <a:prstDash val="solid"/>
          </a:ln>
        </p:spPr>
      </p:sp>
      <p:sp>
        <p:nvSpPr>
          <p:cNvPr id="9" name="Text 7"/>
          <p:cNvSpPr/>
          <p:nvPr/>
        </p:nvSpPr>
        <p:spPr>
          <a:xfrm>
            <a:off x="548640" y="2478024"/>
            <a:ext cx="2468880" cy="713232"/>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1  Describe how heating and cooling can change a material.</a:t>
            </a:r>
            <a:endParaRPr lang="en-US" sz="1100" dirty="0"/>
          </a:p>
        </p:txBody>
      </p:sp>
      <p:sp>
        <p:nvSpPr>
          <p:cNvPr id="10" name="Shape 8"/>
          <p:cNvSpPr/>
          <p:nvPr/>
        </p:nvSpPr>
        <p:spPr>
          <a:xfrm>
            <a:off x="3264408" y="2423160"/>
            <a:ext cx="2651760" cy="822960"/>
          </a:xfrm>
          <a:prstGeom prst="rect">
            <a:avLst/>
          </a:prstGeom>
          <a:solidFill>
            <a:srgbClr val="0E7C7B"/>
          </a:solidFill>
          <a:ln w="12700">
            <a:solidFill>
              <a:srgbClr val="0E7C7B"/>
            </a:solidFill>
            <a:prstDash val="solid"/>
          </a:ln>
        </p:spPr>
      </p:sp>
      <p:sp>
        <p:nvSpPr>
          <p:cNvPr id="11" name="Text 9"/>
          <p:cNvSpPr/>
          <p:nvPr/>
        </p:nvSpPr>
        <p:spPr>
          <a:xfrm>
            <a:off x="3355848" y="2478024"/>
            <a:ext cx="2468880" cy="713232"/>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2  Tell the difference between a physical change and a chemical change.</a:t>
            </a:r>
            <a:endParaRPr lang="en-US" sz="1100" dirty="0"/>
          </a:p>
        </p:txBody>
      </p:sp>
      <p:sp>
        <p:nvSpPr>
          <p:cNvPr id="12" name="Shape 10"/>
          <p:cNvSpPr/>
          <p:nvPr/>
        </p:nvSpPr>
        <p:spPr>
          <a:xfrm>
            <a:off x="6071616" y="2423160"/>
            <a:ext cx="2651760" cy="822960"/>
          </a:xfrm>
          <a:prstGeom prst="rect">
            <a:avLst/>
          </a:prstGeom>
          <a:solidFill>
            <a:srgbClr val="0E7C7B"/>
          </a:solidFill>
          <a:ln w="12700">
            <a:solidFill>
              <a:srgbClr val="0E7C7B"/>
            </a:solidFill>
            <a:prstDash val="solid"/>
          </a:ln>
        </p:spPr>
      </p:sp>
      <p:sp>
        <p:nvSpPr>
          <p:cNvPr id="13" name="Text 11"/>
          <p:cNvSpPr/>
          <p:nvPr/>
        </p:nvSpPr>
        <p:spPr>
          <a:xfrm>
            <a:off x="6163056" y="2478024"/>
            <a:ext cx="2468880" cy="713232"/>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3  Use evidence to decide whether a new substance formed.</a:t>
            </a:r>
            <a:endParaRPr lang="en-US" sz="1100" dirty="0"/>
          </a:p>
        </p:txBody>
      </p:sp>
      <p:sp>
        <p:nvSpPr>
          <p:cNvPr id="14" name="Text 12"/>
          <p:cNvSpPr/>
          <p:nvPr/>
        </p:nvSpPr>
        <p:spPr>
          <a:xfrm>
            <a:off x="457200" y="3383280"/>
            <a:ext cx="8229600" cy="274320"/>
          </a:xfrm>
          <a:prstGeom prst="rect">
            <a:avLst/>
          </a:prstGeom>
          <a:noFill/>
          <a:ln/>
        </p:spPr>
        <p:txBody>
          <a:bodyPr wrap="square" rtlCol="0" anchor="ctr"/>
          <a:lstStyle/>
          <a:p>
            <a:pPr algn="ctr" indent="0" marL="0">
              <a:buNone/>
            </a:pPr>
            <a:r>
              <a:rPr lang="en-US" sz="1100" dirty="0">
                <a:solidFill>
                  <a:srgbClr val="F6C90E"/>
                </a:solidFill>
                <a:latin typeface="Calibri" pitchFamily="34" charset="0"/>
                <a:ea typeface="Calibri" pitchFamily="34" charset="-122"/>
                <a:cs typeface="Calibri" pitchFamily="34" charset="-120"/>
              </a:rPr>
              <a:t>SC.5.P.9.1 - 5-PS1-4 - Q2 Unit 2 Matter and Its Properties</a:t>
            </a:r>
            <a:endParaRPr lang="en-US" sz="1100" dirty="0"/>
          </a:p>
        </p:txBody>
      </p:sp>
      <p:sp>
        <p:nvSpPr>
          <p:cNvPr id="15" name="Shape 13"/>
          <p:cNvSpPr/>
          <p:nvPr/>
        </p:nvSpPr>
        <p:spPr>
          <a:xfrm>
            <a:off x="0" y="4846320"/>
            <a:ext cx="9144000" cy="301752"/>
          </a:xfrm>
          <a:prstGeom prst="rect">
            <a:avLst/>
          </a:prstGeom>
          <a:solidFill>
            <a:srgbClr val="F6C90E"/>
          </a:solidFill>
          <a:ln w="12700">
            <a:solidFill>
              <a:srgbClr val="F6C90E"/>
            </a:solidFill>
            <a:prstDash val="solid"/>
          </a:ln>
        </p:spPr>
      </p:sp>
      <p:sp>
        <p:nvSpPr>
          <p:cNvPr id="16" name="Text 14"/>
          <p:cNvSpPr/>
          <p:nvPr/>
        </p:nvSpPr>
        <p:spPr>
          <a:xfrm>
            <a:off x="0" y="4846320"/>
            <a:ext cx="9144000" cy="301752"/>
          </a:xfrm>
          <a:prstGeom prst="rect">
            <a:avLst/>
          </a:prstGeom>
          <a:noFill/>
          <a:ln/>
        </p:spPr>
        <p:txBody>
          <a:bodyPr wrap="square" rtlCol="0" anchor="ctr"/>
          <a:lstStyle/>
          <a:p>
            <a:pPr algn="ctr" indent="0" marL="0">
              <a:buNone/>
            </a:pPr>
            <a:r>
              <a:rPr lang="en-US" sz="1000" b="1" dirty="0">
                <a:solidFill>
                  <a:srgbClr val="1A3A5C"/>
                </a:solidFill>
                <a:latin typeface="Calibri" pitchFamily="34" charset="0"/>
                <a:ea typeface="Calibri" pitchFamily="34" charset="-122"/>
                <a:cs typeface="Calibri" pitchFamily="34" charset="-120"/>
              </a:rPr>
              <a:t>Optima Academy Online - 5th Grade Science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365760" y="182880"/>
            <a:ext cx="1595628" cy="274320"/>
          </a:xfrm>
          <a:prstGeom prst="rect">
            <a:avLst/>
          </a:prstGeom>
          <a:solidFill>
            <a:srgbClr val="0E7C7B"/>
          </a:solidFill>
          <a:ln w="12700">
            <a:solidFill>
              <a:srgbClr val="0E7C7B"/>
            </a:solidFill>
            <a:prstDash val="solid"/>
          </a:ln>
        </p:spPr>
      </p:sp>
      <p:sp>
        <p:nvSpPr>
          <p:cNvPr id="4" name="Text 2"/>
          <p:cNvSpPr/>
          <p:nvPr/>
        </p:nvSpPr>
        <p:spPr>
          <a:xfrm>
            <a:off x="365760" y="18288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AND WONDER</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Same matter. Different form.</a:t>
            </a:r>
            <a:endParaRPr lang="en-US" sz="2800" dirty="0"/>
          </a:p>
        </p:txBody>
      </p:sp>
      <p:sp>
        <p:nvSpPr>
          <p:cNvPr id="6" name="Shape 4"/>
          <p:cNvSpPr/>
          <p:nvPr/>
        </p:nvSpPr>
        <p:spPr>
          <a:xfrm>
            <a:off x="365760" y="1143000"/>
            <a:ext cx="8412480" cy="1371600"/>
          </a:xfrm>
          <a:prstGeom prst="rect">
            <a:avLst/>
          </a:prstGeom>
          <a:solidFill>
            <a:srgbClr val="1A2E3F"/>
          </a:solidFill>
          <a:ln w="12700">
            <a:solidFill>
              <a:srgbClr val="1A2E3F"/>
            </a:solidFill>
            <a:prstDash val="solid"/>
          </a:ln>
        </p:spPr>
      </p:sp>
      <p:sp>
        <p:nvSpPr>
          <p:cNvPr id="7" name="Text 5"/>
          <p:cNvSpPr/>
          <p:nvPr/>
        </p:nvSpPr>
        <p:spPr>
          <a:xfrm>
            <a:off x="457200" y="1197864"/>
            <a:ext cx="8229600" cy="12618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You take an ice cube from the freezer. After a few minutes -- a puddle of water. Back in the freezer, an hour later it is ice again.</a:t>
            </a:r>
            <a:endParaRPr lang="en-US" sz="1300" dirty="0"/>
          </a:p>
          <a:p>
            <a:pPr algn="l" indent="0" marL="0">
              <a:buNone/>
            </a:pP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You pop bread in the toaster. When it comes out it is brown, harder, and smells different. You try to un-toast it. Nothing works.</a:t>
            </a:r>
            <a:endParaRPr lang="en-US" sz="1300" dirty="0"/>
          </a:p>
        </p:txBody>
      </p:sp>
      <p:sp>
        <p:nvSpPr>
          <p:cNvPr id="8" name="Shape 6"/>
          <p:cNvSpPr/>
          <p:nvPr/>
        </p:nvSpPr>
        <p:spPr>
          <a:xfrm>
            <a:off x="365760" y="2651760"/>
            <a:ext cx="4023360" cy="777240"/>
          </a:xfrm>
          <a:prstGeom prst="rect">
            <a:avLst/>
          </a:prstGeom>
          <a:solidFill>
            <a:srgbClr val="F6C90E"/>
          </a:solidFill>
          <a:ln w="12700">
            <a:solidFill>
              <a:srgbClr val="F6C90E"/>
            </a:solidFill>
            <a:prstDash val="solid"/>
          </a:ln>
        </p:spPr>
      </p:sp>
      <p:sp>
        <p:nvSpPr>
          <p:cNvPr id="9" name="Text 7"/>
          <p:cNvSpPr/>
          <p:nvPr/>
        </p:nvSpPr>
        <p:spPr>
          <a:xfrm>
            <a:off x="457200" y="2706624"/>
            <a:ext cx="3840480" cy="667512"/>
          </a:xfrm>
          <a:prstGeom prst="rect">
            <a:avLst/>
          </a:prstGeom>
          <a:noFill/>
          <a:ln/>
        </p:spPr>
        <p:txBody>
          <a:bodyPr wrap="square" lIns="0" tIns="0" rIns="0" bIns="0" rtlCol="0" anchor="ctr"/>
          <a:lstStyle/>
          <a:p>
            <a:pPr algn="l" indent="0" marL="0">
              <a:buNone/>
            </a:pPr>
            <a:r>
              <a:rPr lang="en-US" sz="1300" b="1" dirty="0">
                <a:solidFill>
                  <a:srgbClr val="1A1A2E"/>
                </a:solidFill>
                <a:latin typeface="Calibri" pitchFamily="34" charset="0"/>
                <a:ea typeface="Calibri" pitchFamily="34" charset="-122"/>
                <a:cs typeface="Calibri" pitchFamily="34" charset="-120"/>
              </a:rPr>
              <a:t>Which of these changes can you undo?</a:t>
            </a:r>
            <a:endParaRPr lang="en-US" sz="1300" dirty="0"/>
          </a:p>
        </p:txBody>
      </p:sp>
      <p:sp>
        <p:nvSpPr>
          <p:cNvPr id="10" name="Shape 8"/>
          <p:cNvSpPr/>
          <p:nvPr/>
        </p:nvSpPr>
        <p:spPr>
          <a:xfrm>
            <a:off x="4663440" y="2651760"/>
            <a:ext cx="4114800" cy="777240"/>
          </a:xfrm>
          <a:prstGeom prst="rect">
            <a:avLst/>
          </a:prstGeom>
          <a:solidFill>
            <a:srgbClr val="F6C90E"/>
          </a:solidFill>
          <a:ln w="12700">
            <a:solidFill>
              <a:srgbClr val="F6C90E"/>
            </a:solidFill>
            <a:prstDash val="solid"/>
          </a:ln>
        </p:spPr>
      </p:sp>
      <p:sp>
        <p:nvSpPr>
          <p:cNvPr id="11" name="Text 9"/>
          <p:cNvSpPr/>
          <p:nvPr/>
        </p:nvSpPr>
        <p:spPr>
          <a:xfrm>
            <a:off x="4754880" y="2706624"/>
            <a:ext cx="3931920" cy="667512"/>
          </a:xfrm>
          <a:prstGeom prst="rect">
            <a:avLst/>
          </a:prstGeom>
          <a:noFill/>
          <a:ln/>
        </p:spPr>
        <p:txBody>
          <a:bodyPr wrap="square" lIns="0" tIns="0" rIns="0" bIns="0" rtlCol="0" anchor="ctr"/>
          <a:lstStyle/>
          <a:p>
            <a:pPr algn="l" indent="0" marL="0">
              <a:buNone/>
            </a:pPr>
            <a:r>
              <a:rPr lang="en-US" sz="1300" b="1" dirty="0">
                <a:solidFill>
                  <a:srgbClr val="1A1A2E"/>
                </a:solidFill>
                <a:latin typeface="Calibri" pitchFamily="34" charset="0"/>
                <a:ea typeface="Calibri" pitchFamily="34" charset="-122"/>
                <a:cs typeface="Calibri" pitchFamily="34" charset="-120"/>
              </a:rPr>
              <a:t>What do you think makes the difference?</a:t>
            </a:r>
            <a:endParaRPr lang="en-US" sz="1300" dirty="0"/>
          </a:p>
        </p:txBody>
      </p:sp>
      <p:sp>
        <p:nvSpPr>
          <p:cNvPr id="12" name="Text 10"/>
          <p:cNvSpPr/>
          <p:nvPr/>
        </p:nvSpPr>
        <p:spPr>
          <a:xfrm>
            <a:off x="365760" y="3566160"/>
            <a:ext cx="8412480" cy="320040"/>
          </a:xfrm>
          <a:prstGeom prst="rect">
            <a:avLst/>
          </a:prstGeom>
          <a:noFill/>
          <a:ln/>
        </p:spPr>
        <p:txBody>
          <a:bodyPr wrap="square" rtlCol="0" anchor="ctr"/>
          <a:lstStyle/>
          <a:p>
            <a:pPr indent="0" marL="0">
              <a:buNone/>
            </a:pPr>
            <a:r>
              <a:rPr lang="en-US" sz="1200" i="1" dirty="0">
                <a:solidFill>
                  <a:srgbClr val="5E7B9A"/>
                </a:solidFill>
                <a:latin typeface="Calibri" pitchFamily="34" charset="0"/>
                <a:ea typeface="Calibri" pitchFamily="34" charset="-122"/>
                <a:cs typeface="Calibri" pitchFamily="34" charset="-120"/>
              </a:rPr>
              <a:t>Write your prediction in your science notebook before moving 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365760" y="182880"/>
            <a:ext cx="1371600" cy="274320"/>
          </a:xfrm>
          <a:prstGeom prst="rect">
            <a:avLst/>
          </a:prstGeom>
          <a:solidFill>
            <a:srgbClr val="F07D35"/>
          </a:solidFill>
          <a:ln w="12700">
            <a:solidFill>
              <a:srgbClr val="F07D35"/>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5" name="Text 3"/>
          <p:cNvSpPr/>
          <p:nvPr/>
        </p:nvSpPr>
        <p:spPr>
          <a:xfrm>
            <a:off x="365760" y="594360"/>
            <a:ext cx="8412480" cy="502920"/>
          </a:xfrm>
          <a:prstGeom prst="rect">
            <a:avLst/>
          </a:prstGeom>
          <a:noFill/>
          <a:ln/>
        </p:spPr>
        <p:txBody>
          <a:bodyPr wrap="square"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Make Your Prediction</a:t>
            </a:r>
            <a:endParaRPr lang="en-US" sz="2800" dirty="0"/>
          </a:p>
        </p:txBody>
      </p:sp>
      <p:sp>
        <p:nvSpPr>
          <p:cNvPr id="6" name="Shape 4"/>
          <p:cNvSpPr/>
          <p:nvPr/>
        </p:nvSpPr>
        <p:spPr>
          <a:xfrm>
            <a:off x="365760" y="1188720"/>
            <a:ext cx="8412480" cy="1188720"/>
          </a:xfrm>
          <a:prstGeom prst="rect">
            <a:avLst/>
          </a:prstGeom>
          <a:solidFill>
            <a:srgbClr val="FFFFFF"/>
          </a:solidFill>
          <a:ln w="12700">
            <a:solidFill>
              <a:srgbClr val="FFFFFF"/>
            </a:solidFill>
            <a:prstDash val="solid"/>
          </a:ln>
        </p:spPr>
      </p:sp>
      <p:sp>
        <p:nvSpPr>
          <p:cNvPr id="7" name="Text 5"/>
          <p:cNvSpPr/>
          <p:nvPr/>
        </p:nvSpPr>
        <p:spPr>
          <a:xfrm>
            <a:off x="457200" y="1243584"/>
            <a:ext cx="8229600" cy="107899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When you heat or cool a material, the matter changes. Sometimes you can go right back to how it started. Sometimes you cannot.</a:t>
            </a:r>
            <a:endParaRPr lang="en-US" sz="1400" dirty="0"/>
          </a:p>
          <a:p>
            <a:pPr algn="l" indent="0" marL="0">
              <a:buNone/>
            </a:pPr>
            <a:endParaRPr lang="en-US" sz="1400" dirty="0"/>
          </a:p>
          <a:p>
            <a:pPr algn="l" indent="0" marL="0">
              <a:buNone/>
            </a:pPr>
            <a:r>
              <a:rPr lang="en-US" sz="1400" dirty="0">
                <a:solidFill>
                  <a:srgbClr val="1A1A2E"/>
                </a:solidFill>
                <a:latin typeface="Calibri" pitchFamily="34" charset="0"/>
                <a:ea typeface="Calibri" pitchFamily="34" charset="-122"/>
                <a:cs typeface="Calibri" pitchFamily="34" charset="-120"/>
              </a:rPr>
              <a:t>How do you know which kind of change you are looking at?</a:t>
            </a:r>
            <a:endParaRPr lang="en-US" sz="1400" dirty="0"/>
          </a:p>
        </p:txBody>
      </p:sp>
      <p:sp>
        <p:nvSpPr>
          <p:cNvPr id="8" name="Text 6"/>
          <p:cNvSpPr/>
          <p:nvPr/>
        </p:nvSpPr>
        <p:spPr>
          <a:xfrm>
            <a:off x="365760" y="2514600"/>
            <a:ext cx="8412480" cy="320040"/>
          </a:xfrm>
          <a:prstGeom prst="rect">
            <a:avLst/>
          </a:prstGeom>
          <a:noFill/>
          <a:ln/>
        </p:spPr>
        <p:txBody>
          <a:bodyPr wrap="square" rtlCol="0" anchor="ctr"/>
          <a:lstStyle/>
          <a:p>
            <a:pPr indent="0" marL="0">
              <a:buNone/>
            </a:pPr>
            <a:r>
              <a:rPr lang="en-US" sz="1300" b="1" dirty="0">
                <a:solidFill>
                  <a:srgbClr val="2C4A6E"/>
                </a:solidFill>
                <a:latin typeface="Calibri" pitchFamily="34" charset="0"/>
                <a:ea typeface="Calibri" pitchFamily="34" charset="-122"/>
                <a:cs typeface="Calibri" pitchFamily="34" charset="-120"/>
              </a:rPr>
              <a:t>In Your Science Notebook -- Write at least two sentences:</a:t>
            </a:r>
            <a:endParaRPr lang="en-US" sz="1300" dirty="0"/>
          </a:p>
        </p:txBody>
      </p:sp>
      <p:sp>
        <p:nvSpPr>
          <p:cNvPr id="9" name="Shape 7"/>
          <p:cNvSpPr/>
          <p:nvPr/>
        </p:nvSpPr>
        <p:spPr>
          <a:xfrm>
            <a:off x="365760" y="2880360"/>
            <a:ext cx="8412480" cy="1371600"/>
          </a:xfrm>
          <a:prstGeom prst="rect">
            <a:avLst/>
          </a:prstGeom>
          <a:solidFill>
            <a:srgbClr val="FFFFFF"/>
          </a:solidFill>
          <a:ln w="12700">
            <a:solidFill>
              <a:srgbClr val="FFFFFF"/>
            </a:solidFill>
            <a:prstDash val="solid"/>
          </a:ln>
        </p:spPr>
      </p:sp>
      <p:sp>
        <p:nvSpPr>
          <p:cNvPr id="10" name="Text 8"/>
          <p:cNvSpPr/>
          <p:nvPr/>
        </p:nvSpPr>
        <p:spPr>
          <a:xfrm>
            <a:off x="457200" y="2935224"/>
            <a:ext cx="8229600" cy="12618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Look at the three changes: ice melting, bread toasting, water boiling. Which ones could you reverse? What do you think makes the difference? Predict what makes some heat changes reversible and others not.</a:t>
            </a:r>
            <a:endParaRPr lang="en-US" sz="1300" dirty="0"/>
          </a:p>
        </p:txBody>
      </p:sp>
      <p:sp>
        <p:nvSpPr>
          <p:cNvPr id="11" name="Shape 9"/>
          <p:cNvSpPr/>
          <p:nvPr/>
        </p:nvSpPr>
        <p:spPr>
          <a:xfrm>
            <a:off x="0" y="4846320"/>
            <a:ext cx="9144000" cy="301752"/>
          </a:xfrm>
          <a:prstGeom prst="rect">
            <a:avLst/>
          </a:prstGeom>
          <a:solidFill>
            <a:srgbClr val="1A3A5C"/>
          </a:solidFill>
          <a:ln w="12700">
            <a:solidFill>
              <a:srgbClr val="1A3A5C"/>
            </a:solidFill>
            <a:prstDash val="solid"/>
          </a:ln>
        </p:spPr>
      </p:sp>
      <p:sp>
        <p:nvSpPr>
          <p:cNvPr id="12" name="Text 10"/>
          <p:cNvSpPr/>
          <p:nvPr/>
        </p:nvSpPr>
        <p:spPr>
          <a:xfrm>
            <a:off x="0" y="4846320"/>
            <a:ext cx="9144000" cy="30175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Optima Academy Online - Lesson 9.01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365760" y="182880"/>
            <a:ext cx="1371600" cy="274320"/>
          </a:xfrm>
          <a:prstGeom prst="rect">
            <a:avLst/>
          </a:prstGeom>
          <a:solidFill>
            <a:srgbClr val="F6C90E"/>
          </a:solidFill>
          <a:ln w="12700">
            <a:solidFill>
              <a:srgbClr val="F6C90E"/>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Key Vocabulary -- Part 1</a:t>
            </a:r>
            <a:endParaRPr lang="en-US" sz="2800" dirty="0"/>
          </a:p>
        </p:txBody>
      </p:sp>
      <p:sp>
        <p:nvSpPr>
          <p:cNvPr id="6" name="Shape 4"/>
          <p:cNvSpPr/>
          <p:nvPr/>
        </p:nvSpPr>
        <p:spPr>
          <a:xfrm>
            <a:off x="365760" y="1188720"/>
            <a:ext cx="3931920" cy="1737360"/>
          </a:xfrm>
          <a:prstGeom prst="rect">
            <a:avLst/>
          </a:prstGeom>
          <a:solidFill>
            <a:srgbClr val="0E7C7B"/>
          </a:solidFill>
          <a:ln w="12700">
            <a:solidFill>
              <a:srgbClr val="0E7C7B"/>
            </a:solidFill>
            <a:prstDash val="solid"/>
          </a:ln>
        </p:spPr>
      </p:sp>
      <p:sp>
        <p:nvSpPr>
          <p:cNvPr id="7" name="Text 5"/>
          <p:cNvSpPr/>
          <p:nvPr/>
        </p:nvSpPr>
        <p:spPr>
          <a:xfrm>
            <a:off x="457200" y="1234440"/>
            <a:ext cx="3749040" cy="4114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physical change</a:t>
            </a:r>
            <a:endParaRPr lang="en-US" sz="1800" dirty="0"/>
          </a:p>
        </p:txBody>
      </p:sp>
      <p:sp>
        <p:nvSpPr>
          <p:cNvPr id="8" name="Text 6"/>
          <p:cNvSpPr/>
          <p:nvPr/>
        </p:nvSpPr>
        <p:spPr>
          <a:xfrm>
            <a:off x="457200" y="1664208"/>
            <a:ext cx="3749040" cy="118872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change in shape, size, or form. The matter stays the same kind of stuff.</a:t>
            </a:r>
            <a:endParaRPr lang="en-US" sz="1400" dirty="0"/>
          </a:p>
        </p:txBody>
      </p:sp>
      <p:sp>
        <p:nvSpPr>
          <p:cNvPr id="9" name="Shape 7"/>
          <p:cNvSpPr/>
          <p:nvPr/>
        </p:nvSpPr>
        <p:spPr>
          <a:xfrm>
            <a:off x="4663440" y="1188720"/>
            <a:ext cx="4114800" cy="1737360"/>
          </a:xfrm>
          <a:prstGeom prst="rect">
            <a:avLst/>
          </a:prstGeom>
          <a:solidFill>
            <a:srgbClr val="F07D35"/>
          </a:solidFill>
          <a:ln w="12700">
            <a:solidFill>
              <a:srgbClr val="F07D35"/>
            </a:solidFill>
            <a:prstDash val="solid"/>
          </a:ln>
        </p:spPr>
      </p:sp>
      <p:sp>
        <p:nvSpPr>
          <p:cNvPr id="10" name="Text 8"/>
          <p:cNvSpPr/>
          <p:nvPr/>
        </p:nvSpPr>
        <p:spPr>
          <a:xfrm>
            <a:off x="4754880" y="1234440"/>
            <a:ext cx="3931920" cy="4114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chemical change</a:t>
            </a:r>
            <a:endParaRPr lang="en-US" sz="1800" dirty="0"/>
          </a:p>
        </p:txBody>
      </p:sp>
      <p:sp>
        <p:nvSpPr>
          <p:cNvPr id="11" name="Text 9"/>
          <p:cNvSpPr/>
          <p:nvPr/>
        </p:nvSpPr>
        <p:spPr>
          <a:xfrm>
            <a:off x="4754880" y="1664208"/>
            <a:ext cx="3931920" cy="118872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change that makes one or more new substances. Often hard or impossible to undo.</a:t>
            </a:r>
            <a:endParaRPr lang="en-US" sz="1400" dirty="0"/>
          </a:p>
        </p:txBody>
      </p:sp>
      <p:sp>
        <p:nvSpPr>
          <p:cNvPr id="12" name="Shape 10"/>
          <p:cNvSpPr/>
          <p:nvPr/>
        </p:nvSpPr>
        <p:spPr>
          <a:xfrm>
            <a:off x="365760" y="3063240"/>
            <a:ext cx="3931920" cy="1463040"/>
          </a:xfrm>
          <a:prstGeom prst="rect">
            <a:avLst/>
          </a:prstGeom>
          <a:solidFill>
            <a:srgbClr val="2E86AB"/>
          </a:solidFill>
          <a:ln w="12700">
            <a:solidFill>
              <a:srgbClr val="2E86AB"/>
            </a:solidFill>
            <a:prstDash val="solid"/>
          </a:ln>
        </p:spPr>
      </p:sp>
      <p:sp>
        <p:nvSpPr>
          <p:cNvPr id="13" name="Text 11"/>
          <p:cNvSpPr/>
          <p:nvPr/>
        </p:nvSpPr>
        <p:spPr>
          <a:xfrm>
            <a:off x="457200" y="3108960"/>
            <a:ext cx="374904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temperature</a:t>
            </a:r>
            <a:endParaRPr lang="en-US" sz="1800" dirty="0"/>
          </a:p>
        </p:txBody>
      </p:sp>
      <p:sp>
        <p:nvSpPr>
          <p:cNvPr id="14" name="Text 12"/>
          <p:cNvSpPr/>
          <p:nvPr/>
        </p:nvSpPr>
        <p:spPr>
          <a:xfrm>
            <a:off x="457200" y="3493008"/>
            <a:ext cx="3749040" cy="9601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measure of how hot or cold something is. Higher temperature means faster-moving particles.</a:t>
            </a:r>
            <a:endParaRPr lang="en-US" sz="1300" dirty="0"/>
          </a:p>
        </p:txBody>
      </p:sp>
      <p:sp>
        <p:nvSpPr>
          <p:cNvPr id="15" name="Shape 13"/>
          <p:cNvSpPr/>
          <p:nvPr/>
        </p:nvSpPr>
        <p:spPr>
          <a:xfrm>
            <a:off x="4663440" y="3063240"/>
            <a:ext cx="4114800" cy="1463040"/>
          </a:xfrm>
          <a:prstGeom prst="rect">
            <a:avLst/>
          </a:prstGeom>
          <a:solidFill>
            <a:srgbClr val="162640"/>
          </a:solidFill>
          <a:ln w="12700">
            <a:solidFill>
              <a:srgbClr val="162640"/>
            </a:solidFill>
            <a:prstDash val="solid"/>
          </a:ln>
        </p:spPr>
      </p:sp>
      <p:sp>
        <p:nvSpPr>
          <p:cNvPr id="16" name="Text 14"/>
          <p:cNvSpPr/>
          <p:nvPr/>
        </p:nvSpPr>
        <p:spPr>
          <a:xfrm>
            <a:off x="4754880" y="3118104"/>
            <a:ext cx="3931920" cy="1353312"/>
          </a:xfrm>
          <a:prstGeom prst="rect">
            <a:avLst/>
          </a:prstGeom>
          <a:noFill/>
          <a:ln/>
        </p:spPr>
        <p:txBody>
          <a:bodyPr wrap="square" lIns="0" tIns="0" rIns="0" bIns="0"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A physical change makes a new shape. A chemical change makes a new substance. Copy this into your notebook and give one example of each.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365760" y="182880"/>
            <a:ext cx="1371600" cy="274320"/>
          </a:xfrm>
          <a:prstGeom prst="rect">
            <a:avLst/>
          </a:prstGeom>
          <a:solidFill>
            <a:srgbClr val="F6C90E"/>
          </a:solidFill>
          <a:ln w="12700">
            <a:solidFill>
              <a:srgbClr val="F6C90E"/>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Key Vocabulary -- Part 2</a:t>
            </a:r>
            <a:endParaRPr lang="en-US" sz="2800" dirty="0"/>
          </a:p>
        </p:txBody>
      </p:sp>
      <p:sp>
        <p:nvSpPr>
          <p:cNvPr id="6" name="Shape 4"/>
          <p:cNvSpPr/>
          <p:nvPr/>
        </p:nvSpPr>
        <p:spPr>
          <a:xfrm>
            <a:off x="365760" y="1188720"/>
            <a:ext cx="3931920" cy="1554480"/>
          </a:xfrm>
          <a:prstGeom prst="rect">
            <a:avLst/>
          </a:prstGeom>
          <a:solidFill>
            <a:srgbClr val="0E7C7B"/>
          </a:solidFill>
          <a:ln w="12700">
            <a:solidFill>
              <a:srgbClr val="0E7C7B"/>
            </a:solidFill>
            <a:prstDash val="solid"/>
          </a:ln>
        </p:spPr>
      </p:sp>
      <p:sp>
        <p:nvSpPr>
          <p:cNvPr id="7" name="Text 5"/>
          <p:cNvSpPr/>
          <p:nvPr/>
        </p:nvSpPr>
        <p:spPr>
          <a:xfrm>
            <a:off x="457200" y="1234440"/>
            <a:ext cx="374904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melt</a:t>
            </a:r>
            <a:endParaRPr lang="en-US" sz="1800" dirty="0"/>
          </a:p>
        </p:txBody>
      </p:sp>
      <p:sp>
        <p:nvSpPr>
          <p:cNvPr id="8" name="Text 6"/>
          <p:cNvSpPr/>
          <p:nvPr/>
        </p:nvSpPr>
        <p:spPr>
          <a:xfrm>
            <a:off x="457200" y="1618488"/>
            <a:ext cx="3749040" cy="10515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When a solid warms up enough to turn into a liquid. It is a physical change.</a:t>
            </a:r>
            <a:endParaRPr lang="en-US" sz="1400" dirty="0"/>
          </a:p>
        </p:txBody>
      </p:sp>
      <p:sp>
        <p:nvSpPr>
          <p:cNvPr id="9" name="Shape 7"/>
          <p:cNvSpPr/>
          <p:nvPr/>
        </p:nvSpPr>
        <p:spPr>
          <a:xfrm>
            <a:off x="4663440" y="1188720"/>
            <a:ext cx="4114800" cy="1554480"/>
          </a:xfrm>
          <a:prstGeom prst="rect">
            <a:avLst/>
          </a:prstGeom>
          <a:solidFill>
            <a:srgbClr val="2E86AB"/>
          </a:solidFill>
          <a:ln w="12700">
            <a:solidFill>
              <a:srgbClr val="2E86AB"/>
            </a:solidFill>
            <a:prstDash val="solid"/>
          </a:ln>
        </p:spPr>
      </p:sp>
      <p:sp>
        <p:nvSpPr>
          <p:cNvPr id="10" name="Text 8"/>
          <p:cNvSpPr/>
          <p:nvPr/>
        </p:nvSpPr>
        <p:spPr>
          <a:xfrm>
            <a:off x="4754880" y="1234440"/>
            <a:ext cx="393192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freeze</a:t>
            </a:r>
            <a:endParaRPr lang="en-US" sz="1800" dirty="0"/>
          </a:p>
        </p:txBody>
      </p:sp>
      <p:sp>
        <p:nvSpPr>
          <p:cNvPr id="11" name="Text 9"/>
          <p:cNvSpPr/>
          <p:nvPr/>
        </p:nvSpPr>
        <p:spPr>
          <a:xfrm>
            <a:off x="4754880" y="1618488"/>
            <a:ext cx="3931920" cy="10515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When a liquid cools down enough to turn into a solid. It is a physical change.</a:t>
            </a:r>
            <a:endParaRPr lang="en-US" sz="1400" dirty="0"/>
          </a:p>
        </p:txBody>
      </p:sp>
      <p:sp>
        <p:nvSpPr>
          <p:cNvPr id="12" name="Shape 10"/>
          <p:cNvSpPr/>
          <p:nvPr/>
        </p:nvSpPr>
        <p:spPr>
          <a:xfrm>
            <a:off x="365760" y="2880360"/>
            <a:ext cx="8412480" cy="1554480"/>
          </a:xfrm>
          <a:prstGeom prst="rect">
            <a:avLst/>
          </a:prstGeom>
          <a:solidFill>
            <a:srgbClr val="2A7A4B"/>
          </a:solidFill>
          <a:ln w="12700">
            <a:solidFill>
              <a:srgbClr val="2A7A4B"/>
            </a:solidFill>
            <a:prstDash val="solid"/>
          </a:ln>
        </p:spPr>
      </p:sp>
      <p:sp>
        <p:nvSpPr>
          <p:cNvPr id="13" name="Text 11"/>
          <p:cNvSpPr/>
          <p:nvPr/>
        </p:nvSpPr>
        <p:spPr>
          <a:xfrm>
            <a:off x="457200" y="2926080"/>
            <a:ext cx="8229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reversible</a:t>
            </a:r>
            <a:endParaRPr lang="en-US" sz="1800" dirty="0"/>
          </a:p>
        </p:txBody>
      </p:sp>
      <p:sp>
        <p:nvSpPr>
          <p:cNvPr id="14" name="Text 12"/>
          <p:cNvSpPr/>
          <p:nvPr/>
        </p:nvSpPr>
        <p:spPr>
          <a:xfrm>
            <a:off x="457200" y="3310128"/>
            <a:ext cx="8229600" cy="10515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change you can undo to get back the starting material. Melting and freezing are reversible -- you can go back and forth between solid and liquid.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7C7B"/>
          </a:solidFill>
          <a:ln w="12700">
            <a:solidFill>
              <a:srgbClr val="0E7C7B"/>
            </a:solidFill>
            <a:prstDash val="solid"/>
          </a:ln>
        </p:spPr>
      </p:sp>
      <p:sp>
        <p:nvSpPr>
          <p:cNvPr id="3" name="Shape 1"/>
          <p:cNvSpPr/>
          <p:nvPr/>
        </p:nvSpPr>
        <p:spPr>
          <a:xfrm>
            <a:off x="365760" y="182880"/>
            <a:ext cx="1371600" cy="274320"/>
          </a:xfrm>
          <a:prstGeom prst="rect">
            <a:avLst/>
          </a:prstGeom>
          <a:solidFill>
            <a:srgbClr val="1A3A5C"/>
          </a:solidFill>
          <a:ln w="12700">
            <a:solidFill>
              <a:srgbClr val="1A3A5C"/>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5" name="Text 3"/>
          <p:cNvSpPr/>
          <p:nvPr/>
        </p:nvSpPr>
        <p:spPr>
          <a:xfrm>
            <a:off x="365760" y="594360"/>
            <a:ext cx="841248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Temperature Can Change Matter Two Ways</a:t>
            </a:r>
            <a:endParaRPr lang="en-US" sz="2600" dirty="0"/>
          </a:p>
        </p:txBody>
      </p:sp>
      <p:sp>
        <p:nvSpPr>
          <p:cNvPr id="6" name="Shape 4"/>
          <p:cNvSpPr/>
          <p:nvPr/>
        </p:nvSpPr>
        <p:spPr>
          <a:xfrm>
            <a:off x="365760" y="1188720"/>
            <a:ext cx="8412480" cy="1463040"/>
          </a:xfrm>
          <a:prstGeom prst="rect">
            <a:avLst/>
          </a:prstGeom>
          <a:solidFill>
            <a:srgbClr val="0B5F5F"/>
          </a:solidFill>
          <a:ln w="12700">
            <a:solidFill>
              <a:srgbClr val="0B5F5F"/>
            </a:solidFill>
            <a:prstDash val="solid"/>
          </a:ln>
        </p:spPr>
      </p:sp>
      <p:sp>
        <p:nvSpPr>
          <p:cNvPr id="7" name="Text 5"/>
          <p:cNvSpPr/>
          <p:nvPr/>
        </p:nvSpPr>
        <p:spPr>
          <a:xfrm>
            <a:off x="457200" y="1243584"/>
            <a:ext cx="8229600" cy="13533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Temperature can change matter in two ways. A physical change makes a new shape but the same kind of matter -- usually reversible. A chemical change makes a brand-new substance -- usually not reversible. Clues like color, smell, and bubbles help you tell the difference.</a:t>
            </a:r>
            <a:endParaRPr lang="en-US" sz="1500" dirty="0"/>
          </a:p>
        </p:txBody>
      </p:sp>
      <p:sp>
        <p:nvSpPr>
          <p:cNvPr id="8" name="Shape 6"/>
          <p:cNvSpPr/>
          <p:nvPr/>
        </p:nvSpPr>
        <p:spPr>
          <a:xfrm>
            <a:off x="365760" y="2788920"/>
            <a:ext cx="4023360" cy="1371600"/>
          </a:xfrm>
          <a:prstGeom prst="rect">
            <a:avLst/>
          </a:prstGeom>
          <a:solidFill>
            <a:srgbClr val="1A3A5C"/>
          </a:solidFill>
          <a:ln w="12700">
            <a:solidFill>
              <a:srgbClr val="1A3A5C"/>
            </a:solidFill>
            <a:prstDash val="solid"/>
          </a:ln>
        </p:spPr>
      </p:sp>
      <p:sp>
        <p:nvSpPr>
          <p:cNvPr id="9" name="Text 7"/>
          <p:cNvSpPr/>
          <p:nvPr/>
        </p:nvSpPr>
        <p:spPr>
          <a:xfrm>
            <a:off x="457200" y="2843784"/>
            <a:ext cx="3840480" cy="12618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PHYSICAL CHANGE</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New shape or form -- same matter.</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Can usually undo it.</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Example: ice to water to ice again.</a:t>
            </a:r>
            <a:endParaRPr lang="en-US" sz="1300" dirty="0"/>
          </a:p>
        </p:txBody>
      </p:sp>
      <p:sp>
        <p:nvSpPr>
          <p:cNvPr id="10" name="Shape 8"/>
          <p:cNvSpPr/>
          <p:nvPr/>
        </p:nvSpPr>
        <p:spPr>
          <a:xfrm>
            <a:off x="4663440" y="2788920"/>
            <a:ext cx="4114800" cy="1371600"/>
          </a:xfrm>
          <a:prstGeom prst="rect">
            <a:avLst/>
          </a:prstGeom>
          <a:solidFill>
            <a:srgbClr val="F07D35"/>
          </a:solidFill>
          <a:ln w="12700">
            <a:solidFill>
              <a:srgbClr val="F07D35"/>
            </a:solidFill>
            <a:prstDash val="solid"/>
          </a:ln>
        </p:spPr>
      </p:sp>
      <p:sp>
        <p:nvSpPr>
          <p:cNvPr id="11" name="Text 9"/>
          <p:cNvSpPr/>
          <p:nvPr/>
        </p:nvSpPr>
        <p:spPr>
          <a:xfrm>
            <a:off x="4754880" y="2843784"/>
            <a:ext cx="3931920" cy="12618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CHEMICAL CHANGE</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Brand-new substance formed.</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Very hard to undo.</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Example: bread becomes toast.</a:t>
            </a:r>
            <a:endParaRPr lang="en-US" sz="1300" dirty="0"/>
          </a:p>
        </p:txBody>
      </p:sp>
      <p:sp>
        <p:nvSpPr>
          <p:cNvPr id="12" name="Text 10"/>
          <p:cNvSpPr/>
          <p:nvPr/>
        </p:nvSpPr>
        <p:spPr>
          <a:xfrm>
            <a:off x="365760" y="4297680"/>
            <a:ext cx="8412480" cy="502920"/>
          </a:xfrm>
          <a:prstGeom prst="rect">
            <a:avLst/>
          </a:prstGeom>
          <a:noFill/>
          <a:ln/>
        </p:spPr>
        <p:txBody>
          <a:bodyPr wrap="square" rtlCol="0" anchor="ctr"/>
          <a:lstStyle/>
          <a:p>
            <a:pPr indent="0" marL="0">
              <a:buNone/>
            </a:pPr>
            <a:r>
              <a:rPr lang="en-US" sz="1200" i="1" dirty="0">
                <a:solidFill>
                  <a:srgbClr val="E0F0EF"/>
                </a:solidFill>
                <a:latin typeface="Calibri" pitchFamily="34" charset="0"/>
                <a:ea typeface="Calibri" pitchFamily="34" charset="-122"/>
                <a:cs typeface="Calibri" pitchFamily="34" charset="-120"/>
              </a:rPr>
              <a:t>Stop and Think: Can you un-toast toast? Why might one change work and the other not?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The Lesson -- Heat and Cold Can Change Matter</a:t>
            </a:r>
            <a:endParaRPr lang="en-US" sz="2200" dirty="0"/>
          </a:p>
        </p:txBody>
      </p:sp>
      <p:sp>
        <p:nvSpPr>
          <p:cNvPr id="4" name="Shape 2"/>
          <p:cNvSpPr/>
          <p:nvPr/>
        </p:nvSpPr>
        <p:spPr>
          <a:xfrm>
            <a:off x="365760" y="640080"/>
            <a:ext cx="8412480" cy="1143000"/>
          </a:xfrm>
          <a:prstGeom prst="rect">
            <a:avLst/>
          </a:prstGeom>
          <a:solidFill>
            <a:srgbClr val="FFFFFF"/>
          </a:solidFill>
          <a:ln w="12700">
            <a:solidFill>
              <a:srgbClr val="FFFFFF"/>
            </a:solidFill>
            <a:prstDash val="solid"/>
          </a:ln>
        </p:spPr>
      </p:sp>
      <p:sp>
        <p:nvSpPr>
          <p:cNvPr id="5" name="Text 3"/>
          <p:cNvSpPr/>
          <p:nvPr/>
        </p:nvSpPr>
        <p:spPr>
          <a:xfrm>
            <a:off x="457200" y="694944"/>
            <a:ext cx="8229600" cy="10332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When you heat something up, its particles move faster and spread apart. When you cool it down, the particles slow down and move closer together. That is why ice melts when it warms and water freezes when it cools.</a:t>
            </a:r>
            <a:endParaRPr lang="en-US" sz="1300" dirty="0"/>
          </a:p>
        </p:txBody>
      </p:sp>
      <p:sp>
        <p:nvSpPr>
          <p:cNvPr id="6" name="Text 4"/>
          <p:cNvSpPr/>
          <p:nvPr/>
        </p:nvSpPr>
        <p:spPr>
          <a:xfrm>
            <a:off x="365760" y="1874520"/>
            <a:ext cx="8412480" cy="347472"/>
          </a:xfrm>
          <a:prstGeom prst="rect">
            <a:avLst/>
          </a:prstGeom>
          <a:noFill/>
          <a:ln/>
        </p:spPr>
        <p:txBody>
          <a:bodyPr wrap="square" rtlCol="0" anchor="ctr"/>
          <a:lstStyle/>
          <a:p>
            <a:pPr indent="0" marL="0">
              <a:buNone/>
            </a:pPr>
            <a:r>
              <a:rPr lang="en-US" sz="1800" b="1" dirty="0">
                <a:solidFill>
                  <a:srgbClr val="1A3A5C"/>
                </a:solidFill>
                <a:latin typeface="Cambria" pitchFamily="34" charset="0"/>
                <a:ea typeface="Cambria" pitchFamily="34" charset="-122"/>
                <a:cs typeface="Cambria" pitchFamily="34" charset="-120"/>
              </a:rPr>
              <a:t>Two Kinds of Change</a:t>
            </a:r>
            <a:endParaRPr lang="en-US" sz="1800" dirty="0"/>
          </a:p>
        </p:txBody>
      </p:sp>
      <p:sp>
        <p:nvSpPr>
          <p:cNvPr id="7" name="Shape 5"/>
          <p:cNvSpPr/>
          <p:nvPr/>
        </p:nvSpPr>
        <p:spPr>
          <a:xfrm>
            <a:off x="365760" y="2286000"/>
            <a:ext cx="4160520" cy="1463040"/>
          </a:xfrm>
          <a:prstGeom prst="rect">
            <a:avLst/>
          </a:prstGeom>
          <a:solidFill>
            <a:srgbClr val="2E86AB"/>
          </a:solidFill>
          <a:ln w="12700">
            <a:solidFill>
              <a:srgbClr val="2E86AB"/>
            </a:solidFill>
            <a:prstDash val="solid"/>
          </a:ln>
        </p:spPr>
      </p:sp>
      <p:sp>
        <p:nvSpPr>
          <p:cNvPr id="8" name="Text 6"/>
          <p:cNvSpPr/>
          <p:nvPr/>
        </p:nvSpPr>
        <p:spPr>
          <a:xfrm>
            <a:off x="457200" y="2340864"/>
            <a:ext cx="3977640" cy="135331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PHYSICAL CHANGE</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Changes how something looks but not what it is. Melting ice is still H2O. Particles moved farther apart. Most physical changes are reversible.</a:t>
            </a:r>
            <a:endParaRPr lang="en-US" sz="1200" dirty="0"/>
          </a:p>
        </p:txBody>
      </p:sp>
      <p:sp>
        <p:nvSpPr>
          <p:cNvPr id="9" name="Shape 7"/>
          <p:cNvSpPr/>
          <p:nvPr/>
        </p:nvSpPr>
        <p:spPr>
          <a:xfrm>
            <a:off x="4663440" y="2286000"/>
            <a:ext cx="4114800" cy="1463040"/>
          </a:xfrm>
          <a:prstGeom prst="rect">
            <a:avLst/>
          </a:prstGeom>
          <a:solidFill>
            <a:srgbClr val="F07D35"/>
          </a:solidFill>
          <a:ln w="12700">
            <a:solidFill>
              <a:srgbClr val="F07D35"/>
            </a:solidFill>
            <a:prstDash val="solid"/>
          </a:ln>
        </p:spPr>
      </p:sp>
      <p:sp>
        <p:nvSpPr>
          <p:cNvPr id="10" name="Text 8"/>
          <p:cNvSpPr/>
          <p:nvPr/>
        </p:nvSpPr>
        <p:spPr>
          <a:xfrm>
            <a:off x="4754880" y="2340864"/>
            <a:ext cx="3931920" cy="135331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CHEMICAL CHANGE</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Heat makes particles snap apart and join in a new way. Now you have a new kind of matter. Toasting, cooking an egg, burning wood, rusting iron -- hard to undo.</a:t>
            </a:r>
            <a:endParaRPr lang="en-US" sz="1200" dirty="0"/>
          </a:p>
        </p:txBody>
      </p:sp>
      <p:sp>
        <p:nvSpPr>
          <p:cNvPr id="11" name="Text 9"/>
          <p:cNvSpPr/>
          <p:nvPr/>
        </p:nvSpPr>
        <p:spPr>
          <a:xfrm>
            <a:off x="365760" y="3886200"/>
            <a:ext cx="8412480" cy="594360"/>
          </a:xfrm>
          <a:prstGeom prst="rect">
            <a:avLst/>
          </a:prstGeom>
          <a:noFill/>
          <a:ln/>
        </p:spPr>
        <p:txBody>
          <a:bodyPr wrap="square" rtlCol="0" anchor="ctr"/>
          <a:lstStyle/>
          <a:p>
            <a:pPr indent="0" marL="0">
              <a:buNone/>
            </a:pPr>
            <a:r>
              <a:rPr lang="en-US" sz="1100" i="1" dirty="0">
                <a:solidFill>
                  <a:srgbClr val="2C4A6E"/>
                </a:solidFill>
                <a:latin typeface="Calibri" pitchFamily="34" charset="0"/>
                <a:ea typeface="Calibri" pitchFamily="34" charset="-122"/>
                <a:cs typeface="Calibri" pitchFamily="34" charset="-120"/>
              </a:rPr>
              <a:t>Stop and Reason: You melt chocolate. You put it in the fridge and it hardens. You then bake a cake with it. Now you cannot get the chocolate bar back. What is different about the second change?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Two Kinds of Change -- At a Glance</a:t>
            </a:r>
            <a:endParaRPr lang="en-US" sz="2200" dirty="0"/>
          </a:p>
        </p:txBody>
      </p:sp>
      <p:sp>
        <p:nvSpPr>
          <p:cNvPr id="4" name="Shape 2"/>
          <p:cNvSpPr/>
          <p:nvPr/>
        </p:nvSpPr>
        <p:spPr>
          <a:xfrm>
            <a:off x="365760" y="621792"/>
            <a:ext cx="2286000" cy="347472"/>
          </a:xfrm>
          <a:prstGeom prst="rect">
            <a:avLst/>
          </a:prstGeom>
          <a:solidFill>
            <a:srgbClr val="1A3A5C"/>
          </a:solidFill>
          <a:ln w="12700">
            <a:solidFill>
              <a:srgbClr val="1A3A5C"/>
            </a:solidFill>
            <a:prstDash val="solid"/>
          </a:ln>
        </p:spPr>
      </p:sp>
      <p:sp>
        <p:nvSpPr>
          <p:cNvPr id="5" name="Text 3"/>
          <p:cNvSpPr/>
          <p:nvPr/>
        </p:nvSpPr>
        <p:spPr>
          <a:xfrm>
            <a:off x="457200" y="676656"/>
            <a:ext cx="2103120"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p>
        </p:txBody>
      </p:sp>
      <p:sp>
        <p:nvSpPr>
          <p:cNvPr id="6" name="Shape 4"/>
          <p:cNvSpPr/>
          <p:nvPr/>
        </p:nvSpPr>
        <p:spPr>
          <a:xfrm>
            <a:off x="2697480" y="621792"/>
            <a:ext cx="2286000" cy="347472"/>
          </a:xfrm>
          <a:prstGeom prst="rect">
            <a:avLst/>
          </a:prstGeom>
          <a:solidFill>
            <a:srgbClr val="1A3A5C"/>
          </a:solidFill>
          <a:ln w="12700">
            <a:solidFill>
              <a:srgbClr val="1A3A5C"/>
            </a:solidFill>
            <a:prstDash val="solid"/>
          </a:ln>
        </p:spPr>
      </p:sp>
      <p:sp>
        <p:nvSpPr>
          <p:cNvPr id="7" name="Text 5"/>
          <p:cNvSpPr/>
          <p:nvPr/>
        </p:nvSpPr>
        <p:spPr>
          <a:xfrm>
            <a:off x="2788920" y="676656"/>
            <a:ext cx="2103120"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p>
        </p:txBody>
      </p:sp>
      <p:sp>
        <p:nvSpPr>
          <p:cNvPr id="8" name="Shape 6"/>
          <p:cNvSpPr/>
          <p:nvPr/>
        </p:nvSpPr>
        <p:spPr>
          <a:xfrm>
            <a:off x="5029200" y="621792"/>
            <a:ext cx="1737360" cy="347472"/>
          </a:xfrm>
          <a:prstGeom prst="rect">
            <a:avLst/>
          </a:prstGeom>
          <a:solidFill>
            <a:srgbClr val="1A3A5C"/>
          </a:solidFill>
          <a:ln w="12700">
            <a:solidFill>
              <a:srgbClr val="1A3A5C"/>
            </a:solidFill>
            <a:prstDash val="solid"/>
          </a:ln>
        </p:spPr>
      </p:sp>
      <p:sp>
        <p:nvSpPr>
          <p:cNvPr id="9" name="Text 7"/>
          <p:cNvSpPr/>
          <p:nvPr/>
        </p:nvSpPr>
        <p:spPr>
          <a:xfrm>
            <a:off x="5120640" y="676656"/>
            <a:ext cx="1554480"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Reversible?</a:t>
            </a:r>
            <a:endParaRPr lang="en-US" sz="1200" dirty="0"/>
          </a:p>
        </p:txBody>
      </p:sp>
      <p:sp>
        <p:nvSpPr>
          <p:cNvPr id="10" name="Shape 8"/>
          <p:cNvSpPr/>
          <p:nvPr/>
        </p:nvSpPr>
        <p:spPr>
          <a:xfrm>
            <a:off x="6812280" y="621792"/>
            <a:ext cx="1920240" cy="347472"/>
          </a:xfrm>
          <a:prstGeom prst="rect">
            <a:avLst/>
          </a:prstGeom>
          <a:solidFill>
            <a:srgbClr val="1A3A5C"/>
          </a:solidFill>
          <a:ln w="12700">
            <a:solidFill>
              <a:srgbClr val="1A3A5C"/>
            </a:solidFill>
            <a:prstDash val="solid"/>
          </a:ln>
        </p:spPr>
      </p:sp>
      <p:sp>
        <p:nvSpPr>
          <p:cNvPr id="11" name="Text 9"/>
          <p:cNvSpPr/>
          <p:nvPr/>
        </p:nvSpPr>
        <p:spPr>
          <a:xfrm>
            <a:off x="6903720" y="676656"/>
            <a:ext cx="1737360"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Clue</a:t>
            </a:r>
            <a:endParaRPr lang="en-US" sz="1200" dirty="0"/>
          </a:p>
        </p:txBody>
      </p:sp>
      <p:sp>
        <p:nvSpPr>
          <p:cNvPr id="12" name="Shape 10"/>
          <p:cNvSpPr/>
          <p:nvPr/>
        </p:nvSpPr>
        <p:spPr>
          <a:xfrm>
            <a:off x="365760" y="1005840"/>
            <a:ext cx="2286000" cy="548640"/>
          </a:xfrm>
          <a:prstGeom prst="rect">
            <a:avLst/>
          </a:prstGeom>
          <a:solidFill>
            <a:srgbClr val="FFFFFF"/>
          </a:solidFill>
          <a:ln w="12700">
            <a:solidFill>
              <a:srgbClr val="FFFFFF"/>
            </a:solidFill>
            <a:prstDash val="solid"/>
          </a:ln>
        </p:spPr>
      </p:sp>
      <p:sp>
        <p:nvSpPr>
          <p:cNvPr id="13" name="Text 11"/>
          <p:cNvSpPr/>
          <p:nvPr/>
        </p:nvSpPr>
        <p:spPr>
          <a:xfrm>
            <a:off x="457200" y="1060704"/>
            <a:ext cx="2103120" cy="43891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Ice melts</a:t>
            </a:r>
            <a:endParaRPr lang="en-US" sz="1200" dirty="0"/>
          </a:p>
        </p:txBody>
      </p:sp>
      <p:sp>
        <p:nvSpPr>
          <p:cNvPr id="14" name="Shape 12"/>
          <p:cNvSpPr/>
          <p:nvPr/>
        </p:nvSpPr>
        <p:spPr>
          <a:xfrm>
            <a:off x="2697480" y="1005840"/>
            <a:ext cx="2286000" cy="548640"/>
          </a:xfrm>
          <a:prstGeom prst="rect">
            <a:avLst/>
          </a:prstGeom>
          <a:solidFill>
            <a:srgbClr val="0E7C7B"/>
          </a:solidFill>
          <a:ln w="12700">
            <a:solidFill>
              <a:srgbClr val="0E7C7B"/>
            </a:solidFill>
            <a:prstDash val="solid"/>
          </a:ln>
        </p:spPr>
      </p:sp>
      <p:sp>
        <p:nvSpPr>
          <p:cNvPr id="15" name="Text 13"/>
          <p:cNvSpPr/>
          <p:nvPr/>
        </p:nvSpPr>
        <p:spPr>
          <a:xfrm>
            <a:off x="2788920" y="1060704"/>
            <a:ext cx="210312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Physical</a:t>
            </a:r>
            <a:endParaRPr lang="en-US" sz="1200" dirty="0"/>
          </a:p>
        </p:txBody>
      </p:sp>
      <p:sp>
        <p:nvSpPr>
          <p:cNvPr id="16" name="Shape 14"/>
          <p:cNvSpPr/>
          <p:nvPr/>
        </p:nvSpPr>
        <p:spPr>
          <a:xfrm>
            <a:off x="5029200" y="1005840"/>
            <a:ext cx="1737360" cy="548640"/>
          </a:xfrm>
          <a:prstGeom prst="rect">
            <a:avLst/>
          </a:prstGeom>
          <a:solidFill>
            <a:srgbClr val="2A7A4B"/>
          </a:solidFill>
          <a:ln w="12700">
            <a:solidFill>
              <a:srgbClr val="2A7A4B"/>
            </a:solidFill>
            <a:prstDash val="solid"/>
          </a:ln>
        </p:spPr>
      </p:sp>
      <p:sp>
        <p:nvSpPr>
          <p:cNvPr id="17" name="Text 15"/>
          <p:cNvSpPr/>
          <p:nvPr/>
        </p:nvSpPr>
        <p:spPr>
          <a:xfrm>
            <a:off x="5120640" y="1060704"/>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Yes</a:t>
            </a:r>
            <a:endParaRPr lang="en-US" sz="1200" dirty="0"/>
          </a:p>
        </p:txBody>
      </p:sp>
      <p:sp>
        <p:nvSpPr>
          <p:cNvPr id="18" name="Shape 16"/>
          <p:cNvSpPr/>
          <p:nvPr/>
        </p:nvSpPr>
        <p:spPr>
          <a:xfrm>
            <a:off x="6812280" y="1005840"/>
            <a:ext cx="1920240" cy="548640"/>
          </a:xfrm>
          <a:prstGeom prst="rect">
            <a:avLst/>
          </a:prstGeom>
          <a:solidFill>
            <a:srgbClr val="FFFFFF"/>
          </a:solidFill>
          <a:ln w="12700">
            <a:solidFill>
              <a:srgbClr val="FFFFFF"/>
            </a:solidFill>
            <a:prstDash val="solid"/>
          </a:ln>
        </p:spPr>
      </p:sp>
      <p:sp>
        <p:nvSpPr>
          <p:cNvPr id="19" name="Text 17"/>
          <p:cNvSpPr/>
          <p:nvPr/>
        </p:nvSpPr>
        <p:spPr>
          <a:xfrm>
            <a:off x="6903720" y="1060704"/>
            <a:ext cx="1737360" cy="438912"/>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Same substance H2O</a:t>
            </a:r>
            <a:endParaRPr lang="en-US" sz="1100" dirty="0"/>
          </a:p>
        </p:txBody>
      </p:sp>
      <p:sp>
        <p:nvSpPr>
          <p:cNvPr id="20" name="Shape 18"/>
          <p:cNvSpPr/>
          <p:nvPr/>
        </p:nvSpPr>
        <p:spPr>
          <a:xfrm>
            <a:off x="365760" y="1600200"/>
            <a:ext cx="2286000" cy="548640"/>
          </a:xfrm>
          <a:prstGeom prst="rect">
            <a:avLst/>
          </a:prstGeom>
          <a:solidFill>
            <a:srgbClr val="D8EDF9"/>
          </a:solidFill>
          <a:ln w="12700">
            <a:solidFill>
              <a:srgbClr val="D8EDF9"/>
            </a:solidFill>
            <a:prstDash val="solid"/>
          </a:ln>
        </p:spPr>
      </p:sp>
      <p:sp>
        <p:nvSpPr>
          <p:cNvPr id="21" name="Text 19"/>
          <p:cNvSpPr/>
          <p:nvPr/>
        </p:nvSpPr>
        <p:spPr>
          <a:xfrm>
            <a:off x="457200" y="1655064"/>
            <a:ext cx="2103120" cy="43891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Water freezes</a:t>
            </a:r>
            <a:endParaRPr lang="en-US" sz="1200" dirty="0"/>
          </a:p>
        </p:txBody>
      </p:sp>
      <p:sp>
        <p:nvSpPr>
          <p:cNvPr id="22" name="Shape 20"/>
          <p:cNvSpPr/>
          <p:nvPr/>
        </p:nvSpPr>
        <p:spPr>
          <a:xfrm>
            <a:off x="2697480" y="1600200"/>
            <a:ext cx="2286000" cy="548640"/>
          </a:xfrm>
          <a:prstGeom prst="rect">
            <a:avLst/>
          </a:prstGeom>
          <a:solidFill>
            <a:srgbClr val="0E7C7B"/>
          </a:solidFill>
          <a:ln w="12700">
            <a:solidFill>
              <a:srgbClr val="0E7C7B"/>
            </a:solidFill>
            <a:prstDash val="solid"/>
          </a:ln>
        </p:spPr>
      </p:sp>
      <p:sp>
        <p:nvSpPr>
          <p:cNvPr id="23" name="Text 21"/>
          <p:cNvSpPr/>
          <p:nvPr/>
        </p:nvSpPr>
        <p:spPr>
          <a:xfrm>
            <a:off x="2788920" y="1655064"/>
            <a:ext cx="210312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Physical</a:t>
            </a:r>
            <a:endParaRPr lang="en-US" sz="1200" dirty="0"/>
          </a:p>
        </p:txBody>
      </p:sp>
      <p:sp>
        <p:nvSpPr>
          <p:cNvPr id="24" name="Shape 22"/>
          <p:cNvSpPr/>
          <p:nvPr/>
        </p:nvSpPr>
        <p:spPr>
          <a:xfrm>
            <a:off x="5029200" y="1600200"/>
            <a:ext cx="1737360" cy="548640"/>
          </a:xfrm>
          <a:prstGeom prst="rect">
            <a:avLst/>
          </a:prstGeom>
          <a:solidFill>
            <a:srgbClr val="2A7A4B"/>
          </a:solidFill>
          <a:ln w="12700">
            <a:solidFill>
              <a:srgbClr val="2A7A4B"/>
            </a:solidFill>
            <a:prstDash val="solid"/>
          </a:ln>
        </p:spPr>
      </p:sp>
      <p:sp>
        <p:nvSpPr>
          <p:cNvPr id="25" name="Text 23"/>
          <p:cNvSpPr/>
          <p:nvPr/>
        </p:nvSpPr>
        <p:spPr>
          <a:xfrm>
            <a:off x="5120640" y="1655064"/>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Yes</a:t>
            </a:r>
            <a:endParaRPr lang="en-US" sz="1200" dirty="0"/>
          </a:p>
        </p:txBody>
      </p:sp>
      <p:sp>
        <p:nvSpPr>
          <p:cNvPr id="26" name="Shape 24"/>
          <p:cNvSpPr/>
          <p:nvPr/>
        </p:nvSpPr>
        <p:spPr>
          <a:xfrm>
            <a:off x="6812280" y="1600200"/>
            <a:ext cx="1920240" cy="548640"/>
          </a:xfrm>
          <a:prstGeom prst="rect">
            <a:avLst/>
          </a:prstGeom>
          <a:solidFill>
            <a:srgbClr val="D8EDF9"/>
          </a:solidFill>
          <a:ln w="12700">
            <a:solidFill>
              <a:srgbClr val="D8EDF9"/>
            </a:solidFill>
            <a:prstDash val="solid"/>
          </a:ln>
        </p:spPr>
      </p:sp>
      <p:sp>
        <p:nvSpPr>
          <p:cNvPr id="27" name="Text 25"/>
          <p:cNvSpPr/>
          <p:nvPr/>
        </p:nvSpPr>
        <p:spPr>
          <a:xfrm>
            <a:off x="6903720" y="1655064"/>
            <a:ext cx="1737360" cy="438912"/>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Same substance H2O</a:t>
            </a:r>
            <a:endParaRPr lang="en-US" sz="1100" dirty="0"/>
          </a:p>
        </p:txBody>
      </p:sp>
      <p:sp>
        <p:nvSpPr>
          <p:cNvPr id="28" name="Shape 26"/>
          <p:cNvSpPr/>
          <p:nvPr/>
        </p:nvSpPr>
        <p:spPr>
          <a:xfrm>
            <a:off x="365760" y="2194560"/>
            <a:ext cx="2286000" cy="548640"/>
          </a:xfrm>
          <a:prstGeom prst="rect">
            <a:avLst/>
          </a:prstGeom>
          <a:solidFill>
            <a:srgbClr val="FFFFFF"/>
          </a:solidFill>
          <a:ln w="12700">
            <a:solidFill>
              <a:srgbClr val="FFFFFF"/>
            </a:solidFill>
            <a:prstDash val="solid"/>
          </a:ln>
        </p:spPr>
      </p:sp>
      <p:sp>
        <p:nvSpPr>
          <p:cNvPr id="29" name="Text 27"/>
          <p:cNvSpPr/>
          <p:nvPr/>
        </p:nvSpPr>
        <p:spPr>
          <a:xfrm>
            <a:off x="457200" y="2249424"/>
            <a:ext cx="2103120" cy="43891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Bread toasts</a:t>
            </a:r>
            <a:endParaRPr lang="en-US" sz="1200" dirty="0"/>
          </a:p>
        </p:txBody>
      </p:sp>
      <p:sp>
        <p:nvSpPr>
          <p:cNvPr id="30" name="Shape 28"/>
          <p:cNvSpPr/>
          <p:nvPr/>
        </p:nvSpPr>
        <p:spPr>
          <a:xfrm>
            <a:off x="2697480" y="2194560"/>
            <a:ext cx="2286000" cy="548640"/>
          </a:xfrm>
          <a:prstGeom prst="rect">
            <a:avLst/>
          </a:prstGeom>
          <a:solidFill>
            <a:srgbClr val="F07D35"/>
          </a:solidFill>
          <a:ln w="12700">
            <a:solidFill>
              <a:srgbClr val="F07D35"/>
            </a:solidFill>
            <a:prstDash val="solid"/>
          </a:ln>
        </p:spPr>
      </p:sp>
      <p:sp>
        <p:nvSpPr>
          <p:cNvPr id="31" name="Text 29"/>
          <p:cNvSpPr/>
          <p:nvPr/>
        </p:nvSpPr>
        <p:spPr>
          <a:xfrm>
            <a:off x="2788920" y="2249424"/>
            <a:ext cx="210312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Chemical</a:t>
            </a:r>
            <a:endParaRPr lang="en-US" sz="1200" dirty="0"/>
          </a:p>
        </p:txBody>
      </p:sp>
      <p:sp>
        <p:nvSpPr>
          <p:cNvPr id="32" name="Shape 30"/>
          <p:cNvSpPr/>
          <p:nvPr/>
        </p:nvSpPr>
        <p:spPr>
          <a:xfrm>
            <a:off x="5029200" y="2194560"/>
            <a:ext cx="1737360" cy="548640"/>
          </a:xfrm>
          <a:prstGeom prst="rect">
            <a:avLst/>
          </a:prstGeom>
          <a:solidFill>
            <a:srgbClr val="C0392B"/>
          </a:solidFill>
          <a:ln w="12700">
            <a:solidFill>
              <a:srgbClr val="C0392B"/>
            </a:solidFill>
            <a:prstDash val="solid"/>
          </a:ln>
        </p:spPr>
      </p:sp>
      <p:sp>
        <p:nvSpPr>
          <p:cNvPr id="33" name="Text 31"/>
          <p:cNvSpPr/>
          <p:nvPr/>
        </p:nvSpPr>
        <p:spPr>
          <a:xfrm>
            <a:off x="5120640" y="2249424"/>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a:t>
            </a:r>
            <a:endParaRPr lang="en-US" sz="1200" dirty="0"/>
          </a:p>
        </p:txBody>
      </p:sp>
      <p:sp>
        <p:nvSpPr>
          <p:cNvPr id="34" name="Shape 32"/>
          <p:cNvSpPr/>
          <p:nvPr/>
        </p:nvSpPr>
        <p:spPr>
          <a:xfrm>
            <a:off x="6812280" y="2194560"/>
            <a:ext cx="1920240" cy="548640"/>
          </a:xfrm>
          <a:prstGeom prst="rect">
            <a:avLst/>
          </a:prstGeom>
          <a:solidFill>
            <a:srgbClr val="FFFFFF"/>
          </a:solidFill>
          <a:ln w="12700">
            <a:solidFill>
              <a:srgbClr val="FFFFFF"/>
            </a:solidFill>
            <a:prstDash val="solid"/>
          </a:ln>
        </p:spPr>
      </p:sp>
      <p:sp>
        <p:nvSpPr>
          <p:cNvPr id="35" name="Text 33"/>
          <p:cNvSpPr/>
          <p:nvPr/>
        </p:nvSpPr>
        <p:spPr>
          <a:xfrm>
            <a:off x="6903720" y="2249424"/>
            <a:ext cx="1737360" cy="438912"/>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New color, smell, texture</a:t>
            </a:r>
            <a:endParaRPr lang="en-US" sz="1100" dirty="0"/>
          </a:p>
        </p:txBody>
      </p:sp>
      <p:sp>
        <p:nvSpPr>
          <p:cNvPr id="36" name="Shape 34"/>
          <p:cNvSpPr/>
          <p:nvPr/>
        </p:nvSpPr>
        <p:spPr>
          <a:xfrm>
            <a:off x="365760" y="2788920"/>
            <a:ext cx="2286000" cy="548640"/>
          </a:xfrm>
          <a:prstGeom prst="rect">
            <a:avLst/>
          </a:prstGeom>
          <a:solidFill>
            <a:srgbClr val="D8EDF9"/>
          </a:solidFill>
          <a:ln w="12700">
            <a:solidFill>
              <a:srgbClr val="D8EDF9"/>
            </a:solidFill>
            <a:prstDash val="solid"/>
          </a:ln>
        </p:spPr>
      </p:sp>
      <p:sp>
        <p:nvSpPr>
          <p:cNvPr id="37" name="Text 35"/>
          <p:cNvSpPr/>
          <p:nvPr/>
        </p:nvSpPr>
        <p:spPr>
          <a:xfrm>
            <a:off x="457200" y="2843784"/>
            <a:ext cx="2103120" cy="43891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Egg cooks</a:t>
            </a:r>
            <a:endParaRPr lang="en-US" sz="1200" dirty="0"/>
          </a:p>
        </p:txBody>
      </p:sp>
      <p:sp>
        <p:nvSpPr>
          <p:cNvPr id="38" name="Shape 36"/>
          <p:cNvSpPr/>
          <p:nvPr/>
        </p:nvSpPr>
        <p:spPr>
          <a:xfrm>
            <a:off x="2697480" y="2788920"/>
            <a:ext cx="2286000" cy="548640"/>
          </a:xfrm>
          <a:prstGeom prst="rect">
            <a:avLst/>
          </a:prstGeom>
          <a:solidFill>
            <a:srgbClr val="F07D35"/>
          </a:solidFill>
          <a:ln w="12700">
            <a:solidFill>
              <a:srgbClr val="F07D35"/>
            </a:solidFill>
            <a:prstDash val="solid"/>
          </a:ln>
        </p:spPr>
      </p:sp>
      <p:sp>
        <p:nvSpPr>
          <p:cNvPr id="39" name="Text 37"/>
          <p:cNvSpPr/>
          <p:nvPr/>
        </p:nvSpPr>
        <p:spPr>
          <a:xfrm>
            <a:off x="2788920" y="2843784"/>
            <a:ext cx="210312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Chemical</a:t>
            </a:r>
            <a:endParaRPr lang="en-US" sz="1200" dirty="0"/>
          </a:p>
        </p:txBody>
      </p:sp>
      <p:sp>
        <p:nvSpPr>
          <p:cNvPr id="40" name="Shape 38"/>
          <p:cNvSpPr/>
          <p:nvPr/>
        </p:nvSpPr>
        <p:spPr>
          <a:xfrm>
            <a:off x="5029200" y="2788920"/>
            <a:ext cx="1737360" cy="548640"/>
          </a:xfrm>
          <a:prstGeom prst="rect">
            <a:avLst/>
          </a:prstGeom>
          <a:solidFill>
            <a:srgbClr val="C0392B"/>
          </a:solidFill>
          <a:ln w="12700">
            <a:solidFill>
              <a:srgbClr val="C0392B"/>
            </a:solidFill>
            <a:prstDash val="solid"/>
          </a:ln>
        </p:spPr>
      </p:sp>
      <p:sp>
        <p:nvSpPr>
          <p:cNvPr id="41" name="Text 39"/>
          <p:cNvSpPr/>
          <p:nvPr/>
        </p:nvSpPr>
        <p:spPr>
          <a:xfrm>
            <a:off x="5120640" y="2843784"/>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a:t>
            </a:r>
            <a:endParaRPr lang="en-US" sz="1200" dirty="0"/>
          </a:p>
        </p:txBody>
      </p:sp>
      <p:sp>
        <p:nvSpPr>
          <p:cNvPr id="42" name="Shape 40"/>
          <p:cNvSpPr/>
          <p:nvPr/>
        </p:nvSpPr>
        <p:spPr>
          <a:xfrm>
            <a:off x="6812280" y="2788920"/>
            <a:ext cx="1920240" cy="548640"/>
          </a:xfrm>
          <a:prstGeom prst="rect">
            <a:avLst/>
          </a:prstGeom>
          <a:solidFill>
            <a:srgbClr val="D8EDF9"/>
          </a:solidFill>
          <a:ln w="12700">
            <a:solidFill>
              <a:srgbClr val="D8EDF9"/>
            </a:solidFill>
            <a:prstDash val="solid"/>
          </a:ln>
        </p:spPr>
      </p:sp>
      <p:sp>
        <p:nvSpPr>
          <p:cNvPr id="43" name="Text 41"/>
          <p:cNvSpPr/>
          <p:nvPr/>
        </p:nvSpPr>
        <p:spPr>
          <a:xfrm>
            <a:off x="6903720" y="2843784"/>
            <a:ext cx="1737360" cy="438912"/>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Clear to white, runny to firm</a:t>
            </a:r>
            <a:endParaRPr lang="en-US" sz="1100" dirty="0"/>
          </a:p>
        </p:txBody>
      </p:sp>
      <p:sp>
        <p:nvSpPr>
          <p:cNvPr id="44" name="Shape 42"/>
          <p:cNvSpPr/>
          <p:nvPr/>
        </p:nvSpPr>
        <p:spPr>
          <a:xfrm>
            <a:off x="365760" y="3383280"/>
            <a:ext cx="2286000" cy="548640"/>
          </a:xfrm>
          <a:prstGeom prst="rect">
            <a:avLst/>
          </a:prstGeom>
          <a:solidFill>
            <a:srgbClr val="FFFFFF"/>
          </a:solidFill>
          <a:ln w="12700">
            <a:solidFill>
              <a:srgbClr val="FFFFFF"/>
            </a:solidFill>
            <a:prstDash val="solid"/>
          </a:ln>
        </p:spPr>
      </p:sp>
      <p:sp>
        <p:nvSpPr>
          <p:cNvPr id="45" name="Text 43"/>
          <p:cNvSpPr/>
          <p:nvPr/>
        </p:nvSpPr>
        <p:spPr>
          <a:xfrm>
            <a:off x="457200" y="3438144"/>
            <a:ext cx="2103120" cy="43891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Iron rusts</a:t>
            </a:r>
            <a:endParaRPr lang="en-US" sz="1200" dirty="0"/>
          </a:p>
        </p:txBody>
      </p:sp>
      <p:sp>
        <p:nvSpPr>
          <p:cNvPr id="46" name="Shape 44"/>
          <p:cNvSpPr/>
          <p:nvPr/>
        </p:nvSpPr>
        <p:spPr>
          <a:xfrm>
            <a:off x="2697480" y="3383280"/>
            <a:ext cx="2286000" cy="548640"/>
          </a:xfrm>
          <a:prstGeom prst="rect">
            <a:avLst/>
          </a:prstGeom>
          <a:solidFill>
            <a:srgbClr val="F07D35"/>
          </a:solidFill>
          <a:ln w="12700">
            <a:solidFill>
              <a:srgbClr val="F07D35"/>
            </a:solidFill>
            <a:prstDash val="solid"/>
          </a:ln>
        </p:spPr>
      </p:sp>
      <p:sp>
        <p:nvSpPr>
          <p:cNvPr id="47" name="Text 45"/>
          <p:cNvSpPr/>
          <p:nvPr/>
        </p:nvSpPr>
        <p:spPr>
          <a:xfrm>
            <a:off x="2788920" y="3438144"/>
            <a:ext cx="210312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Chemical</a:t>
            </a:r>
            <a:endParaRPr lang="en-US" sz="1200" dirty="0"/>
          </a:p>
        </p:txBody>
      </p:sp>
      <p:sp>
        <p:nvSpPr>
          <p:cNvPr id="48" name="Shape 46"/>
          <p:cNvSpPr/>
          <p:nvPr/>
        </p:nvSpPr>
        <p:spPr>
          <a:xfrm>
            <a:off x="5029200" y="3383280"/>
            <a:ext cx="1737360" cy="548640"/>
          </a:xfrm>
          <a:prstGeom prst="rect">
            <a:avLst/>
          </a:prstGeom>
          <a:solidFill>
            <a:srgbClr val="C0392B"/>
          </a:solidFill>
          <a:ln w="12700">
            <a:solidFill>
              <a:srgbClr val="C0392B"/>
            </a:solidFill>
            <a:prstDash val="solid"/>
          </a:ln>
        </p:spPr>
      </p:sp>
      <p:sp>
        <p:nvSpPr>
          <p:cNvPr id="49" name="Text 47"/>
          <p:cNvSpPr/>
          <p:nvPr/>
        </p:nvSpPr>
        <p:spPr>
          <a:xfrm>
            <a:off x="5120640" y="3438144"/>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a:t>
            </a:r>
            <a:endParaRPr lang="en-US" sz="1200" dirty="0"/>
          </a:p>
        </p:txBody>
      </p:sp>
      <p:sp>
        <p:nvSpPr>
          <p:cNvPr id="50" name="Shape 48"/>
          <p:cNvSpPr/>
          <p:nvPr/>
        </p:nvSpPr>
        <p:spPr>
          <a:xfrm>
            <a:off x="6812280" y="3383280"/>
            <a:ext cx="1920240" cy="548640"/>
          </a:xfrm>
          <a:prstGeom prst="rect">
            <a:avLst/>
          </a:prstGeom>
          <a:solidFill>
            <a:srgbClr val="FFFFFF"/>
          </a:solidFill>
          <a:ln w="12700">
            <a:solidFill>
              <a:srgbClr val="FFFFFF"/>
            </a:solidFill>
            <a:prstDash val="solid"/>
          </a:ln>
        </p:spPr>
      </p:sp>
      <p:sp>
        <p:nvSpPr>
          <p:cNvPr id="51" name="Text 49"/>
          <p:cNvSpPr/>
          <p:nvPr/>
        </p:nvSpPr>
        <p:spPr>
          <a:xfrm>
            <a:off x="6903720" y="3438144"/>
            <a:ext cx="1737360" cy="438912"/>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Gray metal to orange flakes</a:t>
            </a:r>
            <a:endParaRPr lang="en-US" sz="1100" dirty="0"/>
          </a:p>
        </p:txBody>
      </p:sp>
      <p:sp>
        <p:nvSpPr>
          <p:cNvPr id="52" name="Shape 50"/>
          <p:cNvSpPr/>
          <p:nvPr/>
        </p:nvSpPr>
        <p:spPr>
          <a:xfrm>
            <a:off x="365760" y="3977640"/>
            <a:ext cx="2286000" cy="548640"/>
          </a:xfrm>
          <a:prstGeom prst="rect">
            <a:avLst/>
          </a:prstGeom>
          <a:solidFill>
            <a:srgbClr val="D8EDF9"/>
          </a:solidFill>
          <a:ln w="12700">
            <a:solidFill>
              <a:srgbClr val="D8EDF9"/>
            </a:solidFill>
            <a:prstDash val="solid"/>
          </a:ln>
        </p:spPr>
      </p:sp>
      <p:sp>
        <p:nvSpPr>
          <p:cNvPr id="53" name="Text 51"/>
          <p:cNvSpPr/>
          <p:nvPr/>
        </p:nvSpPr>
        <p:spPr>
          <a:xfrm>
            <a:off x="457200" y="4032504"/>
            <a:ext cx="2103120" cy="43891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Chocolate melts</a:t>
            </a:r>
            <a:endParaRPr lang="en-US" sz="1200" dirty="0"/>
          </a:p>
        </p:txBody>
      </p:sp>
      <p:sp>
        <p:nvSpPr>
          <p:cNvPr id="54" name="Shape 52"/>
          <p:cNvSpPr/>
          <p:nvPr/>
        </p:nvSpPr>
        <p:spPr>
          <a:xfrm>
            <a:off x="2697480" y="3977640"/>
            <a:ext cx="2286000" cy="548640"/>
          </a:xfrm>
          <a:prstGeom prst="rect">
            <a:avLst/>
          </a:prstGeom>
          <a:solidFill>
            <a:srgbClr val="0E7C7B"/>
          </a:solidFill>
          <a:ln w="12700">
            <a:solidFill>
              <a:srgbClr val="0E7C7B"/>
            </a:solidFill>
            <a:prstDash val="solid"/>
          </a:ln>
        </p:spPr>
      </p:sp>
      <p:sp>
        <p:nvSpPr>
          <p:cNvPr id="55" name="Text 53"/>
          <p:cNvSpPr/>
          <p:nvPr/>
        </p:nvSpPr>
        <p:spPr>
          <a:xfrm>
            <a:off x="2788920" y="4032504"/>
            <a:ext cx="210312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Physical</a:t>
            </a:r>
            <a:endParaRPr lang="en-US" sz="1200" dirty="0"/>
          </a:p>
        </p:txBody>
      </p:sp>
      <p:sp>
        <p:nvSpPr>
          <p:cNvPr id="56" name="Shape 54"/>
          <p:cNvSpPr/>
          <p:nvPr/>
        </p:nvSpPr>
        <p:spPr>
          <a:xfrm>
            <a:off x="5029200" y="3977640"/>
            <a:ext cx="1737360" cy="548640"/>
          </a:xfrm>
          <a:prstGeom prst="rect">
            <a:avLst/>
          </a:prstGeom>
          <a:solidFill>
            <a:srgbClr val="2A7A4B"/>
          </a:solidFill>
          <a:ln w="12700">
            <a:solidFill>
              <a:srgbClr val="2A7A4B"/>
            </a:solidFill>
            <a:prstDash val="solid"/>
          </a:ln>
        </p:spPr>
      </p:sp>
      <p:sp>
        <p:nvSpPr>
          <p:cNvPr id="57" name="Text 55"/>
          <p:cNvSpPr/>
          <p:nvPr/>
        </p:nvSpPr>
        <p:spPr>
          <a:xfrm>
            <a:off x="5120640" y="4032504"/>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Yes</a:t>
            </a:r>
            <a:endParaRPr lang="en-US" sz="1200" dirty="0"/>
          </a:p>
        </p:txBody>
      </p:sp>
      <p:sp>
        <p:nvSpPr>
          <p:cNvPr id="58" name="Shape 56"/>
          <p:cNvSpPr/>
          <p:nvPr/>
        </p:nvSpPr>
        <p:spPr>
          <a:xfrm>
            <a:off x="6812280" y="3977640"/>
            <a:ext cx="1920240" cy="548640"/>
          </a:xfrm>
          <a:prstGeom prst="rect">
            <a:avLst/>
          </a:prstGeom>
          <a:solidFill>
            <a:srgbClr val="D8EDF9"/>
          </a:solidFill>
          <a:ln w="12700">
            <a:solidFill>
              <a:srgbClr val="D8EDF9"/>
            </a:solidFill>
            <a:prstDash val="solid"/>
          </a:ln>
        </p:spPr>
      </p:sp>
      <p:sp>
        <p:nvSpPr>
          <p:cNvPr id="59" name="Text 57"/>
          <p:cNvSpPr/>
          <p:nvPr/>
        </p:nvSpPr>
        <p:spPr>
          <a:xfrm>
            <a:off x="6903720" y="4032504"/>
            <a:ext cx="1737360" cy="438912"/>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Same substance, new form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365760" y="182880"/>
            <a:ext cx="1371600" cy="274320"/>
          </a:xfrm>
          <a:prstGeom prst="rect">
            <a:avLst/>
          </a:prstGeom>
          <a:solidFill>
            <a:srgbClr val="2A7A4B"/>
          </a:solidFill>
          <a:ln w="12700">
            <a:solidFill>
              <a:srgbClr val="2A7A4B"/>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Which Kind of Change?</a:t>
            </a:r>
            <a:endParaRPr lang="en-US" sz="2800" dirty="0"/>
          </a:p>
        </p:txBody>
      </p:sp>
      <p:sp>
        <p:nvSpPr>
          <p:cNvPr id="6" name="Text 4"/>
          <p:cNvSpPr/>
          <p:nvPr/>
        </p:nvSpPr>
        <p:spPr>
          <a:xfrm>
            <a:off x="365760" y="1078992"/>
            <a:ext cx="8412480" cy="320040"/>
          </a:xfrm>
          <a:prstGeom prst="rect">
            <a:avLst/>
          </a:prstGeom>
          <a:noFill/>
          <a:ln/>
        </p:spPr>
        <p:txBody>
          <a:bodyPr wrap="square"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Three changes. Physical or chemical? Use the clues.  12 min</a:t>
            </a:r>
            <a:endParaRPr lang="en-US" sz="1300" dirty="0"/>
          </a:p>
        </p:txBody>
      </p:sp>
      <p:sp>
        <p:nvSpPr>
          <p:cNvPr id="7" name="Shape 5"/>
          <p:cNvSpPr/>
          <p:nvPr/>
        </p:nvSpPr>
        <p:spPr>
          <a:xfrm>
            <a:off x="365760" y="1508760"/>
            <a:ext cx="2697480" cy="365760"/>
          </a:xfrm>
          <a:prstGeom prst="rect">
            <a:avLst/>
          </a:prstGeom>
          <a:solidFill>
            <a:srgbClr val="0E7C7B"/>
          </a:solidFill>
          <a:ln w="12700">
            <a:solidFill>
              <a:srgbClr val="0E7C7B"/>
            </a:solidFill>
            <a:prstDash val="solid"/>
          </a:ln>
        </p:spPr>
      </p:sp>
      <p:sp>
        <p:nvSpPr>
          <p:cNvPr id="8" name="Text 6"/>
          <p:cNvSpPr/>
          <p:nvPr/>
        </p:nvSpPr>
        <p:spPr>
          <a:xfrm>
            <a:off x="457200" y="1563624"/>
            <a:ext cx="25146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Scenario A</a:t>
            </a:r>
            <a:endParaRPr lang="en-US" sz="1300" dirty="0"/>
          </a:p>
        </p:txBody>
      </p:sp>
      <p:sp>
        <p:nvSpPr>
          <p:cNvPr id="9" name="Shape 7"/>
          <p:cNvSpPr/>
          <p:nvPr/>
        </p:nvSpPr>
        <p:spPr>
          <a:xfrm>
            <a:off x="365760" y="1901952"/>
            <a:ext cx="2697480" cy="457200"/>
          </a:xfrm>
          <a:prstGeom prst="rect">
            <a:avLst/>
          </a:prstGeom>
          <a:solidFill>
            <a:srgbClr val="2E86AB"/>
          </a:solidFill>
          <a:ln w="12700">
            <a:solidFill>
              <a:srgbClr val="2E86AB"/>
            </a:solidFill>
            <a:prstDash val="solid"/>
          </a:ln>
        </p:spPr>
      </p:sp>
      <p:sp>
        <p:nvSpPr>
          <p:cNvPr id="10" name="Text 8"/>
          <p:cNvSpPr/>
          <p:nvPr/>
        </p:nvSpPr>
        <p:spPr>
          <a:xfrm>
            <a:off x="457200" y="1956816"/>
            <a:ext cx="25146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Ice Cube on a Plate</a:t>
            </a:r>
            <a:endParaRPr lang="en-US" sz="1200" dirty="0"/>
          </a:p>
        </p:txBody>
      </p:sp>
      <p:sp>
        <p:nvSpPr>
          <p:cNvPr id="11" name="Shape 9"/>
          <p:cNvSpPr/>
          <p:nvPr/>
        </p:nvSpPr>
        <p:spPr>
          <a:xfrm>
            <a:off x="365760" y="2395728"/>
            <a:ext cx="2697480" cy="1371600"/>
          </a:xfrm>
          <a:prstGeom prst="rect">
            <a:avLst/>
          </a:prstGeom>
          <a:solidFill>
            <a:srgbClr val="1A2E3F"/>
          </a:solidFill>
          <a:ln w="12700">
            <a:solidFill>
              <a:srgbClr val="1A2E3F"/>
            </a:solidFill>
            <a:prstDash val="solid"/>
          </a:ln>
        </p:spPr>
      </p:sp>
      <p:sp>
        <p:nvSpPr>
          <p:cNvPr id="12" name="Text 10"/>
          <p:cNvSpPr/>
          <p:nvPr/>
        </p:nvSpPr>
        <p:spPr>
          <a:xfrm>
            <a:off x="457200" y="2450592"/>
            <a:ext cx="2514600" cy="12618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After ten minutes it is a puddle of water at room temperature.</a:t>
            </a:r>
            <a:endParaRPr lang="en-US" sz="1200" dirty="0"/>
          </a:p>
        </p:txBody>
      </p:sp>
      <p:sp>
        <p:nvSpPr>
          <p:cNvPr id="13" name="Shape 11"/>
          <p:cNvSpPr/>
          <p:nvPr/>
        </p:nvSpPr>
        <p:spPr>
          <a:xfrm>
            <a:off x="3218688" y="1508760"/>
            <a:ext cx="2697480" cy="365760"/>
          </a:xfrm>
          <a:prstGeom prst="rect">
            <a:avLst/>
          </a:prstGeom>
          <a:solidFill>
            <a:srgbClr val="0E7C7B"/>
          </a:solidFill>
          <a:ln w="12700">
            <a:solidFill>
              <a:srgbClr val="0E7C7B"/>
            </a:solidFill>
            <a:prstDash val="solid"/>
          </a:ln>
        </p:spPr>
      </p:sp>
      <p:sp>
        <p:nvSpPr>
          <p:cNvPr id="14" name="Text 12"/>
          <p:cNvSpPr/>
          <p:nvPr/>
        </p:nvSpPr>
        <p:spPr>
          <a:xfrm>
            <a:off x="3310128" y="1563624"/>
            <a:ext cx="25146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Scenario B</a:t>
            </a:r>
            <a:endParaRPr lang="en-US" sz="1300" dirty="0"/>
          </a:p>
        </p:txBody>
      </p:sp>
      <p:sp>
        <p:nvSpPr>
          <p:cNvPr id="15" name="Shape 13"/>
          <p:cNvSpPr/>
          <p:nvPr/>
        </p:nvSpPr>
        <p:spPr>
          <a:xfrm>
            <a:off x="3218688" y="1901952"/>
            <a:ext cx="2697480" cy="457200"/>
          </a:xfrm>
          <a:prstGeom prst="rect">
            <a:avLst/>
          </a:prstGeom>
          <a:solidFill>
            <a:srgbClr val="2E86AB"/>
          </a:solidFill>
          <a:ln w="12700">
            <a:solidFill>
              <a:srgbClr val="2E86AB"/>
            </a:solidFill>
            <a:prstDash val="solid"/>
          </a:ln>
        </p:spPr>
      </p:sp>
      <p:sp>
        <p:nvSpPr>
          <p:cNvPr id="16" name="Text 14"/>
          <p:cNvSpPr/>
          <p:nvPr/>
        </p:nvSpPr>
        <p:spPr>
          <a:xfrm>
            <a:off x="3310128" y="1956816"/>
            <a:ext cx="25146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Bread in the Toaster</a:t>
            </a:r>
            <a:endParaRPr lang="en-US" sz="1200" dirty="0"/>
          </a:p>
        </p:txBody>
      </p:sp>
      <p:sp>
        <p:nvSpPr>
          <p:cNvPr id="17" name="Shape 15"/>
          <p:cNvSpPr/>
          <p:nvPr/>
        </p:nvSpPr>
        <p:spPr>
          <a:xfrm>
            <a:off x="3218688" y="2395728"/>
            <a:ext cx="2697480" cy="1371600"/>
          </a:xfrm>
          <a:prstGeom prst="rect">
            <a:avLst/>
          </a:prstGeom>
          <a:solidFill>
            <a:srgbClr val="1A2E3F"/>
          </a:solidFill>
          <a:ln w="12700">
            <a:solidFill>
              <a:srgbClr val="1A2E3F"/>
            </a:solidFill>
            <a:prstDash val="solid"/>
          </a:ln>
        </p:spPr>
      </p:sp>
      <p:sp>
        <p:nvSpPr>
          <p:cNvPr id="18" name="Text 16"/>
          <p:cNvSpPr/>
          <p:nvPr/>
        </p:nvSpPr>
        <p:spPr>
          <a:xfrm>
            <a:off x="3310128" y="2450592"/>
            <a:ext cx="2514600" cy="12618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Comes out brown, harder, with a different smell. You try to soften it back. You cannot.</a:t>
            </a:r>
            <a:endParaRPr lang="en-US" sz="1200" dirty="0"/>
          </a:p>
        </p:txBody>
      </p:sp>
      <p:sp>
        <p:nvSpPr>
          <p:cNvPr id="19" name="Shape 17"/>
          <p:cNvSpPr/>
          <p:nvPr/>
        </p:nvSpPr>
        <p:spPr>
          <a:xfrm>
            <a:off x="6071616" y="1508760"/>
            <a:ext cx="2697480" cy="365760"/>
          </a:xfrm>
          <a:prstGeom prst="rect">
            <a:avLst/>
          </a:prstGeom>
          <a:solidFill>
            <a:srgbClr val="0E7C7B"/>
          </a:solidFill>
          <a:ln w="12700">
            <a:solidFill>
              <a:srgbClr val="0E7C7B"/>
            </a:solidFill>
            <a:prstDash val="solid"/>
          </a:ln>
        </p:spPr>
      </p:sp>
      <p:sp>
        <p:nvSpPr>
          <p:cNvPr id="20" name="Text 18"/>
          <p:cNvSpPr/>
          <p:nvPr/>
        </p:nvSpPr>
        <p:spPr>
          <a:xfrm>
            <a:off x="6163056" y="1563624"/>
            <a:ext cx="25146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Scenario C</a:t>
            </a:r>
            <a:endParaRPr lang="en-US" sz="1300" dirty="0"/>
          </a:p>
        </p:txBody>
      </p:sp>
      <p:sp>
        <p:nvSpPr>
          <p:cNvPr id="21" name="Shape 19"/>
          <p:cNvSpPr/>
          <p:nvPr/>
        </p:nvSpPr>
        <p:spPr>
          <a:xfrm>
            <a:off x="6071616" y="1901952"/>
            <a:ext cx="2697480" cy="457200"/>
          </a:xfrm>
          <a:prstGeom prst="rect">
            <a:avLst/>
          </a:prstGeom>
          <a:solidFill>
            <a:srgbClr val="2E86AB"/>
          </a:solidFill>
          <a:ln w="12700">
            <a:solidFill>
              <a:srgbClr val="2E86AB"/>
            </a:solidFill>
            <a:prstDash val="solid"/>
          </a:ln>
        </p:spPr>
      </p:sp>
      <p:sp>
        <p:nvSpPr>
          <p:cNvPr id="22" name="Text 20"/>
          <p:cNvSpPr/>
          <p:nvPr/>
        </p:nvSpPr>
        <p:spPr>
          <a:xfrm>
            <a:off x="6163056" y="1956816"/>
            <a:ext cx="25146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Pot of Boiling Water</a:t>
            </a:r>
            <a:endParaRPr lang="en-US" sz="1200" dirty="0"/>
          </a:p>
        </p:txBody>
      </p:sp>
      <p:sp>
        <p:nvSpPr>
          <p:cNvPr id="23" name="Shape 21"/>
          <p:cNvSpPr/>
          <p:nvPr/>
        </p:nvSpPr>
        <p:spPr>
          <a:xfrm>
            <a:off x="6071616" y="2395728"/>
            <a:ext cx="2697480" cy="1371600"/>
          </a:xfrm>
          <a:prstGeom prst="rect">
            <a:avLst/>
          </a:prstGeom>
          <a:solidFill>
            <a:srgbClr val="1A2E3F"/>
          </a:solidFill>
          <a:ln w="12700">
            <a:solidFill>
              <a:srgbClr val="1A2E3F"/>
            </a:solidFill>
            <a:prstDash val="solid"/>
          </a:ln>
        </p:spPr>
      </p:sp>
      <p:sp>
        <p:nvSpPr>
          <p:cNvPr id="24" name="Text 22"/>
          <p:cNvSpPr/>
          <p:nvPr/>
        </p:nvSpPr>
        <p:spPr>
          <a:xfrm>
            <a:off x="6163056" y="2450592"/>
            <a:ext cx="2514600" cy="12618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Some leaves as steam. The lid collects water droplets -- steam turning back into liquid.</a:t>
            </a:r>
            <a:endParaRPr lang="en-US" sz="1200" dirty="0"/>
          </a:p>
        </p:txBody>
      </p:sp>
      <p:sp>
        <p:nvSpPr>
          <p:cNvPr id="25" name="Text 23"/>
          <p:cNvSpPr/>
          <p:nvPr/>
        </p:nvSpPr>
        <p:spPr>
          <a:xfrm>
            <a:off x="365760" y="3886200"/>
            <a:ext cx="8412480" cy="365760"/>
          </a:xfrm>
          <a:prstGeom prst="rect">
            <a:avLst/>
          </a:prstGeom>
          <a:noFill/>
          <a:ln/>
        </p:spPr>
        <p:txBody>
          <a:bodyPr wrap="square" rtlCol="0" anchor="ctr"/>
          <a:lstStyle/>
          <a:p>
            <a:pPr indent="0" marL="0">
              <a:buNone/>
            </a:pPr>
            <a:r>
              <a:rPr lang="en-US" sz="1200" dirty="0">
                <a:solidFill>
                  <a:srgbClr val="5E7B9A"/>
                </a:solidFill>
                <a:latin typeface="Calibri" pitchFamily="34" charset="0"/>
                <a:ea typeface="Calibri" pitchFamily="34" charset="-122"/>
                <a:cs typeface="Calibri" pitchFamily="34" charset="-120"/>
              </a:rPr>
              <a:t>For each scenario, decide: Physical or Chemical? Then list the clues that helped you decide.</a:t>
            </a:r>
            <a:endParaRPr lang="en-US" sz="1200" dirty="0"/>
          </a:p>
        </p:txBody>
      </p:sp>
      <p:sp>
        <p:nvSpPr>
          <p:cNvPr id="26" name="Text 24"/>
          <p:cNvSpPr/>
          <p:nvPr/>
        </p:nvSpPr>
        <p:spPr>
          <a:xfrm>
            <a:off x="365760" y="4297680"/>
            <a:ext cx="8412480" cy="320040"/>
          </a:xfrm>
          <a:prstGeom prst="rect">
            <a:avLst/>
          </a:prstGeom>
          <a:noFill/>
          <a:ln/>
        </p:spPr>
        <p:txBody>
          <a:bodyPr wrap="square" rtlCol="0" anchor="ctr"/>
          <a:lstStyle/>
          <a:p>
            <a:pPr indent="0" marL="0">
              <a:buNone/>
            </a:pPr>
            <a:r>
              <a:rPr lang="en-US" sz="1200" i="1" dirty="0">
                <a:solidFill>
                  <a:srgbClr val="F6C90E"/>
                </a:solidFill>
                <a:latin typeface="Calibri" pitchFamily="34" charset="0"/>
                <a:ea typeface="Calibri" pitchFamily="34" charset="-122"/>
                <a:cs typeface="Calibri" pitchFamily="34" charset="-120"/>
              </a:rPr>
              <a:t>You will need: Science notebook, Pencil, Colored pencils, Ruler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Copy This Table Into Your Notebook</a:t>
            </a:r>
            <a:endParaRPr lang="en-US" sz="2200" dirty="0"/>
          </a:p>
        </p:txBody>
      </p:sp>
      <p:sp>
        <p:nvSpPr>
          <p:cNvPr id="4" name="Shape 2"/>
          <p:cNvSpPr/>
          <p:nvPr/>
        </p:nvSpPr>
        <p:spPr>
          <a:xfrm>
            <a:off x="365760" y="621792"/>
            <a:ext cx="1828800" cy="457200"/>
          </a:xfrm>
          <a:prstGeom prst="rect">
            <a:avLst/>
          </a:prstGeom>
          <a:solidFill>
            <a:srgbClr val="1A3A5C"/>
          </a:solidFill>
          <a:ln w="12700">
            <a:solidFill>
              <a:srgbClr val="1A3A5C"/>
            </a:solidFill>
            <a:prstDash val="solid"/>
          </a:ln>
        </p:spPr>
      </p:sp>
      <p:sp>
        <p:nvSpPr>
          <p:cNvPr id="5" name="Text 3"/>
          <p:cNvSpPr/>
          <p:nvPr/>
        </p:nvSpPr>
        <p:spPr>
          <a:xfrm>
            <a:off x="457200" y="676656"/>
            <a:ext cx="16459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Scenario</a:t>
            </a:r>
            <a:endParaRPr lang="en-US" sz="1300" dirty="0"/>
          </a:p>
        </p:txBody>
      </p:sp>
      <p:sp>
        <p:nvSpPr>
          <p:cNvPr id="6" name="Shape 4"/>
          <p:cNvSpPr/>
          <p:nvPr/>
        </p:nvSpPr>
        <p:spPr>
          <a:xfrm>
            <a:off x="2240280" y="621792"/>
            <a:ext cx="2560320" cy="457200"/>
          </a:xfrm>
          <a:prstGeom prst="rect">
            <a:avLst/>
          </a:prstGeom>
          <a:solidFill>
            <a:srgbClr val="1A3A5C"/>
          </a:solidFill>
          <a:ln w="12700">
            <a:solidFill>
              <a:srgbClr val="1A3A5C"/>
            </a:solidFill>
            <a:prstDash val="solid"/>
          </a:ln>
        </p:spPr>
      </p:sp>
      <p:sp>
        <p:nvSpPr>
          <p:cNvPr id="7" name="Text 5"/>
          <p:cNvSpPr/>
          <p:nvPr/>
        </p:nvSpPr>
        <p:spPr>
          <a:xfrm>
            <a:off x="2331720" y="676656"/>
            <a:ext cx="23774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Physical or Chemical?</a:t>
            </a:r>
            <a:endParaRPr lang="en-US" sz="1300" dirty="0"/>
          </a:p>
        </p:txBody>
      </p:sp>
      <p:sp>
        <p:nvSpPr>
          <p:cNvPr id="8" name="Shape 6"/>
          <p:cNvSpPr/>
          <p:nvPr/>
        </p:nvSpPr>
        <p:spPr>
          <a:xfrm>
            <a:off x="4846320" y="621792"/>
            <a:ext cx="2377440" cy="457200"/>
          </a:xfrm>
          <a:prstGeom prst="rect">
            <a:avLst/>
          </a:prstGeom>
          <a:solidFill>
            <a:srgbClr val="1A3A5C"/>
          </a:solidFill>
          <a:ln w="12700">
            <a:solidFill>
              <a:srgbClr val="1A3A5C"/>
            </a:solidFill>
            <a:prstDash val="solid"/>
          </a:ln>
        </p:spPr>
      </p:sp>
      <p:sp>
        <p:nvSpPr>
          <p:cNvPr id="9" name="Text 7"/>
          <p:cNvSpPr/>
          <p:nvPr/>
        </p:nvSpPr>
        <p:spPr>
          <a:xfrm>
            <a:off x="4937760" y="676656"/>
            <a:ext cx="2194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Clues That Helped</a:t>
            </a:r>
            <a:endParaRPr lang="en-US" sz="1300" dirty="0"/>
          </a:p>
        </p:txBody>
      </p:sp>
      <p:sp>
        <p:nvSpPr>
          <p:cNvPr id="10" name="Shape 8"/>
          <p:cNvSpPr/>
          <p:nvPr/>
        </p:nvSpPr>
        <p:spPr>
          <a:xfrm>
            <a:off x="7269480" y="621792"/>
            <a:ext cx="1463040" cy="457200"/>
          </a:xfrm>
          <a:prstGeom prst="rect">
            <a:avLst/>
          </a:prstGeom>
          <a:solidFill>
            <a:srgbClr val="1A3A5C"/>
          </a:solidFill>
          <a:ln w="12700">
            <a:solidFill>
              <a:srgbClr val="1A3A5C"/>
            </a:solidFill>
            <a:prstDash val="solid"/>
          </a:ln>
        </p:spPr>
      </p:sp>
      <p:sp>
        <p:nvSpPr>
          <p:cNvPr id="11" name="Text 9"/>
          <p:cNvSpPr/>
          <p:nvPr/>
        </p:nvSpPr>
        <p:spPr>
          <a:xfrm>
            <a:off x="7360920" y="676656"/>
            <a:ext cx="12801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Reversible?</a:t>
            </a:r>
            <a:endParaRPr lang="en-US" sz="1300" dirty="0"/>
          </a:p>
        </p:txBody>
      </p:sp>
      <p:sp>
        <p:nvSpPr>
          <p:cNvPr id="12" name="Shape 10"/>
          <p:cNvSpPr/>
          <p:nvPr/>
        </p:nvSpPr>
        <p:spPr>
          <a:xfrm>
            <a:off x="365760" y="1115568"/>
            <a:ext cx="1828800" cy="749808"/>
          </a:xfrm>
          <a:prstGeom prst="rect">
            <a:avLst/>
          </a:prstGeom>
          <a:solidFill>
            <a:srgbClr val="FFFFFF"/>
          </a:solidFill>
          <a:ln w="12700">
            <a:solidFill>
              <a:srgbClr val="FFFFFF"/>
            </a:solidFill>
            <a:prstDash val="solid"/>
          </a:ln>
        </p:spPr>
      </p:sp>
      <p:sp>
        <p:nvSpPr>
          <p:cNvPr id="13" name="Text 11"/>
          <p:cNvSpPr/>
          <p:nvPr/>
        </p:nvSpPr>
        <p:spPr>
          <a:xfrm>
            <a:off x="457200" y="1170432"/>
            <a:ext cx="1645920" cy="640080"/>
          </a:xfrm>
          <a:prstGeom prst="rect">
            <a:avLst/>
          </a:prstGeom>
          <a:noFill/>
          <a:ln/>
        </p:spPr>
        <p:txBody>
          <a:bodyPr wrap="square" lIns="0" tIns="0" rIns="0" bIns="0"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A. Ice melts on plate</a:t>
            </a:r>
            <a:endParaRPr lang="en-US" sz="1200" dirty="0"/>
          </a:p>
        </p:txBody>
      </p:sp>
      <p:sp>
        <p:nvSpPr>
          <p:cNvPr id="14" name="Shape 12"/>
          <p:cNvSpPr/>
          <p:nvPr/>
        </p:nvSpPr>
        <p:spPr>
          <a:xfrm>
            <a:off x="2240280" y="1115568"/>
            <a:ext cx="2560320" cy="749808"/>
          </a:xfrm>
          <a:prstGeom prst="rect">
            <a:avLst/>
          </a:prstGeom>
          <a:solidFill>
            <a:srgbClr val="FFFFFF"/>
          </a:solidFill>
          <a:ln w="12700">
            <a:solidFill>
              <a:srgbClr val="FFFFFF"/>
            </a:solidFill>
            <a:prstDash val="solid"/>
          </a:ln>
        </p:spPr>
      </p:sp>
      <p:sp>
        <p:nvSpPr>
          <p:cNvPr id="15" name="Text 13"/>
          <p:cNvSpPr/>
          <p:nvPr/>
        </p:nvSpPr>
        <p:spPr>
          <a:xfrm>
            <a:off x="2331720" y="1170432"/>
            <a:ext cx="2377440" cy="640080"/>
          </a:xfrm>
          <a:prstGeom prst="rect">
            <a:avLst/>
          </a:prstGeom>
          <a:noFill/>
          <a:ln/>
        </p:spPr>
        <p:txBody>
          <a:bodyPr wrap="square" lIns="0" tIns="0" rIns="0" bIns="0" rtlCol="0" anchor="ctr"/>
          <a:lstStyle/>
          <a:p>
            <a:pPr algn="ctr" indent="0" marL="0">
              <a:buNone/>
            </a:pPr>
            <a:r>
              <a:rPr lang="en-US" sz="1100" dirty="0">
                <a:solidFill>
                  <a:srgbClr val="5E7B9A"/>
                </a:solidFill>
                <a:latin typeface="Calibri" pitchFamily="34" charset="0"/>
                <a:ea typeface="Calibri" pitchFamily="34" charset="-122"/>
                <a:cs typeface="Calibri" pitchFamily="34" charset="-120"/>
              </a:rPr>
              <a:t>(Physical / Chemical)</a:t>
            </a:r>
            <a:endParaRPr lang="en-US" sz="1100" dirty="0"/>
          </a:p>
        </p:txBody>
      </p:sp>
      <p:sp>
        <p:nvSpPr>
          <p:cNvPr id="16" name="Shape 14"/>
          <p:cNvSpPr/>
          <p:nvPr/>
        </p:nvSpPr>
        <p:spPr>
          <a:xfrm>
            <a:off x="4846320" y="1115568"/>
            <a:ext cx="2377440" cy="749808"/>
          </a:xfrm>
          <a:prstGeom prst="rect">
            <a:avLst/>
          </a:prstGeom>
          <a:solidFill>
            <a:srgbClr val="FFFFFF"/>
          </a:solidFill>
          <a:ln w="12700">
            <a:solidFill>
              <a:srgbClr val="FFFFFF"/>
            </a:solidFill>
            <a:prstDash val="solid"/>
          </a:ln>
        </p:spPr>
      </p:sp>
      <p:sp>
        <p:nvSpPr>
          <p:cNvPr id="17" name="Text 15"/>
          <p:cNvSpPr/>
          <p:nvPr/>
        </p:nvSpPr>
        <p:spPr>
          <a:xfrm>
            <a:off x="4937760" y="1170432"/>
            <a:ext cx="2194560" cy="640080"/>
          </a:xfrm>
          <a:prstGeom prst="rect">
            <a:avLst/>
          </a:prstGeom>
          <a:noFill/>
          <a:ln/>
        </p:spPr>
        <p:txBody>
          <a:bodyPr wrap="square" lIns="0" tIns="0" rIns="0" bIns="0" rtlCol="0" anchor="ctr"/>
          <a:lstStyle/>
          <a:p>
            <a:pPr algn="l" indent="0" marL="0">
              <a:buNone/>
            </a:pPr>
            <a:r>
              <a:rPr lang="en-US" sz="1100" dirty="0">
                <a:solidFill>
                  <a:srgbClr val="5E7B9A"/>
                </a:solidFill>
                <a:latin typeface="Calibri" pitchFamily="34" charset="0"/>
                <a:ea typeface="Calibri" pitchFamily="34" charset="-122"/>
                <a:cs typeface="Calibri" pitchFamily="34" charset="-120"/>
              </a:rPr>
              <a:t>(list clues)</a:t>
            </a:r>
            <a:endParaRPr lang="en-US" sz="1100" dirty="0"/>
          </a:p>
        </p:txBody>
      </p:sp>
      <p:sp>
        <p:nvSpPr>
          <p:cNvPr id="18" name="Shape 16"/>
          <p:cNvSpPr/>
          <p:nvPr/>
        </p:nvSpPr>
        <p:spPr>
          <a:xfrm>
            <a:off x="7269480" y="1115568"/>
            <a:ext cx="1463040" cy="749808"/>
          </a:xfrm>
          <a:prstGeom prst="rect">
            <a:avLst/>
          </a:prstGeom>
          <a:solidFill>
            <a:srgbClr val="FFFFFF"/>
          </a:solidFill>
          <a:ln w="12700">
            <a:solidFill>
              <a:srgbClr val="FFFFFF"/>
            </a:solidFill>
            <a:prstDash val="solid"/>
          </a:ln>
        </p:spPr>
      </p:sp>
      <p:sp>
        <p:nvSpPr>
          <p:cNvPr id="19" name="Text 17"/>
          <p:cNvSpPr/>
          <p:nvPr/>
        </p:nvSpPr>
        <p:spPr>
          <a:xfrm>
            <a:off x="7360920" y="1170432"/>
            <a:ext cx="1280160" cy="640080"/>
          </a:xfrm>
          <a:prstGeom prst="rect">
            <a:avLst/>
          </a:prstGeom>
          <a:noFill/>
          <a:ln/>
        </p:spPr>
        <p:txBody>
          <a:bodyPr wrap="square" lIns="0" tIns="0" rIns="0" bIns="0" rtlCol="0" anchor="ctr"/>
          <a:lstStyle/>
          <a:p>
            <a:pPr algn="ctr" indent="0" marL="0">
              <a:buNone/>
            </a:pPr>
            <a:r>
              <a:rPr lang="en-US" sz="1100" dirty="0">
                <a:solidFill>
                  <a:srgbClr val="5E7B9A"/>
                </a:solidFill>
                <a:latin typeface="Calibri" pitchFamily="34" charset="0"/>
                <a:ea typeface="Calibri" pitchFamily="34" charset="-122"/>
                <a:cs typeface="Calibri" pitchFamily="34" charset="-120"/>
              </a:rPr>
              <a:t>(Yes / No)</a:t>
            </a:r>
            <a:endParaRPr lang="en-US" sz="1100" dirty="0"/>
          </a:p>
        </p:txBody>
      </p:sp>
      <p:sp>
        <p:nvSpPr>
          <p:cNvPr id="20" name="Shape 18"/>
          <p:cNvSpPr/>
          <p:nvPr/>
        </p:nvSpPr>
        <p:spPr>
          <a:xfrm>
            <a:off x="365760" y="1920240"/>
            <a:ext cx="1828800" cy="749808"/>
          </a:xfrm>
          <a:prstGeom prst="rect">
            <a:avLst/>
          </a:prstGeom>
          <a:solidFill>
            <a:srgbClr val="D8EDF9"/>
          </a:solidFill>
          <a:ln w="12700">
            <a:solidFill>
              <a:srgbClr val="D8EDF9"/>
            </a:solidFill>
            <a:prstDash val="solid"/>
          </a:ln>
        </p:spPr>
      </p:sp>
      <p:sp>
        <p:nvSpPr>
          <p:cNvPr id="21" name="Text 19"/>
          <p:cNvSpPr/>
          <p:nvPr/>
        </p:nvSpPr>
        <p:spPr>
          <a:xfrm>
            <a:off x="457200" y="1975104"/>
            <a:ext cx="1645920" cy="640080"/>
          </a:xfrm>
          <a:prstGeom prst="rect">
            <a:avLst/>
          </a:prstGeom>
          <a:noFill/>
          <a:ln/>
        </p:spPr>
        <p:txBody>
          <a:bodyPr wrap="square" lIns="0" tIns="0" rIns="0" bIns="0"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B. Bread toasts</a:t>
            </a:r>
            <a:endParaRPr lang="en-US" sz="1200" dirty="0"/>
          </a:p>
        </p:txBody>
      </p:sp>
      <p:sp>
        <p:nvSpPr>
          <p:cNvPr id="22" name="Shape 20"/>
          <p:cNvSpPr/>
          <p:nvPr/>
        </p:nvSpPr>
        <p:spPr>
          <a:xfrm>
            <a:off x="2240280" y="1920240"/>
            <a:ext cx="2560320" cy="749808"/>
          </a:xfrm>
          <a:prstGeom prst="rect">
            <a:avLst/>
          </a:prstGeom>
          <a:solidFill>
            <a:srgbClr val="D8EDF9"/>
          </a:solidFill>
          <a:ln w="12700">
            <a:solidFill>
              <a:srgbClr val="D8EDF9"/>
            </a:solidFill>
            <a:prstDash val="solid"/>
          </a:ln>
        </p:spPr>
      </p:sp>
      <p:sp>
        <p:nvSpPr>
          <p:cNvPr id="23" name="Text 21"/>
          <p:cNvSpPr/>
          <p:nvPr/>
        </p:nvSpPr>
        <p:spPr>
          <a:xfrm>
            <a:off x="2331720" y="1975104"/>
            <a:ext cx="2377440" cy="640080"/>
          </a:xfrm>
          <a:prstGeom prst="rect">
            <a:avLst/>
          </a:prstGeom>
          <a:noFill/>
          <a:ln/>
        </p:spPr>
        <p:txBody>
          <a:bodyPr wrap="square" lIns="0" tIns="0" rIns="0" bIns="0" rtlCol="0" anchor="ctr"/>
          <a:lstStyle/>
          <a:p>
            <a:pPr algn="ctr" indent="0" marL="0">
              <a:buNone/>
            </a:pPr>
            <a:r>
              <a:rPr lang="en-US" sz="1100" dirty="0">
                <a:solidFill>
                  <a:srgbClr val="5E7B9A"/>
                </a:solidFill>
                <a:latin typeface="Calibri" pitchFamily="34" charset="0"/>
                <a:ea typeface="Calibri" pitchFamily="34" charset="-122"/>
                <a:cs typeface="Calibri" pitchFamily="34" charset="-120"/>
              </a:rPr>
              <a:t>(Physical / Chemical)</a:t>
            </a:r>
            <a:endParaRPr lang="en-US" sz="1100" dirty="0"/>
          </a:p>
        </p:txBody>
      </p:sp>
      <p:sp>
        <p:nvSpPr>
          <p:cNvPr id="24" name="Shape 22"/>
          <p:cNvSpPr/>
          <p:nvPr/>
        </p:nvSpPr>
        <p:spPr>
          <a:xfrm>
            <a:off x="4846320" y="1920240"/>
            <a:ext cx="2377440" cy="749808"/>
          </a:xfrm>
          <a:prstGeom prst="rect">
            <a:avLst/>
          </a:prstGeom>
          <a:solidFill>
            <a:srgbClr val="D8EDF9"/>
          </a:solidFill>
          <a:ln w="12700">
            <a:solidFill>
              <a:srgbClr val="D8EDF9"/>
            </a:solidFill>
            <a:prstDash val="solid"/>
          </a:ln>
        </p:spPr>
      </p:sp>
      <p:sp>
        <p:nvSpPr>
          <p:cNvPr id="25" name="Text 23"/>
          <p:cNvSpPr/>
          <p:nvPr/>
        </p:nvSpPr>
        <p:spPr>
          <a:xfrm>
            <a:off x="4937760" y="1975104"/>
            <a:ext cx="2194560" cy="640080"/>
          </a:xfrm>
          <a:prstGeom prst="rect">
            <a:avLst/>
          </a:prstGeom>
          <a:noFill/>
          <a:ln/>
        </p:spPr>
        <p:txBody>
          <a:bodyPr wrap="square" lIns="0" tIns="0" rIns="0" bIns="0" rtlCol="0" anchor="ctr"/>
          <a:lstStyle/>
          <a:p>
            <a:pPr algn="l" indent="0" marL="0">
              <a:buNone/>
            </a:pPr>
            <a:r>
              <a:rPr lang="en-US" sz="1100" dirty="0">
                <a:solidFill>
                  <a:srgbClr val="5E7B9A"/>
                </a:solidFill>
                <a:latin typeface="Calibri" pitchFamily="34" charset="0"/>
                <a:ea typeface="Calibri" pitchFamily="34" charset="-122"/>
                <a:cs typeface="Calibri" pitchFamily="34" charset="-120"/>
              </a:rPr>
              <a:t>(list clues)</a:t>
            </a:r>
            <a:endParaRPr lang="en-US" sz="1100" dirty="0"/>
          </a:p>
        </p:txBody>
      </p:sp>
      <p:sp>
        <p:nvSpPr>
          <p:cNvPr id="26" name="Shape 24"/>
          <p:cNvSpPr/>
          <p:nvPr/>
        </p:nvSpPr>
        <p:spPr>
          <a:xfrm>
            <a:off x="7269480" y="1920240"/>
            <a:ext cx="1463040" cy="749808"/>
          </a:xfrm>
          <a:prstGeom prst="rect">
            <a:avLst/>
          </a:prstGeom>
          <a:solidFill>
            <a:srgbClr val="D8EDF9"/>
          </a:solidFill>
          <a:ln w="12700">
            <a:solidFill>
              <a:srgbClr val="D8EDF9"/>
            </a:solidFill>
            <a:prstDash val="solid"/>
          </a:ln>
        </p:spPr>
      </p:sp>
      <p:sp>
        <p:nvSpPr>
          <p:cNvPr id="27" name="Text 25"/>
          <p:cNvSpPr/>
          <p:nvPr/>
        </p:nvSpPr>
        <p:spPr>
          <a:xfrm>
            <a:off x="7360920" y="1975104"/>
            <a:ext cx="1280160" cy="640080"/>
          </a:xfrm>
          <a:prstGeom prst="rect">
            <a:avLst/>
          </a:prstGeom>
          <a:noFill/>
          <a:ln/>
        </p:spPr>
        <p:txBody>
          <a:bodyPr wrap="square" lIns="0" tIns="0" rIns="0" bIns="0" rtlCol="0" anchor="ctr"/>
          <a:lstStyle/>
          <a:p>
            <a:pPr algn="ctr" indent="0" marL="0">
              <a:buNone/>
            </a:pPr>
            <a:r>
              <a:rPr lang="en-US" sz="1100" dirty="0">
                <a:solidFill>
                  <a:srgbClr val="5E7B9A"/>
                </a:solidFill>
                <a:latin typeface="Calibri" pitchFamily="34" charset="0"/>
                <a:ea typeface="Calibri" pitchFamily="34" charset="-122"/>
                <a:cs typeface="Calibri" pitchFamily="34" charset="-120"/>
              </a:rPr>
              <a:t>(Yes / No)</a:t>
            </a:r>
            <a:endParaRPr lang="en-US" sz="1100" dirty="0"/>
          </a:p>
        </p:txBody>
      </p:sp>
      <p:sp>
        <p:nvSpPr>
          <p:cNvPr id="28" name="Shape 26"/>
          <p:cNvSpPr/>
          <p:nvPr/>
        </p:nvSpPr>
        <p:spPr>
          <a:xfrm>
            <a:off x="365760" y="2724912"/>
            <a:ext cx="1828800" cy="749808"/>
          </a:xfrm>
          <a:prstGeom prst="rect">
            <a:avLst/>
          </a:prstGeom>
          <a:solidFill>
            <a:srgbClr val="FFFFFF"/>
          </a:solidFill>
          <a:ln w="12700">
            <a:solidFill>
              <a:srgbClr val="FFFFFF"/>
            </a:solidFill>
            <a:prstDash val="solid"/>
          </a:ln>
        </p:spPr>
      </p:sp>
      <p:sp>
        <p:nvSpPr>
          <p:cNvPr id="29" name="Text 27"/>
          <p:cNvSpPr/>
          <p:nvPr/>
        </p:nvSpPr>
        <p:spPr>
          <a:xfrm>
            <a:off x="457200" y="2779776"/>
            <a:ext cx="1645920" cy="640080"/>
          </a:xfrm>
          <a:prstGeom prst="rect">
            <a:avLst/>
          </a:prstGeom>
          <a:noFill/>
          <a:ln/>
        </p:spPr>
        <p:txBody>
          <a:bodyPr wrap="square" lIns="0" tIns="0" rIns="0" bIns="0"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C. Water boils and condenses</a:t>
            </a:r>
            <a:endParaRPr lang="en-US" sz="1200" dirty="0"/>
          </a:p>
        </p:txBody>
      </p:sp>
      <p:sp>
        <p:nvSpPr>
          <p:cNvPr id="30" name="Shape 28"/>
          <p:cNvSpPr/>
          <p:nvPr/>
        </p:nvSpPr>
        <p:spPr>
          <a:xfrm>
            <a:off x="2240280" y="2724912"/>
            <a:ext cx="2560320" cy="749808"/>
          </a:xfrm>
          <a:prstGeom prst="rect">
            <a:avLst/>
          </a:prstGeom>
          <a:solidFill>
            <a:srgbClr val="FFFFFF"/>
          </a:solidFill>
          <a:ln w="12700">
            <a:solidFill>
              <a:srgbClr val="FFFFFF"/>
            </a:solidFill>
            <a:prstDash val="solid"/>
          </a:ln>
        </p:spPr>
      </p:sp>
      <p:sp>
        <p:nvSpPr>
          <p:cNvPr id="31" name="Text 29"/>
          <p:cNvSpPr/>
          <p:nvPr/>
        </p:nvSpPr>
        <p:spPr>
          <a:xfrm>
            <a:off x="2331720" y="2779776"/>
            <a:ext cx="2377440" cy="640080"/>
          </a:xfrm>
          <a:prstGeom prst="rect">
            <a:avLst/>
          </a:prstGeom>
          <a:noFill/>
          <a:ln/>
        </p:spPr>
        <p:txBody>
          <a:bodyPr wrap="square" lIns="0" tIns="0" rIns="0" bIns="0" rtlCol="0" anchor="ctr"/>
          <a:lstStyle/>
          <a:p>
            <a:pPr algn="ctr" indent="0" marL="0">
              <a:buNone/>
            </a:pPr>
            <a:r>
              <a:rPr lang="en-US" sz="1100" dirty="0">
                <a:solidFill>
                  <a:srgbClr val="5E7B9A"/>
                </a:solidFill>
                <a:latin typeface="Calibri" pitchFamily="34" charset="0"/>
                <a:ea typeface="Calibri" pitchFamily="34" charset="-122"/>
                <a:cs typeface="Calibri" pitchFamily="34" charset="-120"/>
              </a:rPr>
              <a:t>(Physical / Chemical)</a:t>
            </a:r>
            <a:endParaRPr lang="en-US" sz="1100" dirty="0"/>
          </a:p>
        </p:txBody>
      </p:sp>
      <p:sp>
        <p:nvSpPr>
          <p:cNvPr id="32" name="Shape 30"/>
          <p:cNvSpPr/>
          <p:nvPr/>
        </p:nvSpPr>
        <p:spPr>
          <a:xfrm>
            <a:off x="4846320" y="2724912"/>
            <a:ext cx="2377440" cy="749808"/>
          </a:xfrm>
          <a:prstGeom prst="rect">
            <a:avLst/>
          </a:prstGeom>
          <a:solidFill>
            <a:srgbClr val="FFFFFF"/>
          </a:solidFill>
          <a:ln w="12700">
            <a:solidFill>
              <a:srgbClr val="FFFFFF"/>
            </a:solidFill>
            <a:prstDash val="solid"/>
          </a:ln>
        </p:spPr>
      </p:sp>
      <p:sp>
        <p:nvSpPr>
          <p:cNvPr id="33" name="Text 31"/>
          <p:cNvSpPr/>
          <p:nvPr/>
        </p:nvSpPr>
        <p:spPr>
          <a:xfrm>
            <a:off x="4937760" y="2779776"/>
            <a:ext cx="2194560" cy="640080"/>
          </a:xfrm>
          <a:prstGeom prst="rect">
            <a:avLst/>
          </a:prstGeom>
          <a:noFill/>
          <a:ln/>
        </p:spPr>
        <p:txBody>
          <a:bodyPr wrap="square" lIns="0" tIns="0" rIns="0" bIns="0" rtlCol="0" anchor="ctr"/>
          <a:lstStyle/>
          <a:p>
            <a:pPr algn="l" indent="0" marL="0">
              <a:buNone/>
            </a:pPr>
            <a:r>
              <a:rPr lang="en-US" sz="1100" dirty="0">
                <a:solidFill>
                  <a:srgbClr val="5E7B9A"/>
                </a:solidFill>
                <a:latin typeface="Calibri" pitchFamily="34" charset="0"/>
                <a:ea typeface="Calibri" pitchFamily="34" charset="-122"/>
                <a:cs typeface="Calibri" pitchFamily="34" charset="-120"/>
              </a:rPr>
              <a:t>(list clues)</a:t>
            </a:r>
            <a:endParaRPr lang="en-US" sz="1100" dirty="0"/>
          </a:p>
        </p:txBody>
      </p:sp>
      <p:sp>
        <p:nvSpPr>
          <p:cNvPr id="34" name="Shape 32"/>
          <p:cNvSpPr/>
          <p:nvPr/>
        </p:nvSpPr>
        <p:spPr>
          <a:xfrm>
            <a:off x="7269480" y="2724912"/>
            <a:ext cx="1463040" cy="749808"/>
          </a:xfrm>
          <a:prstGeom prst="rect">
            <a:avLst/>
          </a:prstGeom>
          <a:solidFill>
            <a:srgbClr val="FFFFFF"/>
          </a:solidFill>
          <a:ln w="12700">
            <a:solidFill>
              <a:srgbClr val="FFFFFF"/>
            </a:solidFill>
            <a:prstDash val="solid"/>
          </a:ln>
        </p:spPr>
      </p:sp>
      <p:sp>
        <p:nvSpPr>
          <p:cNvPr id="35" name="Text 33"/>
          <p:cNvSpPr/>
          <p:nvPr/>
        </p:nvSpPr>
        <p:spPr>
          <a:xfrm>
            <a:off x="7360920" y="2779776"/>
            <a:ext cx="1280160" cy="640080"/>
          </a:xfrm>
          <a:prstGeom prst="rect">
            <a:avLst/>
          </a:prstGeom>
          <a:noFill/>
          <a:ln/>
        </p:spPr>
        <p:txBody>
          <a:bodyPr wrap="square" lIns="0" tIns="0" rIns="0" bIns="0" rtlCol="0" anchor="ctr"/>
          <a:lstStyle/>
          <a:p>
            <a:pPr algn="ctr" indent="0" marL="0">
              <a:buNone/>
            </a:pPr>
            <a:r>
              <a:rPr lang="en-US" sz="1100" dirty="0">
                <a:solidFill>
                  <a:srgbClr val="5E7B9A"/>
                </a:solidFill>
                <a:latin typeface="Calibri" pitchFamily="34" charset="0"/>
                <a:ea typeface="Calibri" pitchFamily="34" charset="-122"/>
                <a:cs typeface="Calibri" pitchFamily="34" charset="-120"/>
              </a:rPr>
              <a:t>(Yes / No)</a:t>
            </a:r>
            <a:endParaRPr lang="en-US" sz="1100" dirty="0"/>
          </a:p>
        </p:txBody>
      </p:sp>
      <p:sp>
        <p:nvSpPr>
          <p:cNvPr id="36" name="Shape 34"/>
          <p:cNvSpPr/>
          <p:nvPr/>
        </p:nvSpPr>
        <p:spPr>
          <a:xfrm>
            <a:off x="365760" y="3547872"/>
            <a:ext cx="8366760" cy="731520"/>
          </a:xfrm>
          <a:prstGeom prst="rect">
            <a:avLst/>
          </a:prstGeom>
          <a:solidFill>
            <a:srgbClr val="FFFFFF"/>
          </a:solidFill>
          <a:ln w="12700">
            <a:solidFill>
              <a:srgbClr val="FFFFFF"/>
            </a:solidFill>
            <a:prstDash val="solid"/>
          </a:ln>
        </p:spPr>
      </p:sp>
      <p:sp>
        <p:nvSpPr>
          <p:cNvPr id="37" name="Text 35"/>
          <p:cNvSpPr/>
          <p:nvPr/>
        </p:nvSpPr>
        <p:spPr>
          <a:xfrm>
            <a:off x="457200" y="3602736"/>
            <a:ext cx="8183880" cy="621792"/>
          </a:xfrm>
          <a:prstGeom prst="rect">
            <a:avLst/>
          </a:prstGeom>
          <a:noFill/>
          <a:ln/>
        </p:spPr>
        <p:txBody>
          <a:bodyPr wrap="square" lIns="0" tIns="0" rIns="0" bIns="0" rtlCol="0" anchor="ctr"/>
          <a:lstStyle/>
          <a:p>
            <a:pPr algn="l" indent="0" marL="0">
              <a:buNone/>
            </a:pPr>
            <a:r>
              <a:rPr lang="en-US" sz="1200" dirty="0">
                <a:solidFill>
                  <a:srgbClr val="2C4A6E"/>
                </a:solidFill>
                <a:latin typeface="Calibri" pitchFamily="34" charset="0"/>
                <a:ea typeface="Calibri" pitchFamily="34" charset="-122"/>
                <a:cs typeface="Calibri" pitchFamily="34" charset="-120"/>
              </a:rPr>
              <a:t>Clue Reminder: Look for new color, new smell, bubbles, or ability to reverse. Two scenarios are PHYSICAL changes. One is a CHEMICAL change.</a:t>
            </a:r>
            <a:endParaRPr lang="en-US" sz="1200" dirty="0"/>
          </a:p>
        </p:txBody>
      </p:sp>
      <p:sp>
        <p:nvSpPr>
          <p:cNvPr id="38" name="Text 36"/>
          <p:cNvSpPr/>
          <p:nvPr/>
        </p:nvSpPr>
        <p:spPr>
          <a:xfrm>
            <a:off x="365760" y="4370832"/>
            <a:ext cx="8412480" cy="411480"/>
          </a:xfrm>
          <a:prstGeom prst="rect">
            <a:avLst/>
          </a:prstGeom>
          <a:noFill/>
          <a:ln/>
        </p:spPr>
        <p:txBody>
          <a:bodyPr wrap="square" rtlCol="0" anchor="ctr"/>
          <a:lstStyle/>
          <a:p>
            <a:pPr indent="0" marL="0">
              <a:buNone/>
            </a:pPr>
            <a:r>
              <a:rPr lang="en-US" sz="1200" b="1" i="1" dirty="0">
                <a:solidFill>
                  <a:srgbClr val="1A3A5C"/>
                </a:solidFill>
                <a:latin typeface="Calibri" pitchFamily="34" charset="0"/>
                <a:ea typeface="Calibri" pitchFamily="34" charset="-122"/>
                <a:cs typeface="Calibri" pitchFamily="34" charset="-120"/>
              </a:rPr>
              <a:t>Write a one-sentence claim: Scenarios A and C are ___ changes, but Scenario B is a ___ change.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Record Your Thinking</a:t>
            </a:r>
            <a:endParaRPr lang="en-US" sz="2200" dirty="0"/>
          </a:p>
        </p:txBody>
      </p:sp>
      <p:sp>
        <p:nvSpPr>
          <p:cNvPr id="4" name="Text 2"/>
          <p:cNvSpPr/>
          <p:nvPr/>
        </p:nvSpPr>
        <p:spPr>
          <a:xfrm>
            <a:off x="365760" y="566928"/>
            <a:ext cx="8412480" cy="320040"/>
          </a:xfrm>
          <a:prstGeom prst="rect">
            <a:avLst/>
          </a:prstGeom>
          <a:noFill/>
          <a:ln/>
        </p:spPr>
        <p:txBody>
          <a:bodyPr wrap="square" rtlCol="0" anchor="ctr"/>
          <a:lstStyle/>
          <a:p>
            <a:pPr indent="0" marL="0">
              <a:buNone/>
            </a:pPr>
            <a:r>
              <a:rPr lang="en-US" sz="1300" i="1" dirty="0">
                <a:solidFill>
                  <a:srgbClr val="2C4A6E"/>
                </a:solidFill>
                <a:latin typeface="Calibri" pitchFamily="34" charset="0"/>
                <a:ea typeface="Calibri" pitchFamily="34" charset="-122"/>
                <a:cs typeface="Calibri" pitchFamily="34" charset="-120"/>
              </a:rPr>
              <a:t>Answer in complete sentences in your science notebook.</a:t>
            </a:r>
            <a:endParaRPr lang="en-US" sz="1300" dirty="0"/>
          </a:p>
        </p:txBody>
      </p:sp>
      <p:sp>
        <p:nvSpPr>
          <p:cNvPr id="5" name="Shape 3"/>
          <p:cNvSpPr/>
          <p:nvPr/>
        </p:nvSpPr>
        <p:spPr>
          <a:xfrm>
            <a:off x="365760" y="960120"/>
            <a:ext cx="384048" cy="384048"/>
          </a:xfrm>
          <a:prstGeom prst="ellipse">
            <a:avLst/>
          </a:prstGeom>
          <a:solidFill>
            <a:srgbClr val="0E7C7B"/>
          </a:solidFill>
          <a:ln w="12700">
            <a:solidFill>
              <a:srgbClr val="0E7C7B"/>
            </a:solidFill>
            <a:prstDash val="solid"/>
          </a:ln>
        </p:spPr>
      </p:sp>
      <p:sp>
        <p:nvSpPr>
          <p:cNvPr id="6" name="Text 4"/>
          <p:cNvSpPr/>
          <p:nvPr/>
        </p:nvSpPr>
        <p:spPr>
          <a:xfrm>
            <a:off x="365760" y="96012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22960" y="960120"/>
            <a:ext cx="7955280" cy="365760"/>
          </a:xfrm>
          <a:prstGeom prst="rect">
            <a:avLst/>
          </a:prstGeom>
          <a:noFill/>
          <a:ln/>
        </p:spPr>
        <p:txBody>
          <a:bodyPr wrap="square" rtlCol="0" anchor="ctr"/>
          <a:lstStyle/>
          <a:p>
            <a:pPr indent="0" marL="0">
              <a:buNone/>
            </a:pPr>
            <a:r>
              <a:rPr lang="en-US" sz="1400" b="1" dirty="0">
                <a:solidFill>
                  <a:srgbClr val="1A3A5C"/>
                </a:solidFill>
                <a:latin typeface="Calibri" pitchFamily="34" charset="0"/>
                <a:ea typeface="Calibri" pitchFamily="34" charset="-122"/>
                <a:cs typeface="Calibri" pitchFamily="34" charset="-120"/>
              </a:rPr>
              <a:t>Scenario A -- Ice Melting</a:t>
            </a:r>
            <a:endParaRPr lang="en-US" sz="1400" dirty="0"/>
          </a:p>
        </p:txBody>
      </p:sp>
      <p:sp>
        <p:nvSpPr>
          <p:cNvPr id="8" name="Shape 6"/>
          <p:cNvSpPr/>
          <p:nvPr/>
        </p:nvSpPr>
        <p:spPr>
          <a:xfrm>
            <a:off x="822960" y="1353312"/>
            <a:ext cx="7955280" cy="777240"/>
          </a:xfrm>
          <a:prstGeom prst="rect">
            <a:avLst/>
          </a:prstGeom>
          <a:solidFill>
            <a:srgbClr val="FFFFFF"/>
          </a:solidFill>
          <a:ln w="12700">
            <a:solidFill>
              <a:srgbClr val="FFFFFF"/>
            </a:solidFill>
            <a:prstDash val="solid"/>
          </a:ln>
        </p:spPr>
      </p:sp>
      <p:sp>
        <p:nvSpPr>
          <p:cNvPr id="9" name="Text 7"/>
          <p:cNvSpPr/>
          <p:nvPr/>
        </p:nvSpPr>
        <p:spPr>
          <a:xfrm>
            <a:off x="914400" y="1408176"/>
            <a:ext cx="7772400" cy="66751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What kind of change is it? Use the word "particles" in your explanation.</a:t>
            </a:r>
            <a:endParaRPr lang="en-US" sz="1200" dirty="0"/>
          </a:p>
        </p:txBody>
      </p:sp>
      <p:sp>
        <p:nvSpPr>
          <p:cNvPr id="10" name="Shape 8"/>
          <p:cNvSpPr/>
          <p:nvPr/>
        </p:nvSpPr>
        <p:spPr>
          <a:xfrm>
            <a:off x="365760" y="2221992"/>
            <a:ext cx="384048" cy="384048"/>
          </a:xfrm>
          <a:prstGeom prst="ellipse">
            <a:avLst/>
          </a:prstGeom>
          <a:solidFill>
            <a:srgbClr val="0E7C7B"/>
          </a:solidFill>
          <a:ln w="12700">
            <a:solidFill>
              <a:srgbClr val="0E7C7B"/>
            </a:solidFill>
            <a:prstDash val="solid"/>
          </a:ln>
        </p:spPr>
      </p:sp>
      <p:sp>
        <p:nvSpPr>
          <p:cNvPr id="11" name="Text 9"/>
          <p:cNvSpPr/>
          <p:nvPr/>
        </p:nvSpPr>
        <p:spPr>
          <a:xfrm>
            <a:off x="365760" y="222199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822960" y="2221992"/>
            <a:ext cx="7955280" cy="365760"/>
          </a:xfrm>
          <a:prstGeom prst="rect">
            <a:avLst/>
          </a:prstGeom>
          <a:noFill/>
          <a:ln/>
        </p:spPr>
        <p:txBody>
          <a:bodyPr wrap="square" rtlCol="0" anchor="ctr"/>
          <a:lstStyle/>
          <a:p>
            <a:pPr indent="0" marL="0">
              <a:buNone/>
            </a:pPr>
            <a:r>
              <a:rPr lang="en-US" sz="1400" b="1" dirty="0">
                <a:solidFill>
                  <a:srgbClr val="1A3A5C"/>
                </a:solidFill>
                <a:latin typeface="Calibri" pitchFamily="34" charset="0"/>
                <a:ea typeface="Calibri" pitchFamily="34" charset="-122"/>
                <a:cs typeface="Calibri" pitchFamily="34" charset="-120"/>
              </a:rPr>
              <a:t>Scenario B -- Toasting Bread</a:t>
            </a:r>
            <a:endParaRPr lang="en-US" sz="1400" dirty="0"/>
          </a:p>
        </p:txBody>
      </p:sp>
      <p:sp>
        <p:nvSpPr>
          <p:cNvPr id="13" name="Shape 11"/>
          <p:cNvSpPr/>
          <p:nvPr/>
        </p:nvSpPr>
        <p:spPr>
          <a:xfrm>
            <a:off x="822960" y="2615184"/>
            <a:ext cx="7955280" cy="777240"/>
          </a:xfrm>
          <a:prstGeom prst="rect">
            <a:avLst/>
          </a:prstGeom>
          <a:solidFill>
            <a:srgbClr val="FFFFFF"/>
          </a:solidFill>
          <a:ln w="12700">
            <a:solidFill>
              <a:srgbClr val="FFFFFF"/>
            </a:solidFill>
            <a:prstDash val="solid"/>
          </a:ln>
        </p:spPr>
      </p:sp>
      <p:sp>
        <p:nvSpPr>
          <p:cNvPr id="14" name="Text 12"/>
          <p:cNvSpPr/>
          <p:nvPr/>
        </p:nvSpPr>
        <p:spPr>
          <a:xfrm>
            <a:off x="914400" y="2670048"/>
            <a:ext cx="7772400" cy="66751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What clues tell you a new substance formed?</a:t>
            </a:r>
            <a:endParaRPr lang="en-US" sz="1200" dirty="0"/>
          </a:p>
        </p:txBody>
      </p:sp>
      <p:sp>
        <p:nvSpPr>
          <p:cNvPr id="15" name="Shape 13"/>
          <p:cNvSpPr/>
          <p:nvPr/>
        </p:nvSpPr>
        <p:spPr>
          <a:xfrm>
            <a:off x="365760" y="3483864"/>
            <a:ext cx="384048" cy="384048"/>
          </a:xfrm>
          <a:prstGeom prst="ellipse">
            <a:avLst/>
          </a:prstGeom>
          <a:solidFill>
            <a:srgbClr val="0E7C7B"/>
          </a:solidFill>
          <a:ln w="12700">
            <a:solidFill>
              <a:srgbClr val="0E7C7B"/>
            </a:solidFill>
            <a:prstDash val="solid"/>
          </a:ln>
        </p:spPr>
      </p:sp>
      <p:sp>
        <p:nvSpPr>
          <p:cNvPr id="16" name="Text 14"/>
          <p:cNvSpPr/>
          <p:nvPr/>
        </p:nvSpPr>
        <p:spPr>
          <a:xfrm>
            <a:off x="365760" y="348386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22960" y="3483864"/>
            <a:ext cx="7955280" cy="365760"/>
          </a:xfrm>
          <a:prstGeom prst="rect">
            <a:avLst/>
          </a:prstGeom>
          <a:noFill/>
          <a:ln/>
        </p:spPr>
        <p:txBody>
          <a:bodyPr wrap="square" rtlCol="0" anchor="ctr"/>
          <a:lstStyle/>
          <a:p>
            <a:pPr indent="0" marL="0">
              <a:buNone/>
            </a:pPr>
            <a:r>
              <a:rPr lang="en-US" sz="1400" b="1" dirty="0">
                <a:solidFill>
                  <a:srgbClr val="1A3A5C"/>
                </a:solidFill>
                <a:latin typeface="Calibri" pitchFamily="34" charset="0"/>
                <a:ea typeface="Calibri" pitchFamily="34" charset="-122"/>
                <a:cs typeface="Calibri" pitchFamily="34" charset="-120"/>
              </a:rPr>
              <a:t>Scenario C -- Water Boiling and Condensing</a:t>
            </a:r>
            <a:endParaRPr lang="en-US" sz="1400" dirty="0"/>
          </a:p>
        </p:txBody>
      </p:sp>
      <p:sp>
        <p:nvSpPr>
          <p:cNvPr id="18" name="Shape 16"/>
          <p:cNvSpPr/>
          <p:nvPr/>
        </p:nvSpPr>
        <p:spPr>
          <a:xfrm>
            <a:off x="822960" y="3877056"/>
            <a:ext cx="7955280" cy="777240"/>
          </a:xfrm>
          <a:prstGeom prst="rect">
            <a:avLst/>
          </a:prstGeom>
          <a:solidFill>
            <a:srgbClr val="FFFFFF"/>
          </a:solidFill>
          <a:ln w="12700">
            <a:solidFill>
              <a:srgbClr val="FFFFFF"/>
            </a:solidFill>
            <a:prstDash val="solid"/>
          </a:ln>
        </p:spPr>
      </p:sp>
      <p:sp>
        <p:nvSpPr>
          <p:cNvPr id="19" name="Text 17"/>
          <p:cNvSpPr/>
          <p:nvPr/>
        </p:nvSpPr>
        <p:spPr>
          <a:xfrm>
            <a:off x="914400" y="3931920"/>
            <a:ext cx="7772400" cy="66751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Is it physical or chemical? How do you know?</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365760" y="182880"/>
            <a:ext cx="1673352" cy="274320"/>
          </a:xfrm>
          <a:prstGeom prst="rect">
            <a:avLst/>
          </a:prstGeom>
          <a:solidFill>
            <a:srgbClr val="2E86AB"/>
          </a:solidFill>
          <a:ln w="12700">
            <a:solidFill>
              <a:srgbClr val="2E86AB"/>
            </a:solidFill>
            <a:prstDash val="solid"/>
          </a:ln>
        </p:spPr>
      </p:sp>
      <p:sp>
        <p:nvSpPr>
          <p:cNvPr id="4" name="Text 2"/>
          <p:cNvSpPr/>
          <p:nvPr/>
        </p:nvSpPr>
        <p:spPr>
          <a:xfrm>
            <a:off x="365760" y="182880"/>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AND DEFEND</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Use Your Evidence</a:t>
            </a:r>
            <a:endParaRPr lang="en-US" sz="2800" dirty="0"/>
          </a:p>
        </p:txBody>
      </p:sp>
      <p:sp>
        <p:nvSpPr>
          <p:cNvPr id="6" name="Shape 4"/>
          <p:cNvSpPr/>
          <p:nvPr/>
        </p:nvSpPr>
        <p:spPr>
          <a:xfrm>
            <a:off x="365760" y="1188720"/>
            <a:ext cx="8412480" cy="1234440"/>
          </a:xfrm>
          <a:prstGeom prst="rect">
            <a:avLst/>
          </a:prstGeom>
          <a:solidFill>
            <a:srgbClr val="1A2E3F"/>
          </a:solidFill>
          <a:ln w="12700">
            <a:solidFill>
              <a:srgbClr val="1A2E3F"/>
            </a:solidFill>
            <a:prstDash val="solid"/>
          </a:ln>
        </p:spPr>
      </p:sp>
      <p:sp>
        <p:nvSpPr>
          <p:cNvPr id="7" name="Text 5"/>
          <p:cNvSpPr/>
          <p:nvPr/>
        </p:nvSpPr>
        <p:spPr>
          <a:xfrm>
            <a:off x="457200" y="1243584"/>
            <a:ext cx="8229600" cy="112471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Defend Your Thinking:</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A classmate says: "Toasting is just a physical change because the bread is still bread." What clues from Scenario B would you use to disagree?</a:t>
            </a:r>
            <a:endParaRPr lang="en-US" sz="1300" dirty="0"/>
          </a:p>
        </p:txBody>
      </p:sp>
      <p:sp>
        <p:nvSpPr>
          <p:cNvPr id="8" name="Shape 6"/>
          <p:cNvSpPr/>
          <p:nvPr/>
        </p:nvSpPr>
        <p:spPr>
          <a:xfrm>
            <a:off x="365760" y="2560320"/>
            <a:ext cx="8412480" cy="1005840"/>
          </a:xfrm>
          <a:prstGeom prst="rect">
            <a:avLst/>
          </a:prstGeom>
          <a:solidFill>
            <a:srgbClr val="1A2E3F"/>
          </a:solidFill>
          <a:ln w="12700">
            <a:solidFill>
              <a:srgbClr val="1A2E3F"/>
            </a:solidFill>
            <a:prstDash val="solid"/>
          </a:ln>
        </p:spPr>
      </p:sp>
      <p:sp>
        <p:nvSpPr>
          <p:cNvPr id="9" name="Text 7"/>
          <p:cNvSpPr/>
          <p:nvPr/>
        </p:nvSpPr>
        <p:spPr>
          <a:xfrm>
            <a:off x="457200" y="2615184"/>
            <a:ext cx="8229600" cy="89611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Compare the Evidence:</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Why is it useful to know whether a change is physical or chemical? Give one example from real life where it would matter.</a:t>
            </a:r>
            <a:endParaRPr lang="en-US" sz="1300" dirty="0"/>
          </a:p>
        </p:txBody>
      </p:sp>
      <p:sp>
        <p:nvSpPr>
          <p:cNvPr id="10" name="Text 8"/>
          <p:cNvSpPr/>
          <p:nvPr/>
        </p:nvSpPr>
        <p:spPr>
          <a:xfrm>
            <a:off x="365760" y="3703320"/>
            <a:ext cx="2743200" cy="27432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Sentence Starters:</a:t>
            </a:r>
            <a:endParaRPr lang="en-US" sz="1200" dirty="0"/>
          </a:p>
        </p:txBody>
      </p:sp>
      <p:sp>
        <p:nvSpPr>
          <p:cNvPr id="11" name="Shape 9"/>
          <p:cNvSpPr/>
          <p:nvPr/>
        </p:nvSpPr>
        <p:spPr>
          <a:xfrm>
            <a:off x="365760" y="4005072"/>
            <a:ext cx="4023360" cy="594360"/>
          </a:xfrm>
          <a:prstGeom prst="rect">
            <a:avLst/>
          </a:prstGeom>
          <a:solidFill>
            <a:srgbClr val="162640"/>
          </a:solidFill>
          <a:ln w="12700">
            <a:solidFill>
              <a:srgbClr val="162640"/>
            </a:solidFill>
            <a:prstDash val="solid"/>
          </a:ln>
        </p:spPr>
      </p:sp>
      <p:sp>
        <p:nvSpPr>
          <p:cNvPr id="12" name="Text 10"/>
          <p:cNvSpPr/>
          <p:nvPr/>
        </p:nvSpPr>
        <p:spPr>
          <a:xfrm>
            <a:off x="457200" y="4059936"/>
            <a:ext cx="3840480" cy="4846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"I disagree because the evidence shows..."</a:t>
            </a:r>
            <a:endParaRPr lang="en-US" sz="1200" dirty="0"/>
          </a:p>
        </p:txBody>
      </p:sp>
      <p:sp>
        <p:nvSpPr>
          <p:cNvPr id="13" name="Shape 11"/>
          <p:cNvSpPr/>
          <p:nvPr/>
        </p:nvSpPr>
        <p:spPr>
          <a:xfrm>
            <a:off x="4572000" y="4005072"/>
            <a:ext cx="4160520" cy="594360"/>
          </a:xfrm>
          <a:prstGeom prst="rect">
            <a:avLst/>
          </a:prstGeom>
          <a:solidFill>
            <a:srgbClr val="162640"/>
          </a:solidFill>
          <a:ln w="12700">
            <a:solidFill>
              <a:srgbClr val="162640"/>
            </a:solidFill>
            <a:prstDash val="solid"/>
          </a:ln>
        </p:spPr>
      </p:sp>
      <p:sp>
        <p:nvSpPr>
          <p:cNvPr id="14" name="Text 12"/>
          <p:cNvSpPr/>
          <p:nvPr/>
        </p:nvSpPr>
        <p:spPr>
          <a:xfrm>
            <a:off x="4663440" y="4059936"/>
            <a:ext cx="3977640" cy="4846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"Knowing the type of change matters when..."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365760" y="182880"/>
            <a:ext cx="1371600" cy="274320"/>
          </a:xfrm>
          <a:prstGeom prst="rect">
            <a:avLst/>
          </a:prstGeom>
          <a:solidFill>
            <a:srgbClr val="F6C90E"/>
          </a:solidFill>
          <a:ln w="12700">
            <a:solidFill>
              <a:srgbClr val="F6C90E"/>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Claim, Evidence, Reasoning</a:t>
            </a:r>
            <a:endParaRPr lang="en-US" sz="2800" dirty="0"/>
          </a:p>
        </p:txBody>
      </p:sp>
      <p:sp>
        <p:nvSpPr>
          <p:cNvPr id="6" name="Text 4"/>
          <p:cNvSpPr/>
          <p:nvPr/>
        </p:nvSpPr>
        <p:spPr>
          <a:xfrm>
            <a:off x="365760" y="1078992"/>
            <a:ext cx="8412480" cy="292608"/>
          </a:xfrm>
          <a:prstGeom prst="rect">
            <a:avLst/>
          </a:prstGeom>
          <a:noFill/>
          <a:ln/>
        </p:spPr>
        <p:txBody>
          <a:bodyPr wrap="square" rtlCol="0" anchor="ctr"/>
          <a:lstStyle/>
          <a:p>
            <a:pPr indent="0" marL="0">
              <a:buNone/>
            </a:pPr>
            <a:r>
              <a:rPr lang="en-US" sz="1200" i="1" dirty="0">
                <a:solidFill>
                  <a:srgbClr val="F6C90E"/>
                </a:solidFill>
                <a:latin typeface="Calibri" pitchFamily="34" charset="0"/>
                <a:ea typeface="Calibri" pitchFamily="34" charset="-122"/>
                <a:cs typeface="Calibri" pitchFamily="34" charset="-120"/>
              </a:rPr>
              <a:t>Aim for 4-6 sentences total in your written response.</a:t>
            </a:r>
            <a:endParaRPr lang="en-US" sz="1200" dirty="0"/>
          </a:p>
        </p:txBody>
      </p:sp>
      <p:sp>
        <p:nvSpPr>
          <p:cNvPr id="7" name="Shape 5"/>
          <p:cNvSpPr/>
          <p:nvPr/>
        </p:nvSpPr>
        <p:spPr>
          <a:xfrm>
            <a:off x="365760" y="1444752"/>
            <a:ext cx="2697480" cy="384048"/>
          </a:xfrm>
          <a:prstGeom prst="rect">
            <a:avLst/>
          </a:prstGeom>
          <a:solidFill>
            <a:srgbClr val="0E7C7B"/>
          </a:solidFill>
          <a:ln w="12700">
            <a:solidFill>
              <a:srgbClr val="0E7C7B"/>
            </a:solidFill>
            <a:prstDash val="solid"/>
          </a:ln>
        </p:spPr>
      </p:sp>
      <p:sp>
        <p:nvSpPr>
          <p:cNvPr id="8" name="Text 6"/>
          <p:cNvSpPr/>
          <p:nvPr/>
        </p:nvSpPr>
        <p:spPr>
          <a:xfrm>
            <a:off x="457200" y="1499616"/>
            <a:ext cx="25146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CLAIM</a:t>
            </a:r>
            <a:endParaRPr lang="en-US" sz="1400" dirty="0"/>
          </a:p>
        </p:txBody>
      </p:sp>
      <p:sp>
        <p:nvSpPr>
          <p:cNvPr id="9" name="Shape 7"/>
          <p:cNvSpPr/>
          <p:nvPr/>
        </p:nvSpPr>
        <p:spPr>
          <a:xfrm>
            <a:off x="365760" y="1856232"/>
            <a:ext cx="2697480" cy="2331720"/>
          </a:xfrm>
          <a:prstGeom prst="rect">
            <a:avLst/>
          </a:prstGeom>
          <a:solidFill>
            <a:srgbClr val="162640"/>
          </a:solidFill>
          <a:ln w="12700">
            <a:solidFill>
              <a:srgbClr val="162640"/>
            </a:solidFill>
            <a:prstDash val="solid"/>
          </a:ln>
        </p:spPr>
      </p:sp>
      <p:sp>
        <p:nvSpPr>
          <p:cNvPr id="10" name="Text 8"/>
          <p:cNvSpPr/>
          <p:nvPr/>
        </p:nvSpPr>
        <p:spPr>
          <a:xfrm>
            <a:off x="457200" y="1911096"/>
            <a:ext cx="2514600" cy="222199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Toasting a piece of bread is a _____ change because...</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State what kind of change occurred and name it clearly.</a:t>
            </a:r>
            <a:endParaRPr lang="en-US" sz="1200" dirty="0"/>
          </a:p>
        </p:txBody>
      </p:sp>
      <p:sp>
        <p:nvSpPr>
          <p:cNvPr id="11" name="Shape 9"/>
          <p:cNvSpPr/>
          <p:nvPr/>
        </p:nvSpPr>
        <p:spPr>
          <a:xfrm>
            <a:off x="3218688" y="1444752"/>
            <a:ext cx="2697480" cy="384048"/>
          </a:xfrm>
          <a:prstGeom prst="rect">
            <a:avLst/>
          </a:prstGeom>
          <a:solidFill>
            <a:srgbClr val="2E86AB"/>
          </a:solidFill>
          <a:ln w="12700">
            <a:solidFill>
              <a:srgbClr val="2E86AB"/>
            </a:solidFill>
            <a:prstDash val="solid"/>
          </a:ln>
        </p:spPr>
      </p:sp>
      <p:sp>
        <p:nvSpPr>
          <p:cNvPr id="12" name="Text 10"/>
          <p:cNvSpPr/>
          <p:nvPr/>
        </p:nvSpPr>
        <p:spPr>
          <a:xfrm>
            <a:off x="3310128" y="1499616"/>
            <a:ext cx="25146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p>
        </p:txBody>
      </p:sp>
      <p:sp>
        <p:nvSpPr>
          <p:cNvPr id="13" name="Shape 11"/>
          <p:cNvSpPr/>
          <p:nvPr/>
        </p:nvSpPr>
        <p:spPr>
          <a:xfrm>
            <a:off x="3218688" y="1856232"/>
            <a:ext cx="2697480" cy="2331720"/>
          </a:xfrm>
          <a:prstGeom prst="rect">
            <a:avLst/>
          </a:prstGeom>
          <a:solidFill>
            <a:srgbClr val="162640"/>
          </a:solidFill>
          <a:ln w="12700">
            <a:solidFill>
              <a:srgbClr val="162640"/>
            </a:solidFill>
            <a:prstDash val="solid"/>
          </a:ln>
        </p:spPr>
      </p:sp>
      <p:sp>
        <p:nvSpPr>
          <p:cNvPr id="14" name="Text 12"/>
          <p:cNvSpPr/>
          <p:nvPr/>
        </p:nvSpPr>
        <p:spPr>
          <a:xfrm>
            <a:off x="3310128" y="1911096"/>
            <a:ext cx="2514600" cy="222199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Write at least two pieces of evidence from the lesson.</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Use clues like color, smell, feel, or whether it is reversible.</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You choose your own evidence.</a:t>
            </a:r>
            <a:endParaRPr lang="en-US" sz="1200" dirty="0"/>
          </a:p>
        </p:txBody>
      </p:sp>
      <p:sp>
        <p:nvSpPr>
          <p:cNvPr id="15" name="Shape 13"/>
          <p:cNvSpPr/>
          <p:nvPr/>
        </p:nvSpPr>
        <p:spPr>
          <a:xfrm>
            <a:off x="6071616" y="1444752"/>
            <a:ext cx="2697480" cy="384048"/>
          </a:xfrm>
          <a:prstGeom prst="rect">
            <a:avLst/>
          </a:prstGeom>
          <a:solidFill>
            <a:srgbClr val="F07D35"/>
          </a:solidFill>
          <a:ln w="12700">
            <a:solidFill>
              <a:srgbClr val="F07D35"/>
            </a:solidFill>
            <a:prstDash val="solid"/>
          </a:ln>
        </p:spPr>
      </p:sp>
      <p:sp>
        <p:nvSpPr>
          <p:cNvPr id="16" name="Text 14"/>
          <p:cNvSpPr/>
          <p:nvPr/>
        </p:nvSpPr>
        <p:spPr>
          <a:xfrm>
            <a:off x="6163056" y="1499616"/>
            <a:ext cx="25146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REASONING</a:t>
            </a:r>
            <a:endParaRPr lang="en-US" sz="1400" dirty="0"/>
          </a:p>
        </p:txBody>
      </p:sp>
      <p:sp>
        <p:nvSpPr>
          <p:cNvPr id="17" name="Shape 15"/>
          <p:cNvSpPr/>
          <p:nvPr/>
        </p:nvSpPr>
        <p:spPr>
          <a:xfrm>
            <a:off x="6071616" y="1856232"/>
            <a:ext cx="2697480" cy="2331720"/>
          </a:xfrm>
          <a:prstGeom prst="rect">
            <a:avLst/>
          </a:prstGeom>
          <a:solidFill>
            <a:srgbClr val="162640"/>
          </a:solidFill>
          <a:ln w="12700">
            <a:solidFill>
              <a:srgbClr val="162640"/>
            </a:solidFill>
            <a:prstDash val="solid"/>
          </a:ln>
        </p:spPr>
      </p:sp>
      <p:sp>
        <p:nvSpPr>
          <p:cNvPr id="18" name="Text 16"/>
          <p:cNvSpPr/>
          <p:nvPr/>
        </p:nvSpPr>
        <p:spPr>
          <a:xfrm>
            <a:off x="6163056" y="1911096"/>
            <a:ext cx="2514600" cy="222199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This makes sense because particles in a chemical change...</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Explain why the evidence proves your claim at the particle level.</a:t>
            </a:r>
            <a:endParaRPr lang="en-US" sz="1200" dirty="0"/>
          </a:p>
        </p:txBody>
      </p:sp>
      <p:sp>
        <p:nvSpPr>
          <p:cNvPr id="19" name="Text 17"/>
          <p:cNvSpPr/>
          <p:nvPr/>
        </p:nvSpPr>
        <p:spPr>
          <a:xfrm>
            <a:off x="365760" y="4297680"/>
            <a:ext cx="8412480" cy="411480"/>
          </a:xfrm>
          <a:prstGeom prst="rect">
            <a:avLst/>
          </a:prstGeom>
          <a:noFill/>
          <a:ln/>
        </p:spPr>
        <p:txBody>
          <a:bodyPr wrap="square" rtlCol="0" anchor="ctr"/>
          <a:lstStyle/>
          <a:p>
            <a:pPr indent="0" marL="0">
              <a:buNone/>
            </a:pPr>
            <a:r>
              <a:rPr lang="en-US" sz="1100" i="1" dirty="0">
                <a:solidFill>
                  <a:srgbClr val="F6C90E"/>
                </a:solidFill>
                <a:latin typeface="Calibri" pitchFamily="34" charset="0"/>
                <a:ea typeface="Calibri" pitchFamily="34" charset="-122"/>
                <a:cs typeface="Calibri" pitchFamily="34" charset="-120"/>
              </a:rPr>
              <a:t>Vocab check: Use at least two -- physical change, chemical change, particles, reversible, temperature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365760" y="182880"/>
            <a:ext cx="1371600" cy="274320"/>
          </a:xfrm>
          <a:prstGeom prst="rect">
            <a:avLst/>
          </a:prstGeom>
          <a:solidFill>
            <a:srgbClr val="0E7C7B"/>
          </a:solidFill>
          <a:ln w="12700">
            <a:solidFill>
              <a:srgbClr val="0E7C7B"/>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Q1</a:t>
            </a:r>
            <a:endParaRPr lang="en-US" sz="1000" dirty="0"/>
          </a:p>
        </p:txBody>
      </p:sp>
      <p:sp>
        <p:nvSpPr>
          <p:cNvPr id="5" name="Text 3"/>
          <p:cNvSpPr/>
          <p:nvPr/>
        </p:nvSpPr>
        <p:spPr>
          <a:xfrm>
            <a:off x="365760" y="594360"/>
            <a:ext cx="841248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Which of these is a chemical change?</a:t>
            </a:r>
            <a:endParaRPr lang="en-US" sz="2600" dirty="0"/>
          </a:p>
        </p:txBody>
      </p:sp>
      <p:sp>
        <p:nvSpPr>
          <p:cNvPr id="6" name="Shape 4"/>
          <p:cNvSpPr/>
          <p:nvPr/>
        </p:nvSpPr>
        <p:spPr>
          <a:xfrm>
            <a:off x="365760" y="1261872"/>
            <a:ext cx="8412480" cy="658368"/>
          </a:xfrm>
          <a:prstGeom prst="rect">
            <a:avLst/>
          </a:prstGeom>
          <a:solidFill>
            <a:srgbClr val="1A2E3F"/>
          </a:solidFill>
          <a:ln w="12700">
            <a:solidFill>
              <a:srgbClr val="1A2E3F"/>
            </a:solidFill>
            <a:prstDash val="solid"/>
          </a:ln>
        </p:spPr>
      </p:sp>
      <p:sp>
        <p:nvSpPr>
          <p:cNvPr id="7" name="Text 5"/>
          <p:cNvSpPr/>
          <p:nvPr/>
        </p:nvSpPr>
        <p:spPr>
          <a:xfrm>
            <a:off x="457200" y="1316736"/>
            <a:ext cx="8229600" cy="54864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A.  Melting butter in a pan</a:t>
            </a:r>
            <a:endParaRPr lang="en-US" sz="1600" dirty="0"/>
          </a:p>
        </p:txBody>
      </p:sp>
      <p:sp>
        <p:nvSpPr>
          <p:cNvPr id="8" name="Shape 6"/>
          <p:cNvSpPr/>
          <p:nvPr/>
        </p:nvSpPr>
        <p:spPr>
          <a:xfrm>
            <a:off x="365760" y="1993392"/>
            <a:ext cx="8412480" cy="658368"/>
          </a:xfrm>
          <a:prstGeom prst="rect">
            <a:avLst/>
          </a:prstGeom>
          <a:solidFill>
            <a:srgbClr val="2A7A4B"/>
          </a:solidFill>
          <a:ln w="12700">
            <a:solidFill>
              <a:srgbClr val="2A7A4B"/>
            </a:solidFill>
            <a:prstDash val="solid"/>
          </a:ln>
        </p:spPr>
      </p:sp>
      <p:sp>
        <p:nvSpPr>
          <p:cNvPr id="9" name="Text 7"/>
          <p:cNvSpPr/>
          <p:nvPr/>
        </p:nvSpPr>
        <p:spPr>
          <a:xfrm>
            <a:off x="457200" y="2048256"/>
            <a:ext cx="8229600" cy="5486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B.  Cooking an egg until it is firm and white  (CORRECT)</a:t>
            </a:r>
            <a:endParaRPr lang="en-US" sz="1600" dirty="0"/>
          </a:p>
        </p:txBody>
      </p:sp>
      <p:sp>
        <p:nvSpPr>
          <p:cNvPr id="10" name="Shape 8"/>
          <p:cNvSpPr/>
          <p:nvPr/>
        </p:nvSpPr>
        <p:spPr>
          <a:xfrm>
            <a:off x="365760" y="2724912"/>
            <a:ext cx="8412480" cy="658368"/>
          </a:xfrm>
          <a:prstGeom prst="rect">
            <a:avLst/>
          </a:prstGeom>
          <a:solidFill>
            <a:srgbClr val="1A2E3F"/>
          </a:solidFill>
          <a:ln w="12700">
            <a:solidFill>
              <a:srgbClr val="1A2E3F"/>
            </a:solidFill>
            <a:prstDash val="solid"/>
          </a:ln>
        </p:spPr>
      </p:sp>
      <p:sp>
        <p:nvSpPr>
          <p:cNvPr id="11" name="Text 9"/>
          <p:cNvSpPr/>
          <p:nvPr/>
        </p:nvSpPr>
        <p:spPr>
          <a:xfrm>
            <a:off x="457200" y="2779776"/>
            <a:ext cx="8229600" cy="54864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C.  Crushing a cracker into crumbs</a:t>
            </a:r>
            <a:endParaRPr lang="en-US" sz="1600" dirty="0"/>
          </a:p>
        </p:txBody>
      </p:sp>
      <p:sp>
        <p:nvSpPr>
          <p:cNvPr id="12" name="Shape 10"/>
          <p:cNvSpPr/>
          <p:nvPr/>
        </p:nvSpPr>
        <p:spPr>
          <a:xfrm>
            <a:off x="365760" y="3520440"/>
            <a:ext cx="8412480" cy="1097280"/>
          </a:xfrm>
          <a:prstGeom prst="rect">
            <a:avLst/>
          </a:prstGeom>
          <a:solidFill>
            <a:srgbClr val="0B2A1A"/>
          </a:solidFill>
          <a:ln w="12700">
            <a:solidFill>
              <a:srgbClr val="0B2A1A"/>
            </a:solidFill>
            <a:prstDash val="solid"/>
          </a:ln>
        </p:spPr>
      </p:sp>
      <p:sp>
        <p:nvSpPr>
          <p:cNvPr id="13" name="Text 11"/>
          <p:cNvSpPr/>
          <p:nvPr/>
        </p:nvSpPr>
        <p:spPr>
          <a:xfrm>
            <a:off x="457200" y="3575304"/>
            <a:ext cx="8229600" cy="9875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Correct! Cooking an egg changes the proteins permanently. New color, new texture, no going back -- those are chemical-change clues. Melting butter and crushing crackers are physical changes -- the same substance is still there.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365760" y="182880"/>
            <a:ext cx="1371600" cy="274320"/>
          </a:xfrm>
          <a:prstGeom prst="rect">
            <a:avLst/>
          </a:prstGeom>
          <a:solidFill>
            <a:srgbClr val="0E7C7B"/>
          </a:solidFill>
          <a:ln w="12700">
            <a:solidFill>
              <a:srgbClr val="0E7C7B"/>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Q2</a:t>
            </a:r>
            <a:endParaRPr lang="en-US" sz="1000" dirty="0"/>
          </a:p>
        </p:txBody>
      </p:sp>
      <p:sp>
        <p:nvSpPr>
          <p:cNvPr id="5" name="Text 3"/>
          <p:cNvSpPr/>
          <p:nvPr/>
        </p:nvSpPr>
        <p:spPr>
          <a:xfrm>
            <a:off x="365760" y="594360"/>
            <a:ext cx="841248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Which change is reversible?</a:t>
            </a:r>
            <a:endParaRPr lang="en-US" sz="2600" dirty="0"/>
          </a:p>
        </p:txBody>
      </p:sp>
      <p:sp>
        <p:nvSpPr>
          <p:cNvPr id="6" name="Shape 4"/>
          <p:cNvSpPr/>
          <p:nvPr/>
        </p:nvSpPr>
        <p:spPr>
          <a:xfrm>
            <a:off x="365760" y="1261872"/>
            <a:ext cx="8412480" cy="658368"/>
          </a:xfrm>
          <a:prstGeom prst="rect">
            <a:avLst/>
          </a:prstGeom>
          <a:solidFill>
            <a:srgbClr val="2A7A4B"/>
          </a:solidFill>
          <a:ln w="12700">
            <a:solidFill>
              <a:srgbClr val="2A7A4B"/>
            </a:solidFill>
            <a:prstDash val="solid"/>
          </a:ln>
        </p:spPr>
      </p:sp>
      <p:sp>
        <p:nvSpPr>
          <p:cNvPr id="7" name="Text 5"/>
          <p:cNvSpPr/>
          <p:nvPr/>
        </p:nvSpPr>
        <p:spPr>
          <a:xfrm>
            <a:off x="457200" y="1316736"/>
            <a:ext cx="8229600" cy="5486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  Melting chocolate, then putting it in the fridge to harden  (CORRECT)</a:t>
            </a:r>
            <a:endParaRPr lang="en-US" sz="1600" dirty="0"/>
          </a:p>
        </p:txBody>
      </p:sp>
      <p:sp>
        <p:nvSpPr>
          <p:cNvPr id="8" name="Shape 6"/>
          <p:cNvSpPr/>
          <p:nvPr/>
        </p:nvSpPr>
        <p:spPr>
          <a:xfrm>
            <a:off x="365760" y="1993392"/>
            <a:ext cx="8412480" cy="658368"/>
          </a:xfrm>
          <a:prstGeom prst="rect">
            <a:avLst/>
          </a:prstGeom>
          <a:solidFill>
            <a:srgbClr val="1A2E3F"/>
          </a:solidFill>
          <a:ln w="12700">
            <a:solidFill>
              <a:srgbClr val="1A2E3F"/>
            </a:solidFill>
            <a:prstDash val="solid"/>
          </a:ln>
        </p:spPr>
      </p:sp>
      <p:sp>
        <p:nvSpPr>
          <p:cNvPr id="9" name="Text 7"/>
          <p:cNvSpPr/>
          <p:nvPr/>
        </p:nvSpPr>
        <p:spPr>
          <a:xfrm>
            <a:off x="457200" y="2048256"/>
            <a:ext cx="8229600" cy="54864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B.  Burning a piece of wood in a campfire</a:t>
            </a:r>
            <a:endParaRPr lang="en-US" sz="1600" dirty="0"/>
          </a:p>
        </p:txBody>
      </p:sp>
      <p:sp>
        <p:nvSpPr>
          <p:cNvPr id="10" name="Shape 8"/>
          <p:cNvSpPr/>
          <p:nvPr/>
        </p:nvSpPr>
        <p:spPr>
          <a:xfrm>
            <a:off x="365760" y="2724912"/>
            <a:ext cx="8412480" cy="658368"/>
          </a:xfrm>
          <a:prstGeom prst="rect">
            <a:avLst/>
          </a:prstGeom>
          <a:solidFill>
            <a:srgbClr val="1A2E3F"/>
          </a:solidFill>
          <a:ln w="12700">
            <a:solidFill>
              <a:srgbClr val="1A2E3F"/>
            </a:solidFill>
            <a:prstDash val="solid"/>
          </a:ln>
        </p:spPr>
      </p:sp>
      <p:sp>
        <p:nvSpPr>
          <p:cNvPr id="11" name="Text 9"/>
          <p:cNvSpPr/>
          <p:nvPr/>
        </p:nvSpPr>
        <p:spPr>
          <a:xfrm>
            <a:off x="457200" y="2779776"/>
            <a:ext cx="8229600" cy="54864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C.  Baking flour, eggs, and sugar into a cake</a:t>
            </a:r>
            <a:endParaRPr lang="en-US" sz="1600" dirty="0"/>
          </a:p>
        </p:txBody>
      </p:sp>
      <p:sp>
        <p:nvSpPr>
          <p:cNvPr id="12" name="Shape 10"/>
          <p:cNvSpPr/>
          <p:nvPr/>
        </p:nvSpPr>
        <p:spPr>
          <a:xfrm>
            <a:off x="365760" y="3520440"/>
            <a:ext cx="8412480" cy="1097280"/>
          </a:xfrm>
          <a:prstGeom prst="rect">
            <a:avLst/>
          </a:prstGeom>
          <a:solidFill>
            <a:srgbClr val="0B2A1A"/>
          </a:solidFill>
          <a:ln w="12700">
            <a:solidFill>
              <a:srgbClr val="0B2A1A"/>
            </a:solidFill>
            <a:prstDash val="solid"/>
          </a:ln>
        </p:spPr>
      </p:sp>
      <p:sp>
        <p:nvSpPr>
          <p:cNvPr id="13" name="Text 11"/>
          <p:cNvSpPr/>
          <p:nvPr/>
        </p:nvSpPr>
        <p:spPr>
          <a:xfrm>
            <a:off x="457200" y="3575304"/>
            <a:ext cx="8229600" cy="9875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Correct! Melting and re-freezing chocolate is a physical change. Same chocolate particles, just moving differently when warm or cool. You can repeat it as many times as you like. Burning wood and baking a cake both make new substances -- not reversible.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365760" y="182880"/>
            <a:ext cx="1595628" cy="274320"/>
          </a:xfrm>
          <a:prstGeom prst="rect">
            <a:avLst/>
          </a:prstGeom>
          <a:solidFill>
            <a:srgbClr val="F6C90E"/>
          </a:solidFill>
          <a:ln w="12700">
            <a:solidFill>
              <a:srgbClr val="F6C90E"/>
            </a:solidFill>
            <a:prstDash val="solid"/>
          </a:ln>
        </p:spPr>
      </p:sp>
      <p:sp>
        <p:nvSpPr>
          <p:cNvPr id="4" name="Text 2"/>
          <p:cNvSpPr/>
          <p:nvPr/>
        </p:nvSpPr>
        <p:spPr>
          <a:xfrm>
            <a:off x="365760" y="18288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Cooking Is a Chemistry Lab</a:t>
            </a:r>
            <a:endParaRPr lang="en-US" sz="2800" dirty="0"/>
          </a:p>
        </p:txBody>
      </p:sp>
      <p:sp>
        <p:nvSpPr>
          <p:cNvPr id="6" name="Shape 4"/>
          <p:cNvSpPr/>
          <p:nvPr/>
        </p:nvSpPr>
        <p:spPr>
          <a:xfrm>
            <a:off x="365760" y="1143000"/>
            <a:ext cx="8412480" cy="1234440"/>
          </a:xfrm>
          <a:prstGeom prst="rect">
            <a:avLst/>
          </a:prstGeom>
          <a:solidFill>
            <a:srgbClr val="1A2E3F"/>
          </a:solidFill>
          <a:ln w="12700">
            <a:solidFill>
              <a:srgbClr val="1A2E3F"/>
            </a:solidFill>
            <a:prstDash val="solid"/>
          </a:ln>
        </p:spPr>
      </p:sp>
      <p:sp>
        <p:nvSpPr>
          <p:cNvPr id="7" name="Text 5"/>
          <p:cNvSpPr/>
          <p:nvPr/>
        </p:nvSpPr>
        <p:spPr>
          <a:xfrm>
            <a:off x="457200" y="1197864"/>
            <a:ext cx="8229600" cy="1124712"/>
          </a:xfrm>
          <a:prstGeom prst="rect">
            <a:avLst/>
          </a:prstGeom>
          <a:noFill/>
          <a:ln/>
        </p:spPr>
        <p:txBody>
          <a:bodyPr wrap="square" lIns="0" tIns="0" rIns="0" bIns="0" rtlCol="0" anchor="ctr"/>
          <a:lstStyle/>
          <a:p>
            <a:pPr algn="l" indent="0" marL="0">
              <a:buNone/>
            </a:pPr>
            <a:r>
              <a:rPr lang="en-US" sz="1500" dirty="0">
                <a:solidFill>
                  <a:srgbClr val="F6C90E"/>
                </a:solidFill>
                <a:latin typeface="Calibri" pitchFamily="34" charset="0"/>
                <a:ea typeface="Calibri" pitchFamily="34" charset="-122"/>
                <a:cs typeface="Calibri" pitchFamily="34" charset="-120"/>
              </a:rPr>
              <a:t>Cooking a single egg involves about FIVE different chemical changes happening at once. The proteins in the white change first (around 145 degrees F), then the yolk, then the sulfur particles release that eggy smell. Every kitchen is a little chemistry lab.</a:t>
            </a:r>
            <a:endParaRPr lang="en-US" sz="1500" dirty="0"/>
          </a:p>
        </p:txBody>
      </p:sp>
      <p:sp>
        <p:nvSpPr>
          <p:cNvPr id="8" name="Text 6"/>
          <p:cNvSpPr/>
          <p:nvPr/>
        </p:nvSpPr>
        <p:spPr>
          <a:xfrm>
            <a:off x="365760" y="2514600"/>
            <a:ext cx="8412480" cy="347472"/>
          </a:xfrm>
          <a:prstGeom prst="rect">
            <a:avLst/>
          </a:prstGeom>
          <a:noFill/>
          <a:ln/>
        </p:spPr>
        <p:txBody>
          <a:bodyPr wrap="square"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Go Deeper -- Extension Questions:</a:t>
            </a:r>
            <a:endParaRPr lang="en-US" sz="1400" dirty="0"/>
          </a:p>
        </p:txBody>
      </p:sp>
      <p:sp>
        <p:nvSpPr>
          <p:cNvPr id="9" name="Shape 7"/>
          <p:cNvSpPr/>
          <p:nvPr/>
        </p:nvSpPr>
        <p:spPr>
          <a:xfrm>
            <a:off x="365760" y="2907792"/>
            <a:ext cx="4023360" cy="1371600"/>
          </a:xfrm>
          <a:prstGeom prst="rect">
            <a:avLst/>
          </a:prstGeom>
          <a:solidFill>
            <a:srgbClr val="162640"/>
          </a:solidFill>
          <a:ln w="12700">
            <a:solidFill>
              <a:srgbClr val="162640"/>
            </a:solidFill>
            <a:prstDash val="solid"/>
          </a:ln>
        </p:spPr>
      </p:sp>
      <p:sp>
        <p:nvSpPr>
          <p:cNvPr id="10" name="Text 8"/>
          <p:cNvSpPr/>
          <p:nvPr/>
        </p:nvSpPr>
        <p:spPr>
          <a:xfrm>
            <a:off x="457200" y="2962656"/>
            <a:ext cx="3840480" cy="12618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Can cold cause a chemical change?</a:t>
            </a:r>
            <a:endParaRPr lang="en-US" sz="1300" dirty="0"/>
          </a:p>
          <a:p>
            <a:pPr algn="l" indent="0" marL="0">
              <a:buNone/>
            </a:pP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Freezer burn is one example -- water slowly leaves the food and a chemical change happens at the surface, making dry, leathery patches.</a:t>
            </a:r>
            <a:endParaRPr lang="en-US" sz="1300" dirty="0"/>
          </a:p>
        </p:txBody>
      </p:sp>
      <p:sp>
        <p:nvSpPr>
          <p:cNvPr id="11" name="Shape 9"/>
          <p:cNvSpPr/>
          <p:nvPr/>
        </p:nvSpPr>
        <p:spPr>
          <a:xfrm>
            <a:off x="4663440" y="2907792"/>
            <a:ext cx="4114800" cy="1371600"/>
          </a:xfrm>
          <a:prstGeom prst="rect">
            <a:avLst/>
          </a:prstGeom>
          <a:solidFill>
            <a:srgbClr val="162640"/>
          </a:solidFill>
          <a:ln w="12700">
            <a:solidFill>
              <a:srgbClr val="162640"/>
            </a:solidFill>
            <a:prstDash val="solid"/>
          </a:ln>
        </p:spPr>
      </p:sp>
      <p:sp>
        <p:nvSpPr>
          <p:cNvPr id="12" name="Text 10"/>
          <p:cNvSpPr/>
          <p:nvPr/>
        </p:nvSpPr>
        <p:spPr>
          <a:xfrm>
            <a:off x="4754880" y="2962656"/>
            <a:ext cx="3931920" cy="12618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Why do we refrigerate food?</a:t>
            </a:r>
            <a:endParaRPr lang="en-US" sz="1300" dirty="0"/>
          </a:p>
          <a:p>
            <a:pPr algn="l" indent="0" marL="0">
              <a:buNone/>
            </a:pP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Cooling things down usually STOPS chemical changes. That is why food lasts longer in the fridge.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365760" y="182880"/>
            <a:ext cx="1673352" cy="274320"/>
          </a:xfrm>
          <a:prstGeom prst="rect">
            <a:avLst/>
          </a:prstGeom>
          <a:solidFill>
            <a:srgbClr val="1A3A5C"/>
          </a:solidFill>
          <a:ln w="12700">
            <a:solidFill>
              <a:srgbClr val="1A3A5C"/>
            </a:solidFill>
            <a:prstDash val="solid"/>
          </a:ln>
        </p:spPr>
      </p:sp>
      <p:sp>
        <p:nvSpPr>
          <p:cNvPr id="4" name="Text 2"/>
          <p:cNvSpPr/>
          <p:nvPr/>
        </p:nvSpPr>
        <p:spPr>
          <a:xfrm>
            <a:off x="365760" y="182880"/>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indent="0" marL="0">
              <a:buNone/>
            </a:pPr>
            <a:r>
              <a:rPr lang="en-US" sz="2600" b="1" dirty="0">
                <a:solidFill>
                  <a:srgbClr val="1A3A5C"/>
                </a:solidFill>
                <a:latin typeface="Cambria" pitchFamily="34" charset="0"/>
                <a:ea typeface="Cambria" pitchFamily="34" charset="-122"/>
                <a:cs typeface="Cambria" pitchFamily="34" charset="-120"/>
              </a:rPr>
              <a:t>Parts A and B -- Your Assignment</a:t>
            </a:r>
            <a:endParaRPr lang="en-US" sz="2600" dirty="0"/>
          </a:p>
        </p:txBody>
      </p:sp>
      <p:sp>
        <p:nvSpPr>
          <p:cNvPr id="6" name="Shape 4"/>
          <p:cNvSpPr/>
          <p:nvPr/>
        </p:nvSpPr>
        <p:spPr>
          <a:xfrm>
            <a:off x="365760" y="1143000"/>
            <a:ext cx="4114800" cy="3200400"/>
          </a:xfrm>
          <a:prstGeom prst="rect">
            <a:avLst/>
          </a:prstGeom>
          <a:solidFill>
            <a:srgbClr val="FFFFFF"/>
          </a:solidFill>
          <a:ln w="12700">
            <a:solidFill>
              <a:srgbClr val="FFFFFF"/>
            </a:solidFill>
            <a:prstDash val="solid"/>
          </a:ln>
        </p:spPr>
      </p:sp>
      <p:sp>
        <p:nvSpPr>
          <p:cNvPr id="7" name="Text 5"/>
          <p:cNvSpPr/>
          <p:nvPr/>
        </p:nvSpPr>
        <p:spPr>
          <a:xfrm>
            <a:off x="457200" y="1188720"/>
            <a:ext cx="3931920" cy="365760"/>
          </a:xfrm>
          <a:prstGeom prst="rect">
            <a:avLst/>
          </a:prstGeom>
          <a:noFill/>
          <a:ln/>
        </p:spPr>
        <p:txBody>
          <a:bodyPr wrap="square" rtlCol="0" anchor="ctr"/>
          <a:lstStyle/>
          <a:p>
            <a:pPr indent="0" marL="0">
              <a:buNone/>
            </a:pPr>
            <a:r>
              <a:rPr lang="en-US" sz="1300" b="1" dirty="0">
                <a:solidFill>
                  <a:srgbClr val="1A3A5C"/>
                </a:solidFill>
                <a:latin typeface="Calibri" pitchFamily="34" charset="0"/>
                <a:ea typeface="Calibri" pitchFamily="34" charset="-122"/>
                <a:cs typeface="Calibri" pitchFamily="34" charset="-120"/>
              </a:rPr>
              <a:t>Part A -- Find Three Changes at Home</a:t>
            </a:r>
            <a:endParaRPr lang="en-US" sz="1300" dirty="0"/>
          </a:p>
        </p:txBody>
      </p:sp>
      <p:sp>
        <p:nvSpPr>
          <p:cNvPr id="8" name="Shape 6"/>
          <p:cNvSpPr/>
          <p:nvPr/>
        </p:nvSpPr>
        <p:spPr>
          <a:xfrm>
            <a:off x="457200" y="1581912"/>
            <a:ext cx="3931920" cy="36576"/>
          </a:xfrm>
          <a:prstGeom prst="rect">
            <a:avLst/>
          </a:prstGeom>
          <a:solidFill>
            <a:srgbClr val="0E7C7B"/>
          </a:solidFill>
          <a:ln w="12700">
            <a:solidFill>
              <a:srgbClr val="0E7C7B"/>
            </a:solidFill>
            <a:prstDash val="solid"/>
          </a:ln>
        </p:spPr>
      </p:sp>
      <p:sp>
        <p:nvSpPr>
          <p:cNvPr id="9" name="Text 7"/>
          <p:cNvSpPr/>
          <p:nvPr/>
        </p:nvSpPr>
        <p:spPr>
          <a:xfrm>
            <a:off x="457200" y="1664208"/>
            <a:ext cx="3931920" cy="2560320"/>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Add "Lesson 9.01 -- Heat and Change" to your notebook.</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Look around your home and kitchen. Find THREE changes. For each:</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Name the change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Physical or Chemical?</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One clue you used to decide</a:t>
            </a:r>
            <a:endParaRPr lang="en-US" sz="1200" dirty="0"/>
          </a:p>
        </p:txBody>
      </p:sp>
      <p:sp>
        <p:nvSpPr>
          <p:cNvPr id="10" name="Shape 8"/>
          <p:cNvSpPr/>
          <p:nvPr/>
        </p:nvSpPr>
        <p:spPr>
          <a:xfrm>
            <a:off x="4663440" y="1143000"/>
            <a:ext cx="4114800" cy="3200400"/>
          </a:xfrm>
          <a:prstGeom prst="rect">
            <a:avLst/>
          </a:prstGeom>
          <a:solidFill>
            <a:srgbClr val="FFFFFF"/>
          </a:solidFill>
          <a:ln w="12700">
            <a:solidFill>
              <a:srgbClr val="FFFFFF"/>
            </a:solidFill>
            <a:prstDash val="solid"/>
          </a:ln>
        </p:spPr>
      </p:sp>
      <p:sp>
        <p:nvSpPr>
          <p:cNvPr id="11" name="Text 9"/>
          <p:cNvSpPr/>
          <p:nvPr/>
        </p:nvSpPr>
        <p:spPr>
          <a:xfrm>
            <a:off x="4754880" y="1188720"/>
            <a:ext cx="3931920" cy="365760"/>
          </a:xfrm>
          <a:prstGeom prst="rect">
            <a:avLst/>
          </a:prstGeom>
          <a:noFill/>
          <a:ln/>
        </p:spPr>
        <p:txBody>
          <a:bodyPr wrap="square" rtlCol="0" anchor="ctr"/>
          <a:lstStyle/>
          <a:p>
            <a:pPr indent="0" marL="0">
              <a:buNone/>
            </a:pPr>
            <a:r>
              <a:rPr lang="en-US" sz="1300" b="1" dirty="0">
                <a:solidFill>
                  <a:srgbClr val="1A3A5C"/>
                </a:solidFill>
                <a:latin typeface="Calibri" pitchFamily="34" charset="0"/>
                <a:ea typeface="Calibri" pitchFamily="34" charset="-122"/>
                <a:cs typeface="Calibri" pitchFamily="34" charset="-120"/>
              </a:rPr>
              <a:t>Part B -- Evidence Questions</a:t>
            </a:r>
            <a:endParaRPr lang="en-US" sz="1300" dirty="0"/>
          </a:p>
        </p:txBody>
      </p:sp>
      <p:sp>
        <p:nvSpPr>
          <p:cNvPr id="12" name="Shape 10"/>
          <p:cNvSpPr/>
          <p:nvPr/>
        </p:nvSpPr>
        <p:spPr>
          <a:xfrm>
            <a:off x="4754880" y="1581912"/>
            <a:ext cx="3931920" cy="36576"/>
          </a:xfrm>
          <a:prstGeom prst="rect">
            <a:avLst/>
          </a:prstGeom>
          <a:solidFill>
            <a:srgbClr val="F07D35"/>
          </a:solidFill>
          <a:ln w="12700">
            <a:solidFill>
              <a:srgbClr val="F07D35"/>
            </a:solidFill>
            <a:prstDash val="solid"/>
          </a:ln>
        </p:spPr>
      </p:sp>
      <p:sp>
        <p:nvSpPr>
          <p:cNvPr id="13" name="Text 11"/>
          <p:cNvSpPr/>
          <p:nvPr/>
        </p:nvSpPr>
        <p:spPr>
          <a:xfrm>
            <a:off x="4754880" y="1664208"/>
            <a:ext cx="3931920" cy="2560320"/>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1. What do Scenarios A and C have in common that Scenario B does not?</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2. In Scenario B, name two clues that a chemical change happened. Use the word "particles."</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3. A nail sits in water for a week and turns orange-brown. Physical or chemical change? Explain.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365760" y="182880"/>
            <a:ext cx="1751076" cy="274320"/>
          </a:xfrm>
          <a:prstGeom prst="rect">
            <a:avLst/>
          </a:prstGeom>
          <a:solidFill>
            <a:srgbClr val="1A3A5C"/>
          </a:solidFill>
          <a:ln w="12700">
            <a:solidFill>
              <a:srgbClr val="1A3A5C"/>
            </a:solidFill>
            <a:prstDash val="solid"/>
          </a:ln>
        </p:spPr>
      </p:sp>
      <p:sp>
        <p:nvSpPr>
          <p:cNvPr id="4" name="Text 2"/>
          <p:cNvSpPr/>
          <p:nvPr/>
        </p:nvSpPr>
        <p:spPr>
          <a:xfrm>
            <a:off x="365760" y="182880"/>
            <a:ext cx="175107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 PART C</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indent="0" marL="0">
              <a:buNone/>
            </a:pPr>
            <a:r>
              <a:rPr lang="en-US" sz="2400" b="1" dirty="0">
                <a:solidFill>
                  <a:srgbClr val="1A3A5C"/>
                </a:solidFill>
                <a:latin typeface="Cambria" pitchFamily="34" charset="0"/>
                <a:ea typeface="Cambria" pitchFamily="34" charset="-122"/>
                <a:cs typeface="Cambria" pitchFamily="34" charset="-120"/>
              </a:rPr>
              <a:t>Part C -- Claim, Evidence, Reasoning</a:t>
            </a:r>
            <a:endParaRPr lang="en-US" sz="2400" dirty="0"/>
          </a:p>
        </p:txBody>
      </p:sp>
      <p:sp>
        <p:nvSpPr>
          <p:cNvPr id="6" name="Text 4"/>
          <p:cNvSpPr/>
          <p:nvPr/>
        </p:nvSpPr>
        <p:spPr>
          <a:xfrm>
            <a:off x="365760" y="1078992"/>
            <a:ext cx="8412480" cy="274320"/>
          </a:xfrm>
          <a:prstGeom prst="rect">
            <a:avLst/>
          </a:prstGeom>
          <a:noFill/>
          <a:ln/>
        </p:spPr>
        <p:txBody>
          <a:bodyPr wrap="square" rtlCol="0" anchor="ctr"/>
          <a:lstStyle/>
          <a:p>
            <a:pPr indent="0" marL="0">
              <a:buNone/>
            </a:pPr>
            <a:r>
              <a:rPr lang="en-US" sz="1300" i="1" dirty="0">
                <a:solidFill>
                  <a:srgbClr val="2C4A6E"/>
                </a:solidFill>
                <a:latin typeface="Calibri" pitchFamily="34" charset="0"/>
                <a:ea typeface="Calibri" pitchFamily="34" charset="-122"/>
                <a:cs typeface="Calibri" pitchFamily="34" charset="-120"/>
              </a:rPr>
              <a:t>Aim for 4-6 sentences total.</a:t>
            </a:r>
            <a:endParaRPr lang="en-US" sz="1300" dirty="0"/>
          </a:p>
        </p:txBody>
      </p:sp>
      <p:sp>
        <p:nvSpPr>
          <p:cNvPr id="7" name="Shape 5"/>
          <p:cNvSpPr/>
          <p:nvPr/>
        </p:nvSpPr>
        <p:spPr>
          <a:xfrm>
            <a:off x="365760" y="1417320"/>
            <a:ext cx="8412480" cy="502920"/>
          </a:xfrm>
          <a:prstGeom prst="rect">
            <a:avLst/>
          </a:prstGeom>
          <a:solidFill>
            <a:srgbClr val="1A3A5C"/>
          </a:solidFill>
          <a:ln w="12700">
            <a:solidFill>
              <a:srgbClr val="1A3A5C"/>
            </a:solidFill>
            <a:prstDash val="solid"/>
          </a:ln>
        </p:spPr>
      </p:sp>
      <p:sp>
        <p:nvSpPr>
          <p:cNvPr id="8" name="Text 6"/>
          <p:cNvSpPr/>
          <p:nvPr/>
        </p:nvSpPr>
        <p:spPr>
          <a:xfrm>
            <a:off x="457200" y="1472184"/>
            <a:ext cx="8229600" cy="39319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Prompt: When matter changes form, is any of it actually lost? Use what you know to defend your answer.</a:t>
            </a:r>
            <a:endParaRPr lang="en-US" sz="1300" dirty="0"/>
          </a:p>
        </p:txBody>
      </p:sp>
      <p:sp>
        <p:nvSpPr>
          <p:cNvPr id="9" name="Shape 7"/>
          <p:cNvSpPr/>
          <p:nvPr/>
        </p:nvSpPr>
        <p:spPr>
          <a:xfrm>
            <a:off x="365760" y="1993392"/>
            <a:ext cx="2697480" cy="365760"/>
          </a:xfrm>
          <a:prstGeom prst="rect">
            <a:avLst/>
          </a:prstGeom>
          <a:solidFill>
            <a:srgbClr val="0E7C7B"/>
          </a:solidFill>
          <a:ln w="12700">
            <a:solidFill>
              <a:srgbClr val="0E7C7B"/>
            </a:solidFill>
            <a:prstDash val="solid"/>
          </a:ln>
        </p:spPr>
      </p:sp>
      <p:sp>
        <p:nvSpPr>
          <p:cNvPr id="10" name="Text 8"/>
          <p:cNvSpPr/>
          <p:nvPr/>
        </p:nvSpPr>
        <p:spPr>
          <a:xfrm>
            <a:off x="457200" y="2048256"/>
            <a:ext cx="25146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CLAIM</a:t>
            </a:r>
            <a:endParaRPr lang="en-US" sz="1300" dirty="0"/>
          </a:p>
        </p:txBody>
      </p:sp>
      <p:sp>
        <p:nvSpPr>
          <p:cNvPr id="11" name="Shape 9"/>
          <p:cNvSpPr/>
          <p:nvPr/>
        </p:nvSpPr>
        <p:spPr>
          <a:xfrm>
            <a:off x="365760" y="2395728"/>
            <a:ext cx="2697480" cy="1737360"/>
          </a:xfrm>
          <a:prstGeom prst="rect">
            <a:avLst/>
          </a:prstGeom>
          <a:solidFill>
            <a:srgbClr val="FFFFFF"/>
          </a:solidFill>
          <a:ln w="12700">
            <a:solidFill>
              <a:srgbClr val="FFFFFF"/>
            </a:solidFill>
            <a:prstDash val="solid"/>
          </a:ln>
        </p:spPr>
      </p:sp>
      <p:sp>
        <p:nvSpPr>
          <p:cNvPr id="12" name="Text 10"/>
          <p:cNvSpPr/>
          <p:nvPr/>
        </p:nvSpPr>
        <p:spPr>
          <a:xfrm>
            <a:off x="457200" y="2450592"/>
            <a:ext cx="2514600" cy="162763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Start with:</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Toasting a piece of bread is a _____ change because...</a:t>
            </a:r>
            <a:endParaRPr lang="en-US" sz="1200" dirty="0"/>
          </a:p>
        </p:txBody>
      </p:sp>
      <p:sp>
        <p:nvSpPr>
          <p:cNvPr id="13" name="Shape 11"/>
          <p:cNvSpPr/>
          <p:nvPr/>
        </p:nvSpPr>
        <p:spPr>
          <a:xfrm>
            <a:off x="3218688" y="1993392"/>
            <a:ext cx="2697480" cy="365760"/>
          </a:xfrm>
          <a:prstGeom prst="rect">
            <a:avLst/>
          </a:prstGeom>
          <a:solidFill>
            <a:srgbClr val="2E86AB"/>
          </a:solidFill>
          <a:ln w="12700">
            <a:solidFill>
              <a:srgbClr val="2E86AB"/>
            </a:solidFill>
            <a:prstDash val="solid"/>
          </a:ln>
        </p:spPr>
      </p:sp>
      <p:sp>
        <p:nvSpPr>
          <p:cNvPr id="14" name="Text 12"/>
          <p:cNvSpPr/>
          <p:nvPr/>
        </p:nvSpPr>
        <p:spPr>
          <a:xfrm>
            <a:off x="3310128" y="2048256"/>
            <a:ext cx="25146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p>
        </p:txBody>
      </p:sp>
      <p:sp>
        <p:nvSpPr>
          <p:cNvPr id="15" name="Shape 13"/>
          <p:cNvSpPr/>
          <p:nvPr/>
        </p:nvSpPr>
        <p:spPr>
          <a:xfrm>
            <a:off x="3218688" y="2395728"/>
            <a:ext cx="2697480" cy="1737360"/>
          </a:xfrm>
          <a:prstGeom prst="rect">
            <a:avLst/>
          </a:prstGeom>
          <a:solidFill>
            <a:srgbClr val="FFFFFF"/>
          </a:solidFill>
          <a:ln w="12700">
            <a:solidFill>
              <a:srgbClr val="FFFFFF"/>
            </a:solidFill>
            <a:prstDash val="solid"/>
          </a:ln>
        </p:spPr>
      </p:sp>
      <p:sp>
        <p:nvSpPr>
          <p:cNvPr id="16" name="Text 14"/>
          <p:cNvSpPr/>
          <p:nvPr/>
        </p:nvSpPr>
        <p:spPr>
          <a:xfrm>
            <a:off x="3310128" y="2450592"/>
            <a:ext cx="2514600" cy="162763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Write at least two pieces of evidence from the lesson.</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Clues: color, smell, feel, reversible or not. You choose.</a:t>
            </a:r>
            <a:endParaRPr lang="en-US" sz="1200" dirty="0"/>
          </a:p>
        </p:txBody>
      </p:sp>
      <p:sp>
        <p:nvSpPr>
          <p:cNvPr id="17" name="Shape 15"/>
          <p:cNvSpPr/>
          <p:nvPr/>
        </p:nvSpPr>
        <p:spPr>
          <a:xfrm>
            <a:off x="6071616" y="1993392"/>
            <a:ext cx="2697480" cy="365760"/>
          </a:xfrm>
          <a:prstGeom prst="rect">
            <a:avLst/>
          </a:prstGeom>
          <a:solidFill>
            <a:srgbClr val="F07D35"/>
          </a:solidFill>
          <a:ln w="12700">
            <a:solidFill>
              <a:srgbClr val="F07D35"/>
            </a:solidFill>
            <a:prstDash val="solid"/>
          </a:ln>
        </p:spPr>
      </p:sp>
      <p:sp>
        <p:nvSpPr>
          <p:cNvPr id="18" name="Text 16"/>
          <p:cNvSpPr/>
          <p:nvPr/>
        </p:nvSpPr>
        <p:spPr>
          <a:xfrm>
            <a:off x="6163056" y="2048256"/>
            <a:ext cx="25146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REASONING</a:t>
            </a:r>
            <a:endParaRPr lang="en-US" sz="1300" dirty="0"/>
          </a:p>
        </p:txBody>
      </p:sp>
      <p:sp>
        <p:nvSpPr>
          <p:cNvPr id="19" name="Shape 17"/>
          <p:cNvSpPr/>
          <p:nvPr/>
        </p:nvSpPr>
        <p:spPr>
          <a:xfrm>
            <a:off x="6071616" y="2395728"/>
            <a:ext cx="2697480" cy="1737360"/>
          </a:xfrm>
          <a:prstGeom prst="rect">
            <a:avLst/>
          </a:prstGeom>
          <a:solidFill>
            <a:srgbClr val="FFFFFF"/>
          </a:solidFill>
          <a:ln w="12700">
            <a:solidFill>
              <a:srgbClr val="FFFFFF"/>
            </a:solidFill>
            <a:prstDash val="solid"/>
          </a:ln>
        </p:spPr>
      </p:sp>
      <p:sp>
        <p:nvSpPr>
          <p:cNvPr id="20" name="Text 18"/>
          <p:cNvSpPr/>
          <p:nvPr/>
        </p:nvSpPr>
        <p:spPr>
          <a:xfrm>
            <a:off x="6163056" y="2450592"/>
            <a:ext cx="2514600" cy="162763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Start with:</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This makes sense because particles in a chemical change...</a:t>
            </a:r>
            <a:endParaRPr lang="en-US" sz="1200" dirty="0"/>
          </a:p>
        </p:txBody>
      </p:sp>
      <p:sp>
        <p:nvSpPr>
          <p:cNvPr id="21" name="Text 19"/>
          <p:cNvSpPr/>
          <p:nvPr/>
        </p:nvSpPr>
        <p:spPr>
          <a:xfrm>
            <a:off x="365760" y="4233672"/>
            <a:ext cx="8412480" cy="411480"/>
          </a:xfrm>
          <a:prstGeom prst="rect">
            <a:avLst/>
          </a:prstGeom>
          <a:noFill/>
          <a:ln/>
        </p:spPr>
        <p:txBody>
          <a:bodyPr wrap="square" rtlCol="0" anchor="ctr"/>
          <a:lstStyle/>
          <a:p>
            <a:pPr indent="0" marL="0">
              <a:buNone/>
            </a:pPr>
            <a:r>
              <a:rPr lang="en-US" sz="1100" b="1" i="1" dirty="0">
                <a:solidFill>
                  <a:srgbClr val="1A3A5C"/>
                </a:solidFill>
                <a:latin typeface="Calibri" pitchFamily="34" charset="0"/>
                <a:ea typeface="Calibri" pitchFamily="34" charset="-122"/>
                <a:cs typeface="Calibri" pitchFamily="34" charset="-120"/>
              </a:rPr>
              <a:t>Vocab check: Use at least two -- physical change, chemical change, particles, reversible, temperature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7C7B"/>
          </a:solidFill>
          <a:ln w="12700">
            <a:solidFill>
              <a:srgbClr val="0E7C7B"/>
            </a:solidFill>
            <a:prstDash val="solid"/>
          </a:ln>
        </p:spPr>
      </p:sp>
      <p:sp>
        <p:nvSpPr>
          <p:cNvPr id="3" name="Text 1"/>
          <p:cNvSpPr/>
          <p:nvPr/>
        </p:nvSpPr>
        <p:spPr>
          <a:xfrm>
            <a:off x="365760" y="137160"/>
            <a:ext cx="841248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Revise Your Thinking</a:t>
            </a:r>
            <a:endParaRPr lang="en-US" sz="2800" dirty="0"/>
          </a:p>
        </p:txBody>
      </p:sp>
      <p:sp>
        <p:nvSpPr>
          <p:cNvPr id="4" name="Text 2"/>
          <p:cNvSpPr/>
          <p:nvPr/>
        </p:nvSpPr>
        <p:spPr>
          <a:xfrm>
            <a:off x="365760" y="621792"/>
            <a:ext cx="8412480" cy="347472"/>
          </a:xfrm>
          <a:prstGeom prst="rect">
            <a:avLst/>
          </a:prstGeom>
          <a:noFill/>
          <a:ln/>
        </p:spPr>
        <p:txBody>
          <a:bodyPr wrap="square" rtlCol="0" anchor="ctr"/>
          <a:lstStyle/>
          <a:p>
            <a:pPr indent="0" marL="0">
              <a:buNone/>
            </a:pPr>
            <a:r>
              <a:rPr lang="en-US" sz="1300" i="1" dirty="0">
                <a:solidFill>
                  <a:srgbClr val="E0F0EF"/>
                </a:solidFill>
                <a:latin typeface="Calibri" pitchFamily="34" charset="0"/>
                <a:ea typeface="Calibri" pitchFamily="34" charset="-122"/>
                <a:cs typeface="Calibri" pitchFamily="34" charset="-120"/>
              </a:rPr>
              <a:t>Look back at your prediction from the start of the lesson. Write 3-4 sentences:</a:t>
            </a:r>
            <a:endParaRPr lang="en-US" sz="1300" dirty="0"/>
          </a:p>
        </p:txBody>
      </p:sp>
      <p:sp>
        <p:nvSpPr>
          <p:cNvPr id="5" name="Shape 3"/>
          <p:cNvSpPr/>
          <p:nvPr/>
        </p:nvSpPr>
        <p:spPr>
          <a:xfrm>
            <a:off x="365760" y="1051560"/>
            <a:ext cx="384048" cy="384048"/>
          </a:xfrm>
          <a:prstGeom prst="ellipse">
            <a:avLst/>
          </a:prstGeom>
          <a:solidFill>
            <a:srgbClr val="1A3A5C"/>
          </a:solidFill>
          <a:ln w="12700">
            <a:solidFill>
              <a:srgbClr val="1A3A5C"/>
            </a:solidFill>
            <a:prstDash val="solid"/>
          </a:ln>
        </p:spPr>
      </p:sp>
      <p:sp>
        <p:nvSpPr>
          <p:cNvPr id="6" name="Text 4"/>
          <p:cNvSpPr/>
          <p:nvPr/>
        </p:nvSpPr>
        <p:spPr>
          <a:xfrm>
            <a:off x="365760" y="10515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22960" y="1051560"/>
            <a:ext cx="7955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did you predict?</a:t>
            </a:r>
            <a:endParaRPr lang="en-US" sz="1400" dirty="0"/>
          </a:p>
        </p:txBody>
      </p:sp>
      <p:sp>
        <p:nvSpPr>
          <p:cNvPr id="8" name="Shape 6"/>
          <p:cNvSpPr/>
          <p:nvPr/>
        </p:nvSpPr>
        <p:spPr>
          <a:xfrm>
            <a:off x="822960" y="1444752"/>
            <a:ext cx="7955280" cy="804672"/>
          </a:xfrm>
          <a:prstGeom prst="rect">
            <a:avLst/>
          </a:prstGeom>
          <a:solidFill>
            <a:srgbClr val="0B5F5F"/>
          </a:solidFill>
          <a:ln w="12700">
            <a:solidFill>
              <a:srgbClr val="0B5F5F"/>
            </a:solidFill>
            <a:prstDash val="solid"/>
          </a:ln>
        </p:spPr>
      </p:sp>
      <p:sp>
        <p:nvSpPr>
          <p:cNvPr id="9" name="Text 7"/>
          <p:cNvSpPr/>
          <p:nvPr/>
        </p:nvSpPr>
        <p:spPr>
          <a:xfrm>
            <a:off x="914400" y="1499616"/>
            <a:ext cx="7772400" cy="6949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did you predict about why some changes are reversible and others are not?</a:t>
            </a:r>
            <a:endParaRPr lang="en-US" sz="1300" dirty="0"/>
          </a:p>
        </p:txBody>
      </p:sp>
      <p:sp>
        <p:nvSpPr>
          <p:cNvPr id="10" name="Shape 8"/>
          <p:cNvSpPr/>
          <p:nvPr/>
        </p:nvSpPr>
        <p:spPr>
          <a:xfrm>
            <a:off x="365760" y="2313432"/>
            <a:ext cx="384048" cy="384048"/>
          </a:xfrm>
          <a:prstGeom prst="ellipse">
            <a:avLst/>
          </a:prstGeom>
          <a:solidFill>
            <a:srgbClr val="1A3A5C"/>
          </a:solidFill>
          <a:ln w="12700">
            <a:solidFill>
              <a:srgbClr val="1A3A5C"/>
            </a:solidFill>
            <a:prstDash val="solid"/>
          </a:ln>
        </p:spPr>
      </p:sp>
      <p:sp>
        <p:nvSpPr>
          <p:cNvPr id="11" name="Text 9"/>
          <p:cNvSpPr/>
          <p:nvPr/>
        </p:nvSpPr>
        <p:spPr>
          <a:xfrm>
            <a:off x="365760" y="231343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822960" y="2313432"/>
            <a:ext cx="7955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Confirmed or Strengthened?</a:t>
            </a:r>
            <a:endParaRPr lang="en-US" sz="1400" dirty="0"/>
          </a:p>
        </p:txBody>
      </p:sp>
      <p:sp>
        <p:nvSpPr>
          <p:cNvPr id="13" name="Shape 11"/>
          <p:cNvSpPr/>
          <p:nvPr/>
        </p:nvSpPr>
        <p:spPr>
          <a:xfrm>
            <a:off x="822960" y="2706624"/>
            <a:ext cx="7955280" cy="804672"/>
          </a:xfrm>
          <a:prstGeom prst="rect">
            <a:avLst/>
          </a:prstGeom>
          <a:solidFill>
            <a:srgbClr val="0B5F5F"/>
          </a:solidFill>
          <a:ln w="12700">
            <a:solidFill>
              <a:srgbClr val="0B5F5F"/>
            </a:solidFill>
            <a:prstDash val="solid"/>
          </a:ln>
        </p:spPr>
      </p:sp>
      <p:sp>
        <p:nvSpPr>
          <p:cNvPr id="14" name="Text 12"/>
          <p:cNvSpPr/>
          <p:nvPr/>
        </p:nvSpPr>
        <p:spPr>
          <a:xfrm>
            <a:off x="914400" y="2761488"/>
            <a:ext cx="7772400" cy="6949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How does today's lesson confirm or strengthen your original idea?</a:t>
            </a:r>
            <a:endParaRPr lang="en-US" sz="1300" dirty="0"/>
          </a:p>
        </p:txBody>
      </p:sp>
      <p:sp>
        <p:nvSpPr>
          <p:cNvPr id="15" name="Shape 13"/>
          <p:cNvSpPr/>
          <p:nvPr/>
        </p:nvSpPr>
        <p:spPr>
          <a:xfrm>
            <a:off x="365760" y="3575304"/>
            <a:ext cx="384048" cy="384048"/>
          </a:xfrm>
          <a:prstGeom prst="ellipse">
            <a:avLst/>
          </a:prstGeom>
          <a:solidFill>
            <a:srgbClr val="1A3A5C"/>
          </a:solidFill>
          <a:ln w="12700">
            <a:solidFill>
              <a:srgbClr val="1A3A5C"/>
            </a:solidFill>
            <a:prstDash val="solid"/>
          </a:ln>
        </p:spPr>
      </p:sp>
      <p:sp>
        <p:nvSpPr>
          <p:cNvPr id="16" name="Text 14"/>
          <p:cNvSpPr/>
          <p:nvPr/>
        </p:nvSpPr>
        <p:spPr>
          <a:xfrm>
            <a:off x="365760" y="357530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22960" y="3575304"/>
            <a:ext cx="7955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Biggest New Idea</a:t>
            </a:r>
            <a:endParaRPr lang="en-US" sz="1400" dirty="0"/>
          </a:p>
        </p:txBody>
      </p:sp>
      <p:sp>
        <p:nvSpPr>
          <p:cNvPr id="18" name="Shape 16"/>
          <p:cNvSpPr/>
          <p:nvPr/>
        </p:nvSpPr>
        <p:spPr>
          <a:xfrm>
            <a:off x="822960" y="3968496"/>
            <a:ext cx="7955280" cy="804672"/>
          </a:xfrm>
          <a:prstGeom prst="rect">
            <a:avLst/>
          </a:prstGeom>
          <a:solidFill>
            <a:srgbClr val="0B5F5F"/>
          </a:solidFill>
          <a:ln w="12700">
            <a:solidFill>
              <a:srgbClr val="0B5F5F"/>
            </a:solidFill>
            <a:prstDash val="solid"/>
          </a:ln>
        </p:spPr>
      </p:sp>
      <p:sp>
        <p:nvSpPr>
          <p:cNvPr id="19" name="Text 17"/>
          <p:cNvSpPr/>
          <p:nvPr/>
        </p:nvSpPr>
        <p:spPr>
          <a:xfrm>
            <a:off x="914400" y="4023360"/>
            <a:ext cx="7772400" cy="6949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is the biggest new idea about physical vs. chemical change you would add to your prediction now?</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365760" y="182880"/>
            <a:ext cx="1595628" cy="274320"/>
          </a:xfrm>
          <a:prstGeom prst="rect">
            <a:avLst/>
          </a:prstGeom>
          <a:solidFill>
            <a:srgbClr val="F6C90E"/>
          </a:solidFill>
          <a:ln w="12700">
            <a:solidFill>
              <a:srgbClr val="F6C90E"/>
            </a:solidFill>
            <a:prstDash val="solid"/>
          </a:ln>
        </p:spPr>
      </p:sp>
      <p:sp>
        <p:nvSpPr>
          <p:cNvPr id="4" name="Text 2"/>
          <p:cNvSpPr/>
          <p:nvPr/>
        </p:nvSpPr>
        <p:spPr>
          <a:xfrm>
            <a:off x="365760" y="18288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Lesson 9.01 -- Submission Checklist</a:t>
            </a:r>
            <a:endParaRPr lang="en-US" sz="2600" dirty="0"/>
          </a:p>
        </p:txBody>
      </p:sp>
      <p:sp>
        <p:nvSpPr>
          <p:cNvPr id="6" name="Shape 4"/>
          <p:cNvSpPr/>
          <p:nvPr/>
        </p:nvSpPr>
        <p:spPr>
          <a:xfrm>
            <a:off x="365760" y="1261872"/>
            <a:ext cx="274320" cy="274320"/>
          </a:xfrm>
          <a:prstGeom prst="rect">
            <a:avLst/>
          </a:prstGeom>
          <a:solidFill>
            <a:srgbClr val="F6C90E"/>
          </a:solidFill>
          <a:ln w="12700">
            <a:solidFill>
              <a:srgbClr val="F6C90E"/>
            </a:solidFill>
            <a:prstDash val="solid"/>
          </a:ln>
        </p:spPr>
      </p:sp>
      <p:sp>
        <p:nvSpPr>
          <p:cNvPr id="7" name="Text 5"/>
          <p:cNvSpPr/>
          <p:nvPr/>
        </p:nvSpPr>
        <p:spPr>
          <a:xfrm>
            <a:off x="713232" y="1188720"/>
            <a:ext cx="1280160" cy="411480"/>
          </a:xfrm>
          <a:prstGeom prst="rect">
            <a:avLst/>
          </a:prstGeom>
          <a:noFill/>
          <a:ln/>
        </p:spPr>
        <p:txBody>
          <a:bodyPr wrap="square" rtlCol="0" anchor="ctr"/>
          <a:lstStyle/>
          <a:p>
            <a:pPr indent="0" marL="0">
              <a:buNone/>
            </a:pPr>
            <a:r>
              <a:rPr lang="en-US" sz="1300" b="1" dirty="0">
                <a:solidFill>
                  <a:srgbClr val="F6C90E"/>
                </a:solidFill>
                <a:latin typeface="Calibri" pitchFamily="34" charset="0"/>
                <a:ea typeface="Calibri" pitchFamily="34" charset="-122"/>
                <a:cs typeface="Calibri" pitchFamily="34" charset="-120"/>
              </a:rPr>
              <a:t>Part A:</a:t>
            </a:r>
            <a:endParaRPr lang="en-US" sz="1300" dirty="0"/>
          </a:p>
        </p:txBody>
      </p:sp>
      <p:sp>
        <p:nvSpPr>
          <p:cNvPr id="8" name="Text 6"/>
          <p:cNvSpPr/>
          <p:nvPr/>
        </p:nvSpPr>
        <p:spPr>
          <a:xfrm>
            <a:off x="2029968" y="1188720"/>
            <a:ext cx="6675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Three changes from home -- each with physical/chemical decision and one clue.</a:t>
            </a:r>
            <a:endParaRPr lang="en-US" sz="1300" dirty="0"/>
          </a:p>
        </p:txBody>
      </p:sp>
      <p:sp>
        <p:nvSpPr>
          <p:cNvPr id="9" name="Shape 7"/>
          <p:cNvSpPr/>
          <p:nvPr/>
        </p:nvSpPr>
        <p:spPr>
          <a:xfrm>
            <a:off x="365760" y="1901952"/>
            <a:ext cx="274320" cy="274320"/>
          </a:xfrm>
          <a:prstGeom prst="rect">
            <a:avLst/>
          </a:prstGeom>
          <a:solidFill>
            <a:srgbClr val="F6C90E"/>
          </a:solidFill>
          <a:ln w="12700">
            <a:solidFill>
              <a:srgbClr val="F6C90E"/>
            </a:solidFill>
            <a:prstDash val="solid"/>
          </a:ln>
        </p:spPr>
      </p:sp>
      <p:sp>
        <p:nvSpPr>
          <p:cNvPr id="10" name="Text 8"/>
          <p:cNvSpPr/>
          <p:nvPr/>
        </p:nvSpPr>
        <p:spPr>
          <a:xfrm>
            <a:off x="713232" y="1828800"/>
            <a:ext cx="1280160" cy="411480"/>
          </a:xfrm>
          <a:prstGeom prst="rect">
            <a:avLst/>
          </a:prstGeom>
          <a:noFill/>
          <a:ln/>
        </p:spPr>
        <p:txBody>
          <a:bodyPr wrap="square" rtlCol="0" anchor="ctr"/>
          <a:lstStyle/>
          <a:p>
            <a:pPr indent="0" marL="0">
              <a:buNone/>
            </a:pPr>
            <a:r>
              <a:rPr lang="en-US" sz="1300" b="1" dirty="0">
                <a:solidFill>
                  <a:srgbClr val="F6C90E"/>
                </a:solidFill>
                <a:latin typeface="Calibri" pitchFamily="34" charset="0"/>
                <a:ea typeface="Calibri" pitchFamily="34" charset="-122"/>
                <a:cs typeface="Calibri" pitchFamily="34" charset="-120"/>
              </a:rPr>
              <a:t>Part B:</a:t>
            </a:r>
            <a:endParaRPr lang="en-US" sz="1300" dirty="0"/>
          </a:p>
        </p:txBody>
      </p:sp>
      <p:sp>
        <p:nvSpPr>
          <p:cNvPr id="11" name="Text 9"/>
          <p:cNvSpPr/>
          <p:nvPr/>
        </p:nvSpPr>
        <p:spPr>
          <a:xfrm>
            <a:off x="2029968" y="1828800"/>
            <a:ext cx="6675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All three evidence questions answered using the Investigate scenarios.</a:t>
            </a:r>
            <a:endParaRPr lang="en-US" sz="1300" dirty="0"/>
          </a:p>
        </p:txBody>
      </p:sp>
      <p:sp>
        <p:nvSpPr>
          <p:cNvPr id="12" name="Shape 10"/>
          <p:cNvSpPr/>
          <p:nvPr/>
        </p:nvSpPr>
        <p:spPr>
          <a:xfrm>
            <a:off x="365760" y="2542032"/>
            <a:ext cx="274320" cy="274320"/>
          </a:xfrm>
          <a:prstGeom prst="rect">
            <a:avLst/>
          </a:prstGeom>
          <a:solidFill>
            <a:srgbClr val="F6C90E"/>
          </a:solidFill>
          <a:ln w="12700">
            <a:solidFill>
              <a:srgbClr val="F6C90E"/>
            </a:solidFill>
            <a:prstDash val="solid"/>
          </a:ln>
        </p:spPr>
      </p:sp>
      <p:sp>
        <p:nvSpPr>
          <p:cNvPr id="13" name="Text 11"/>
          <p:cNvSpPr/>
          <p:nvPr/>
        </p:nvSpPr>
        <p:spPr>
          <a:xfrm>
            <a:off x="713232" y="2468880"/>
            <a:ext cx="1280160" cy="411480"/>
          </a:xfrm>
          <a:prstGeom prst="rect">
            <a:avLst/>
          </a:prstGeom>
          <a:noFill/>
          <a:ln/>
        </p:spPr>
        <p:txBody>
          <a:bodyPr wrap="square" rtlCol="0" anchor="ctr"/>
          <a:lstStyle/>
          <a:p>
            <a:pPr indent="0" marL="0">
              <a:buNone/>
            </a:pPr>
            <a:r>
              <a:rPr lang="en-US" sz="1300" b="1" dirty="0">
                <a:solidFill>
                  <a:srgbClr val="F6C90E"/>
                </a:solidFill>
                <a:latin typeface="Calibri" pitchFamily="34" charset="0"/>
                <a:ea typeface="Calibri" pitchFamily="34" charset="-122"/>
                <a:cs typeface="Calibri" pitchFamily="34" charset="-120"/>
              </a:rPr>
              <a:t>Part C:</a:t>
            </a:r>
            <a:endParaRPr lang="en-US" sz="1300" dirty="0"/>
          </a:p>
        </p:txBody>
      </p:sp>
      <p:sp>
        <p:nvSpPr>
          <p:cNvPr id="14" name="Text 12"/>
          <p:cNvSpPr/>
          <p:nvPr/>
        </p:nvSpPr>
        <p:spPr>
          <a:xfrm>
            <a:off x="2029968" y="2468880"/>
            <a:ext cx="6675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CER -- Claim, evidence from one scenario, and reasoning about particles.</a:t>
            </a:r>
            <a:endParaRPr lang="en-US" sz="1300" dirty="0"/>
          </a:p>
        </p:txBody>
      </p:sp>
      <p:sp>
        <p:nvSpPr>
          <p:cNvPr id="15" name="Shape 13"/>
          <p:cNvSpPr/>
          <p:nvPr/>
        </p:nvSpPr>
        <p:spPr>
          <a:xfrm>
            <a:off x="365760" y="3182112"/>
            <a:ext cx="274320" cy="274320"/>
          </a:xfrm>
          <a:prstGeom prst="rect">
            <a:avLst/>
          </a:prstGeom>
          <a:solidFill>
            <a:srgbClr val="F6C90E"/>
          </a:solidFill>
          <a:ln w="12700">
            <a:solidFill>
              <a:srgbClr val="F6C90E"/>
            </a:solidFill>
            <a:prstDash val="solid"/>
          </a:ln>
        </p:spPr>
      </p:sp>
      <p:sp>
        <p:nvSpPr>
          <p:cNvPr id="16" name="Text 14"/>
          <p:cNvSpPr/>
          <p:nvPr/>
        </p:nvSpPr>
        <p:spPr>
          <a:xfrm>
            <a:off x="713232" y="3108960"/>
            <a:ext cx="1280160" cy="411480"/>
          </a:xfrm>
          <a:prstGeom prst="rect">
            <a:avLst/>
          </a:prstGeom>
          <a:noFill/>
          <a:ln/>
        </p:spPr>
        <p:txBody>
          <a:bodyPr wrap="square" rtlCol="0" anchor="ctr"/>
          <a:lstStyle/>
          <a:p>
            <a:pPr indent="0" marL="0">
              <a:buNone/>
            </a:pPr>
            <a:r>
              <a:rPr lang="en-US" sz="1300" b="1" dirty="0">
                <a:solidFill>
                  <a:srgbClr val="F6C90E"/>
                </a:solidFill>
                <a:latin typeface="Calibri" pitchFamily="34" charset="0"/>
                <a:ea typeface="Calibri" pitchFamily="34" charset="-122"/>
                <a:cs typeface="Calibri" pitchFamily="34" charset="-120"/>
              </a:rPr>
              <a:t>Revise Thinking:</a:t>
            </a:r>
            <a:endParaRPr lang="en-US" sz="1300" dirty="0"/>
          </a:p>
        </p:txBody>
      </p:sp>
      <p:sp>
        <p:nvSpPr>
          <p:cNvPr id="17" name="Text 15"/>
          <p:cNvSpPr/>
          <p:nvPr/>
        </p:nvSpPr>
        <p:spPr>
          <a:xfrm>
            <a:off x="2029968" y="3108960"/>
            <a:ext cx="6675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3-4 sentences explaining how your thinking changed today.</a:t>
            </a:r>
            <a:endParaRPr lang="en-US" sz="1300" dirty="0"/>
          </a:p>
        </p:txBody>
      </p:sp>
      <p:sp>
        <p:nvSpPr>
          <p:cNvPr id="18" name="Shape 16"/>
          <p:cNvSpPr/>
          <p:nvPr/>
        </p:nvSpPr>
        <p:spPr>
          <a:xfrm>
            <a:off x="365760" y="3822192"/>
            <a:ext cx="274320" cy="274320"/>
          </a:xfrm>
          <a:prstGeom prst="rect">
            <a:avLst/>
          </a:prstGeom>
          <a:solidFill>
            <a:srgbClr val="F6C90E"/>
          </a:solidFill>
          <a:ln w="12700">
            <a:solidFill>
              <a:srgbClr val="F6C90E"/>
            </a:solidFill>
            <a:prstDash val="solid"/>
          </a:ln>
        </p:spPr>
      </p:sp>
      <p:sp>
        <p:nvSpPr>
          <p:cNvPr id="19" name="Text 17"/>
          <p:cNvSpPr/>
          <p:nvPr/>
        </p:nvSpPr>
        <p:spPr>
          <a:xfrm>
            <a:off x="713232" y="3749040"/>
            <a:ext cx="1280160" cy="411480"/>
          </a:xfrm>
          <a:prstGeom prst="rect">
            <a:avLst/>
          </a:prstGeom>
          <a:noFill/>
          <a:ln/>
        </p:spPr>
        <p:txBody>
          <a:bodyPr wrap="square" rtlCol="0" anchor="ctr"/>
          <a:lstStyle/>
          <a:p>
            <a:pPr indent="0" marL="0">
              <a:buNone/>
            </a:pPr>
            <a:r>
              <a:rPr lang="en-US" sz="1300" b="1" dirty="0">
                <a:solidFill>
                  <a:srgbClr val="F6C90E"/>
                </a:solidFill>
                <a:latin typeface="Calibri" pitchFamily="34" charset="0"/>
                <a:ea typeface="Calibri" pitchFamily="34" charset="-122"/>
                <a:cs typeface="Calibri" pitchFamily="34" charset="-120"/>
              </a:rPr>
              <a:t>Vocab Check:</a:t>
            </a:r>
            <a:endParaRPr lang="en-US" sz="1300" dirty="0"/>
          </a:p>
        </p:txBody>
      </p:sp>
      <p:sp>
        <p:nvSpPr>
          <p:cNvPr id="20" name="Text 18"/>
          <p:cNvSpPr/>
          <p:nvPr/>
        </p:nvSpPr>
        <p:spPr>
          <a:xfrm>
            <a:off x="2029968" y="3749040"/>
            <a:ext cx="6675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At least two lesson vocabulary words used accurately in your writing.</a:t>
            </a:r>
            <a:endParaRPr lang="en-US" sz="1300" dirty="0"/>
          </a:p>
        </p:txBody>
      </p:sp>
      <p:sp>
        <p:nvSpPr>
          <p:cNvPr id="21" name="Shape 19"/>
          <p:cNvSpPr/>
          <p:nvPr/>
        </p:nvSpPr>
        <p:spPr>
          <a:xfrm>
            <a:off x="365760" y="4434840"/>
            <a:ext cx="8412480" cy="411480"/>
          </a:xfrm>
          <a:prstGeom prst="rect">
            <a:avLst/>
          </a:prstGeom>
          <a:solidFill>
            <a:srgbClr val="0E7C7B"/>
          </a:solidFill>
          <a:ln w="12700">
            <a:solidFill>
              <a:srgbClr val="0E7C7B"/>
            </a:solidFill>
            <a:prstDash val="solid"/>
          </a:ln>
        </p:spPr>
      </p:sp>
      <p:sp>
        <p:nvSpPr>
          <p:cNvPr id="22" name="Text 20"/>
          <p:cNvSpPr/>
          <p:nvPr/>
        </p:nvSpPr>
        <p:spPr>
          <a:xfrm>
            <a:off x="365760" y="4434840"/>
            <a:ext cx="8412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Next up: Lesson 9.02 -- How Do Mixtures and Solutions Form?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2026-08-28T16:23:46Z</dcterms:created>
  <dcterms:modified xsi:type="dcterms:W3CDTF">2026-08-28T16:23:46Z</dcterms:modified>
</cp:coreProperties>
</file>